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5143500" type="screen16x9"/>
  <p:notesSz cx="6858000" cy="9144000"/>
  <p:embeddedFontLst>
    <p:embeddedFont>
      <p:font typeface="Poppins" panose="00000500000000000000" pitchFamily="2" charset="0"/>
      <p:regular r:id="rId47"/>
      <p:bold r:id="rId48"/>
      <p:italic r:id="rId49"/>
      <p:boldItalic r:id="rId50"/>
    </p:embeddedFont>
    <p:embeddedFont>
      <p:font typeface="Roboto Slab" pitchFamily="2" charset="0"/>
      <p:regular r:id="rId51"/>
      <p:bold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7b20db2e0c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7b20db2e0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7b20db2e0c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7b20db2e0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7b20db2e0c_0_2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7b20db2e0c_0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7b20db2e0c_0_2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7b20db2e0c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7b20db2e0c_0_2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7b20db2e0c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7b20db2e0c_0_2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7b20db2e0c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7b20db2e0c_0_2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7b20db2e0c_0_2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7b20db2e0c_0_3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7b20db2e0c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7b20db2e0c_0_3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7b20db2e0c_0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7b20db2e0c_0_3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7b20db2e0c_0_3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7b2427793d_1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7b2427793d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7b2427793d_1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7b2427793d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7b2427793d_1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7b2427793d_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7b2427793d_1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7b2427793d_1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7b2427793d_1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7b2427793d_1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7b2427793d_1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7b2427793d_1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7b2427793d_1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7b2427793d_1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7b2427793d_1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7b2427793d_1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7b2427793d_1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7b2427793d_1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7b2427793d_1_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7b2427793d_1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76ce8f8ce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76ce8f8ce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7b20db2e0c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7b20db2e0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7b20db2e0c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7b20db2e0c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7b2427793d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7b2427793d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76ce8f8ceb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376ce8f8ceb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7b20db2e0c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7b20db2e0c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76ce8f8ceb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76ce8f8ceb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376ce8f8ceb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376ce8f8ceb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76ce8f8ceb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76ce8f8ceb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76ce8f8ceb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76ce8f8ceb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7732d5f2ca_1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7732d5f2ca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7732d5f2ca_1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7732d5f2ca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g376ce8f8ceb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7" name="Google Shape;387;g376ce8f8ceb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7b20db2e0c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37b20db2e0c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g37b20db2e0c_0_1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9" name="Google Shape;409;g37b20db2e0c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37b20db2e0c_0_1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37b20db2e0c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37b20db2e0c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37b20db2e0c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37b20db2e0c_0_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37b20db2e0c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37b20db2e0c_0_1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37b20db2e0c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7b20db2e0c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6" name="Google Shape;476;g37b20db2e0c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37b20db2e0c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37b20db2e0c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37b20db2e0c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37b20db2e0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7b20db2e0c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37b20db2e0c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6.jpg"/><Relationship Id="rId5" Type="http://schemas.openxmlformats.org/officeDocument/2006/relationships/hyperlink" Target="http://drive.google.com/file/d/1txE2PHS_gcWjnj7DRqurRrxiJSVCEyJC/view" TargetMode="Externa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hyperlink" Target="http://drive.google.com/file/d/1dflnrwzFkokSwXaq8aL64gtLU2Q716hV/view"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6.jpg"/><Relationship Id="rId4" Type="http://schemas.openxmlformats.org/officeDocument/2006/relationships/hyperlink" Target="http://drive.google.com/file/d/1txE2PHS_gcWjnj7DRqurRrxiJSVCEyJC/view"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28.jpg"/><Relationship Id="rId5" Type="http://schemas.openxmlformats.org/officeDocument/2006/relationships/hyperlink" Target="http://drive.google.com/file/d/1A9s8NW17Fan8XpWZsbjKoDcrQ_tJoXHe/view" TargetMode="Externa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30.jpg"/><Relationship Id="rId4" Type="http://schemas.openxmlformats.org/officeDocument/2006/relationships/hyperlink" Target="http://drive.google.com/file/d/1rI9kXn24SJrOEF1uzqVo0r9XV_LYIkCB/view"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3.xml"/><Relationship Id="rId6" Type="http://schemas.openxmlformats.org/officeDocument/2006/relationships/hyperlink" Target="https://react.dev/" TargetMode="External"/><Relationship Id="rId5" Type="http://schemas.openxmlformats.org/officeDocument/2006/relationships/hyperlink" Target="https://www.w3schools.com/js/" TargetMode="External"/><Relationship Id="rId4" Type="http://schemas.openxmlformats.org/officeDocument/2006/relationships/hyperlink" Target="https://developer.mozilla.org/en-US/docs/Web/JavaScript"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subtle-prism (2).png"/>
          <p:cNvPicPr preferRelativeResize="0"/>
          <p:nvPr/>
        </p:nvPicPr>
        <p:blipFill>
          <a:blip r:embed="rId3">
            <a:alphaModFix/>
          </a:blip>
          <a:stretch>
            <a:fillRect/>
          </a:stretch>
        </p:blipFill>
        <p:spPr>
          <a:xfrm rot="5400050">
            <a:off x="-395563" y="395600"/>
            <a:ext cx="5157175" cy="4365975"/>
          </a:xfrm>
          <a:prstGeom prst="flowChartManualInput">
            <a:avLst/>
          </a:prstGeom>
          <a:noFill/>
          <a:ln>
            <a:noFill/>
          </a:ln>
        </p:spPr>
      </p:pic>
      <p:pic>
        <p:nvPicPr>
          <p:cNvPr id="55" name="Google Shape;55;p13" title="KRMU_Full_heading_Logo-removebg-preview.png"/>
          <p:cNvPicPr preferRelativeResize="0"/>
          <p:nvPr/>
        </p:nvPicPr>
        <p:blipFill>
          <a:blip r:embed="rId4">
            <a:alphaModFix/>
          </a:blip>
          <a:stretch>
            <a:fillRect/>
          </a:stretch>
        </p:blipFill>
        <p:spPr>
          <a:xfrm>
            <a:off x="3806125" y="452500"/>
            <a:ext cx="5337876" cy="1363050"/>
          </a:xfrm>
          <a:prstGeom prst="rect">
            <a:avLst/>
          </a:prstGeom>
          <a:noFill/>
          <a:ln>
            <a:noFill/>
          </a:ln>
        </p:spPr>
      </p:pic>
      <p:sp>
        <p:nvSpPr>
          <p:cNvPr id="56" name="Google Shape;56;p13"/>
          <p:cNvSpPr txBox="1"/>
          <p:nvPr/>
        </p:nvSpPr>
        <p:spPr>
          <a:xfrm>
            <a:off x="4405600" y="2017650"/>
            <a:ext cx="45837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rgbClr val="173034"/>
                </a:solidFill>
              </a:rPr>
              <a:t>Course - Web Development - II </a:t>
            </a:r>
            <a:endParaRPr sz="2400" b="1">
              <a:solidFill>
                <a:srgbClr val="173034"/>
              </a:solidFill>
            </a:endParaRPr>
          </a:p>
        </p:txBody>
      </p:sp>
      <p:grpSp>
        <p:nvGrpSpPr>
          <p:cNvPr id="57" name="Google Shape;57;p13"/>
          <p:cNvGrpSpPr/>
          <p:nvPr/>
        </p:nvGrpSpPr>
        <p:grpSpPr>
          <a:xfrm>
            <a:off x="4572000" y="4882896"/>
            <a:ext cx="1607600" cy="292500"/>
            <a:chOff x="5060775" y="4881413"/>
            <a:chExt cx="1607600" cy="292500"/>
          </a:xfrm>
        </p:grpSpPr>
        <p:sp>
          <p:nvSpPr>
            <p:cNvPr id="58" name="Google Shape;58;p13"/>
            <p:cNvSpPr txBox="1"/>
            <p:nvPr/>
          </p:nvSpPr>
          <p:spPr>
            <a:xfrm>
              <a:off x="5165675" y="4881413"/>
              <a:ext cx="15027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000000"/>
                  </a:solidFill>
                </a:rPr>
                <a:t>welcome@krmangalam.edu.in</a:t>
              </a:r>
              <a:endParaRPr sz="900">
                <a:solidFill>
                  <a:srgbClr val="000000"/>
                </a:solidFill>
              </a:endParaRPr>
            </a:p>
          </p:txBody>
        </p:sp>
        <p:pic>
          <p:nvPicPr>
            <p:cNvPr id="59" name="Google Shape;59;p13" title="email.png"/>
            <p:cNvPicPr preferRelativeResize="0"/>
            <p:nvPr/>
          </p:nvPicPr>
          <p:blipFill>
            <a:blip r:embed="rId5">
              <a:alphaModFix/>
            </a:blip>
            <a:stretch>
              <a:fillRect/>
            </a:stretch>
          </p:blipFill>
          <p:spPr>
            <a:xfrm>
              <a:off x="5060775" y="4966738"/>
              <a:ext cx="137160" cy="137160"/>
            </a:xfrm>
            <a:prstGeom prst="rect">
              <a:avLst/>
            </a:prstGeom>
            <a:noFill/>
            <a:ln>
              <a:noFill/>
            </a:ln>
          </p:spPr>
        </p:pic>
      </p:grpSp>
      <p:grpSp>
        <p:nvGrpSpPr>
          <p:cNvPr id="60" name="Google Shape;60;p13"/>
          <p:cNvGrpSpPr/>
          <p:nvPr/>
        </p:nvGrpSpPr>
        <p:grpSpPr>
          <a:xfrm>
            <a:off x="7229300" y="4881425"/>
            <a:ext cx="1926000" cy="292500"/>
            <a:chOff x="7229300" y="4881425"/>
            <a:chExt cx="1926000" cy="292500"/>
          </a:xfrm>
        </p:grpSpPr>
        <p:sp>
          <p:nvSpPr>
            <p:cNvPr id="61" name="Google Shape;61;p13"/>
            <p:cNvSpPr txBox="1"/>
            <p:nvPr/>
          </p:nvSpPr>
          <p:spPr>
            <a:xfrm>
              <a:off x="7326500" y="4881425"/>
              <a:ext cx="18288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212121"/>
                  </a:solidFill>
                </a:rPr>
                <a:t>Sohna Road,Gurugram,Haryana 122103</a:t>
              </a:r>
              <a:endParaRPr sz="700">
                <a:solidFill>
                  <a:srgbClr val="212121"/>
                </a:solidFill>
              </a:endParaRPr>
            </a:p>
          </p:txBody>
        </p:sp>
        <p:pic>
          <p:nvPicPr>
            <p:cNvPr id="62" name="Google Shape;62;p13" title="location.png"/>
            <p:cNvPicPr preferRelativeResize="0"/>
            <p:nvPr/>
          </p:nvPicPr>
          <p:blipFill>
            <a:blip r:embed="rId6">
              <a:alphaModFix/>
            </a:blip>
            <a:stretch>
              <a:fillRect/>
            </a:stretch>
          </p:blipFill>
          <p:spPr>
            <a:xfrm>
              <a:off x="7229300" y="4965192"/>
              <a:ext cx="137160" cy="137160"/>
            </a:xfrm>
            <a:prstGeom prst="rect">
              <a:avLst/>
            </a:prstGeom>
            <a:noFill/>
            <a:ln>
              <a:noFill/>
            </a:ln>
          </p:spPr>
        </p:pic>
      </p:grpSp>
      <p:pic>
        <p:nvPicPr>
          <p:cNvPr id="63" name="Google Shape;63;p13" title="Untitled (2).png"/>
          <p:cNvPicPr preferRelativeResize="0"/>
          <p:nvPr/>
        </p:nvPicPr>
        <p:blipFill rotWithShape="1">
          <a:blip r:embed="rId7">
            <a:alphaModFix/>
          </a:blip>
          <a:srcRect/>
          <a:stretch/>
        </p:blipFill>
        <p:spPr>
          <a:xfrm>
            <a:off x="5042538" y="2662400"/>
            <a:ext cx="3309826" cy="2000826"/>
          </a:xfrm>
          <a:prstGeom prst="rect">
            <a:avLst/>
          </a:prstGeom>
          <a:noFill/>
          <a:ln>
            <a:noFill/>
          </a:ln>
        </p:spPr>
      </p:pic>
      <p:sp>
        <p:nvSpPr>
          <p:cNvPr id="64" name="Google Shape;64;p1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a:t>
            </a:fld>
            <a:endParaRPr sz="1000">
              <a:solidFill>
                <a:srgbClr val="595959"/>
              </a:solidFill>
            </a:endParaRPr>
          </a:p>
        </p:txBody>
      </p:sp>
      <p:grpSp>
        <p:nvGrpSpPr>
          <p:cNvPr id="65" name="Google Shape;65;p13"/>
          <p:cNvGrpSpPr/>
          <p:nvPr/>
        </p:nvGrpSpPr>
        <p:grpSpPr>
          <a:xfrm>
            <a:off x="309849" y="1233369"/>
            <a:ext cx="3415942" cy="2387862"/>
            <a:chOff x="788865" y="1515488"/>
            <a:chExt cx="4594407" cy="2387862"/>
          </a:xfrm>
        </p:grpSpPr>
        <p:sp>
          <p:nvSpPr>
            <p:cNvPr id="66" name="Google Shape;66;p13"/>
            <p:cNvSpPr txBox="1"/>
            <p:nvPr/>
          </p:nvSpPr>
          <p:spPr>
            <a:xfrm>
              <a:off x="788865" y="1515488"/>
              <a:ext cx="31977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700" b="1" dirty="0">
                  <a:solidFill>
                    <a:srgbClr val="FFFFFF"/>
                  </a:solidFill>
                  <a:latin typeface="Roboto Slab"/>
                  <a:ea typeface="Roboto Slab"/>
                  <a:cs typeface="Roboto Slab"/>
                  <a:sym typeface="Roboto Slab"/>
                </a:rPr>
                <a:t>Lecture 28</a:t>
              </a:r>
              <a:r>
                <a:rPr lang="en" sz="2700" dirty="0">
                  <a:solidFill>
                    <a:srgbClr val="FFFFFF"/>
                  </a:solidFill>
                </a:rPr>
                <a:t>:</a:t>
              </a:r>
              <a:endParaRPr sz="2200" dirty="0">
                <a:solidFill>
                  <a:srgbClr val="FFFFFF"/>
                </a:solidFill>
                <a:latin typeface="Roboto Slab"/>
                <a:ea typeface="Roboto Slab"/>
                <a:cs typeface="Roboto Slab"/>
                <a:sym typeface="Roboto Slab"/>
              </a:endParaRPr>
            </a:p>
          </p:txBody>
        </p:sp>
        <p:sp>
          <p:nvSpPr>
            <p:cNvPr id="67" name="Google Shape;67;p13"/>
            <p:cNvSpPr txBox="1"/>
            <p:nvPr/>
          </p:nvSpPr>
          <p:spPr>
            <a:xfrm>
              <a:off x="788874" y="3475300"/>
              <a:ext cx="699001"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dirty="0">
                  <a:solidFill>
                    <a:srgbClr val="FFFFFF"/>
                  </a:solidFill>
                  <a:latin typeface="Poppins"/>
                  <a:ea typeface="Poppins"/>
                  <a:cs typeface="Poppins"/>
                  <a:sym typeface="Poppins"/>
                </a:rPr>
                <a:t>-By</a:t>
              </a:r>
              <a:endParaRPr dirty="0">
                <a:solidFill>
                  <a:srgbClr val="FFFFFF"/>
                </a:solidFill>
                <a:latin typeface="Poppins"/>
                <a:ea typeface="Poppins"/>
                <a:cs typeface="Poppins"/>
                <a:sym typeface="Poppins"/>
              </a:endParaRPr>
            </a:p>
          </p:txBody>
        </p:sp>
        <p:sp>
          <p:nvSpPr>
            <p:cNvPr id="68" name="Google Shape;68;p13"/>
            <p:cNvSpPr txBox="1"/>
            <p:nvPr/>
          </p:nvSpPr>
          <p:spPr>
            <a:xfrm>
              <a:off x="790272" y="2145213"/>
              <a:ext cx="4593000" cy="923299"/>
            </a:xfrm>
            <a:prstGeom prst="rect">
              <a:avLst/>
            </a:prstGeom>
            <a:noFill/>
            <a:ln>
              <a:noFill/>
            </a:ln>
          </p:spPr>
          <p:txBody>
            <a:bodyPr spcFirstLastPara="1" wrap="square" lIns="91425" tIns="91425" rIns="91425" bIns="91425" anchor="t" anchorCtr="0">
              <a:spAutoFit/>
            </a:bodyPr>
            <a:lstStyle/>
            <a:p>
              <a:pPr>
                <a:buSzPts val="1100"/>
              </a:pPr>
              <a:r>
                <a:rPr lang="en" sz="2400" dirty="0">
                  <a:solidFill>
                    <a:srgbClr val="FFFFFF"/>
                  </a:solidFill>
                  <a:latin typeface="Poppins"/>
                  <a:ea typeface="Poppins"/>
                  <a:cs typeface="Poppins"/>
                  <a:sym typeface="Poppins"/>
                </a:rPr>
                <a:t>useEffect Hook</a:t>
              </a:r>
              <a:endParaRPr lang="en-IN" sz="2400" dirty="0">
                <a:solidFill>
                  <a:srgbClr val="FFFFFF"/>
                </a:solidFill>
                <a:latin typeface="Poppins"/>
                <a:ea typeface="Poppins"/>
                <a:cs typeface="Poppins"/>
                <a:sym typeface="Poppins"/>
              </a:endParaRPr>
            </a:p>
            <a:p>
              <a:pPr marL="0" lvl="0" indent="0" algn="l" rtl="0">
                <a:spcBef>
                  <a:spcPts val="0"/>
                </a:spcBef>
                <a:spcAft>
                  <a:spcPts val="0"/>
                </a:spcAft>
                <a:buClr>
                  <a:srgbClr val="000000"/>
                </a:buClr>
                <a:buSzPts val="1100"/>
                <a:buFont typeface="Arial"/>
                <a:buNone/>
              </a:pPr>
              <a:r>
                <a:rPr lang="en" sz="2400" dirty="0">
                  <a:solidFill>
                    <a:srgbClr val="FFFFFF"/>
                  </a:solidFill>
                  <a:latin typeface="Poppins"/>
                  <a:ea typeface="Poppins"/>
                  <a:cs typeface="Poppins"/>
                  <a:sym typeface="Poppins"/>
                </a:rPr>
                <a:t> &amp; Lifecycle Methods</a:t>
              </a:r>
              <a:endParaRPr lang="en-IN" sz="2400" dirty="0">
                <a:solidFill>
                  <a:srgbClr val="FFFFFF"/>
                </a:solidFill>
                <a:latin typeface="Poppins"/>
                <a:ea typeface="Poppins"/>
                <a:cs typeface="Poppins"/>
                <a:sym typeface="Poppins"/>
              </a:endParaRPr>
            </a:p>
          </p:txBody>
        </p:sp>
        <p:sp>
          <p:nvSpPr>
            <p:cNvPr id="69" name="Google Shape;69;p13"/>
            <p:cNvSpPr txBox="1"/>
            <p:nvPr/>
          </p:nvSpPr>
          <p:spPr>
            <a:xfrm>
              <a:off x="1330896" y="3491750"/>
              <a:ext cx="3313199" cy="41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FFFFFF"/>
                  </a:solidFill>
                  <a:latin typeface="Poppins"/>
                  <a:ea typeface="Poppins"/>
                  <a:cs typeface="Poppins"/>
                  <a:sym typeface="Poppins"/>
                </a:rPr>
                <a:t>Instructor Name</a:t>
              </a:r>
              <a:endParaRPr dirty="0">
                <a:solidFill>
                  <a:srgbClr val="FFFFFF"/>
                </a:solidFill>
                <a:latin typeface="Poppins"/>
                <a:ea typeface="Poppins"/>
                <a:cs typeface="Poppins"/>
                <a:sym typeface="Poppins"/>
              </a:endParaRPr>
            </a:p>
          </p:txBody>
        </p:sp>
      </p:grpSp>
      <p:pic>
        <p:nvPicPr>
          <p:cNvPr id="70" name="Google Shape;70;p13" title="png-transparent-js-react-js-logo-react-react-native-logos-icon-removebg-preview.png"/>
          <p:cNvPicPr preferRelativeResize="0"/>
          <p:nvPr/>
        </p:nvPicPr>
        <p:blipFill>
          <a:blip r:embed="rId8">
            <a:alphaModFix/>
          </a:blip>
          <a:stretch>
            <a:fillRect/>
          </a:stretch>
        </p:blipFill>
        <p:spPr>
          <a:xfrm>
            <a:off x="1033272" y="3666744"/>
            <a:ext cx="521207" cy="52120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4"/>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800" b="1">
                <a:solidFill>
                  <a:srgbClr val="073763"/>
                </a:solidFill>
                <a:latin typeface="Poppins"/>
                <a:ea typeface="Poppins"/>
                <a:cs typeface="Poppins"/>
                <a:sym typeface="Poppins"/>
              </a:rPr>
              <a:t>Table of Contents</a:t>
            </a:r>
            <a:endParaRPr sz="2800" b="1">
              <a:solidFill>
                <a:srgbClr val="073763"/>
              </a:solidFill>
              <a:latin typeface="Poppins"/>
              <a:ea typeface="Poppins"/>
              <a:cs typeface="Poppins"/>
              <a:sym typeface="Poppins"/>
            </a:endParaRPr>
          </a:p>
        </p:txBody>
      </p:sp>
      <p:sp>
        <p:nvSpPr>
          <p:cNvPr id="76" name="Google Shape;76;p14"/>
          <p:cNvSpPr txBox="1"/>
          <p:nvPr/>
        </p:nvSpPr>
        <p:spPr>
          <a:xfrm>
            <a:off x="311700" y="863550"/>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1400"/>
              </a:spcBef>
              <a:spcAft>
                <a:spcPts val="0"/>
              </a:spcAft>
              <a:buNone/>
            </a:pPr>
            <a:endParaRPr sz="1800">
              <a:solidFill>
                <a:srgbClr val="273239"/>
              </a:solidFill>
            </a:endParaRPr>
          </a:p>
          <a:p>
            <a:pPr marL="457200" lvl="0" indent="-342900" algn="l" rtl="0">
              <a:lnSpc>
                <a:spcPct val="150000"/>
              </a:lnSpc>
              <a:spcBef>
                <a:spcPts val="400"/>
              </a:spcBef>
              <a:spcAft>
                <a:spcPts val="0"/>
              </a:spcAft>
              <a:buClr>
                <a:srgbClr val="273239"/>
              </a:buClr>
              <a:buSzPts val="1800"/>
              <a:buChar char="●"/>
            </a:pPr>
            <a:r>
              <a:rPr lang="en" sz="1800">
                <a:solidFill>
                  <a:srgbClr val="273239"/>
                </a:solidFill>
              </a:rPr>
              <a:t>Component Lifecycle</a:t>
            </a:r>
            <a:endParaRPr sz="1800">
              <a:solidFill>
                <a:srgbClr val="273239"/>
              </a:solidFill>
            </a:endParaRPr>
          </a:p>
          <a:p>
            <a:pPr marL="457200" lvl="0" indent="-342900" algn="l" rtl="0">
              <a:lnSpc>
                <a:spcPct val="150000"/>
              </a:lnSpc>
              <a:spcBef>
                <a:spcPts val="0"/>
              </a:spcBef>
              <a:spcAft>
                <a:spcPts val="0"/>
              </a:spcAft>
              <a:buClr>
                <a:srgbClr val="273239"/>
              </a:buClr>
              <a:buSzPts val="1800"/>
              <a:buChar char="●"/>
            </a:pPr>
            <a:r>
              <a:rPr lang="en" sz="1800">
                <a:solidFill>
                  <a:srgbClr val="273239"/>
                </a:solidFill>
              </a:rPr>
              <a:t>useEffect</a:t>
            </a:r>
            <a:endParaRPr sz="1800">
              <a:solidFill>
                <a:srgbClr val="273239"/>
              </a:solidFill>
            </a:endParaRPr>
          </a:p>
          <a:p>
            <a:pPr marL="457200" lvl="0" indent="-342900" algn="l" rtl="0">
              <a:lnSpc>
                <a:spcPct val="150000"/>
              </a:lnSpc>
              <a:spcBef>
                <a:spcPts val="0"/>
              </a:spcBef>
              <a:spcAft>
                <a:spcPts val="0"/>
              </a:spcAft>
              <a:buClr>
                <a:srgbClr val="273239"/>
              </a:buClr>
              <a:buSzPts val="1800"/>
              <a:buChar char="●"/>
            </a:pPr>
            <a:r>
              <a:rPr lang="en" sz="1800">
                <a:solidFill>
                  <a:srgbClr val="273239"/>
                </a:solidFill>
              </a:rPr>
              <a:t>Cleanup Function </a:t>
            </a:r>
            <a:endParaRPr sz="1800">
              <a:solidFill>
                <a:srgbClr val="273239"/>
              </a:solidFill>
            </a:endParaRPr>
          </a:p>
          <a:p>
            <a:pPr marL="457200" lvl="0" indent="-342900" algn="l" rtl="0">
              <a:lnSpc>
                <a:spcPct val="150000"/>
              </a:lnSpc>
              <a:spcBef>
                <a:spcPts val="0"/>
              </a:spcBef>
              <a:spcAft>
                <a:spcPts val="0"/>
              </a:spcAft>
              <a:buClr>
                <a:srgbClr val="273239"/>
              </a:buClr>
              <a:buSzPts val="1800"/>
              <a:buChar char="●"/>
            </a:pPr>
            <a:r>
              <a:rPr lang="en" sz="1800">
                <a:solidFill>
                  <a:srgbClr val="273239"/>
                </a:solidFill>
              </a:rPr>
              <a:t>Fetching Data with useEffect</a:t>
            </a:r>
            <a:endParaRPr sz="1800">
              <a:solidFill>
                <a:srgbClr val="273239"/>
              </a:solidFill>
            </a:endParaRPr>
          </a:p>
          <a:p>
            <a:pPr marL="457200" lvl="0" indent="-342900" algn="l" rtl="0">
              <a:lnSpc>
                <a:spcPct val="150000"/>
              </a:lnSpc>
              <a:spcBef>
                <a:spcPts val="0"/>
              </a:spcBef>
              <a:spcAft>
                <a:spcPts val="0"/>
              </a:spcAft>
              <a:buClr>
                <a:srgbClr val="273239"/>
              </a:buClr>
              <a:buSzPts val="1800"/>
              <a:buChar char="●"/>
            </a:pPr>
            <a:r>
              <a:rPr lang="en" sz="1800">
                <a:solidFill>
                  <a:srgbClr val="273239"/>
                </a:solidFill>
              </a:rPr>
              <a:t>References.</a:t>
            </a:r>
            <a:endParaRPr sz="1800">
              <a:solidFill>
                <a:srgbClr val="273239"/>
              </a:solidFill>
            </a:endParaRPr>
          </a:p>
          <a:p>
            <a:pPr marL="457200" lvl="0" indent="-342900" algn="l" rtl="0">
              <a:lnSpc>
                <a:spcPct val="150000"/>
              </a:lnSpc>
              <a:spcBef>
                <a:spcPts val="0"/>
              </a:spcBef>
              <a:spcAft>
                <a:spcPts val="0"/>
              </a:spcAft>
              <a:buClr>
                <a:srgbClr val="273239"/>
              </a:buClr>
              <a:buSzPts val="1800"/>
              <a:buChar char="●"/>
            </a:pPr>
            <a:r>
              <a:rPr lang="en" sz="1800">
                <a:solidFill>
                  <a:srgbClr val="273239"/>
                </a:solidFill>
              </a:rPr>
              <a:t>The End.</a:t>
            </a:r>
            <a:endParaRPr sz="1800">
              <a:solidFill>
                <a:srgbClr val="273239"/>
              </a:solidFill>
            </a:endParaRPr>
          </a:p>
        </p:txBody>
      </p:sp>
      <p:pic>
        <p:nvPicPr>
          <p:cNvPr id="77" name="Google Shape;77;p14"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78" name="Google Shape;78;p1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a:t>
            </a:fld>
            <a:endParaRPr sz="100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5"/>
          <p:cNvSpPr txBox="1"/>
          <p:nvPr/>
        </p:nvSpPr>
        <p:spPr>
          <a:xfrm>
            <a:off x="311700" y="213250"/>
            <a:ext cx="2652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200" b="1">
                <a:latin typeface="Poppins"/>
                <a:ea typeface="Poppins"/>
                <a:cs typeface="Poppins"/>
                <a:sym typeface="Poppins"/>
              </a:rPr>
              <a:t>|</a:t>
            </a:r>
            <a:r>
              <a:rPr lang="en" sz="2200" b="1">
                <a:solidFill>
                  <a:srgbClr val="1C4587"/>
                </a:solidFill>
                <a:latin typeface="Poppins"/>
                <a:ea typeface="Poppins"/>
                <a:cs typeface="Poppins"/>
                <a:sym typeface="Poppins"/>
              </a:rPr>
              <a:t>  </a:t>
            </a:r>
            <a:endParaRPr sz="2200" b="1">
              <a:solidFill>
                <a:srgbClr val="073763"/>
              </a:solidFill>
              <a:latin typeface="Poppins"/>
              <a:ea typeface="Poppins"/>
              <a:cs typeface="Poppins"/>
              <a:sym typeface="Poppins"/>
            </a:endParaRPr>
          </a:p>
        </p:txBody>
      </p:sp>
      <p:pic>
        <p:nvPicPr>
          <p:cNvPr id="84" name="Google Shape;84;p15"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85" name="Google Shape;85;p1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a:t>
            </a:fld>
            <a:endParaRPr sz="1000">
              <a:solidFill>
                <a:srgbClr val="595959"/>
              </a:solidFill>
            </a:endParaRPr>
          </a:p>
        </p:txBody>
      </p:sp>
      <p:sp>
        <p:nvSpPr>
          <p:cNvPr id="86" name="Google Shape;86;p15"/>
          <p:cNvSpPr txBox="1"/>
          <p:nvPr/>
        </p:nvSpPr>
        <p:spPr>
          <a:xfrm>
            <a:off x="576900" y="184200"/>
            <a:ext cx="72237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600" b="1">
                <a:solidFill>
                  <a:srgbClr val="073763"/>
                </a:solidFill>
                <a:latin typeface="Poppins"/>
                <a:ea typeface="Poppins"/>
                <a:cs typeface="Poppins"/>
                <a:sym typeface="Poppins"/>
              </a:rPr>
              <a:t>Did you know React components are just like humans – they are born, they live and change, and finally, they die?</a:t>
            </a:r>
            <a:endParaRPr sz="1600" b="1">
              <a:solidFill>
                <a:srgbClr val="073763"/>
              </a:solidFill>
              <a:latin typeface="Poppins"/>
              <a:ea typeface="Poppins"/>
              <a:cs typeface="Poppins"/>
              <a:sym typeface="Poppins"/>
            </a:endParaRPr>
          </a:p>
        </p:txBody>
      </p:sp>
      <p:pic>
        <p:nvPicPr>
          <p:cNvPr id="87" name="Google Shape;87;p15" title="Thinking face-rafiki (3).png"/>
          <p:cNvPicPr preferRelativeResize="0"/>
          <p:nvPr/>
        </p:nvPicPr>
        <p:blipFill rotWithShape="1">
          <a:blip r:embed="rId4">
            <a:alphaModFix/>
          </a:blip>
          <a:srcRect/>
          <a:stretch/>
        </p:blipFill>
        <p:spPr>
          <a:xfrm>
            <a:off x="2331720" y="1261872"/>
            <a:ext cx="4489700" cy="3611880"/>
          </a:xfrm>
          <a:prstGeom prst="rect">
            <a:avLst/>
          </a:prstGeom>
          <a:noFill/>
          <a:ln>
            <a:noFill/>
          </a:ln>
          <a:effectLst>
            <a:outerShdw blurRad="85725" dist="95250" dir="7380000" algn="bl" rotWithShape="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6"/>
          <p:cNvSpPr txBox="1"/>
          <p:nvPr/>
        </p:nvSpPr>
        <p:spPr>
          <a:xfrm>
            <a:off x="311700" y="213250"/>
            <a:ext cx="2652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200" b="1">
                <a:latin typeface="Poppins"/>
                <a:ea typeface="Poppins"/>
                <a:cs typeface="Poppins"/>
                <a:sym typeface="Poppins"/>
              </a:rPr>
              <a:t>|</a:t>
            </a:r>
            <a:r>
              <a:rPr lang="en" sz="2200" b="1">
                <a:solidFill>
                  <a:srgbClr val="1C4587"/>
                </a:solidFill>
                <a:latin typeface="Poppins"/>
                <a:ea typeface="Poppins"/>
                <a:cs typeface="Poppins"/>
                <a:sym typeface="Poppins"/>
              </a:rPr>
              <a:t>  </a:t>
            </a:r>
            <a:endParaRPr sz="2200" b="1">
              <a:solidFill>
                <a:srgbClr val="073763"/>
              </a:solidFill>
              <a:latin typeface="Poppins"/>
              <a:ea typeface="Poppins"/>
              <a:cs typeface="Poppins"/>
              <a:sym typeface="Poppins"/>
            </a:endParaRPr>
          </a:p>
        </p:txBody>
      </p:sp>
      <p:pic>
        <p:nvPicPr>
          <p:cNvPr id="93" name="Google Shape;93;p16"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94" name="Google Shape;94;p1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a:t>
            </a:fld>
            <a:endParaRPr sz="1000">
              <a:solidFill>
                <a:srgbClr val="595959"/>
              </a:solidFill>
            </a:endParaRPr>
          </a:p>
        </p:txBody>
      </p:sp>
      <p:sp>
        <p:nvSpPr>
          <p:cNvPr id="95" name="Google Shape;95;p16"/>
          <p:cNvSpPr txBox="1"/>
          <p:nvPr/>
        </p:nvSpPr>
        <p:spPr>
          <a:xfrm>
            <a:off x="576900" y="184200"/>
            <a:ext cx="72237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600" b="1">
                <a:solidFill>
                  <a:srgbClr val="073763"/>
                </a:solidFill>
                <a:latin typeface="Poppins"/>
                <a:ea typeface="Poppins"/>
                <a:cs typeface="Poppins"/>
                <a:sym typeface="Poppins"/>
              </a:rPr>
              <a:t>Did you know React components are just like humans – they are born, they live and change, and finally, they die?</a:t>
            </a:r>
            <a:endParaRPr sz="1600" b="1">
              <a:solidFill>
                <a:srgbClr val="073763"/>
              </a:solidFill>
              <a:latin typeface="Poppins"/>
              <a:ea typeface="Poppins"/>
              <a:cs typeface="Poppins"/>
              <a:sym typeface="Poppins"/>
            </a:endParaRPr>
          </a:p>
        </p:txBody>
      </p:sp>
      <p:pic>
        <p:nvPicPr>
          <p:cNvPr id="96" name="Google Shape;96;p16"/>
          <p:cNvPicPr preferRelativeResize="0"/>
          <p:nvPr/>
        </p:nvPicPr>
        <p:blipFill>
          <a:blip r:embed="rId4">
            <a:alphaModFix/>
          </a:blip>
          <a:stretch>
            <a:fillRect/>
          </a:stretch>
        </p:blipFill>
        <p:spPr>
          <a:xfrm>
            <a:off x="6489400" y="1734525"/>
            <a:ext cx="2337149" cy="2062301"/>
          </a:xfrm>
          <a:prstGeom prst="rect">
            <a:avLst/>
          </a:prstGeom>
          <a:noFill/>
          <a:ln>
            <a:noFill/>
          </a:ln>
        </p:spPr>
      </p:pic>
      <p:sp>
        <p:nvSpPr>
          <p:cNvPr id="97" name="Google Shape;97;p16"/>
          <p:cNvSpPr txBox="1"/>
          <p:nvPr/>
        </p:nvSpPr>
        <p:spPr>
          <a:xfrm>
            <a:off x="311700" y="1214400"/>
            <a:ext cx="5673000" cy="37866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300">
                <a:solidFill>
                  <a:schemeClr val="dk1"/>
                </a:solidFill>
                <a:latin typeface="Poppins"/>
                <a:ea typeface="Poppins"/>
                <a:cs typeface="Poppins"/>
                <a:sym typeface="Poppins"/>
              </a:rPr>
              <a:t>In React, every </a:t>
            </a:r>
            <a:r>
              <a:rPr lang="en" sz="1300" b="1">
                <a:solidFill>
                  <a:schemeClr val="dk1"/>
                </a:solidFill>
                <a:latin typeface="Poppins"/>
                <a:ea typeface="Poppins"/>
                <a:cs typeface="Poppins"/>
                <a:sym typeface="Poppins"/>
              </a:rPr>
              <a:t>component</a:t>
            </a:r>
            <a:r>
              <a:rPr lang="en" sz="1300">
                <a:solidFill>
                  <a:schemeClr val="dk1"/>
                </a:solidFill>
                <a:latin typeface="Poppins"/>
                <a:ea typeface="Poppins"/>
                <a:cs typeface="Poppins"/>
                <a:sym typeface="Poppins"/>
              </a:rPr>
              <a:t> has a </a:t>
            </a:r>
            <a:r>
              <a:rPr lang="en" sz="1300" b="1">
                <a:solidFill>
                  <a:schemeClr val="dk1"/>
                </a:solidFill>
                <a:latin typeface="Poppins"/>
                <a:ea typeface="Poppins"/>
                <a:cs typeface="Poppins"/>
                <a:sym typeface="Poppins"/>
              </a:rPr>
              <a:t>lifecycle</a:t>
            </a:r>
            <a:r>
              <a:rPr lang="en" sz="1300">
                <a:solidFill>
                  <a:schemeClr val="dk1"/>
                </a:solidFill>
                <a:latin typeface="Poppins"/>
                <a:ea typeface="Poppins"/>
                <a:cs typeface="Poppins"/>
                <a:sym typeface="Poppins"/>
              </a:rPr>
              <a:t>.</a:t>
            </a:r>
            <a:endParaRPr sz="1300">
              <a:solidFill>
                <a:schemeClr val="dk1"/>
              </a:solidFill>
              <a:latin typeface="Poppins"/>
              <a:ea typeface="Poppins"/>
              <a:cs typeface="Poppins"/>
              <a:sym typeface="Poppins"/>
            </a:endParaRPr>
          </a:p>
          <a:p>
            <a:pPr marL="0" lvl="0" indent="0" algn="l" rtl="0">
              <a:lnSpc>
                <a:spcPct val="100000"/>
              </a:lnSpc>
              <a:spcBef>
                <a:spcPts val="0"/>
              </a:spcBef>
              <a:spcAft>
                <a:spcPts val="0"/>
              </a:spcAft>
              <a:buNone/>
            </a:pPr>
            <a:r>
              <a:rPr lang="en" sz="1300">
                <a:solidFill>
                  <a:schemeClr val="dk1"/>
                </a:solidFill>
                <a:latin typeface="Poppins"/>
                <a:ea typeface="Poppins"/>
                <a:cs typeface="Poppins"/>
                <a:sym typeface="Poppins"/>
              </a:rPr>
              <a:t>You can imagine it just like a </a:t>
            </a:r>
            <a:r>
              <a:rPr lang="en" sz="1300" b="1">
                <a:solidFill>
                  <a:schemeClr val="dk1"/>
                </a:solidFill>
                <a:latin typeface="Poppins"/>
                <a:ea typeface="Poppins"/>
                <a:cs typeface="Poppins"/>
                <a:sym typeface="Poppins"/>
              </a:rPr>
              <a:t>human’s life</a:t>
            </a:r>
            <a:r>
              <a:rPr lang="en" sz="1300">
                <a:solidFill>
                  <a:schemeClr val="dk1"/>
                </a:solidFill>
                <a:latin typeface="Poppins"/>
                <a:ea typeface="Poppins"/>
                <a:cs typeface="Poppins"/>
                <a:sym typeface="Poppins"/>
              </a:rPr>
              <a:t>:</a:t>
            </a:r>
            <a:endParaRPr sz="1300">
              <a:solidFill>
                <a:schemeClr val="dk1"/>
              </a:solidFill>
              <a:latin typeface="Poppins"/>
              <a:ea typeface="Poppins"/>
              <a:cs typeface="Poppins"/>
              <a:sym typeface="Poppins"/>
            </a:endParaRPr>
          </a:p>
          <a:p>
            <a:pPr marL="0" lvl="0" indent="0" algn="l" rtl="0">
              <a:lnSpc>
                <a:spcPct val="100000"/>
              </a:lnSpc>
              <a:spcBef>
                <a:spcPts val="0"/>
              </a:spcBef>
              <a:spcAft>
                <a:spcPts val="0"/>
              </a:spcAft>
              <a:buNone/>
            </a:pPr>
            <a:endParaRPr sz="1300">
              <a:solidFill>
                <a:schemeClr val="dk1"/>
              </a:solidFill>
              <a:latin typeface="Poppins"/>
              <a:ea typeface="Poppins"/>
              <a:cs typeface="Poppins"/>
              <a:sym typeface="Poppins"/>
            </a:endParaRPr>
          </a:p>
          <a:p>
            <a:pPr marL="457200" lvl="0" indent="-311150" algn="l" rtl="0">
              <a:lnSpc>
                <a:spcPct val="100000"/>
              </a:lnSpc>
              <a:spcBef>
                <a:spcPts val="0"/>
              </a:spcBef>
              <a:spcAft>
                <a:spcPts val="0"/>
              </a:spcAft>
              <a:buClr>
                <a:schemeClr val="dk1"/>
              </a:buClr>
              <a:buSzPts val="1300"/>
              <a:buAutoNum type="arabicPeriod"/>
            </a:pPr>
            <a:r>
              <a:rPr lang="en" sz="1300" b="1">
                <a:solidFill>
                  <a:schemeClr val="dk1"/>
                </a:solidFill>
                <a:latin typeface="Poppins"/>
                <a:ea typeface="Poppins"/>
                <a:cs typeface="Poppins"/>
                <a:sym typeface="Poppins"/>
              </a:rPr>
              <a:t>Birth</a:t>
            </a:r>
            <a:endParaRPr sz="1300">
              <a:solidFill>
                <a:schemeClr val="dk1"/>
              </a:solidFill>
              <a:latin typeface="Poppins"/>
              <a:ea typeface="Poppins"/>
              <a:cs typeface="Poppins"/>
              <a:sym typeface="Poppins"/>
            </a:endParaRPr>
          </a:p>
          <a:p>
            <a:pPr marL="571500" lvl="1" indent="-168275" algn="l" rtl="0">
              <a:lnSpc>
                <a:spcPct val="100000"/>
              </a:lnSpc>
              <a:spcBef>
                <a:spcPts val="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A baby is born.</a:t>
            </a:r>
            <a:endParaRPr sz="1300">
              <a:solidFill>
                <a:schemeClr val="dk1"/>
              </a:solidFill>
              <a:latin typeface="Poppins"/>
              <a:ea typeface="Poppins"/>
              <a:cs typeface="Poppins"/>
              <a:sym typeface="Poppins"/>
            </a:endParaRPr>
          </a:p>
          <a:p>
            <a:pPr marL="571500" lvl="1" indent="-168275" algn="l" rtl="0">
              <a:lnSpc>
                <a:spcPct val="100000"/>
              </a:lnSpc>
              <a:spcBef>
                <a:spcPts val="0"/>
              </a:spcBef>
              <a:spcAft>
                <a:spcPts val="0"/>
              </a:spcAft>
              <a:buClr>
                <a:schemeClr val="dk1"/>
              </a:buClr>
              <a:buSzPts val="1300"/>
              <a:buChar char="○"/>
            </a:pPr>
            <a:r>
              <a:rPr lang="en" sz="1300">
                <a:solidFill>
                  <a:schemeClr val="dk1"/>
                </a:solidFill>
                <a:latin typeface="Poppins"/>
                <a:ea typeface="Poppins"/>
                <a:cs typeface="Poppins"/>
                <a:sym typeface="Poppins"/>
              </a:rPr>
              <a:t>Similarly, when a component is created and added to the screen, this is its </a:t>
            </a:r>
            <a:r>
              <a:rPr lang="en" sz="1300" b="1">
                <a:solidFill>
                  <a:schemeClr val="dk1"/>
                </a:solidFill>
                <a:latin typeface="Poppins"/>
                <a:ea typeface="Poppins"/>
                <a:cs typeface="Poppins"/>
                <a:sym typeface="Poppins"/>
              </a:rPr>
              <a:t>birth</a:t>
            </a:r>
            <a:r>
              <a:rPr lang="en" sz="1300">
                <a:solidFill>
                  <a:schemeClr val="dk1"/>
                </a:solidFill>
                <a:latin typeface="Poppins"/>
                <a:ea typeface="Poppins"/>
                <a:cs typeface="Poppins"/>
                <a:sym typeface="Poppins"/>
              </a:rPr>
              <a:t>.</a:t>
            </a:r>
            <a:endParaRPr sz="1300">
              <a:solidFill>
                <a:schemeClr val="dk1"/>
              </a:solidFill>
              <a:latin typeface="Poppins"/>
              <a:ea typeface="Poppins"/>
              <a:cs typeface="Poppins"/>
              <a:sym typeface="Poppins"/>
            </a:endParaRPr>
          </a:p>
          <a:p>
            <a:pPr marL="457200" lvl="0" indent="-85725" algn="l" rtl="0">
              <a:lnSpc>
                <a:spcPct val="100000"/>
              </a:lnSpc>
              <a:spcBef>
                <a:spcPts val="0"/>
              </a:spcBef>
              <a:spcAft>
                <a:spcPts val="0"/>
              </a:spcAft>
              <a:buNone/>
            </a:pPr>
            <a:endParaRPr sz="1300">
              <a:solidFill>
                <a:schemeClr val="dk1"/>
              </a:solidFill>
              <a:latin typeface="Poppins"/>
              <a:ea typeface="Poppins"/>
              <a:cs typeface="Poppins"/>
              <a:sym typeface="Poppins"/>
            </a:endParaRPr>
          </a:p>
          <a:p>
            <a:pPr marL="457200" lvl="0" indent="-311150" algn="l" rtl="0">
              <a:lnSpc>
                <a:spcPct val="100000"/>
              </a:lnSpc>
              <a:spcBef>
                <a:spcPts val="0"/>
              </a:spcBef>
              <a:spcAft>
                <a:spcPts val="0"/>
              </a:spcAft>
              <a:buClr>
                <a:schemeClr val="dk1"/>
              </a:buClr>
              <a:buSzPts val="1300"/>
              <a:buAutoNum type="arabicPeriod"/>
            </a:pPr>
            <a:r>
              <a:rPr lang="en" sz="1300" b="1">
                <a:solidFill>
                  <a:schemeClr val="dk1"/>
                </a:solidFill>
                <a:latin typeface="Poppins"/>
                <a:ea typeface="Poppins"/>
                <a:cs typeface="Poppins"/>
                <a:sym typeface="Poppins"/>
              </a:rPr>
              <a:t>Growth </a:t>
            </a:r>
            <a:endParaRPr sz="1300">
              <a:solidFill>
                <a:schemeClr val="dk1"/>
              </a:solidFill>
              <a:latin typeface="Poppins"/>
              <a:ea typeface="Poppins"/>
              <a:cs typeface="Poppins"/>
              <a:sym typeface="Poppins"/>
            </a:endParaRPr>
          </a:p>
          <a:p>
            <a:pPr marL="600075" lvl="1" indent="-196850" algn="l" rtl="0">
              <a:lnSpc>
                <a:spcPct val="100000"/>
              </a:lnSpc>
              <a:spcBef>
                <a:spcPts val="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A human grows, learns new things, and changes over time.</a:t>
            </a:r>
            <a:endParaRPr sz="1300">
              <a:solidFill>
                <a:schemeClr val="dk1"/>
              </a:solidFill>
              <a:latin typeface="Poppins"/>
              <a:ea typeface="Poppins"/>
              <a:cs typeface="Poppins"/>
              <a:sym typeface="Poppins"/>
            </a:endParaRPr>
          </a:p>
          <a:p>
            <a:pPr marL="600075" lvl="1" indent="-196850" algn="l" rtl="0">
              <a:lnSpc>
                <a:spcPct val="100000"/>
              </a:lnSpc>
              <a:spcBef>
                <a:spcPts val="0"/>
              </a:spcBef>
              <a:spcAft>
                <a:spcPts val="0"/>
              </a:spcAft>
              <a:buClr>
                <a:schemeClr val="dk1"/>
              </a:buClr>
              <a:buSzPts val="1300"/>
              <a:buChar char="○"/>
            </a:pPr>
            <a:r>
              <a:rPr lang="en" sz="1300">
                <a:solidFill>
                  <a:schemeClr val="dk1"/>
                </a:solidFill>
                <a:latin typeface="Poppins"/>
                <a:ea typeface="Poppins"/>
                <a:cs typeface="Poppins"/>
                <a:sym typeface="Poppins"/>
              </a:rPr>
              <a:t>Similarly, a component </a:t>
            </a:r>
            <a:r>
              <a:rPr lang="en" sz="1300" b="1">
                <a:solidFill>
                  <a:schemeClr val="dk1"/>
                </a:solidFill>
                <a:latin typeface="Poppins"/>
                <a:ea typeface="Poppins"/>
                <a:cs typeface="Poppins"/>
                <a:sym typeface="Poppins"/>
              </a:rPr>
              <a:t>updates</a:t>
            </a:r>
            <a:r>
              <a:rPr lang="en" sz="1300">
                <a:solidFill>
                  <a:schemeClr val="dk1"/>
                </a:solidFill>
                <a:latin typeface="Poppins"/>
                <a:ea typeface="Poppins"/>
                <a:cs typeface="Poppins"/>
                <a:sym typeface="Poppins"/>
              </a:rPr>
              <a:t> whenever its data (props or state) changes.</a:t>
            </a:r>
            <a:br>
              <a:rPr lang="en" sz="1300">
                <a:solidFill>
                  <a:schemeClr val="dk1"/>
                </a:solidFill>
                <a:latin typeface="Poppins"/>
                <a:ea typeface="Poppins"/>
                <a:cs typeface="Poppins"/>
                <a:sym typeface="Poppins"/>
              </a:rPr>
            </a:br>
            <a:endParaRPr sz="1300">
              <a:solidFill>
                <a:schemeClr val="dk1"/>
              </a:solidFill>
              <a:latin typeface="Poppins"/>
              <a:ea typeface="Poppins"/>
              <a:cs typeface="Poppins"/>
              <a:sym typeface="Poppins"/>
            </a:endParaRPr>
          </a:p>
          <a:p>
            <a:pPr marL="457200" lvl="0" indent="-311150" algn="l" rtl="0">
              <a:lnSpc>
                <a:spcPct val="100000"/>
              </a:lnSpc>
              <a:spcBef>
                <a:spcPts val="0"/>
              </a:spcBef>
              <a:spcAft>
                <a:spcPts val="0"/>
              </a:spcAft>
              <a:buClr>
                <a:schemeClr val="dk1"/>
              </a:buClr>
              <a:buSzPts val="1300"/>
              <a:buAutoNum type="arabicPeriod"/>
            </a:pPr>
            <a:r>
              <a:rPr lang="en" sz="1300" b="1">
                <a:solidFill>
                  <a:schemeClr val="dk1"/>
                </a:solidFill>
                <a:latin typeface="Poppins"/>
                <a:ea typeface="Poppins"/>
                <a:cs typeface="Poppins"/>
                <a:sym typeface="Poppins"/>
              </a:rPr>
              <a:t>Death </a:t>
            </a:r>
            <a:endParaRPr sz="1300">
              <a:solidFill>
                <a:schemeClr val="dk1"/>
              </a:solidFill>
              <a:latin typeface="Poppins"/>
              <a:ea typeface="Poppins"/>
              <a:cs typeface="Poppins"/>
              <a:sym typeface="Poppins"/>
            </a:endParaRPr>
          </a:p>
          <a:p>
            <a:pPr marL="628650" lvl="1" indent="-225425" algn="l" rtl="0">
              <a:lnSpc>
                <a:spcPct val="100000"/>
              </a:lnSpc>
              <a:spcBef>
                <a:spcPts val="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Every human has an end.</a:t>
            </a:r>
            <a:endParaRPr sz="1300">
              <a:solidFill>
                <a:schemeClr val="dk1"/>
              </a:solidFill>
              <a:latin typeface="Poppins"/>
              <a:ea typeface="Poppins"/>
              <a:cs typeface="Poppins"/>
              <a:sym typeface="Poppins"/>
            </a:endParaRPr>
          </a:p>
          <a:p>
            <a:pPr marL="628650" lvl="1" indent="-225425" algn="l" rtl="0">
              <a:lnSpc>
                <a:spcPct val="100000"/>
              </a:lnSpc>
              <a:spcBef>
                <a:spcPts val="0"/>
              </a:spcBef>
              <a:spcAft>
                <a:spcPts val="0"/>
              </a:spcAft>
              <a:buClr>
                <a:schemeClr val="dk1"/>
              </a:buClr>
              <a:buSzPts val="1300"/>
              <a:buFont typeface="Poppins"/>
              <a:buChar char="○"/>
            </a:pPr>
            <a:r>
              <a:rPr lang="en" sz="1300">
                <a:solidFill>
                  <a:schemeClr val="dk1"/>
                </a:solidFill>
                <a:latin typeface="Poppins"/>
                <a:ea typeface="Poppins"/>
                <a:cs typeface="Poppins"/>
                <a:sym typeface="Poppins"/>
              </a:rPr>
              <a:t>Similarly, when a component is removed from the screen, its lifecycle ends.</a:t>
            </a:r>
            <a:br>
              <a:rPr lang="en" sz="1300">
                <a:solidFill>
                  <a:schemeClr val="dk1"/>
                </a:solidFill>
                <a:latin typeface="Poppins"/>
                <a:ea typeface="Poppins"/>
                <a:cs typeface="Poppins"/>
                <a:sym typeface="Poppins"/>
              </a:rPr>
            </a:br>
            <a:endParaRPr sz="1300">
              <a:solidFill>
                <a:schemeClr val="dk1"/>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7"/>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600" b="1">
                <a:solidFill>
                  <a:srgbClr val="073763"/>
                </a:solidFill>
                <a:latin typeface="Poppins"/>
                <a:ea typeface="Poppins"/>
                <a:cs typeface="Poppins"/>
                <a:sym typeface="Poppins"/>
              </a:rPr>
              <a:t>Component Lifecycle</a:t>
            </a:r>
            <a:endParaRPr sz="3600" b="1">
              <a:solidFill>
                <a:srgbClr val="073763"/>
              </a:solidFill>
              <a:latin typeface="Poppins"/>
              <a:ea typeface="Poppins"/>
              <a:cs typeface="Poppins"/>
              <a:sym typeface="Poppins"/>
            </a:endParaRPr>
          </a:p>
        </p:txBody>
      </p:sp>
      <p:pic>
        <p:nvPicPr>
          <p:cNvPr id="103" name="Google Shape;103;p17"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04" name="Google Shape;104;p1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5</a:t>
            </a:fld>
            <a:endParaRPr sz="1000">
              <a:solidFill>
                <a:srgbClr val="595959"/>
              </a:solidFill>
            </a:endParaRPr>
          </a:p>
        </p:txBody>
      </p:sp>
      <p:sp>
        <p:nvSpPr>
          <p:cNvPr id="105" name="Google Shape;105;p17"/>
          <p:cNvSpPr txBox="1"/>
          <p:nvPr/>
        </p:nvSpPr>
        <p:spPr>
          <a:xfrm>
            <a:off x="125275" y="2908150"/>
            <a:ext cx="5292300" cy="1908600"/>
          </a:xfrm>
          <a:prstGeom prst="rect">
            <a:avLst/>
          </a:prstGeom>
          <a:noFill/>
          <a:ln>
            <a:noFill/>
          </a:ln>
        </p:spPr>
        <p:txBody>
          <a:bodyPr spcFirstLastPara="1" wrap="square" lIns="91425" tIns="91425" rIns="91425" bIns="91425" anchor="t" anchorCtr="0">
            <a:spAutoFit/>
          </a:bodyPr>
          <a:lstStyle/>
          <a:p>
            <a:pPr marL="457200" lvl="0" indent="-146050" algn="l" rtl="0">
              <a:spcBef>
                <a:spcPts val="0"/>
              </a:spcBef>
              <a:spcAft>
                <a:spcPts val="0"/>
              </a:spcAft>
              <a:buClr>
                <a:schemeClr val="dk1"/>
              </a:buClr>
              <a:buSzPts val="1400"/>
              <a:buFont typeface="Poppins"/>
              <a:buChar char="●"/>
            </a:pPr>
            <a:r>
              <a:rPr lang="en" b="1">
                <a:solidFill>
                  <a:schemeClr val="dk1"/>
                </a:solidFill>
                <a:latin typeface="Poppins"/>
                <a:ea typeface="Poppins"/>
                <a:cs typeface="Poppins"/>
                <a:sym typeface="Poppins"/>
              </a:rPr>
              <a:t>Mounting (Birth):</a:t>
            </a:r>
            <a:r>
              <a:rPr lang="en">
                <a:solidFill>
                  <a:schemeClr val="dk1"/>
                </a:solidFill>
                <a:latin typeface="Poppins"/>
                <a:ea typeface="Poppins"/>
                <a:cs typeface="Poppins"/>
                <a:sym typeface="Poppins"/>
              </a:rPr>
              <a:t> The component appears on the screen for the first time.</a:t>
            </a:r>
            <a:br>
              <a:rPr lang="en">
                <a:solidFill>
                  <a:schemeClr val="dk1"/>
                </a:solidFill>
                <a:latin typeface="Poppins"/>
                <a:ea typeface="Poppins"/>
                <a:cs typeface="Poppins"/>
                <a:sym typeface="Poppins"/>
              </a:rPr>
            </a:br>
            <a:endParaRPr>
              <a:solidFill>
                <a:schemeClr val="dk1"/>
              </a:solidFill>
              <a:latin typeface="Poppins"/>
              <a:ea typeface="Poppins"/>
              <a:cs typeface="Poppins"/>
              <a:sym typeface="Poppins"/>
            </a:endParaRPr>
          </a:p>
          <a:p>
            <a:pPr marL="457200" lvl="0" indent="-146050" algn="l" rtl="0">
              <a:spcBef>
                <a:spcPts val="0"/>
              </a:spcBef>
              <a:spcAft>
                <a:spcPts val="0"/>
              </a:spcAft>
              <a:buClr>
                <a:schemeClr val="dk1"/>
              </a:buClr>
              <a:buSzPts val="1400"/>
              <a:buFont typeface="Poppins"/>
              <a:buChar char="●"/>
            </a:pPr>
            <a:r>
              <a:rPr lang="en" b="1">
                <a:solidFill>
                  <a:schemeClr val="dk1"/>
                </a:solidFill>
                <a:latin typeface="Poppins"/>
                <a:ea typeface="Poppins"/>
                <a:cs typeface="Poppins"/>
                <a:sym typeface="Poppins"/>
              </a:rPr>
              <a:t>Updating (Growing ):</a:t>
            </a:r>
            <a:r>
              <a:rPr lang="en">
                <a:solidFill>
                  <a:schemeClr val="dk1"/>
                </a:solidFill>
                <a:latin typeface="Poppins"/>
                <a:ea typeface="Poppins"/>
                <a:cs typeface="Poppins"/>
                <a:sym typeface="Poppins"/>
              </a:rPr>
              <a:t> The component changes because its </a:t>
            </a:r>
            <a:r>
              <a:rPr lang="en" b="1">
                <a:solidFill>
                  <a:schemeClr val="dk1"/>
                </a:solidFill>
                <a:latin typeface="Poppins"/>
                <a:ea typeface="Poppins"/>
                <a:cs typeface="Poppins"/>
                <a:sym typeface="Poppins"/>
              </a:rPr>
              <a:t>state</a:t>
            </a:r>
            <a:r>
              <a:rPr lang="en">
                <a:solidFill>
                  <a:schemeClr val="dk1"/>
                </a:solidFill>
                <a:latin typeface="Poppins"/>
                <a:ea typeface="Poppins"/>
                <a:cs typeface="Poppins"/>
                <a:sym typeface="Poppins"/>
              </a:rPr>
              <a:t> or </a:t>
            </a:r>
            <a:r>
              <a:rPr lang="en" b="1">
                <a:solidFill>
                  <a:schemeClr val="dk1"/>
                </a:solidFill>
                <a:latin typeface="Poppins"/>
                <a:ea typeface="Poppins"/>
                <a:cs typeface="Poppins"/>
                <a:sym typeface="Poppins"/>
              </a:rPr>
              <a:t>props</a:t>
            </a:r>
            <a:r>
              <a:rPr lang="en">
                <a:solidFill>
                  <a:schemeClr val="dk1"/>
                </a:solidFill>
                <a:latin typeface="Poppins"/>
                <a:ea typeface="Poppins"/>
                <a:cs typeface="Poppins"/>
                <a:sym typeface="Poppins"/>
              </a:rPr>
              <a:t> changed.</a:t>
            </a:r>
            <a:br>
              <a:rPr lang="en">
                <a:solidFill>
                  <a:schemeClr val="dk1"/>
                </a:solidFill>
                <a:latin typeface="Poppins"/>
                <a:ea typeface="Poppins"/>
                <a:cs typeface="Poppins"/>
                <a:sym typeface="Poppins"/>
              </a:rPr>
            </a:br>
            <a:endParaRPr>
              <a:solidFill>
                <a:schemeClr val="dk1"/>
              </a:solidFill>
              <a:latin typeface="Poppins"/>
              <a:ea typeface="Poppins"/>
              <a:cs typeface="Poppins"/>
              <a:sym typeface="Poppins"/>
            </a:endParaRPr>
          </a:p>
          <a:p>
            <a:pPr marL="457200" lvl="0" indent="-146050" algn="l" rtl="0">
              <a:spcBef>
                <a:spcPts val="0"/>
              </a:spcBef>
              <a:spcAft>
                <a:spcPts val="0"/>
              </a:spcAft>
              <a:buClr>
                <a:schemeClr val="dk1"/>
              </a:buClr>
              <a:buSzPts val="1400"/>
              <a:buFont typeface="Poppins"/>
              <a:buChar char="●"/>
            </a:pPr>
            <a:r>
              <a:rPr lang="en" b="1">
                <a:solidFill>
                  <a:schemeClr val="dk1"/>
                </a:solidFill>
                <a:latin typeface="Poppins"/>
                <a:ea typeface="Poppins"/>
                <a:cs typeface="Poppins"/>
                <a:sym typeface="Poppins"/>
              </a:rPr>
              <a:t>Unmounting (Death) :</a:t>
            </a:r>
            <a:r>
              <a:rPr lang="en">
                <a:solidFill>
                  <a:schemeClr val="dk1"/>
                </a:solidFill>
                <a:latin typeface="Poppins"/>
                <a:ea typeface="Poppins"/>
                <a:cs typeface="Poppins"/>
                <a:sym typeface="Poppins"/>
              </a:rPr>
              <a:t>The component is removed from the screen, so we must clean up.</a:t>
            </a:r>
            <a:endParaRPr>
              <a:solidFill>
                <a:schemeClr val="dk1"/>
              </a:solidFill>
              <a:latin typeface="Poppins"/>
              <a:ea typeface="Poppins"/>
              <a:cs typeface="Poppins"/>
              <a:sym typeface="Poppins"/>
            </a:endParaRPr>
          </a:p>
        </p:txBody>
      </p:sp>
      <p:sp>
        <p:nvSpPr>
          <p:cNvPr id="106" name="Google Shape;106;p17"/>
          <p:cNvSpPr txBox="1"/>
          <p:nvPr/>
        </p:nvSpPr>
        <p:spPr>
          <a:xfrm>
            <a:off x="311700" y="1169075"/>
            <a:ext cx="5142300" cy="1862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solidFill>
                  <a:schemeClr val="dk1"/>
                </a:solidFill>
                <a:latin typeface="Poppins"/>
                <a:ea typeface="Poppins"/>
                <a:cs typeface="Poppins"/>
                <a:sym typeface="Poppins"/>
              </a:rPr>
              <a:t>A </a:t>
            </a:r>
            <a:r>
              <a:rPr lang="en" b="1">
                <a:solidFill>
                  <a:schemeClr val="dk1"/>
                </a:solidFill>
                <a:latin typeface="Poppins"/>
                <a:ea typeface="Poppins"/>
                <a:cs typeface="Poppins"/>
                <a:sym typeface="Poppins"/>
              </a:rPr>
              <a:t>component lifecycle</a:t>
            </a:r>
            <a:r>
              <a:rPr lang="en">
                <a:solidFill>
                  <a:schemeClr val="dk1"/>
                </a:solidFill>
                <a:latin typeface="Poppins"/>
                <a:ea typeface="Poppins"/>
                <a:cs typeface="Poppins"/>
                <a:sym typeface="Poppins"/>
              </a:rPr>
              <a:t> in React refers to the different stages a component goes through from its creation to its removal from the user interface.</a:t>
            </a:r>
            <a:br>
              <a:rPr lang="en">
                <a:solidFill>
                  <a:schemeClr val="dk1"/>
                </a:solidFill>
                <a:latin typeface="Poppins"/>
                <a:ea typeface="Poppins"/>
                <a:cs typeface="Poppins"/>
                <a:sym typeface="Poppins"/>
              </a:rPr>
            </a:br>
            <a:r>
              <a:rPr lang="en">
                <a:solidFill>
                  <a:schemeClr val="dk1"/>
                </a:solidFill>
                <a:latin typeface="Poppins"/>
                <a:ea typeface="Poppins"/>
                <a:cs typeface="Poppins"/>
                <a:sym typeface="Poppins"/>
              </a:rPr>
              <a:t> </a:t>
            </a:r>
            <a:endParaRPr>
              <a:solidFill>
                <a:schemeClr val="dk1"/>
              </a:solidFill>
              <a:latin typeface="Poppins"/>
              <a:ea typeface="Poppins"/>
              <a:cs typeface="Poppins"/>
              <a:sym typeface="Poppins"/>
            </a:endParaRPr>
          </a:p>
          <a:p>
            <a:pPr marL="0" lvl="0" indent="0" algn="l" rtl="0">
              <a:lnSpc>
                <a:spcPct val="100000"/>
              </a:lnSpc>
              <a:spcBef>
                <a:spcPts val="0"/>
              </a:spcBef>
              <a:spcAft>
                <a:spcPts val="0"/>
              </a:spcAft>
              <a:buNone/>
            </a:pPr>
            <a:r>
              <a:rPr lang="en" b="1">
                <a:solidFill>
                  <a:schemeClr val="dk1"/>
                </a:solidFill>
                <a:latin typeface="Poppins"/>
                <a:ea typeface="Poppins"/>
                <a:cs typeface="Poppins"/>
                <a:sym typeface="Poppins"/>
              </a:rPr>
              <a:t>Birth —&gt; growth —&gt; death</a:t>
            </a:r>
            <a:r>
              <a:rPr lang="en">
                <a:solidFill>
                  <a:schemeClr val="dk1"/>
                </a:solidFill>
                <a:latin typeface="Poppins"/>
                <a:ea typeface="Poppins"/>
                <a:cs typeface="Poppins"/>
                <a:sym typeface="Poppins"/>
              </a:rPr>
              <a:t>  </a:t>
            </a:r>
            <a:endParaRPr>
              <a:solidFill>
                <a:schemeClr val="dk1"/>
              </a:solidFill>
              <a:latin typeface="Poppins"/>
              <a:ea typeface="Poppins"/>
              <a:cs typeface="Poppins"/>
              <a:sym typeface="Poppins"/>
            </a:endParaRPr>
          </a:p>
          <a:p>
            <a:pPr marL="0" lvl="0" indent="0" algn="l" rtl="0">
              <a:lnSpc>
                <a:spcPct val="100000"/>
              </a:lnSpc>
              <a:spcBef>
                <a:spcPts val="0"/>
              </a:spcBef>
              <a:spcAft>
                <a:spcPts val="0"/>
              </a:spcAft>
              <a:buNone/>
            </a:pPr>
            <a:endParaRPr>
              <a:solidFill>
                <a:schemeClr val="dk1"/>
              </a:solidFill>
              <a:latin typeface="Poppins"/>
              <a:ea typeface="Poppins"/>
              <a:cs typeface="Poppins"/>
              <a:sym typeface="Poppins"/>
            </a:endParaRPr>
          </a:p>
          <a:p>
            <a:pPr marL="0" lvl="0" indent="0" algn="l" rtl="0">
              <a:lnSpc>
                <a:spcPct val="100000"/>
              </a:lnSpc>
              <a:spcBef>
                <a:spcPts val="0"/>
              </a:spcBef>
              <a:spcAft>
                <a:spcPts val="0"/>
              </a:spcAft>
              <a:buNone/>
            </a:pPr>
            <a:r>
              <a:rPr lang="en">
                <a:solidFill>
                  <a:schemeClr val="dk1"/>
                </a:solidFill>
                <a:latin typeface="Poppins"/>
                <a:ea typeface="Poppins"/>
                <a:cs typeface="Poppins"/>
                <a:sym typeface="Poppins"/>
              </a:rPr>
              <a:t>It is divided in </a:t>
            </a:r>
            <a:r>
              <a:rPr lang="en" b="1">
                <a:solidFill>
                  <a:schemeClr val="dk1"/>
                </a:solidFill>
                <a:latin typeface="Poppins"/>
                <a:ea typeface="Poppins"/>
                <a:cs typeface="Poppins"/>
                <a:sym typeface="Poppins"/>
              </a:rPr>
              <a:t>three main phases</a:t>
            </a:r>
            <a:r>
              <a:rPr lang="en">
                <a:solidFill>
                  <a:schemeClr val="dk1"/>
                </a:solidFill>
                <a:latin typeface="Poppins"/>
                <a:ea typeface="Poppins"/>
                <a:cs typeface="Poppins"/>
                <a:sym typeface="Poppins"/>
              </a:rPr>
              <a:t>:</a:t>
            </a:r>
            <a:endParaRPr>
              <a:solidFill>
                <a:schemeClr val="dk1"/>
              </a:solidFill>
              <a:latin typeface="Poppins"/>
              <a:ea typeface="Poppins"/>
              <a:cs typeface="Poppins"/>
              <a:sym typeface="Poppins"/>
            </a:endParaRPr>
          </a:p>
          <a:p>
            <a:pPr marL="0" lvl="0" indent="0" algn="l" rtl="0">
              <a:spcBef>
                <a:spcPts val="0"/>
              </a:spcBef>
              <a:spcAft>
                <a:spcPts val="0"/>
              </a:spcAft>
              <a:buNone/>
            </a:pPr>
            <a:endParaRPr sz="1100">
              <a:solidFill>
                <a:schemeClr val="dk1"/>
              </a:solidFill>
            </a:endParaRPr>
          </a:p>
        </p:txBody>
      </p:sp>
      <p:pic>
        <p:nvPicPr>
          <p:cNvPr id="107" name="Google Shape;107;p17"/>
          <p:cNvPicPr preferRelativeResize="0"/>
          <p:nvPr/>
        </p:nvPicPr>
        <p:blipFill>
          <a:blip r:embed="rId4">
            <a:alphaModFix/>
          </a:blip>
          <a:stretch>
            <a:fillRect/>
          </a:stretch>
        </p:blipFill>
        <p:spPr>
          <a:xfrm>
            <a:off x="5975075" y="1866613"/>
            <a:ext cx="2640050" cy="1941575"/>
          </a:xfrm>
          <a:prstGeom prst="rect">
            <a:avLst/>
          </a:prstGeom>
          <a:noFill/>
          <a:ln>
            <a:noFill/>
          </a:ln>
          <a:effectLst>
            <a:outerShdw blurRad="200025" dist="76200" dir="774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8"/>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600" b="1">
                <a:solidFill>
                  <a:srgbClr val="073763"/>
                </a:solidFill>
                <a:latin typeface="Poppins"/>
                <a:ea typeface="Poppins"/>
                <a:cs typeface="Poppins"/>
                <a:sym typeface="Poppins"/>
              </a:rPr>
              <a:t>Mounting</a:t>
            </a:r>
            <a:endParaRPr sz="3600" b="1">
              <a:solidFill>
                <a:srgbClr val="073763"/>
              </a:solidFill>
              <a:latin typeface="Poppins"/>
              <a:ea typeface="Poppins"/>
              <a:cs typeface="Poppins"/>
              <a:sym typeface="Poppins"/>
            </a:endParaRPr>
          </a:p>
        </p:txBody>
      </p:sp>
      <p:pic>
        <p:nvPicPr>
          <p:cNvPr id="113" name="Google Shape;113;p18"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14" name="Google Shape;114;p1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6</a:t>
            </a:fld>
            <a:endParaRPr sz="1000">
              <a:solidFill>
                <a:srgbClr val="595959"/>
              </a:solidFill>
            </a:endParaRPr>
          </a:p>
        </p:txBody>
      </p:sp>
      <p:sp>
        <p:nvSpPr>
          <p:cNvPr id="115" name="Google Shape;115;p18"/>
          <p:cNvSpPr txBox="1"/>
          <p:nvPr/>
        </p:nvSpPr>
        <p:spPr>
          <a:xfrm>
            <a:off x="311700" y="1336100"/>
            <a:ext cx="62424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Poppins"/>
                <a:ea typeface="Poppins"/>
                <a:cs typeface="Poppins"/>
                <a:sym typeface="Poppins"/>
              </a:rPr>
              <a:t>Mounting </a:t>
            </a:r>
            <a:r>
              <a:rPr lang="en">
                <a:solidFill>
                  <a:schemeClr val="dk1"/>
                </a:solidFill>
                <a:latin typeface="Poppins"/>
                <a:ea typeface="Poppins"/>
                <a:cs typeface="Poppins"/>
                <a:sym typeface="Poppins"/>
              </a:rPr>
              <a:t>is the process when a component is </a:t>
            </a:r>
            <a:r>
              <a:rPr lang="en" b="1">
                <a:solidFill>
                  <a:schemeClr val="dk1"/>
                </a:solidFill>
                <a:latin typeface="Poppins"/>
                <a:ea typeface="Poppins"/>
                <a:cs typeface="Poppins"/>
                <a:sym typeface="Poppins"/>
              </a:rPr>
              <a:t>created</a:t>
            </a:r>
            <a:r>
              <a:rPr lang="en">
                <a:solidFill>
                  <a:schemeClr val="dk1"/>
                </a:solidFill>
                <a:latin typeface="Poppins"/>
                <a:ea typeface="Poppins"/>
                <a:cs typeface="Poppins"/>
                <a:sym typeface="Poppins"/>
              </a:rPr>
              <a:t> and </a:t>
            </a:r>
            <a:r>
              <a:rPr lang="en" b="1">
                <a:solidFill>
                  <a:schemeClr val="dk1"/>
                </a:solidFill>
                <a:latin typeface="Poppins"/>
                <a:ea typeface="Poppins"/>
                <a:cs typeface="Poppins"/>
                <a:sym typeface="Poppins"/>
              </a:rPr>
              <a:t>inserted into the DOM</a:t>
            </a:r>
            <a:r>
              <a:rPr lang="en">
                <a:solidFill>
                  <a:schemeClr val="dk1"/>
                </a:solidFill>
                <a:latin typeface="Poppins"/>
                <a:ea typeface="Poppins"/>
                <a:cs typeface="Poppins"/>
                <a:sym typeface="Poppins"/>
              </a:rPr>
              <a:t> (Document Object Model) for the very first time.</a:t>
            </a:r>
            <a:endParaRPr>
              <a:solidFill>
                <a:schemeClr val="dk1"/>
              </a:solidFill>
              <a:latin typeface="Poppins"/>
              <a:ea typeface="Poppins"/>
              <a:cs typeface="Poppins"/>
              <a:sym typeface="Poppins"/>
            </a:endParaRPr>
          </a:p>
          <a:p>
            <a:pPr marL="0" lvl="0" indent="0" algn="l" rtl="0">
              <a:spcBef>
                <a:spcPts val="0"/>
              </a:spcBef>
              <a:spcAft>
                <a:spcPts val="0"/>
              </a:spcAft>
              <a:buNone/>
            </a:pPr>
            <a:endParaRPr>
              <a:solidFill>
                <a:schemeClr val="dk1"/>
              </a:solidFill>
              <a:latin typeface="Poppins"/>
              <a:ea typeface="Poppins"/>
              <a:cs typeface="Poppins"/>
              <a:sym typeface="Poppins"/>
            </a:endParaRPr>
          </a:p>
          <a:p>
            <a:pPr marL="0" lvl="0" indent="0" algn="l" rtl="0">
              <a:spcBef>
                <a:spcPts val="0"/>
              </a:spcBef>
              <a:spcAft>
                <a:spcPts val="0"/>
              </a:spcAft>
              <a:buNone/>
            </a:pPr>
            <a:r>
              <a:rPr lang="en">
                <a:solidFill>
                  <a:schemeClr val="dk1"/>
                </a:solidFill>
                <a:latin typeface="Poppins"/>
                <a:ea typeface="Poppins"/>
                <a:cs typeface="Poppins"/>
                <a:sym typeface="Poppins"/>
              </a:rPr>
              <a:t>This is the "birth" of a component.</a:t>
            </a:r>
            <a:endParaRPr>
              <a:solidFill>
                <a:schemeClr val="dk1"/>
              </a:solidFill>
              <a:latin typeface="Poppins"/>
              <a:ea typeface="Poppins"/>
              <a:cs typeface="Poppins"/>
              <a:sym typeface="Poppins"/>
            </a:endParaRPr>
          </a:p>
          <a:p>
            <a:pPr marL="0" lvl="0" indent="0" algn="l" rtl="0">
              <a:spcBef>
                <a:spcPts val="0"/>
              </a:spcBef>
              <a:spcAft>
                <a:spcPts val="0"/>
              </a:spcAft>
              <a:buNone/>
            </a:pP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b="1">
                <a:solidFill>
                  <a:schemeClr val="dk1"/>
                </a:solidFill>
                <a:latin typeface="Poppins"/>
                <a:ea typeface="Poppins"/>
                <a:cs typeface="Poppins"/>
                <a:sym typeface="Poppins"/>
              </a:rPr>
              <a:t>Example:</a:t>
            </a:r>
            <a:endParaRPr b="1">
              <a:solidFill>
                <a:schemeClr val="dk1"/>
              </a:solidFill>
              <a:latin typeface="Poppins"/>
              <a:ea typeface="Poppins"/>
              <a:cs typeface="Poppins"/>
              <a:sym typeface="Poppins"/>
            </a:endParaRPr>
          </a:p>
          <a:p>
            <a:pPr marL="0" lvl="0" indent="0" algn="l" rtl="0">
              <a:spcBef>
                <a:spcPts val="0"/>
              </a:spcBef>
              <a:spcAft>
                <a:spcPts val="0"/>
              </a:spcAft>
              <a:buNone/>
            </a:pPr>
            <a:r>
              <a:rPr lang="en">
                <a:solidFill>
                  <a:schemeClr val="dk1"/>
                </a:solidFill>
                <a:latin typeface="Poppins"/>
                <a:ea typeface="Poppins"/>
                <a:cs typeface="Poppins"/>
                <a:sym typeface="Poppins"/>
              </a:rPr>
              <a:t>When you open a website and the homepage content appears for the first time.</a:t>
            </a:r>
            <a:endParaRPr>
              <a:solidFill>
                <a:schemeClr val="dk1"/>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600" b="1">
                <a:solidFill>
                  <a:srgbClr val="073763"/>
                </a:solidFill>
                <a:latin typeface="Poppins"/>
                <a:ea typeface="Poppins"/>
                <a:cs typeface="Poppins"/>
                <a:sym typeface="Poppins"/>
              </a:rPr>
              <a:t>Updating</a:t>
            </a:r>
            <a:endParaRPr sz="3600" b="1">
              <a:solidFill>
                <a:srgbClr val="073763"/>
              </a:solidFill>
              <a:latin typeface="Poppins"/>
              <a:ea typeface="Poppins"/>
              <a:cs typeface="Poppins"/>
              <a:sym typeface="Poppins"/>
            </a:endParaRPr>
          </a:p>
        </p:txBody>
      </p:sp>
      <p:pic>
        <p:nvPicPr>
          <p:cNvPr id="121" name="Google Shape;121;p19"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22" name="Google Shape;122;p1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7</a:t>
            </a:fld>
            <a:endParaRPr sz="1000">
              <a:solidFill>
                <a:srgbClr val="595959"/>
              </a:solidFill>
            </a:endParaRPr>
          </a:p>
        </p:txBody>
      </p:sp>
      <p:sp>
        <p:nvSpPr>
          <p:cNvPr id="123" name="Google Shape;123;p19"/>
          <p:cNvSpPr txBox="1"/>
          <p:nvPr/>
        </p:nvSpPr>
        <p:spPr>
          <a:xfrm>
            <a:off x="311700" y="1011575"/>
            <a:ext cx="67746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Poppins"/>
                <a:ea typeface="Poppins"/>
                <a:cs typeface="Poppins"/>
                <a:sym typeface="Poppins"/>
              </a:rPr>
              <a:t>Updating </a:t>
            </a:r>
            <a:r>
              <a:rPr lang="en">
                <a:solidFill>
                  <a:schemeClr val="dk1"/>
                </a:solidFill>
                <a:latin typeface="Poppins"/>
                <a:ea typeface="Poppins"/>
                <a:cs typeface="Poppins"/>
                <a:sym typeface="Poppins"/>
              </a:rPr>
              <a:t>happens when a component is </a:t>
            </a:r>
            <a:r>
              <a:rPr lang="en" b="1">
                <a:solidFill>
                  <a:schemeClr val="dk1"/>
                </a:solidFill>
                <a:latin typeface="Poppins"/>
                <a:ea typeface="Poppins"/>
                <a:cs typeface="Poppins"/>
                <a:sym typeface="Poppins"/>
              </a:rPr>
              <a:t>already present in the DOM</a:t>
            </a:r>
            <a:r>
              <a:rPr lang="en">
                <a:solidFill>
                  <a:schemeClr val="dk1"/>
                </a:solidFill>
                <a:latin typeface="Poppins"/>
                <a:ea typeface="Poppins"/>
                <a:cs typeface="Poppins"/>
                <a:sym typeface="Poppins"/>
              </a:rPr>
              <a:t>, but it is </a:t>
            </a:r>
            <a:r>
              <a:rPr lang="en" b="1">
                <a:solidFill>
                  <a:schemeClr val="dk1"/>
                </a:solidFill>
                <a:latin typeface="Poppins"/>
                <a:ea typeface="Poppins"/>
                <a:cs typeface="Poppins"/>
                <a:sym typeface="Poppins"/>
              </a:rPr>
              <a:t>re-rendered</a:t>
            </a:r>
            <a:r>
              <a:rPr lang="en">
                <a:solidFill>
                  <a:schemeClr val="dk1"/>
                </a:solidFill>
                <a:latin typeface="Poppins"/>
                <a:ea typeface="Poppins"/>
                <a:cs typeface="Poppins"/>
                <a:sym typeface="Poppins"/>
              </a:rPr>
              <a:t> because either its </a:t>
            </a:r>
            <a:r>
              <a:rPr lang="en" b="1">
                <a:solidFill>
                  <a:schemeClr val="dk1"/>
                </a:solidFill>
                <a:latin typeface="Poppins"/>
                <a:ea typeface="Poppins"/>
                <a:cs typeface="Poppins"/>
                <a:sym typeface="Poppins"/>
              </a:rPr>
              <a:t>props</a:t>
            </a:r>
            <a:r>
              <a:rPr lang="en">
                <a:solidFill>
                  <a:schemeClr val="dk1"/>
                </a:solidFill>
                <a:latin typeface="Poppins"/>
                <a:ea typeface="Poppins"/>
                <a:cs typeface="Poppins"/>
                <a:sym typeface="Poppins"/>
              </a:rPr>
              <a:t> or </a:t>
            </a:r>
            <a:r>
              <a:rPr lang="en" b="1">
                <a:solidFill>
                  <a:schemeClr val="dk1"/>
                </a:solidFill>
                <a:latin typeface="Poppins"/>
                <a:ea typeface="Poppins"/>
                <a:cs typeface="Poppins"/>
                <a:sym typeface="Poppins"/>
              </a:rPr>
              <a:t>state</a:t>
            </a:r>
            <a:r>
              <a:rPr lang="en">
                <a:solidFill>
                  <a:schemeClr val="dk1"/>
                </a:solidFill>
                <a:latin typeface="Poppins"/>
                <a:ea typeface="Poppins"/>
                <a:cs typeface="Poppins"/>
                <a:sym typeface="Poppins"/>
              </a:rPr>
              <a:t> has changed.</a:t>
            </a:r>
            <a:endParaRPr>
              <a:solidFill>
                <a:schemeClr val="dk1"/>
              </a:solidFill>
              <a:latin typeface="Poppins"/>
              <a:ea typeface="Poppins"/>
              <a:cs typeface="Poppins"/>
              <a:sym typeface="Poppins"/>
            </a:endParaRPr>
          </a:p>
          <a:p>
            <a:pPr marL="0" lvl="0" indent="0" algn="l" rtl="0">
              <a:spcBef>
                <a:spcPts val="0"/>
              </a:spcBef>
              <a:spcAft>
                <a:spcPts val="0"/>
              </a:spcAft>
              <a:buNone/>
            </a:pPr>
            <a:endParaRPr>
              <a:solidFill>
                <a:schemeClr val="dk1"/>
              </a:solidFill>
              <a:latin typeface="Poppins"/>
              <a:ea typeface="Poppins"/>
              <a:cs typeface="Poppins"/>
              <a:sym typeface="Poppins"/>
            </a:endParaRPr>
          </a:p>
          <a:p>
            <a:pPr marL="0" lvl="0" indent="0" algn="l" rtl="0">
              <a:spcBef>
                <a:spcPts val="0"/>
              </a:spcBef>
              <a:spcAft>
                <a:spcPts val="0"/>
              </a:spcAft>
              <a:buNone/>
            </a:pPr>
            <a:r>
              <a:rPr lang="en">
                <a:solidFill>
                  <a:schemeClr val="dk1"/>
                </a:solidFill>
                <a:latin typeface="Poppins"/>
                <a:ea typeface="Poppins"/>
                <a:cs typeface="Poppins"/>
                <a:sym typeface="Poppins"/>
              </a:rPr>
              <a:t>This is the "growth/change" stage of a component.</a:t>
            </a:r>
            <a:endParaRPr>
              <a:solidFill>
                <a:schemeClr val="dk1"/>
              </a:solidFill>
              <a:latin typeface="Poppins"/>
              <a:ea typeface="Poppins"/>
              <a:cs typeface="Poppins"/>
              <a:sym typeface="Poppins"/>
            </a:endParaRPr>
          </a:p>
          <a:p>
            <a:pPr marL="0" lvl="0" indent="0" algn="l" rtl="0">
              <a:spcBef>
                <a:spcPts val="0"/>
              </a:spcBef>
              <a:spcAft>
                <a:spcPts val="0"/>
              </a:spcAft>
              <a:buNone/>
            </a:pP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b="1">
                <a:solidFill>
                  <a:schemeClr val="dk1"/>
                </a:solidFill>
                <a:latin typeface="Poppins"/>
                <a:ea typeface="Poppins"/>
                <a:cs typeface="Poppins"/>
                <a:sym typeface="Poppins"/>
              </a:rPr>
              <a:t>Example:</a:t>
            </a:r>
            <a:endParaRPr b="1">
              <a:solidFill>
                <a:schemeClr val="dk1"/>
              </a:solidFill>
              <a:latin typeface="Poppins"/>
              <a:ea typeface="Poppins"/>
              <a:cs typeface="Poppins"/>
              <a:sym typeface="Poppins"/>
            </a:endParaRPr>
          </a:p>
          <a:p>
            <a:pPr marL="0" lvl="0" indent="0" algn="l" rtl="0">
              <a:spcBef>
                <a:spcPts val="0"/>
              </a:spcBef>
              <a:spcAft>
                <a:spcPts val="0"/>
              </a:spcAft>
              <a:buNone/>
            </a:pPr>
            <a:r>
              <a:rPr lang="en">
                <a:solidFill>
                  <a:schemeClr val="dk1"/>
                </a:solidFill>
                <a:latin typeface="Poppins"/>
                <a:ea typeface="Poppins"/>
                <a:cs typeface="Poppins"/>
                <a:sym typeface="Poppins"/>
              </a:rPr>
              <a:t>When you type in a search box and the search results update on the screen.</a:t>
            </a:r>
            <a:endParaRPr>
              <a:solidFill>
                <a:schemeClr val="dk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800" b="1">
                <a:solidFill>
                  <a:srgbClr val="073763"/>
                </a:solidFill>
                <a:latin typeface="Poppins"/>
                <a:ea typeface="Poppins"/>
                <a:cs typeface="Poppins"/>
                <a:sym typeface="Poppins"/>
              </a:rPr>
              <a:t>Un</a:t>
            </a:r>
            <a:r>
              <a:rPr lang="en" sz="2600" b="1">
                <a:solidFill>
                  <a:srgbClr val="073763"/>
                </a:solidFill>
                <a:latin typeface="Poppins"/>
                <a:ea typeface="Poppins"/>
                <a:cs typeface="Poppins"/>
                <a:sym typeface="Poppins"/>
              </a:rPr>
              <a:t>mounting</a:t>
            </a:r>
            <a:endParaRPr sz="3600" b="1">
              <a:solidFill>
                <a:srgbClr val="073763"/>
              </a:solidFill>
              <a:latin typeface="Poppins"/>
              <a:ea typeface="Poppins"/>
              <a:cs typeface="Poppins"/>
              <a:sym typeface="Poppins"/>
            </a:endParaRPr>
          </a:p>
        </p:txBody>
      </p:sp>
      <p:pic>
        <p:nvPicPr>
          <p:cNvPr id="129" name="Google Shape;129;p20"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30" name="Google Shape;130;p2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8</a:t>
            </a:fld>
            <a:endParaRPr sz="1000">
              <a:solidFill>
                <a:srgbClr val="595959"/>
              </a:solidFill>
            </a:endParaRPr>
          </a:p>
        </p:txBody>
      </p:sp>
      <p:sp>
        <p:nvSpPr>
          <p:cNvPr id="131" name="Google Shape;131;p20"/>
          <p:cNvSpPr txBox="1"/>
          <p:nvPr/>
        </p:nvSpPr>
        <p:spPr>
          <a:xfrm>
            <a:off x="311700" y="1054275"/>
            <a:ext cx="59970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Poppins"/>
                <a:ea typeface="Poppins"/>
                <a:cs typeface="Poppins"/>
                <a:sym typeface="Poppins"/>
              </a:rPr>
              <a:t>Unmounting </a:t>
            </a:r>
            <a:r>
              <a:rPr lang="en">
                <a:solidFill>
                  <a:schemeClr val="dk1"/>
                </a:solidFill>
                <a:latin typeface="Poppins"/>
                <a:ea typeface="Poppins"/>
                <a:cs typeface="Poppins"/>
                <a:sym typeface="Poppins"/>
              </a:rPr>
              <a:t>is the process when a component is </a:t>
            </a:r>
            <a:r>
              <a:rPr lang="en" b="1">
                <a:solidFill>
                  <a:schemeClr val="dk1"/>
                </a:solidFill>
                <a:latin typeface="Poppins"/>
                <a:ea typeface="Poppins"/>
                <a:cs typeface="Poppins"/>
                <a:sym typeface="Poppins"/>
              </a:rPr>
              <a:t>removed from the DOM</a:t>
            </a:r>
            <a:r>
              <a:rPr lang="en">
                <a:solidFill>
                  <a:schemeClr val="dk1"/>
                </a:solidFill>
                <a:latin typeface="Poppins"/>
                <a:ea typeface="Poppins"/>
                <a:cs typeface="Poppins"/>
                <a:sym typeface="Poppins"/>
              </a:rPr>
              <a:t>.</a:t>
            </a:r>
            <a:endParaRPr>
              <a:solidFill>
                <a:schemeClr val="dk1"/>
              </a:solidFill>
              <a:latin typeface="Poppins"/>
              <a:ea typeface="Poppins"/>
              <a:cs typeface="Poppins"/>
              <a:sym typeface="Poppins"/>
            </a:endParaRPr>
          </a:p>
          <a:p>
            <a:pPr marL="0" lvl="0" indent="0" algn="l" rtl="0">
              <a:spcBef>
                <a:spcPts val="0"/>
              </a:spcBef>
              <a:spcAft>
                <a:spcPts val="0"/>
              </a:spcAft>
              <a:buNone/>
            </a:pPr>
            <a:endParaRPr>
              <a:solidFill>
                <a:schemeClr val="dk1"/>
              </a:solidFill>
              <a:latin typeface="Poppins"/>
              <a:ea typeface="Poppins"/>
              <a:cs typeface="Poppins"/>
              <a:sym typeface="Poppins"/>
            </a:endParaRPr>
          </a:p>
          <a:p>
            <a:pPr marL="0" lvl="0" indent="0" algn="l" rtl="0">
              <a:spcBef>
                <a:spcPts val="0"/>
              </a:spcBef>
              <a:spcAft>
                <a:spcPts val="0"/>
              </a:spcAft>
              <a:buNone/>
            </a:pPr>
            <a:r>
              <a:rPr lang="en">
                <a:solidFill>
                  <a:schemeClr val="dk1"/>
                </a:solidFill>
                <a:latin typeface="Poppins"/>
                <a:ea typeface="Poppins"/>
                <a:cs typeface="Poppins"/>
                <a:sym typeface="Poppins"/>
              </a:rPr>
              <a:t>This is the "end/death" of a component’s lifecycle.</a:t>
            </a:r>
            <a:endParaRPr>
              <a:solidFill>
                <a:schemeClr val="dk1"/>
              </a:solidFill>
              <a:latin typeface="Poppins"/>
              <a:ea typeface="Poppins"/>
              <a:cs typeface="Poppins"/>
              <a:sym typeface="Poppins"/>
            </a:endParaRPr>
          </a:p>
          <a:p>
            <a:pPr marL="0" lvl="0" indent="0" algn="l" rtl="0">
              <a:spcBef>
                <a:spcPts val="0"/>
              </a:spcBef>
              <a:spcAft>
                <a:spcPts val="0"/>
              </a:spcAft>
              <a:buNone/>
            </a:pPr>
            <a:endParaRPr>
              <a:solidFill>
                <a:schemeClr val="dk1"/>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b="1">
                <a:solidFill>
                  <a:schemeClr val="dk1"/>
                </a:solidFill>
                <a:latin typeface="Poppins"/>
                <a:ea typeface="Poppins"/>
                <a:cs typeface="Poppins"/>
                <a:sym typeface="Poppins"/>
              </a:rPr>
              <a:t>Example:</a:t>
            </a:r>
            <a:endParaRPr b="1">
              <a:solidFill>
                <a:schemeClr val="dk1"/>
              </a:solidFill>
              <a:latin typeface="Poppins"/>
              <a:ea typeface="Poppins"/>
              <a:cs typeface="Poppins"/>
              <a:sym typeface="Poppins"/>
            </a:endParaRPr>
          </a:p>
          <a:p>
            <a:pPr marL="0" lvl="0" indent="0" algn="l" rtl="0">
              <a:spcBef>
                <a:spcPts val="0"/>
              </a:spcBef>
              <a:spcAft>
                <a:spcPts val="0"/>
              </a:spcAft>
              <a:buNone/>
            </a:pPr>
            <a:r>
              <a:rPr lang="en">
                <a:solidFill>
                  <a:schemeClr val="dk1"/>
                </a:solidFill>
                <a:latin typeface="Poppins"/>
                <a:ea typeface="Poppins"/>
                <a:cs typeface="Poppins"/>
                <a:sym typeface="Poppins"/>
              </a:rPr>
              <a:t>When you close a popup window or navigate away from a page, the component is unmounted.</a:t>
            </a:r>
            <a:endParaRPr>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p:nvPr/>
        </p:nvSpPr>
        <p:spPr>
          <a:xfrm>
            <a:off x="311700" y="213250"/>
            <a:ext cx="2652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200" b="1">
                <a:latin typeface="Poppins"/>
                <a:ea typeface="Poppins"/>
                <a:cs typeface="Poppins"/>
                <a:sym typeface="Poppins"/>
              </a:rPr>
              <a:t>|</a:t>
            </a:r>
            <a:r>
              <a:rPr lang="en" sz="2200" b="1">
                <a:solidFill>
                  <a:srgbClr val="1C4587"/>
                </a:solidFill>
                <a:latin typeface="Poppins"/>
                <a:ea typeface="Poppins"/>
                <a:cs typeface="Poppins"/>
                <a:sym typeface="Poppins"/>
              </a:rPr>
              <a:t>  </a:t>
            </a:r>
            <a:endParaRPr sz="2200" b="1">
              <a:solidFill>
                <a:srgbClr val="073763"/>
              </a:solidFill>
              <a:latin typeface="Poppins"/>
              <a:ea typeface="Poppins"/>
              <a:cs typeface="Poppins"/>
              <a:sym typeface="Poppins"/>
            </a:endParaRPr>
          </a:p>
        </p:txBody>
      </p:sp>
      <p:pic>
        <p:nvPicPr>
          <p:cNvPr id="137" name="Google Shape;137;p21"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38" name="Google Shape;138;p2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9</a:t>
            </a:fld>
            <a:endParaRPr sz="1000">
              <a:solidFill>
                <a:srgbClr val="595959"/>
              </a:solidFill>
            </a:endParaRPr>
          </a:p>
        </p:txBody>
      </p:sp>
      <p:sp>
        <p:nvSpPr>
          <p:cNvPr id="139" name="Google Shape;139;p21"/>
          <p:cNvSpPr txBox="1"/>
          <p:nvPr/>
        </p:nvSpPr>
        <p:spPr>
          <a:xfrm>
            <a:off x="576900" y="184125"/>
            <a:ext cx="72237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600" b="1">
                <a:solidFill>
                  <a:srgbClr val="073763"/>
                </a:solidFill>
                <a:latin typeface="Poppins"/>
                <a:ea typeface="Poppins"/>
                <a:cs typeface="Poppins"/>
                <a:sym typeface="Poppins"/>
              </a:rPr>
              <a:t>Did you know </a:t>
            </a:r>
            <a:r>
              <a:rPr lang="en" sz="1100" b="1">
                <a:solidFill>
                  <a:schemeClr val="dk1"/>
                </a:solidFill>
              </a:rPr>
              <a:t> </a:t>
            </a:r>
            <a:r>
              <a:rPr lang="en" sz="1500" b="1">
                <a:solidFill>
                  <a:srgbClr val="073763"/>
                </a:solidFill>
                <a:latin typeface="Poppins"/>
                <a:ea typeface="Poppins"/>
                <a:cs typeface="Poppins"/>
                <a:sym typeface="Poppins"/>
              </a:rPr>
              <a:t>the three phases (Mounting, Updating, Unmounting) were once handled using special names in Class Components.</a:t>
            </a:r>
            <a:endParaRPr sz="2000" b="1">
              <a:solidFill>
                <a:srgbClr val="073763"/>
              </a:solidFill>
              <a:latin typeface="Poppins"/>
              <a:ea typeface="Poppins"/>
              <a:cs typeface="Poppins"/>
              <a:sym typeface="Poppins"/>
            </a:endParaRPr>
          </a:p>
        </p:txBody>
      </p:sp>
      <p:pic>
        <p:nvPicPr>
          <p:cNvPr id="140" name="Google Shape;140;p21" title="Thinking face-rafiki (3).png"/>
          <p:cNvPicPr preferRelativeResize="0"/>
          <p:nvPr/>
        </p:nvPicPr>
        <p:blipFill rotWithShape="1">
          <a:blip r:embed="rId4">
            <a:alphaModFix/>
          </a:blip>
          <a:srcRect/>
          <a:stretch/>
        </p:blipFill>
        <p:spPr>
          <a:xfrm>
            <a:off x="2331720" y="1261872"/>
            <a:ext cx="4489700" cy="3611880"/>
          </a:xfrm>
          <a:prstGeom prst="rect">
            <a:avLst/>
          </a:prstGeom>
          <a:noFill/>
          <a:ln>
            <a:noFill/>
          </a:ln>
          <a:effectLst>
            <a:outerShdw blurRad="85725" dist="95250" dir="7380000" algn="bl" rotWithShape="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2"/>
          <p:cNvSpPr txBox="1"/>
          <p:nvPr/>
        </p:nvSpPr>
        <p:spPr>
          <a:xfrm>
            <a:off x="311700" y="213250"/>
            <a:ext cx="2652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200" b="1">
                <a:latin typeface="Poppins"/>
                <a:ea typeface="Poppins"/>
                <a:cs typeface="Poppins"/>
                <a:sym typeface="Poppins"/>
              </a:rPr>
              <a:t>|</a:t>
            </a:r>
            <a:r>
              <a:rPr lang="en" sz="2200" b="1">
                <a:solidFill>
                  <a:srgbClr val="1C4587"/>
                </a:solidFill>
                <a:latin typeface="Poppins"/>
                <a:ea typeface="Poppins"/>
                <a:cs typeface="Poppins"/>
                <a:sym typeface="Poppins"/>
              </a:rPr>
              <a:t>  </a:t>
            </a:r>
            <a:endParaRPr sz="2200" b="1">
              <a:solidFill>
                <a:srgbClr val="073763"/>
              </a:solidFill>
              <a:latin typeface="Poppins"/>
              <a:ea typeface="Poppins"/>
              <a:cs typeface="Poppins"/>
              <a:sym typeface="Poppins"/>
            </a:endParaRPr>
          </a:p>
        </p:txBody>
      </p:sp>
      <p:pic>
        <p:nvPicPr>
          <p:cNvPr id="146" name="Google Shape;146;p22"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47" name="Google Shape;147;p2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10</a:t>
            </a:fld>
            <a:endParaRPr sz="1000">
              <a:solidFill>
                <a:srgbClr val="595959"/>
              </a:solidFill>
            </a:endParaRPr>
          </a:p>
        </p:txBody>
      </p:sp>
      <p:sp>
        <p:nvSpPr>
          <p:cNvPr id="148" name="Google Shape;148;p22"/>
          <p:cNvSpPr txBox="1"/>
          <p:nvPr/>
        </p:nvSpPr>
        <p:spPr>
          <a:xfrm>
            <a:off x="576900" y="163325"/>
            <a:ext cx="72237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600" b="1">
                <a:solidFill>
                  <a:srgbClr val="073763"/>
                </a:solidFill>
                <a:latin typeface="Poppins"/>
                <a:ea typeface="Poppins"/>
                <a:cs typeface="Poppins"/>
                <a:sym typeface="Poppins"/>
              </a:rPr>
              <a:t>Did you know </a:t>
            </a:r>
            <a:r>
              <a:rPr lang="en" sz="1100" b="1">
                <a:solidFill>
                  <a:schemeClr val="dk1"/>
                </a:solidFill>
              </a:rPr>
              <a:t> </a:t>
            </a:r>
            <a:r>
              <a:rPr lang="en" sz="1500" b="1">
                <a:solidFill>
                  <a:srgbClr val="073763"/>
                </a:solidFill>
                <a:latin typeface="Poppins"/>
                <a:ea typeface="Poppins"/>
                <a:cs typeface="Poppins"/>
                <a:sym typeface="Poppins"/>
              </a:rPr>
              <a:t>the three phases (Mounting, Updating, Unmounting) were once handled using special names in Class Components.</a:t>
            </a:r>
            <a:endParaRPr sz="2000" b="1">
              <a:solidFill>
                <a:srgbClr val="073763"/>
              </a:solidFill>
              <a:latin typeface="Poppins"/>
              <a:ea typeface="Poppins"/>
              <a:cs typeface="Poppins"/>
              <a:sym typeface="Poppins"/>
            </a:endParaRPr>
          </a:p>
        </p:txBody>
      </p:sp>
      <p:pic>
        <p:nvPicPr>
          <p:cNvPr id="149" name="Google Shape;149;p22"/>
          <p:cNvPicPr preferRelativeResize="0"/>
          <p:nvPr/>
        </p:nvPicPr>
        <p:blipFill>
          <a:blip r:embed="rId4">
            <a:alphaModFix/>
          </a:blip>
          <a:stretch>
            <a:fillRect/>
          </a:stretch>
        </p:blipFill>
        <p:spPr>
          <a:xfrm>
            <a:off x="5207450" y="2338550"/>
            <a:ext cx="3645700" cy="1893100"/>
          </a:xfrm>
          <a:prstGeom prst="rect">
            <a:avLst/>
          </a:prstGeom>
          <a:noFill/>
          <a:ln>
            <a:noFill/>
          </a:ln>
        </p:spPr>
      </p:pic>
      <p:sp>
        <p:nvSpPr>
          <p:cNvPr id="150" name="Google Shape;150;p22"/>
          <p:cNvSpPr txBox="1"/>
          <p:nvPr/>
        </p:nvSpPr>
        <p:spPr>
          <a:xfrm>
            <a:off x="311700" y="1101250"/>
            <a:ext cx="51672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273239"/>
                </a:solidFill>
                <a:latin typeface="Poppins"/>
                <a:ea typeface="Poppins"/>
                <a:cs typeface="Poppins"/>
                <a:sym typeface="Poppins"/>
              </a:rPr>
              <a:t>In </a:t>
            </a:r>
            <a:r>
              <a:rPr lang="en" b="1">
                <a:solidFill>
                  <a:srgbClr val="273239"/>
                </a:solidFill>
                <a:latin typeface="Poppins"/>
                <a:ea typeface="Poppins"/>
                <a:cs typeface="Poppins"/>
                <a:sym typeface="Poppins"/>
              </a:rPr>
              <a:t>Class Components</a:t>
            </a:r>
            <a:r>
              <a:rPr lang="en">
                <a:solidFill>
                  <a:srgbClr val="273239"/>
                </a:solidFill>
                <a:latin typeface="Poppins"/>
                <a:ea typeface="Poppins"/>
                <a:cs typeface="Poppins"/>
                <a:sym typeface="Poppins"/>
              </a:rPr>
              <a:t>, React gave us </a:t>
            </a:r>
            <a:r>
              <a:rPr lang="en" b="1">
                <a:solidFill>
                  <a:srgbClr val="273239"/>
                </a:solidFill>
                <a:latin typeface="Poppins"/>
                <a:ea typeface="Poppins"/>
                <a:cs typeface="Poppins"/>
                <a:sym typeface="Poppins"/>
              </a:rPr>
              <a:t>different lifecycle methods</a:t>
            </a:r>
            <a:r>
              <a:rPr lang="en">
                <a:solidFill>
                  <a:srgbClr val="273239"/>
                </a:solidFill>
                <a:latin typeface="Poppins"/>
                <a:ea typeface="Poppins"/>
                <a:cs typeface="Poppins"/>
                <a:sym typeface="Poppins"/>
              </a:rPr>
              <a:t> for each phase.</a:t>
            </a:r>
            <a:endParaRPr>
              <a:solidFill>
                <a:srgbClr val="273239"/>
              </a:solidFill>
              <a:latin typeface="Poppins"/>
              <a:ea typeface="Poppins"/>
              <a:cs typeface="Poppins"/>
              <a:sym typeface="Poppins"/>
            </a:endParaRPr>
          </a:p>
          <a:p>
            <a:pPr marL="0" lvl="0" indent="0" algn="l" rtl="0">
              <a:spcBef>
                <a:spcPts val="0"/>
              </a:spcBef>
              <a:spcAft>
                <a:spcPts val="0"/>
              </a:spcAft>
              <a:buNone/>
            </a:pPr>
            <a:endParaRPr>
              <a:solidFill>
                <a:srgbClr val="273239"/>
              </a:solidFill>
              <a:latin typeface="Poppins"/>
              <a:ea typeface="Poppins"/>
              <a:cs typeface="Poppins"/>
              <a:sym typeface="Poppins"/>
            </a:endParaRPr>
          </a:p>
          <a:p>
            <a:pPr marL="0" lvl="0" indent="0" algn="l" rtl="0">
              <a:spcBef>
                <a:spcPts val="0"/>
              </a:spcBef>
              <a:spcAft>
                <a:spcPts val="0"/>
              </a:spcAft>
              <a:buNone/>
            </a:pPr>
            <a:r>
              <a:rPr lang="en">
                <a:solidFill>
                  <a:srgbClr val="273239"/>
                </a:solidFill>
                <a:latin typeface="Poppins"/>
                <a:ea typeface="Poppins"/>
                <a:cs typeface="Poppins"/>
                <a:sym typeface="Poppins"/>
              </a:rPr>
              <a:t>It had </a:t>
            </a:r>
            <a:r>
              <a:rPr lang="en" b="1">
                <a:solidFill>
                  <a:srgbClr val="273239"/>
                </a:solidFill>
                <a:latin typeface="Poppins"/>
                <a:ea typeface="Poppins"/>
                <a:cs typeface="Poppins"/>
                <a:sym typeface="Poppins"/>
              </a:rPr>
              <a:t>separate functions</a:t>
            </a:r>
            <a:r>
              <a:rPr lang="en">
                <a:solidFill>
                  <a:srgbClr val="273239"/>
                </a:solidFill>
                <a:latin typeface="Poppins"/>
                <a:ea typeface="Poppins"/>
                <a:cs typeface="Poppins"/>
                <a:sym typeface="Poppins"/>
              </a:rPr>
              <a:t> for Birth, Change, and Death.</a:t>
            </a:r>
            <a:endParaRPr sz="1700">
              <a:solidFill>
                <a:srgbClr val="273239"/>
              </a:solidFill>
              <a:latin typeface="Poppins"/>
              <a:ea typeface="Poppins"/>
              <a:cs typeface="Poppins"/>
              <a:sym typeface="Poppins"/>
            </a:endParaRPr>
          </a:p>
        </p:txBody>
      </p:sp>
      <p:sp>
        <p:nvSpPr>
          <p:cNvPr id="151" name="Google Shape;151;p22"/>
          <p:cNvSpPr txBox="1"/>
          <p:nvPr/>
        </p:nvSpPr>
        <p:spPr>
          <a:xfrm>
            <a:off x="343025" y="2620000"/>
            <a:ext cx="4728900" cy="198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273239"/>
                </a:solidFill>
                <a:latin typeface="Poppins"/>
                <a:ea typeface="Poppins"/>
                <a:cs typeface="Poppins"/>
                <a:sym typeface="Poppins"/>
              </a:rPr>
              <a:t>Mounting </a:t>
            </a:r>
            <a:r>
              <a:rPr lang="en" sz="1300">
                <a:solidFill>
                  <a:srgbClr val="273239"/>
                </a:solidFill>
                <a:latin typeface="Poppins"/>
                <a:ea typeface="Poppins"/>
                <a:cs typeface="Poppins"/>
                <a:sym typeface="Poppins"/>
              </a:rPr>
              <a:t>(Birth) →</a:t>
            </a:r>
            <a:r>
              <a:rPr lang="en" sz="1300" b="1">
                <a:solidFill>
                  <a:srgbClr val="273239"/>
                </a:solidFill>
                <a:latin typeface="Poppins"/>
                <a:ea typeface="Poppins"/>
                <a:cs typeface="Poppins"/>
                <a:sym typeface="Poppins"/>
              </a:rPr>
              <a:t>componentDidMount()</a:t>
            </a:r>
            <a:endParaRPr sz="1300" b="1">
              <a:solidFill>
                <a:srgbClr val="273239"/>
              </a:solidFill>
              <a:latin typeface="Poppins"/>
              <a:ea typeface="Poppins"/>
              <a:cs typeface="Poppins"/>
              <a:sym typeface="Poppins"/>
            </a:endParaRPr>
          </a:p>
          <a:p>
            <a:pPr marL="0" lvl="0" indent="0" algn="l" rtl="0">
              <a:spcBef>
                <a:spcPts val="0"/>
              </a:spcBef>
              <a:spcAft>
                <a:spcPts val="0"/>
              </a:spcAft>
              <a:buNone/>
            </a:pPr>
            <a:r>
              <a:rPr lang="en" sz="1300">
                <a:solidFill>
                  <a:srgbClr val="273239"/>
                </a:solidFill>
                <a:latin typeface="Poppins"/>
                <a:ea typeface="Poppins"/>
                <a:cs typeface="Poppins"/>
                <a:sym typeface="Poppins"/>
              </a:rPr>
              <a:t>Runs once after the component is shown on screen.</a:t>
            </a:r>
            <a:endParaRPr sz="1300">
              <a:solidFill>
                <a:srgbClr val="273239"/>
              </a:solidFill>
              <a:latin typeface="Poppins"/>
              <a:ea typeface="Poppins"/>
              <a:cs typeface="Poppins"/>
              <a:sym typeface="Poppins"/>
            </a:endParaRPr>
          </a:p>
          <a:p>
            <a:pPr marL="0" lvl="0" indent="0" algn="l" rtl="0">
              <a:spcBef>
                <a:spcPts val="0"/>
              </a:spcBef>
              <a:spcAft>
                <a:spcPts val="0"/>
              </a:spcAft>
              <a:buNone/>
            </a:pPr>
            <a:endParaRPr sz="1300">
              <a:solidFill>
                <a:srgbClr val="273239"/>
              </a:solidFill>
              <a:latin typeface="Poppins"/>
              <a:ea typeface="Poppins"/>
              <a:cs typeface="Poppins"/>
              <a:sym typeface="Poppins"/>
            </a:endParaRPr>
          </a:p>
          <a:p>
            <a:pPr marL="0" lvl="0" indent="0" algn="l" rtl="0">
              <a:spcBef>
                <a:spcPts val="0"/>
              </a:spcBef>
              <a:spcAft>
                <a:spcPts val="0"/>
              </a:spcAft>
              <a:buNone/>
            </a:pPr>
            <a:r>
              <a:rPr lang="en" sz="1300" b="1">
                <a:solidFill>
                  <a:srgbClr val="273239"/>
                </a:solidFill>
                <a:latin typeface="Poppins"/>
                <a:ea typeface="Poppins"/>
                <a:cs typeface="Poppins"/>
                <a:sym typeface="Poppins"/>
              </a:rPr>
              <a:t>Updating</a:t>
            </a:r>
            <a:r>
              <a:rPr lang="en" sz="1300">
                <a:solidFill>
                  <a:srgbClr val="273239"/>
                </a:solidFill>
                <a:latin typeface="Poppins"/>
                <a:ea typeface="Poppins"/>
                <a:cs typeface="Poppins"/>
                <a:sym typeface="Poppins"/>
              </a:rPr>
              <a:t> (Change) → </a:t>
            </a:r>
            <a:r>
              <a:rPr lang="en" sz="1300" b="1">
                <a:solidFill>
                  <a:srgbClr val="273239"/>
                </a:solidFill>
                <a:latin typeface="Poppins"/>
                <a:ea typeface="Poppins"/>
                <a:cs typeface="Poppins"/>
                <a:sym typeface="Poppins"/>
              </a:rPr>
              <a:t>componentDidUpdate()</a:t>
            </a:r>
            <a:endParaRPr sz="1300" b="1">
              <a:solidFill>
                <a:srgbClr val="273239"/>
              </a:solidFill>
              <a:latin typeface="Poppins"/>
              <a:ea typeface="Poppins"/>
              <a:cs typeface="Poppins"/>
              <a:sym typeface="Poppins"/>
            </a:endParaRPr>
          </a:p>
          <a:p>
            <a:pPr marL="0" lvl="0" indent="0" algn="l" rtl="0">
              <a:spcBef>
                <a:spcPts val="0"/>
              </a:spcBef>
              <a:spcAft>
                <a:spcPts val="0"/>
              </a:spcAft>
              <a:buNone/>
            </a:pPr>
            <a:r>
              <a:rPr lang="en" sz="1300">
                <a:solidFill>
                  <a:srgbClr val="273239"/>
                </a:solidFill>
                <a:latin typeface="Poppins"/>
                <a:ea typeface="Poppins"/>
                <a:cs typeface="Poppins"/>
                <a:sym typeface="Poppins"/>
              </a:rPr>
              <a:t>Runs whenever state or props change.</a:t>
            </a:r>
            <a:endParaRPr sz="1300">
              <a:solidFill>
                <a:srgbClr val="273239"/>
              </a:solidFill>
              <a:latin typeface="Poppins"/>
              <a:ea typeface="Poppins"/>
              <a:cs typeface="Poppins"/>
              <a:sym typeface="Poppins"/>
            </a:endParaRPr>
          </a:p>
          <a:p>
            <a:pPr marL="0" lvl="0" indent="0" algn="l" rtl="0">
              <a:spcBef>
                <a:spcPts val="0"/>
              </a:spcBef>
              <a:spcAft>
                <a:spcPts val="0"/>
              </a:spcAft>
              <a:buNone/>
            </a:pPr>
            <a:endParaRPr sz="1300">
              <a:solidFill>
                <a:srgbClr val="273239"/>
              </a:solidFill>
              <a:latin typeface="Poppins"/>
              <a:ea typeface="Poppins"/>
              <a:cs typeface="Poppins"/>
              <a:sym typeface="Poppins"/>
            </a:endParaRPr>
          </a:p>
          <a:p>
            <a:pPr marL="0" lvl="0" indent="0" algn="l" rtl="0">
              <a:spcBef>
                <a:spcPts val="0"/>
              </a:spcBef>
              <a:spcAft>
                <a:spcPts val="0"/>
              </a:spcAft>
              <a:buNone/>
            </a:pPr>
            <a:r>
              <a:rPr lang="en" sz="1300" b="1">
                <a:solidFill>
                  <a:srgbClr val="273239"/>
                </a:solidFill>
                <a:latin typeface="Poppins"/>
                <a:ea typeface="Poppins"/>
                <a:cs typeface="Poppins"/>
                <a:sym typeface="Poppins"/>
              </a:rPr>
              <a:t>Unmounting </a:t>
            </a:r>
            <a:r>
              <a:rPr lang="en" sz="1300">
                <a:solidFill>
                  <a:srgbClr val="273239"/>
                </a:solidFill>
                <a:latin typeface="Poppins"/>
                <a:ea typeface="Poppins"/>
                <a:cs typeface="Poppins"/>
                <a:sym typeface="Poppins"/>
              </a:rPr>
              <a:t>(Goodbye) → </a:t>
            </a:r>
            <a:r>
              <a:rPr lang="en" sz="1300" b="1">
                <a:solidFill>
                  <a:srgbClr val="273239"/>
                </a:solidFill>
                <a:latin typeface="Poppins"/>
                <a:ea typeface="Poppins"/>
                <a:cs typeface="Poppins"/>
                <a:sym typeface="Poppins"/>
              </a:rPr>
              <a:t>componentWillUnmount()</a:t>
            </a:r>
            <a:endParaRPr sz="1300" b="1">
              <a:solidFill>
                <a:srgbClr val="273239"/>
              </a:solidFill>
              <a:latin typeface="Poppins"/>
              <a:ea typeface="Poppins"/>
              <a:cs typeface="Poppins"/>
              <a:sym typeface="Poppins"/>
            </a:endParaRPr>
          </a:p>
          <a:p>
            <a:pPr marL="0" lvl="0" indent="0" algn="l" rtl="0">
              <a:spcBef>
                <a:spcPts val="0"/>
              </a:spcBef>
              <a:spcAft>
                <a:spcPts val="0"/>
              </a:spcAft>
              <a:buNone/>
            </a:pPr>
            <a:r>
              <a:rPr lang="en" sz="1300">
                <a:solidFill>
                  <a:srgbClr val="273239"/>
                </a:solidFill>
                <a:latin typeface="Poppins"/>
                <a:ea typeface="Poppins"/>
                <a:cs typeface="Poppins"/>
                <a:sym typeface="Poppins"/>
              </a:rPr>
              <a:t>Runs just before the component is removed from the screen.</a:t>
            </a:r>
            <a:endParaRPr sz="1300">
              <a:solidFill>
                <a:srgbClr val="273239"/>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3"/>
          <p:cNvSpPr txBox="1"/>
          <p:nvPr/>
        </p:nvSpPr>
        <p:spPr>
          <a:xfrm>
            <a:off x="311700" y="213250"/>
            <a:ext cx="2652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200" b="1">
                <a:latin typeface="Poppins"/>
                <a:ea typeface="Poppins"/>
                <a:cs typeface="Poppins"/>
                <a:sym typeface="Poppins"/>
              </a:rPr>
              <a:t>|</a:t>
            </a:r>
            <a:r>
              <a:rPr lang="en" sz="2200" b="1">
                <a:solidFill>
                  <a:srgbClr val="1C4587"/>
                </a:solidFill>
                <a:latin typeface="Poppins"/>
                <a:ea typeface="Poppins"/>
                <a:cs typeface="Poppins"/>
                <a:sym typeface="Poppins"/>
              </a:rPr>
              <a:t>  </a:t>
            </a:r>
            <a:endParaRPr sz="2200" b="1">
              <a:solidFill>
                <a:srgbClr val="073763"/>
              </a:solidFill>
              <a:latin typeface="Poppins"/>
              <a:ea typeface="Poppins"/>
              <a:cs typeface="Poppins"/>
              <a:sym typeface="Poppins"/>
            </a:endParaRPr>
          </a:p>
        </p:txBody>
      </p:sp>
      <p:pic>
        <p:nvPicPr>
          <p:cNvPr id="157" name="Google Shape;157;p23"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58" name="Google Shape;158;p2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11</a:t>
            </a:fld>
            <a:endParaRPr sz="1000">
              <a:solidFill>
                <a:srgbClr val="595959"/>
              </a:solidFill>
            </a:endParaRPr>
          </a:p>
        </p:txBody>
      </p:sp>
      <p:sp>
        <p:nvSpPr>
          <p:cNvPr id="159" name="Google Shape;159;p23"/>
          <p:cNvSpPr txBox="1"/>
          <p:nvPr/>
        </p:nvSpPr>
        <p:spPr>
          <a:xfrm>
            <a:off x="576900" y="163325"/>
            <a:ext cx="72237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600" b="1">
                <a:solidFill>
                  <a:srgbClr val="073763"/>
                </a:solidFill>
                <a:latin typeface="Poppins"/>
                <a:ea typeface="Poppins"/>
                <a:cs typeface="Poppins"/>
                <a:sym typeface="Poppins"/>
              </a:rPr>
              <a:t> Have you ever wondered… in Function Components, we don’t have so many different lifecycle methods like in Class Components. Then how do we handle the lifecycle? What if I tell you we have just one magic tool that makes the whole lifecycle super easy?</a:t>
            </a:r>
            <a:endParaRPr sz="1600" b="1">
              <a:solidFill>
                <a:srgbClr val="073763"/>
              </a:solidFill>
              <a:latin typeface="Poppins"/>
              <a:ea typeface="Poppins"/>
              <a:cs typeface="Poppins"/>
              <a:sym typeface="Poppins"/>
            </a:endParaRPr>
          </a:p>
        </p:txBody>
      </p:sp>
      <p:pic>
        <p:nvPicPr>
          <p:cNvPr id="160" name="Google Shape;160;p23"/>
          <p:cNvPicPr preferRelativeResize="0"/>
          <p:nvPr/>
        </p:nvPicPr>
        <p:blipFill>
          <a:blip r:embed="rId4">
            <a:alphaModFix/>
          </a:blip>
          <a:stretch>
            <a:fillRect/>
          </a:stretch>
        </p:blipFill>
        <p:spPr>
          <a:xfrm>
            <a:off x="3071350" y="1619100"/>
            <a:ext cx="2905825" cy="2905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4"/>
          <p:cNvSpPr txBox="1"/>
          <p:nvPr/>
        </p:nvSpPr>
        <p:spPr>
          <a:xfrm>
            <a:off x="311700" y="213250"/>
            <a:ext cx="2652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200" b="1">
                <a:latin typeface="Poppins"/>
                <a:ea typeface="Poppins"/>
                <a:cs typeface="Poppins"/>
                <a:sym typeface="Poppins"/>
              </a:rPr>
              <a:t>|</a:t>
            </a:r>
            <a:r>
              <a:rPr lang="en" sz="2200" b="1">
                <a:solidFill>
                  <a:srgbClr val="1C4587"/>
                </a:solidFill>
                <a:latin typeface="Poppins"/>
                <a:ea typeface="Poppins"/>
                <a:cs typeface="Poppins"/>
                <a:sym typeface="Poppins"/>
              </a:rPr>
              <a:t>  </a:t>
            </a:r>
            <a:endParaRPr sz="2200" b="1">
              <a:solidFill>
                <a:srgbClr val="073763"/>
              </a:solidFill>
              <a:latin typeface="Poppins"/>
              <a:ea typeface="Poppins"/>
              <a:cs typeface="Poppins"/>
              <a:sym typeface="Poppins"/>
            </a:endParaRPr>
          </a:p>
        </p:txBody>
      </p:sp>
      <p:pic>
        <p:nvPicPr>
          <p:cNvPr id="166" name="Google Shape;166;p24"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67" name="Google Shape;167;p2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12</a:t>
            </a:fld>
            <a:endParaRPr sz="1000">
              <a:solidFill>
                <a:srgbClr val="595959"/>
              </a:solidFill>
            </a:endParaRPr>
          </a:p>
        </p:txBody>
      </p:sp>
      <p:sp>
        <p:nvSpPr>
          <p:cNvPr id="168" name="Google Shape;168;p24"/>
          <p:cNvSpPr txBox="1"/>
          <p:nvPr/>
        </p:nvSpPr>
        <p:spPr>
          <a:xfrm>
            <a:off x="576900" y="163325"/>
            <a:ext cx="72237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600" b="1">
                <a:solidFill>
                  <a:srgbClr val="073763"/>
                </a:solidFill>
                <a:latin typeface="Poppins"/>
                <a:ea typeface="Poppins"/>
                <a:cs typeface="Poppins"/>
                <a:sym typeface="Poppins"/>
              </a:rPr>
              <a:t> Have you ever wondered… in Function Components, we don’t have so many different lifecycle methods like in Class Components. Then how do we handle the lifecycle? What if I tell you we have just one magic tool that makes the whole lifecycle super easy?</a:t>
            </a:r>
            <a:endParaRPr sz="1600" b="1">
              <a:solidFill>
                <a:srgbClr val="073763"/>
              </a:solidFill>
              <a:latin typeface="Poppins"/>
              <a:ea typeface="Poppins"/>
              <a:cs typeface="Poppins"/>
              <a:sym typeface="Poppins"/>
            </a:endParaRPr>
          </a:p>
        </p:txBody>
      </p:sp>
      <p:sp>
        <p:nvSpPr>
          <p:cNvPr id="169" name="Google Shape;169;p24"/>
          <p:cNvSpPr txBox="1"/>
          <p:nvPr/>
        </p:nvSpPr>
        <p:spPr>
          <a:xfrm>
            <a:off x="374125" y="1850550"/>
            <a:ext cx="42426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273239"/>
                </a:solidFill>
                <a:latin typeface="Poppins"/>
                <a:ea typeface="Poppins"/>
                <a:cs typeface="Poppins"/>
                <a:sym typeface="Poppins"/>
              </a:rPr>
              <a:t>We have one master key</a:t>
            </a:r>
            <a:r>
              <a:rPr lang="en" b="1">
                <a:solidFill>
                  <a:srgbClr val="273239"/>
                </a:solidFill>
                <a:latin typeface="Poppins"/>
                <a:ea typeface="Poppins"/>
                <a:cs typeface="Poppins"/>
                <a:sym typeface="Poppins"/>
              </a:rPr>
              <a:t> → useEffect()</a:t>
            </a:r>
            <a:r>
              <a:rPr lang="en">
                <a:solidFill>
                  <a:srgbClr val="273239"/>
                </a:solidFill>
                <a:latin typeface="Poppins"/>
                <a:ea typeface="Poppins"/>
                <a:cs typeface="Poppins"/>
                <a:sym typeface="Poppins"/>
              </a:rPr>
              <a:t>.</a:t>
            </a:r>
            <a:endParaRPr>
              <a:solidFill>
                <a:srgbClr val="273239"/>
              </a:solidFill>
              <a:latin typeface="Poppins"/>
              <a:ea typeface="Poppins"/>
              <a:cs typeface="Poppins"/>
              <a:sym typeface="Poppins"/>
            </a:endParaRPr>
          </a:p>
          <a:p>
            <a:pPr marL="0" lvl="0" indent="0" algn="l" rtl="0">
              <a:spcBef>
                <a:spcPts val="0"/>
              </a:spcBef>
              <a:spcAft>
                <a:spcPts val="0"/>
              </a:spcAft>
              <a:buNone/>
            </a:pPr>
            <a:endParaRPr>
              <a:solidFill>
                <a:srgbClr val="273239"/>
              </a:solidFill>
              <a:latin typeface="Poppins"/>
              <a:ea typeface="Poppins"/>
              <a:cs typeface="Poppins"/>
              <a:sym typeface="Poppins"/>
            </a:endParaRPr>
          </a:p>
          <a:p>
            <a:pPr marL="0" lvl="0" indent="0" algn="l" rtl="0">
              <a:spcBef>
                <a:spcPts val="0"/>
              </a:spcBef>
              <a:spcAft>
                <a:spcPts val="0"/>
              </a:spcAft>
              <a:buNone/>
            </a:pPr>
            <a:r>
              <a:rPr lang="en">
                <a:solidFill>
                  <a:srgbClr val="273239"/>
                </a:solidFill>
                <a:latin typeface="Poppins"/>
                <a:ea typeface="Poppins"/>
                <a:cs typeface="Poppins"/>
                <a:sym typeface="Poppins"/>
              </a:rPr>
              <a:t>It replaces </a:t>
            </a:r>
            <a:r>
              <a:rPr lang="en" b="1">
                <a:solidFill>
                  <a:srgbClr val="273239"/>
                </a:solidFill>
                <a:latin typeface="Poppins"/>
                <a:ea typeface="Poppins"/>
                <a:cs typeface="Poppins"/>
                <a:sym typeface="Poppins"/>
              </a:rPr>
              <a:t>all the lifecycle methods</a:t>
            </a:r>
            <a:r>
              <a:rPr lang="en">
                <a:solidFill>
                  <a:srgbClr val="273239"/>
                </a:solidFill>
                <a:latin typeface="Poppins"/>
                <a:ea typeface="Poppins"/>
                <a:cs typeface="Poppins"/>
                <a:sym typeface="Poppins"/>
              </a:rPr>
              <a:t> of Class Components.</a:t>
            </a:r>
            <a:endParaRPr>
              <a:solidFill>
                <a:srgbClr val="273239"/>
              </a:solidFill>
              <a:latin typeface="Poppins"/>
              <a:ea typeface="Poppins"/>
              <a:cs typeface="Poppins"/>
              <a:sym typeface="Poppins"/>
            </a:endParaRPr>
          </a:p>
          <a:p>
            <a:pPr marL="0" lvl="0" indent="0" algn="l" rtl="0">
              <a:spcBef>
                <a:spcPts val="0"/>
              </a:spcBef>
              <a:spcAft>
                <a:spcPts val="0"/>
              </a:spcAft>
              <a:buNone/>
            </a:pPr>
            <a:endParaRPr>
              <a:solidFill>
                <a:srgbClr val="273239"/>
              </a:solidFill>
              <a:latin typeface="Poppins"/>
              <a:ea typeface="Poppins"/>
              <a:cs typeface="Poppins"/>
              <a:sym typeface="Poppins"/>
            </a:endParaRPr>
          </a:p>
          <a:p>
            <a:pPr marL="0" lvl="0" indent="0" algn="l" rtl="0">
              <a:spcBef>
                <a:spcPts val="0"/>
              </a:spcBef>
              <a:spcAft>
                <a:spcPts val="0"/>
              </a:spcAft>
              <a:buNone/>
            </a:pPr>
            <a:endParaRPr>
              <a:solidFill>
                <a:srgbClr val="273239"/>
              </a:solidFill>
              <a:latin typeface="Poppins"/>
              <a:ea typeface="Poppins"/>
              <a:cs typeface="Poppins"/>
              <a:sym typeface="Poppins"/>
            </a:endParaRPr>
          </a:p>
          <a:p>
            <a:pPr marL="0" lvl="0" indent="0" algn="l" rtl="0">
              <a:spcBef>
                <a:spcPts val="0"/>
              </a:spcBef>
              <a:spcAft>
                <a:spcPts val="0"/>
              </a:spcAft>
              <a:buNone/>
            </a:pPr>
            <a:r>
              <a:rPr lang="en">
                <a:solidFill>
                  <a:srgbClr val="273239"/>
                </a:solidFill>
                <a:latin typeface="Poppins"/>
                <a:ea typeface="Poppins"/>
                <a:cs typeface="Poppins"/>
                <a:sym typeface="Poppins"/>
              </a:rPr>
              <a:t>useEffect() = </a:t>
            </a:r>
            <a:r>
              <a:rPr lang="en" b="1">
                <a:solidFill>
                  <a:srgbClr val="273239"/>
                </a:solidFill>
                <a:latin typeface="Poppins"/>
                <a:ea typeface="Poppins"/>
                <a:cs typeface="Poppins"/>
                <a:sym typeface="Poppins"/>
              </a:rPr>
              <a:t>Mount + Update + Unmount</a:t>
            </a:r>
            <a:r>
              <a:rPr lang="en">
                <a:solidFill>
                  <a:srgbClr val="273239"/>
                </a:solidFill>
                <a:latin typeface="Poppins"/>
                <a:ea typeface="Poppins"/>
                <a:cs typeface="Poppins"/>
                <a:sym typeface="Poppins"/>
              </a:rPr>
              <a:t> in one simple function.</a:t>
            </a:r>
            <a:endParaRPr>
              <a:solidFill>
                <a:srgbClr val="273239"/>
              </a:solidFill>
              <a:latin typeface="Poppins"/>
              <a:ea typeface="Poppins"/>
              <a:cs typeface="Poppins"/>
              <a:sym typeface="Poppins"/>
            </a:endParaRPr>
          </a:p>
        </p:txBody>
      </p:sp>
      <p:pic>
        <p:nvPicPr>
          <p:cNvPr id="170" name="Google Shape;170;p24"/>
          <p:cNvPicPr preferRelativeResize="0"/>
          <p:nvPr/>
        </p:nvPicPr>
        <p:blipFill rotWithShape="1">
          <a:blip r:embed="rId4">
            <a:alphaModFix/>
          </a:blip>
          <a:srcRect l="1270" r="-1270"/>
          <a:stretch/>
        </p:blipFill>
        <p:spPr>
          <a:xfrm>
            <a:off x="5539750" y="1903902"/>
            <a:ext cx="2447275" cy="249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5"/>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800" b="1">
                <a:solidFill>
                  <a:srgbClr val="073763"/>
                </a:solidFill>
                <a:latin typeface="Poppins"/>
                <a:ea typeface="Poppins"/>
                <a:cs typeface="Poppins"/>
                <a:sym typeface="Poppins"/>
              </a:rPr>
              <a:t>useEffect()</a:t>
            </a:r>
            <a:endParaRPr sz="3600" b="1">
              <a:solidFill>
                <a:srgbClr val="073763"/>
              </a:solidFill>
              <a:latin typeface="Poppins"/>
              <a:ea typeface="Poppins"/>
              <a:cs typeface="Poppins"/>
              <a:sym typeface="Poppins"/>
            </a:endParaRPr>
          </a:p>
        </p:txBody>
      </p:sp>
      <p:pic>
        <p:nvPicPr>
          <p:cNvPr id="176" name="Google Shape;176;p25"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77" name="Google Shape;177;p2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13</a:t>
            </a:fld>
            <a:endParaRPr sz="1000">
              <a:solidFill>
                <a:srgbClr val="595959"/>
              </a:solidFill>
            </a:endParaRPr>
          </a:p>
        </p:txBody>
      </p:sp>
      <p:sp>
        <p:nvSpPr>
          <p:cNvPr id="178" name="Google Shape;178;p25"/>
          <p:cNvSpPr txBox="1"/>
          <p:nvPr/>
        </p:nvSpPr>
        <p:spPr>
          <a:xfrm>
            <a:off x="436875" y="1045325"/>
            <a:ext cx="5657100" cy="31155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solidFill>
                  <a:srgbClr val="273239"/>
                </a:solidFill>
                <a:latin typeface="Poppins"/>
                <a:ea typeface="Poppins"/>
                <a:cs typeface="Poppins"/>
                <a:sym typeface="Poppins"/>
              </a:rPr>
              <a:t>useEffect() is a </a:t>
            </a:r>
            <a:r>
              <a:rPr lang="en" b="1">
                <a:solidFill>
                  <a:srgbClr val="273239"/>
                </a:solidFill>
                <a:latin typeface="Poppins"/>
                <a:ea typeface="Poppins"/>
                <a:cs typeface="Poppins"/>
                <a:sym typeface="Poppins"/>
              </a:rPr>
              <a:t>Hook</a:t>
            </a:r>
            <a:r>
              <a:rPr lang="en">
                <a:solidFill>
                  <a:srgbClr val="273239"/>
                </a:solidFill>
                <a:latin typeface="Poppins"/>
                <a:ea typeface="Poppins"/>
                <a:cs typeface="Poppins"/>
                <a:sym typeface="Poppins"/>
              </a:rPr>
              <a:t> that allows to run </a:t>
            </a:r>
            <a:r>
              <a:rPr lang="en" b="1">
                <a:solidFill>
                  <a:srgbClr val="273239"/>
                </a:solidFill>
                <a:latin typeface="Poppins"/>
                <a:ea typeface="Poppins"/>
                <a:cs typeface="Poppins"/>
                <a:sym typeface="Poppins"/>
              </a:rPr>
              <a:t>side effects</a:t>
            </a:r>
            <a:r>
              <a:rPr lang="en">
                <a:solidFill>
                  <a:srgbClr val="273239"/>
                </a:solidFill>
                <a:latin typeface="Poppins"/>
                <a:ea typeface="Poppins"/>
                <a:cs typeface="Poppins"/>
                <a:sym typeface="Poppins"/>
              </a:rPr>
              <a:t> in function components.</a:t>
            </a:r>
            <a:endParaRPr>
              <a:solidFill>
                <a:srgbClr val="273239"/>
              </a:solidFill>
              <a:latin typeface="Poppins"/>
              <a:ea typeface="Poppins"/>
              <a:cs typeface="Poppins"/>
              <a:sym typeface="Poppins"/>
            </a:endParaRPr>
          </a:p>
          <a:p>
            <a:pPr marL="0" lvl="0" indent="0" algn="l" rtl="0">
              <a:lnSpc>
                <a:spcPct val="100000"/>
              </a:lnSpc>
              <a:spcBef>
                <a:spcPts val="0"/>
              </a:spcBef>
              <a:spcAft>
                <a:spcPts val="0"/>
              </a:spcAft>
              <a:buNone/>
            </a:pPr>
            <a:endParaRPr>
              <a:solidFill>
                <a:srgbClr val="273239"/>
              </a:solidFill>
              <a:latin typeface="Poppins"/>
              <a:ea typeface="Poppins"/>
              <a:cs typeface="Poppins"/>
              <a:sym typeface="Poppins"/>
            </a:endParaRPr>
          </a:p>
          <a:p>
            <a:pPr marL="0" lvl="0" indent="0" algn="l" rtl="0">
              <a:lnSpc>
                <a:spcPct val="100000"/>
              </a:lnSpc>
              <a:spcBef>
                <a:spcPts val="0"/>
              </a:spcBef>
              <a:spcAft>
                <a:spcPts val="0"/>
              </a:spcAft>
              <a:buNone/>
            </a:pPr>
            <a:r>
              <a:rPr lang="en">
                <a:solidFill>
                  <a:srgbClr val="273239"/>
                </a:solidFill>
                <a:latin typeface="Poppins"/>
                <a:ea typeface="Poppins"/>
                <a:cs typeface="Poppins"/>
                <a:sym typeface="Poppins"/>
              </a:rPr>
              <a:t>A </a:t>
            </a:r>
            <a:r>
              <a:rPr lang="en" b="1">
                <a:solidFill>
                  <a:srgbClr val="273239"/>
                </a:solidFill>
                <a:latin typeface="Poppins"/>
                <a:ea typeface="Poppins"/>
                <a:cs typeface="Poppins"/>
                <a:sym typeface="Poppins"/>
              </a:rPr>
              <a:t>side effect</a:t>
            </a:r>
            <a:r>
              <a:rPr lang="en">
                <a:solidFill>
                  <a:srgbClr val="273239"/>
                </a:solidFill>
                <a:latin typeface="Poppins"/>
                <a:ea typeface="Poppins"/>
                <a:cs typeface="Poppins"/>
                <a:sym typeface="Poppins"/>
              </a:rPr>
              <a:t> is any action that happens </a:t>
            </a:r>
            <a:r>
              <a:rPr lang="en" b="1">
                <a:solidFill>
                  <a:srgbClr val="273239"/>
                </a:solidFill>
                <a:latin typeface="Poppins"/>
                <a:ea typeface="Poppins"/>
                <a:cs typeface="Poppins"/>
                <a:sym typeface="Poppins"/>
              </a:rPr>
              <a:t>outside the normal rendering process</a:t>
            </a:r>
            <a:r>
              <a:rPr lang="en">
                <a:solidFill>
                  <a:srgbClr val="273239"/>
                </a:solidFill>
                <a:latin typeface="Poppins"/>
                <a:ea typeface="Poppins"/>
                <a:cs typeface="Poppins"/>
                <a:sym typeface="Poppins"/>
              </a:rPr>
              <a:t>, </a:t>
            </a:r>
            <a:endParaRPr>
              <a:solidFill>
                <a:srgbClr val="273239"/>
              </a:solidFill>
              <a:latin typeface="Poppins"/>
              <a:ea typeface="Poppins"/>
              <a:cs typeface="Poppins"/>
              <a:sym typeface="Poppins"/>
            </a:endParaRPr>
          </a:p>
          <a:p>
            <a:pPr marL="0" lvl="0" indent="0" algn="l" rtl="0">
              <a:lnSpc>
                <a:spcPct val="100000"/>
              </a:lnSpc>
              <a:spcBef>
                <a:spcPts val="0"/>
              </a:spcBef>
              <a:spcAft>
                <a:spcPts val="0"/>
              </a:spcAft>
              <a:buNone/>
            </a:pPr>
            <a:endParaRPr>
              <a:solidFill>
                <a:srgbClr val="273239"/>
              </a:solidFill>
              <a:latin typeface="Poppins"/>
              <a:ea typeface="Poppins"/>
              <a:cs typeface="Poppins"/>
              <a:sym typeface="Poppins"/>
            </a:endParaRPr>
          </a:p>
          <a:p>
            <a:pPr marL="0" lvl="0" indent="0" algn="l" rtl="0">
              <a:lnSpc>
                <a:spcPct val="100000"/>
              </a:lnSpc>
              <a:spcBef>
                <a:spcPts val="0"/>
              </a:spcBef>
              <a:spcAft>
                <a:spcPts val="0"/>
              </a:spcAft>
              <a:buNone/>
            </a:pPr>
            <a:r>
              <a:rPr lang="en">
                <a:solidFill>
                  <a:srgbClr val="273239"/>
                </a:solidFill>
                <a:latin typeface="Poppins"/>
                <a:ea typeface="Poppins"/>
                <a:cs typeface="Poppins"/>
                <a:sym typeface="Poppins"/>
              </a:rPr>
              <a:t>for example:</a:t>
            </a:r>
            <a:endParaRPr>
              <a:solidFill>
                <a:srgbClr val="273239"/>
              </a:solidFill>
              <a:latin typeface="Poppins"/>
              <a:ea typeface="Poppins"/>
              <a:cs typeface="Poppins"/>
              <a:sym typeface="Poppins"/>
            </a:endParaRPr>
          </a:p>
          <a:p>
            <a:pPr marL="0" lvl="0" indent="0" algn="l" rtl="0">
              <a:lnSpc>
                <a:spcPct val="100000"/>
              </a:lnSpc>
              <a:spcBef>
                <a:spcPts val="0"/>
              </a:spcBef>
              <a:spcAft>
                <a:spcPts val="0"/>
              </a:spcAft>
              <a:buNone/>
            </a:pPr>
            <a:endParaRPr>
              <a:solidFill>
                <a:srgbClr val="273239"/>
              </a:solidFill>
              <a:latin typeface="Poppins"/>
              <a:ea typeface="Poppins"/>
              <a:cs typeface="Poppins"/>
              <a:sym typeface="Poppins"/>
            </a:endParaRPr>
          </a:p>
          <a:p>
            <a:pPr marL="457200" lvl="0" indent="-317500" algn="l" rtl="0">
              <a:lnSpc>
                <a:spcPct val="115000"/>
              </a:lnSpc>
              <a:spcBef>
                <a:spcPts val="0"/>
              </a:spcBef>
              <a:spcAft>
                <a:spcPts val="0"/>
              </a:spcAft>
              <a:buClr>
                <a:srgbClr val="273239"/>
              </a:buClr>
              <a:buSzPts val="1400"/>
              <a:buFont typeface="Poppins"/>
              <a:buChar char="●"/>
            </a:pPr>
            <a:r>
              <a:rPr lang="en">
                <a:solidFill>
                  <a:srgbClr val="273239"/>
                </a:solidFill>
                <a:latin typeface="Poppins"/>
                <a:ea typeface="Poppins"/>
                <a:cs typeface="Poppins"/>
                <a:sym typeface="Poppins"/>
              </a:rPr>
              <a:t>Fetching data from an API</a:t>
            </a:r>
            <a:endParaRPr>
              <a:solidFill>
                <a:srgbClr val="273239"/>
              </a:solidFill>
              <a:latin typeface="Poppins"/>
              <a:ea typeface="Poppins"/>
              <a:cs typeface="Poppins"/>
              <a:sym typeface="Poppins"/>
            </a:endParaRPr>
          </a:p>
          <a:p>
            <a:pPr marL="457200" lvl="0" indent="-317500" algn="l" rtl="0">
              <a:lnSpc>
                <a:spcPct val="115000"/>
              </a:lnSpc>
              <a:spcBef>
                <a:spcPts val="0"/>
              </a:spcBef>
              <a:spcAft>
                <a:spcPts val="0"/>
              </a:spcAft>
              <a:buClr>
                <a:srgbClr val="273239"/>
              </a:buClr>
              <a:buSzPts val="1400"/>
              <a:buFont typeface="Poppins"/>
              <a:buChar char="●"/>
            </a:pPr>
            <a:r>
              <a:rPr lang="en">
                <a:solidFill>
                  <a:srgbClr val="273239"/>
                </a:solidFill>
                <a:latin typeface="Poppins"/>
                <a:ea typeface="Poppins"/>
                <a:cs typeface="Poppins"/>
                <a:sym typeface="Poppins"/>
              </a:rPr>
              <a:t>Updating the browser DOM manually</a:t>
            </a:r>
            <a:endParaRPr>
              <a:solidFill>
                <a:srgbClr val="273239"/>
              </a:solidFill>
              <a:latin typeface="Poppins"/>
              <a:ea typeface="Poppins"/>
              <a:cs typeface="Poppins"/>
              <a:sym typeface="Poppins"/>
            </a:endParaRPr>
          </a:p>
          <a:p>
            <a:pPr marL="457200" lvl="0" indent="-317500" algn="l" rtl="0">
              <a:lnSpc>
                <a:spcPct val="115000"/>
              </a:lnSpc>
              <a:spcBef>
                <a:spcPts val="0"/>
              </a:spcBef>
              <a:spcAft>
                <a:spcPts val="0"/>
              </a:spcAft>
              <a:buClr>
                <a:srgbClr val="273239"/>
              </a:buClr>
              <a:buSzPts val="1400"/>
              <a:buFont typeface="Poppins"/>
              <a:buChar char="●"/>
            </a:pPr>
            <a:r>
              <a:rPr lang="en">
                <a:solidFill>
                  <a:srgbClr val="273239"/>
                </a:solidFill>
                <a:latin typeface="Poppins"/>
                <a:ea typeface="Poppins"/>
                <a:cs typeface="Poppins"/>
                <a:sym typeface="Poppins"/>
              </a:rPr>
              <a:t>Setting up timers</a:t>
            </a:r>
            <a:endParaRPr>
              <a:solidFill>
                <a:srgbClr val="273239"/>
              </a:solidFill>
              <a:latin typeface="Poppins"/>
              <a:ea typeface="Poppins"/>
              <a:cs typeface="Poppins"/>
              <a:sym typeface="Poppins"/>
            </a:endParaRPr>
          </a:p>
          <a:p>
            <a:pPr marL="457200" lvl="0" indent="-317500" algn="l" rtl="0">
              <a:lnSpc>
                <a:spcPct val="115000"/>
              </a:lnSpc>
              <a:spcBef>
                <a:spcPts val="0"/>
              </a:spcBef>
              <a:spcAft>
                <a:spcPts val="0"/>
              </a:spcAft>
              <a:buClr>
                <a:srgbClr val="273239"/>
              </a:buClr>
              <a:buSzPts val="1400"/>
              <a:buFont typeface="Poppins"/>
              <a:buChar char="●"/>
            </a:pPr>
            <a:r>
              <a:rPr lang="en">
                <a:solidFill>
                  <a:srgbClr val="273239"/>
                </a:solidFill>
                <a:latin typeface="Poppins"/>
                <a:ea typeface="Poppins"/>
                <a:cs typeface="Poppins"/>
                <a:sym typeface="Poppins"/>
              </a:rPr>
              <a:t>Logging values</a:t>
            </a:r>
            <a:endParaRPr>
              <a:solidFill>
                <a:srgbClr val="273239"/>
              </a:solidFill>
              <a:latin typeface="Poppins"/>
              <a:ea typeface="Poppins"/>
              <a:cs typeface="Poppins"/>
              <a:sym typeface="Poppins"/>
            </a:endParaRPr>
          </a:p>
          <a:p>
            <a:pPr marL="457200" lvl="0" indent="-317500" algn="l" rtl="0">
              <a:lnSpc>
                <a:spcPct val="115000"/>
              </a:lnSpc>
              <a:spcBef>
                <a:spcPts val="0"/>
              </a:spcBef>
              <a:spcAft>
                <a:spcPts val="0"/>
              </a:spcAft>
              <a:buClr>
                <a:srgbClr val="273239"/>
              </a:buClr>
              <a:buSzPts val="1400"/>
              <a:buFont typeface="Poppins"/>
              <a:buChar char="●"/>
            </a:pPr>
            <a:r>
              <a:rPr lang="en">
                <a:solidFill>
                  <a:srgbClr val="273239"/>
                </a:solidFill>
                <a:latin typeface="Poppins"/>
                <a:ea typeface="Poppins"/>
                <a:cs typeface="Poppins"/>
                <a:sym typeface="Poppins"/>
              </a:rPr>
              <a:t>Cleaning up resources</a:t>
            </a:r>
            <a:endParaRPr>
              <a:solidFill>
                <a:srgbClr val="273239"/>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6"/>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800" b="1">
                <a:solidFill>
                  <a:srgbClr val="073763"/>
                </a:solidFill>
                <a:latin typeface="Poppins"/>
                <a:ea typeface="Poppins"/>
                <a:cs typeface="Poppins"/>
                <a:sym typeface="Poppins"/>
              </a:rPr>
              <a:t>useEffect()</a:t>
            </a:r>
            <a:endParaRPr sz="3600" b="1">
              <a:solidFill>
                <a:srgbClr val="073763"/>
              </a:solidFill>
              <a:latin typeface="Poppins"/>
              <a:ea typeface="Poppins"/>
              <a:cs typeface="Poppins"/>
              <a:sym typeface="Poppins"/>
            </a:endParaRPr>
          </a:p>
        </p:txBody>
      </p:sp>
      <p:pic>
        <p:nvPicPr>
          <p:cNvPr id="184" name="Google Shape;184;p26"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85" name="Google Shape;185;p2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14</a:t>
            </a:fld>
            <a:endParaRPr sz="1000">
              <a:solidFill>
                <a:srgbClr val="595959"/>
              </a:solidFill>
            </a:endParaRPr>
          </a:p>
        </p:txBody>
      </p:sp>
      <p:sp>
        <p:nvSpPr>
          <p:cNvPr id="186" name="Google Shape;186;p26"/>
          <p:cNvSpPr txBox="1"/>
          <p:nvPr/>
        </p:nvSpPr>
        <p:spPr>
          <a:xfrm>
            <a:off x="337700" y="1375625"/>
            <a:ext cx="5028300" cy="228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a:solidFill>
                  <a:schemeClr val="dk1"/>
                </a:solidFill>
                <a:latin typeface="Poppins"/>
                <a:ea typeface="Poppins"/>
                <a:cs typeface="Poppins"/>
                <a:sym typeface="Poppins"/>
              </a:rPr>
              <a:t>It lets you execute code whenever the component:</a:t>
            </a:r>
            <a:endParaRPr>
              <a:solidFill>
                <a:schemeClr val="dk1"/>
              </a:solidFill>
              <a:latin typeface="Poppins"/>
              <a:ea typeface="Poppins"/>
              <a:cs typeface="Poppins"/>
              <a:sym typeface="Poppins"/>
            </a:endParaRPr>
          </a:p>
          <a:p>
            <a:pPr marL="457200" lvl="0" indent="-317500" algn="l" rtl="0">
              <a:lnSpc>
                <a:spcPct val="115000"/>
              </a:lnSpc>
              <a:spcBef>
                <a:spcPts val="1200"/>
              </a:spcBef>
              <a:spcAft>
                <a:spcPts val="0"/>
              </a:spcAft>
              <a:buClr>
                <a:schemeClr val="dk1"/>
              </a:buClr>
              <a:buSzPts val="1400"/>
              <a:buAutoNum type="arabicPeriod"/>
            </a:pPr>
            <a:r>
              <a:rPr lang="en" b="1">
                <a:solidFill>
                  <a:schemeClr val="dk1"/>
                </a:solidFill>
                <a:latin typeface="Poppins"/>
                <a:ea typeface="Poppins"/>
                <a:cs typeface="Poppins"/>
                <a:sym typeface="Poppins"/>
              </a:rPr>
              <a:t>Mounts</a:t>
            </a:r>
            <a:r>
              <a:rPr lang="en">
                <a:solidFill>
                  <a:schemeClr val="dk1"/>
                </a:solidFill>
                <a:latin typeface="Poppins"/>
                <a:ea typeface="Poppins"/>
                <a:cs typeface="Poppins"/>
                <a:sym typeface="Poppins"/>
              </a:rPr>
              <a:t> → When the component first appears on the screen.</a:t>
            </a:r>
            <a:br>
              <a:rPr lang="en">
                <a:solidFill>
                  <a:schemeClr val="dk1"/>
                </a:solidFill>
                <a:latin typeface="Poppins"/>
                <a:ea typeface="Poppins"/>
                <a:cs typeface="Poppins"/>
                <a:sym typeface="Poppins"/>
              </a:rPr>
            </a:b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AutoNum type="arabicPeriod"/>
            </a:pPr>
            <a:r>
              <a:rPr lang="en" b="1">
                <a:solidFill>
                  <a:schemeClr val="dk1"/>
                </a:solidFill>
                <a:latin typeface="Poppins"/>
                <a:ea typeface="Poppins"/>
                <a:cs typeface="Poppins"/>
                <a:sym typeface="Poppins"/>
              </a:rPr>
              <a:t>Updates</a:t>
            </a:r>
            <a:r>
              <a:rPr lang="en">
                <a:solidFill>
                  <a:schemeClr val="dk1"/>
                </a:solidFill>
                <a:latin typeface="Poppins"/>
                <a:ea typeface="Poppins"/>
                <a:cs typeface="Poppins"/>
                <a:sym typeface="Poppins"/>
              </a:rPr>
              <a:t> → When state or props change.</a:t>
            </a:r>
            <a:br>
              <a:rPr lang="en">
                <a:solidFill>
                  <a:schemeClr val="dk1"/>
                </a:solidFill>
                <a:latin typeface="Poppins"/>
                <a:ea typeface="Poppins"/>
                <a:cs typeface="Poppins"/>
                <a:sym typeface="Poppins"/>
              </a:rPr>
            </a:br>
            <a:endParaRPr>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AutoNum type="arabicPeriod"/>
            </a:pPr>
            <a:r>
              <a:rPr lang="en" b="1">
                <a:solidFill>
                  <a:schemeClr val="dk1"/>
                </a:solidFill>
                <a:latin typeface="Poppins"/>
                <a:ea typeface="Poppins"/>
                <a:cs typeface="Poppins"/>
                <a:sym typeface="Poppins"/>
              </a:rPr>
              <a:t>Unmounts</a:t>
            </a:r>
            <a:r>
              <a:rPr lang="en">
                <a:solidFill>
                  <a:schemeClr val="dk1"/>
                </a:solidFill>
                <a:latin typeface="Poppins"/>
                <a:ea typeface="Poppins"/>
                <a:cs typeface="Poppins"/>
                <a:sym typeface="Poppins"/>
              </a:rPr>
              <a:t> → When the component is removed from the screen.</a:t>
            </a:r>
            <a:endParaRPr>
              <a:solidFill>
                <a:schemeClr val="dk1"/>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7"/>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800" b="1">
                <a:solidFill>
                  <a:srgbClr val="073763"/>
                </a:solidFill>
                <a:latin typeface="Poppins"/>
                <a:ea typeface="Poppins"/>
                <a:cs typeface="Poppins"/>
                <a:sym typeface="Poppins"/>
              </a:rPr>
              <a:t>useEffect()</a:t>
            </a:r>
            <a:endParaRPr sz="3600" b="1">
              <a:solidFill>
                <a:srgbClr val="073763"/>
              </a:solidFill>
              <a:latin typeface="Poppins"/>
              <a:ea typeface="Poppins"/>
              <a:cs typeface="Poppins"/>
              <a:sym typeface="Poppins"/>
            </a:endParaRPr>
          </a:p>
        </p:txBody>
      </p:sp>
      <p:pic>
        <p:nvPicPr>
          <p:cNvPr id="192" name="Google Shape;192;p27"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193" name="Google Shape;193;p2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15</a:t>
            </a:fld>
            <a:endParaRPr sz="1000">
              <a:solidFill>
                <a:srgbClr val="595959"/>
              </a:solidFill>
            </a:endParaRPr>
          </a:p>
        </p:txBody>
      </p:sp>
      <p:sp>
        <p:nvSpPr>
          <p:cNvPr id="194" name="Google Shape;194;p27"/>
          <p:cNvSpPr txBox="1"/>
          <p:nvPr/>
        </p:nvSpPr>
        <p:spPr>
          <a:xfrm>
            <a:off x="311700" y="1053175"/>
            <a:ext cx="1002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Poppins"/>
                <a:ea typeface="Poppins"/>
                <a:cs typeface="Poppins"/>
                <a:sym typeface="Poppins"/>
              </a:rPr>
              <a:t>Syntax :</a:t>
            </a:r>
            <a:endParaRPr b="1">
              <a:latin typeface="Poppins"/>
              <a:ea typeface="Poppins"/>
              <a:cs typeface="Poppins"/>
              <a:sym typeface="Poppins"/>
            </a:endParaRPr>
          </a:p>
        </p:txBody>
      </p:sp>
      <p:pic>
        <p:nvPicPr>
          <p:cNvPr id="195" name="Google Shape;195;p27"/>
          <p:cNvPicPr preferRelativeResize="0"/>
          <p:nvPr/>
        </p:nvPicPr>
        <p:blipFill>
          <a:blip r:embed="rId4">
            <a:alphaModFix/>
          </a:blip>
          <a:stretch>
            <a:fillRect/>
          </a:stretch>
        </p:blipFill>
        <p:spPr>
          <a:xfrm>
            <a:off x="1852500" y="1136150"/>
            <a:ext cx="4181299" cy="855875"/>
          </a:xfrm>
          <a:prstGeom prst="rect">
            <a:avLst/>
          </a:prstGeom>
          <a:noFill/>
          <a:ln>
            <a:noFill/>
          </a:ln>
        </p:spPr>
      </p:pic>
      <p:sp>
        <p:nvSpPr>
          <p:cNvPr id="196" name="Google Shape;196;p27"/>
          <p:cNvSpPr txBox="1"/>
          <p:nvPr/>
        </p:nvSpPr>
        <p:spPr>
          <a:xfrm>
            <a:off x="1574575" y="2923125"/>
            <a:ext cx="2298600" cy="681300"/>
          </a:xfrm>
          <a:prstGeom prst="rect">
            <a:avLst/>
          </a:prstGeom>
          <a:solidFill>
            <a:srgbClr val="FCE5CD"/>
          </a:solid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800">
                <a:solidFill>
                  <a:schemeClr val="dk1"/>
                </a:solidFill>
              </a:rPr>
              <a:t>A function that contains your effect logics, it runs </a:t>
            </a:r>
            <a:r>
              <a:rPr lang="en" sz="800" b="1">
                <a:solidFill>
                  <a:schemeClr val="dk1"/>
                </a:solidFill>
              </a:rPr>
              <a:t>after the component renders</a:t>
            </a:r>
            <a:r>
              <a:rPr lang="en" sz="800">
                <a:solidFill>
                  <a:schemeClr val="dk1"/>
                </a:solidFill>
              </a:rPr>
              <a:t>.It also has </a:t>
            </a:r>
            <a:r>
              <a:rPr lang="en" sz="800" b="1">
                <a:solidFill>
                  <a:schemeClr val="dk1"/>
                </a:solidFill>
              </a:rPr>
              <a:t>Return function </a:t>
            </a:r>
            <a:r>
              <a:rPr lang="en" sz="800">
                <a:solidFill>
                  <a:schemeClr val="dk1"/>
                </a:solidFill>
              </a:rPr>
              <a:t>for Cleanup logic </a:t>
            </a:r>
            <a:r>
              <a:rPr lang="en" sz="800" b="1">
                <a:solidFill>
                  <a:schemeClr val="dk1"/>
                </a:solidFill>
              </a:rPr>
              <a:t>(optional)</a:t>
            </a:r>
            <a:r>
              <a:rPr lang="en" sz="800">
                <a:solidFill>
                  <a:schemeClr val="dk1"/>
                </a:solidFill>
              </a:rPr>
              <a:t> </a:t>
            </a:r>
            <a:endParaRPr sz="800">
              <a:solidFill>
                <a:schemeClr val="dk1"/>
              </a:solidFill>
            </a:endParaRPr>
          </a:p>
          <a:p>
            <a:pPr marL="0" lvl="0" indent="0" algn="l" rtl="0">
              <a:lnSpc>
                <a:spcPct val="115000"/>
              </a:lnSpc>
              <a:spcBef>
                <a:spcPts val="1200"/>
              </a:spcBef>
              <a:spcAft>
                <a:spcPts val="0"/>
              </a:spcAft>
              <a:buNone/>
            </a:pPr>
            <a:endParaRPr sz="800">
              <a:solidFill>
                <a:schemeClr val="dk1"/>
              </a:solidFill>
            </a:endParaRPr>
          </a:p>
          <a:p>
            <a:pPr marL="0" lvl="0" indent="0" algn="ctr" rtl="0">
              <a:spcBef>
                <a:spcPts val="1200"/>
              </a:spcBef>
              <a:spcAft>
                <a:spcPts val="0"/>
              </a:spcAft>
              <a:buNone/>
            </a:pPr>
            <a:endParaRPr sz="900">
              <a:solidFill>
                <a:schemeClr val="dk2"/>
              </a:solidFill>
              <a:latin typeface="Poppins"/>
              <a:ea typeface="Poppins"/>
              <a:cs typeface="Poppins"/>
              <a:sym typeface="Poppins"/>
            </a:endParaRPr>
          </a:p>
        </p:txBody>
      </p:sp>
      <p:sp>
        <p:nvSpPr>
          <p:cNvPr id="197" name="Google Shape;197;p27"/>
          <p:cNvSpPr txBox="1"/>
          <p:nvPr/>
        </p:nvSpPr>
        <p:spPr>
          <a:xfrm>
            <a:off x="4093300" y="2923125"/>
            <a:ext cx="2298600" cy="681300"/>
          </a:xfrm>
          <a:prstGeom prst="rect">
            <a:avLst/>
          </a:prstGeom>
          <a:solidFill>
            <a:srgbClr val="FCE5CD"/>
          </a:solid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900">
                <a:solidFill>
                  <a:schemeClr val="dk1"/>
                </a:solidFill>
                <a:latin typeface="Poppins"/>
                <a:ea typeface="Poppins"/>
                <a:cs typeface="Poppins"/>
                <a:sym typeface="Poppins"/>
              </a:rPr>
              <a:t>dependency array → tells React when to run the function</a:t>
            </a:r>
            <a:r>
              <a:rPr lang="en" sz="1100">
                <a:solidFill>
                  <a:schemeClr val="dk1"/>
                </a:solidFill>
              </a:rPr>
              <a:t>.</a:t>
            </a:r>
            <a:br>
              <a:rPr lang="en" sz="1100">
                <a:solidFill>
                  <a:schemeClr val="dk1"/>
                </a:solidFill>
              </a:rPr>
            </a:br>
            <a:endParaRPr sz="1100">
              <a:solidFill>
                <a:schemeClr val="dk1"/>
              </a:solidFill>
            </a:endParaRPr>
          </a:p>
          <a:p>
            <a:pPr marL="0" lvl="0" indent="0" algn="l" rtl="0">
              <a:lnSpc>
                <a:spcPct val="115000"/>
              </a:lnSpc>
              <a:spcBef>
                <a:spcPts val="1200"/>
              </a:spcBef>
              <a:spcAft>
                <a:spcPts val="0"/>
              </a:spcAft>
              <a:buNone/>
            </a:pPr>
            <a:endParaRPr sz="800">
              <a:solidFill>
                <a:schemeClr val="dk1"/>
              </a:solidFill>
            </a:endParaRPr>
          </a:p>
          <a:p>
            <a:pPr marL="0" lvl="0" indent="0" algn="l" rtl="0">
              <a:lnSpc>
                <a:spcPct val="115000"/>
              </a:lnSpc>
              <a:spcBef>
                <a:spcPts val="1200"/>
              </a:spcBef>
              <a:spcAft>
                <a:spcPts val="0"/>
              </a:spcAft>
              <a:buNone/>
            </a:pPr>
            <a:endParaRPr sz="800">
              <a:solidFill>
                <a:schemeClr val="dk1"/>
              </a:solidFill>
            </a:endParaRPr>
          </a:p>
          <a:p>
            <a:pPr marL="0" lvl="0" indent="0" algn="ctr" rtl="0">
              <a:spcBef>
                <a:spcPts val="1200"/>
              </a:spcBef>
              <a:spcAft>
                <a:spcPts val="0"/>
              </a:spcAft>
              <a:buNone/>
            </a:pPr>
            <a:endParaRPr sz="900">
              <a:solidFill>
                <a:schemeClr val="dk2"/>
              </a:solidFill>
              <a:latin typeface="Poppins"/>
              <a:ea typeface="Poppins"/>
              <a:cs typeface="Poppins"/>
              <a:sym typeface="Poppins"/>
            </a:endParaRPr>
          </a:p>
        </p:txBody>
      </p:sp>
      <p:cxnSp>
        <p:nvCxnSpPr>
          <p:cNvPr id="198" name="Google Shape;198;p27"/>
          <p:cNvCxnSpPr/>
          <p:nvPr/>
        </p:nvCxnSpPr>
        <p:spPr>
          <a:xfrm rot="10800000" flipH="1">
            <a:off x="3628850" y="1872500"/>
            <a:ext cx="5100" cy="1050600"/>
          </a:xfrm>
          <a:prstGeom prst="straightConnector1">
            <a:avLst/>
          </a:prstGeom>
          <a:noFill/>
          <a:ln w="9525" cap="flat" cmpd="sng">
            <a:solidFill>
              <a:srgbClr val="FF0000"/>
            </a:solidFill>
            <a:prstDash val="solid"/>
            <a:round/>
            <a:headEnd type="none" w="med" len="med"/>
            <a:tailEnd type="triangle" w="med" len="med"/>
          </a:ln>
        </p:spPr>
      </p:cxnSp>
      <p:cxnSp>
        <p:nvCxnSpPr>
          <p:cNvPr id="199" name="Google Shape;199;p27"/>
          <p:cNvCxnSpPr>
            <a:stCxn id="197" idx="0"/>
          </p:cNvCxnSpPr>
          <p:nvPr/>
        </p:nvCxnSpPr>
        <p:spPr>
          <a:xfrm rot="10800000">
            <a:off x="5230600" y="1856925"/>
            <a:ext cx="12000" cy="106620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8"/>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800" b="1">
                <a:solidFill>
                  <a:srgbClr val="073763"/>
                </a:solidFill>
                <a:latin typeface="Poppins"/>
                <a:ea typeface="Poppins"/>
                <a:cs typeface="Poppins"/>
                <a:sym typeface="Poppins"/>
              </a:rPr>
              <a:t>useEffect()</a:t>
            </a:r>
            <a:endParaRPr sz="3600" b="1">
              <a:solidFill>
                <a:srgbClr val="073763"/>
              </a:solidFill>
              <a:latin typeface="Poppins"/>
              <a:ea typeface="Poppins"/>
              <a:cs typeface="Poppins"/>
              <a:sym typeface="Poppins"/>
            </a:endParaRPr>
          </a:p>
        </p:txBody>
      </p:sp>
      <p:pic>
        <p:nvPicPr>
          <p:cNvPr id="205" name="Google Shape;205;p28"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06" name="Google Shape;206;p2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16</a:t>
            </a:fld>
            <a:endParaRPr sz="1000">
              <a:solidFill>
                <a:srgbClr val="595959"/>
              </a:solidFill>
            </a:endParaRPr>
          </a:p>
        </p:txBody>
      </p:sp>
      <p:sp>
        <p:nvSpPr>
          <p:cNvPr id="207" name="Google Shape;207;p28"/>
          <p:cNvSpPr txBox="1"/>
          <p:nvPr/>
        </p:nvSpPr>
        <p:spPr>
          <a:xfrm>
            <a:off x="311700" y="936125"/>
            <a:ext cx="4565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 Different Ways of Using useEffect :</a:t>
            </a:r>
            <a:endParaRPr sz="1700" b="1">
              <a:solidFill>
                <a:srgbClr val="273239"/>
              </a:solidFill>
              <a:latin typeface="Poppins"/>
              <a:ea typeface="Poppins"/>
              <a:cs typeface="Poppins"/>
              <a:sym typeface="Poppins"/>
            </a:endParaRPr>
          </a:p>
        </p:txBody>
      </p:sp>
      <p:sp>
        <p:nvSpPr>
          <p:cNvPr id="208" name="Google Shape;208;p28"/>
          <p:cNvSpPr txBox="1"/>
          <p:nvPr/>
        </p:nvSpPr>
        <p:spPr>
          <a:xfrm>
            <a:off x="358850" y="1440300"/>
            <a:ext cx="45441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273239"/>
                </a:solidFill>
                <a:latin typeface="Poppins"/>
                <a:ea typeface="Poppins"/>
                <a:cs typeface="Poppins"/>
                <a:sym typeface="Poppins"/>
              </a:rPr>
              <a:t>1. </a:t>
            </a:r>
            <a:r>
              <a:rPr lang="en" b="1">
                <a:solidFill>
                  <a:srgbClr val="273239"/>
                </a:solidFill>
                <a:latin typeface="Poppins"/>
                <a:ea typeface="Poppins"/>
                <a:cs typeface="Poppins"/>
                <a:sym typeface="Poppins"/>
              </a:rPr>
              <a:t>Run After Every Render </a:t>
            </a:r>
            <a:endParaRPr b="1">
              <a:solidFill>
                <a:srgbClr val="273239"/>
              </a:solidFill>
              <a:latin typeface="Poppins"/>
              <a:ea typeface="Poppins"/>
              <a:cs typeface="Poppins"/>
              <a:sym typeface="Poppins"/>
            </a:endParaRPr>
          </a:p>
          <a:p>
            <a:pPr marL="0" lvl="0" indent="0" algn="l" rtl="0">
              <a:spcBef>
                <a:spcPts val="0"/>
              </a:spcBef>
              <a:spcAft>
                <a:spcPts val="0"/>
              </a:spcAft>
              <a:buNone/>
            </a:pPr>
            <a:endParaRPr b="1">
              <a:solidFill>
                <a:srgbClr val="273239"/>
              </a:solidFill>
              <a:latin typeface="Poppins"/>
              <a:ea typeface="Poppins"/>
              <a:cs typeface="Poppins"/>
              <a:sym typeface="Poppins"/>
            </a:endParaRPr>
          </a:p>
          <a:p>
            <a:pPr marL="0" lvl="0" indent="0" algn="l" rtl="0">
              <a:spcBef>
                <a:spcPts val="0"/>
              </a:spcBef>
              <a:spcAft>
                <a:spcPts val="0"/>
              </a:spcAft>
              <a:buNone/>
            </a:pPr>
            <a:r>
              <a:rPr lang="en">
                <a:solidFill>
                  <a:srgbClr val="273239"/>
                </a:solidFill>
                <a:latin typeface="Poppins"/>
                <a:ea typeface="Poppins"/>
                <a:cs typeface="Poppins"/>
                <a:sym typeface="Poppins"/>
              </a:rPr>
              <a:t>If you don’t give a </a:t>
            </a:r>
            <a:r>
              <a:rPr lang="en" b="1">
                <a:solidFill>
                  <a:srgbClr val="273239"/>
                </a:solidFill>
                <a:latin typeface="Poppins"/>
                <a:ea typeface="Poppins"/>
                <a:cs typeface="Poppins"/>
                <a:sym typeface="Poppins"/>
              </a:rPr>
              <a:t>dependency array</a:t>
            </a:r>
            <a:r>
              <a:rPr lang="en">
                <a:solidFill>
                  <a:srgbClr val="273239"/>
                </a:solidFill>
                <a:latin typeface="Poppins"/>
                <a:ea typeface="Poppins"/>
                <a:cs typeface="Poppins"/>
                <a:sym typeface="Poppins"/>
              </a:rPr>
              <a:t>, useEffect will run </a:t>
            </a:r>
            <a:r>
              <a:rPr lang="en" b="1">
                <a:solidFill>
                  <a:srgbClr val="273239"/>
                </a:solidFill>
                <a:latin typeface="Poppins"/>
                <a:ea typeface="Poppins"/>
                <a:cs typeface="Poppins"/>
                <a:sym typeface="Poppins"/>
              </a:rPr>
              <a:t>after every render</a:t>
            </a:r>
            <a:r>
              <a:rPr lang="en">
                <a:solidFill>
                  <a:srgbClr val="273239"/>
                </a:solidFill>
                <a:latin typeface="Poppins"/>
                <a:ea typeface="Poppins"/>
                <a:cs typeface="Poppins"/>
                <a:sym typeface="Poppins"/>
              </a:rPr>
              <a:t> — when the component first loads and every time it updates.</a:t>
            </a:r>
            <a:endParaRPr sz="1700">
              <a:solidFill>
                <a:srgbClr val="273239"/>
              </a:solidFill>
              <a:latin typeface="Poppins"/>
              <a:ea typeface="Poppins"/>
              <a:cs typeface="Poppins"/>
              <a:sym typeface="Poppins"/>
            </a:endParaRPr>
          </a:p>
        </p:txBody>
      </p:sp>
      <p:sp>
        <p:nvSpPr>
          <p:cNvPr id="209" name="Google Shape;209;p28"/>
          <p:cNvSpPr txBox="1"/>
          <p:nvPr/>
        </p:nvSpPr>
        <p:spPr>
          <a:xfrm>
            <a:off x="462875" y="2977400"/>
            <a:ext cx="4024200" cy="1049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b="1">
                <a:solidFill>
                  <a:schemeClr val="dk1"/>
                </a:solidFill>
                <a:latin typeface="Poppins"/>
                <a:ea typeface="Poppins"/>
                <a:cs typeface="Poppins"/>
                <a:sym typeface="Poppins"/>
              </a:rPr>
              <a:t>Example :-</a:t>
            </a:r>
            <a:endParaRPr b="1">
              <a:solidFill>
                <a:schemeClr val="dk1"/>
              </a:solidFill>
              <a:latin typeface="Poppins"/>
              <a:ea typeface="Poppins"/>
              <a:cs typeface="Poppins"/>
              <a:sym typeface="Poppins"/>
            </a:endParaRPr>
          </a:p>
          <a:p>
            <a:pPr marL="0" lvl="0" indent="0" algn="l" rtl="0">
              <a:lnSpc>
                <a:spcPct val="115000"/>
              </a:lnSpc>
              <a:spcBef>
                <a:spcPts val="1200"/>
              </a:spcBef>
              <a:spcAft>
                <a:spcPts val="1200"/>
              </a:spcAft>
              <a:buNone/>
            </a:pPr>
            <a:r>
              <a:rPr lang="en">
                <a:solidFill>
                  <a:schemeClr val="dk1"/>
                </a:solidFill>
                <a:latin typeface="Poppins"/>
                <a:ea typeface="Poppins"/>
                <a:cs typeface="Poppins"/>
                <a:sym typeface="Poppins"/>
              </a:rPr>
              <a:t>Like a teacher taking attendance every single time the class changes</a:t>
            </a:r>
            <a:endParaRPr>
              <a:solidFill>
                <a:schemeClr val="dk1"/>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9"/>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800" b="1">
                <a:solidFill>
                  <a:srgbClr val="073763"/>
                </a:solidFill>
                <a:latin typeface="Poppins"/>
                <a:ea typeface="Poppins"/>
                <a:cs typeface="Poppins"/>
                <a:sym typeface="Poppins"/>
              </a:rPr>
              <a:t>useEffect()</a:t>
            </a:r>
            <a:endParaRPr sz="3600" b="1">
              <a:solidFill>
                <a:srgbClr val="073763"/>
              </a:solidFill>
              <a:latin typeface="Poppins"/>
              <a:ea typeface="Poppins"/>
              <a:cs typeface="Poppins"/>
              <a:sym typeface="Poppins"/>
            </a:endParaRPr>
          </a:p>
        </p:txBody>
      </p:sp>
      <p:pic>
        <p:nvPicPr>
          <p:cNvPr id="215" name="Google Shape;215;p29"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16" name="Google Shape;216;p2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17</a:t>
            </a:fld>
            <a:endParaRPr sz="1000">
              <a:solidFill>
                <a:srgbClr val="595959"/>
              </a:solidFill>
            </a:endParaRPr>
          </a:p>
        </p:txBody>
      </p:sp>
      <p:pic>
        <p:nvPicPr>
          <p:cNvPr id="217" name="Google Shape;217;p29"/>
          <p:cNvPicPr preferRelativeResize="0"/>
          <p:nvPr/>
        </p:nvPicPr>
        <p:blipFill>
          <a:blip r:embed="rId4">
            <a:alphaModFix/>
          </a:blip>
          <a:stretch>
            <a:fillRect/>
          </a:stretch>
        </p:blipFill>
        <p:spPr>
          <a:xfrm>
            <a:off x="311700" y="1664475"/>
            <a:ext cx="3662942" cy="2432147"/>
          </a:xfrm>
          <a:prstGeom prst="rect">
            <a:avLst/>
          </a:prstGeom>
          <a:noFill/>
          <a:ln>
            <a:noFill/>
          </a:ln>
        </p:spPr>
      </p:pic>
      <p:pic>
        <p:nvPicPr>
          <p:cNvPr id="218" name="Google Shape;218;p29" title="Screen Recording 2025-08-18 154429.mp4">
            <a:hlinkClick r:id="rId5"/>
          </p:cNvPr>
          <p:cNvPicPr preferRelativeResize="0"/>
          <p:nvPr/>
        </p:nvPicPr>
        <p:blipFill>
          <a:blip r:embed="rId6">
            <a:alphaModFix/>
          </a:blip>
          <a:stretch>
            <a:fillRect/>
          </a:stretch>
        </p:blipFill>
        <p:spPr>
          <a:xfrm>
            <a:off x="5328100" y="2119838"/>
            <a:ext cx="3174725" cy="1667525"/>
          </a:xfrm>
          <a:prstGeom prst="rect">
            <a:avLst/>
          </a:prstGeom>
          <a:noFill/>
          <a:ln>
            <a:noFill/>
          </a:ln>
          <a:effectLst>
            <a:outerShdw blurRad="157163" dist="76200" dir="7560000" algn="bl" rotWithShape="0">
              <a:srgbClr val="000000">
                <a:alpha val="50000"/>
              </a:srgbClr>
            </a:outerShdw>
          </a:effectLst>
        </p:spPr>
      </p:pic>
      <p:cxnSp>
        <p:nvCxnSpPr>
          <p:cNvPr id="219" name="Google Shape;219;p29"/>
          <p:cNvCxnSpPr>
            <a:stCxn id="217" idx="3"/>
          </p:cNvCxnSpPr>
          <p:nvPr/>
        </p:nvCxnSpPr>
        <p:spPr>
          <a:xfrm rot="10800000" flipH="1">
            <a:off x="3974642" y="2876048"/>
            <a:ext cx="1264200" cy="45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animEffect transition="in" filter="fade">
                                      <p:cBhvr>
                                        <p:cTn id="7" dur="1000"/>
                                        <p:tgtEl>
                                          <p:spTgt spid="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0"/>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800" b="1">
                <a:solidFill>
                  <a:srgbClr val="073763"/>
                </a:solidFill>
                <a:latin typeface="Poppins"/>
                <a:ea typeface="Poppins"/>
                <a:cs typeface="Poppins"/>
                <a:sym typeface="Poppins"/>
              </a:rPr>
              <a:t>useEffect()</a:t>
            </a:r>
            <a:endParaRPr sz="3600" b="1">
              <a:solidFill>
                <a:srgbClr val="073763"/>
              </a:solidFill>
              <a:latin typeface="Poppins"/>
              <a:ea typeface="Poppins"/>
              <a:cs typeface="Poppins"/>
              <a:sym typeface="Poppins"/>
            </a:endParaRPr>
          </a:p>
        </p:txBody>
      </p:sp>
      <p:pic>
        <p:nvPicPr>
          <p:cNvPr id="225" name="Google Shape;225;p30"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26" name="Google Shape;226;p3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18</a:t>
            </a:fld>
            <a:endParaRPr sz="1000">
              <a:solidFill>
                <a:srgbClr val="595959"/>
              </a:solidFill>
            </a:endParaRPr>
          </a:p>
        </p:txBody>
      </p:sp>
      <p:sp>
        <p:nvSpPr>
          <p:cNvPr id="227" name="Google Shape;227;p30"/>
          <p:cNvSpPr txBox="1"/>
          <p:nvPr/>
        </p:nvSpPr>
        <p:spPr>
          <a:xfrm>
            <a:off x="462875" y="2977400"/>
            <a:ext cx="4024200" cy="801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b="1">
                <a:solidFill>
                  <a:schemeClr val="dk1"/>
                </a:solidFill>
                <a:latin typeface="Poppins"/>
                <a:ea typeface="Poppins"/>
                <a:cs typeface="Poppins"/>
                <a:sym typeface="Poppins"/>
              </a:rPr>
              <a:t> </a:t>
            </a:r>
            <a:endParaRPr b="1">
              <a:solidFill>
                <a:schemeClr val="dk1"/>
              </a:solidFill>
              <a:latin typeface="Poppins"/>
              <a:ea typeface="Poppins"/>
              <a:cs typeface="Poppins"/>
              <a:sym typeface="Poppins"/>
            </a:endParaRPr>
          </a:p>
          <a:p>
            <a:pPr marL="0" lvl="0" indent="0" algn="l" rtl="0">
              <a:lnSpc>
                <a:spcPct val="115000"/>
              </a:lnSpc>
              <a:spcBef>
                <a:spcPts val="1200"/>
              </a:spcBef>
              <a:spcAft>
                <a:spcPts val="1200"/>
              </a:spcAft>
              <a:buNone/>
            </a:pPr>
            <a:endParaRPr>
              <a:solidFill>
                <a:schemeClr val="dk1"/>
              </a:solidFill>
              <a:latin typeface="Poppins"/>
              <a:ea typeface="Poppins"/>
              <a:cs typeface="Poppins"/>
              <a:sym typeface="Poppins"/>
            </a:endParaRPr>
          </a:p>
        </p:txBody>
      </p:sp>
      <p:sp>
        <p:nvSpPr>
          <p:cNvPr id="228" name="Google Shape;228;p30"/>
          <p:cNvSpPr txBox="1"/>
          <p:nvPr/>
        </p:nvSpPr>
        <p:spPr>
          <a:xfrm>
            <a:off x="374125" y="1336325"/>
            <a:ext cx="5719800" cy="1419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273239"/>
                </a:solidFill>
                <a:latin typeface="Poppins"/>
                <a:ea typeface="Poppins"/>
                <a:cs typeface="Poppins"/>
                <a:sym typeface="Poppins"/>
              </a:rPr>
              <a:t>2. </a:t>
            </a:r>
            <a:r>
              <a:rPr lang="en" b="1">
                <a:solidFill>
                  <a:srgbClr val="273239"/>
                </a:solidFill>
                <a:latin typeface="Poppins"/>
                <a:ea typeface="Poppins"/>
                <a:cs typeface="Poppins"/>
                <a:sym typeface="Poppins"/>
              </a:rPr>
              <a:t>Run Only Once</a:t>
            </a:r>
            <a:endParaRPr b="1">
              <a:solidFill>
                <a:srgbClr val="273239"/>
              </a:solidFill>
              <a:latin typeface="Poppins"/>
              <a:ea typeface="Poppins"/>
              <a:cs typeface="Poppins"/>
              <a:sym typeface="Poppins"/>
            </a:endParaRPr>
          </a:p>
          <a:p>
            <a:pPr marL="0" lvl="0" indent="0" algn="l" rtl="0">
              <a:lnSpc>
                <a:spcPct val="115000"/>
              </a:lnSpc>
              <a:spcBef>
                <a:spcPts val="1200"/>
              </a:spcBef>
              <a:spcAft>
                <a:spcPts val="0"/>
              </a:spcAft>
              <a:buClr>
                <a:schemeClr val="dk1"/>
              </a:buClr>
              <a:buSzPts val="1100"/>
              <a:buFont typeface="Arial"/>
              <a:buNone/>
            </a:pPr>
            <a:r>
              <a:rPr lang="en">
                <a:solidFill>
                  <a:srgbClr val="273239"/>
                </a:solidFill>
                <a:latin typeface="Poppins"/>
                <a:ea typeface="Poppins"/>
                <a:cs typeface="Poppins"/>
                <a:sym typeface="Poppins"/>
              </a:rPr>
              <a:t>If you pass an empty array [], the effect will run </a:t>
            </a:r>
            <a:r>
              <a:rPr lang="en" b="1">
                <a:solidFill>
                  <a:srgbClr val="273239"/>
                </a:solidFill>
                <a:latin typeface="Poppins"/>
                <a:ea typeface="Poppins"/>
                <a:cs typeface="Poppins"/>
                <a:sym typeface="Poppins"/>
              </a:rPr>
              <a:t>only one time</a:t>
            </a:r>
            <a:r>
              <a:rPr lang="en">
                <a:solidFill>
                  <a:srgbClr val="273239"/>
                </a:solidFill>
                <a:latin typeface="Poppins"/>
                <a:ea typeface="Poppins"/>
                <a:cs typeface="Poppins"/>
                <a:sym typeface="Poppins"/>
              </a:rPr>
              <a:t> when the component is born (mounted).</a:t>
            </a:r>
            <a:endParaRPr>
              <a:solidFill>
                <a:srgbClr val="273239"/>
              </a:solidFill>
              <a:latin typeface="Poppins"/>
              <a:ea typeface="Poppins"/>
              <a:cs typeface="Poppins"/>
              <a:sym typeface="Poppins"/>
            </a:endParaRPr>
          </a:p>
          <a:p>
            <a:pPr marL="0" lvl="0" indent="0" algn="l" rtl="0">
              <a:lnSpc>
                <a:spcPct val="115000"/>
              </a:lnSpc>
              <a:spcBef>
                <a:spcPts val="1200"/>
              </a:spcBef>
              <a:spcAft>
                <a:spcPts val="1200"/>
              </a:spcAft>
              <a:buNone/>
            </a:pPr>
            <a:r>
              <a:rPr lang="en">
                <a:solidFill>
                  <a:srgbClr val="273239"/>
                </a:solidFill>
                <a:latin typeface="Poppins"/>
                <a:ea typeface="Poppins"/>
                <a:cs typeface="Poppins"/>
                <a:sym typeface="Poppins"/>
              </a:rPr>
              <a:t>Often used for </a:t>
            </a:r>
            <a:r>
              <a:rPr lang="en" b="1">
                <a:solidFill>
                  <a:srgbClr val="273239"/>
                </a:solidFill>
                <a:latin typeface="Poppins"/>
                <a:ea typeface="Poppins"/>
                <a:cs typeface="Poppins"/>
                <a:sym typeface="Poppins"/>
              </a:rPr>
              <a:t>fetching data from an API</a:t>
            </a:r>
            <a:r>
              <a:rPr lang="en">
                <a:solidFill>
                  <a:srgbClr val="273239"/>
                </a:solidFill>
                <a:latin typeface="Poppins"/>
                <a:ea typeface="Poppins"/>
                <a:cs typeface="Poppins"/>
                <a:sym typeface="Poppins"/>
              </a:rPr>
              <a:t>.</a:t>
            </a:r>
            <a:endParaRPr sz="1700" b="1">
              <a:solidFill>
                <a:srgbClr val="273239"/>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1"/>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800" b="1">
                <a:solidFill>
                  <a:srgbClr val="073763"/>
                </a:solidFill>
                <a:latin typeface="Poppins"/>
                <a:ea typeface="Poppins"/>
                <a:cs typeface="Poppins"/>
                <a:sym typeface="Poppins"/>
              </a:rPr>
              <a:t>useEffect()</a:t>
            </a:r>
            <a:endParaRPr sz="3600" b="1">
              <a:solidFill>
                <a:srgbClr val="073763"/>
              </a:solidFill>
              <a:latin typeface="Poppins"/>
              <a:ea typeface="Poppins"/>
              <a:cs typeface="Poppins"/>
              <a:sym typeface="Poppins"/>
            </a:endParaRPr>
          </a:p>
        </p:txBody>
      </p:sp>
      <p:pic>
        <p:nvPicPr>
          <p:cNvPr id="234" name="Google Shape;234;p31"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35" name="Google Shape;235;p3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19</a:t>
            </a:fld>
            <a:endParaRPr sz="1000">
              <a:solidFill>
                <a:srgbClr val="595959"/>
              </a:solidFill>
            </a:endParaRPr>
          </a:p>
        </p:txBody>
      </p:sp>
      <p:cxnSp>
        <p:nvCxnSpPr>
          <p:cNvPr id="236" name="Google Shape;236;p31"/>
          <p:cNvCxnSpPr>
            <a:stCxn id="237" idx="3"/>
          </p:cNvCxnSpPr>
          <p:nvPr/>
        </p:nvCxnSpPr>
        <p:spPr>
          <a:xfrm rot="10800000" flipH="1">
            <a:off x="3974642" y="2876048"/>
            <a:ext cx="1264200" cy="4500"/>
          </a:xfrm>
          <a:prstGeom prst="straightConnector1">
            <a:avLst/>
          </a:prstGeom>
          <a:noFill/>
          <a:ln w="9525" cap="flat" cmpd="sng">
            <a:solidFill>
              <a:schemeClr val="dk2"/>
            </a:solidFill>
            <a:prstDash val="solid"/>
            <a:round/>
            <a:headEnd type="none" w="med" len="med"/>
            <a:tailEnd type="triangle" w="med" len="med"/>
          </a:ln>
        </p:spPr>
      </p:cxnSp>
      <p:pic>
        <p:nvPicPr>
          <p:cNvPr id="238" name="Google Shape;238;p31" title="22.mp4">
            <a:hlinkClick r:id="rId4"/>
          </p:cNvPr>
          <p:cNvPicPr preferRelativeResize="0"/>
          <p:nvPr/>
        </p:nvPicPr>
        <p:blipFill>
          <a:blip r:embed="rId5">
            <a:alphaModFix/>
          </a:blip>
          <a:stretch>
            <a:fillRect/>
          </a:stretch>
        </p:blipFill>
        <p:spPr>
          <a:xfrm>
            <a:off x="5280600" y="2098175"/>
            <a:ext cx="3665350" cy="1560250"/>
          </a:xfrm>
          <a:prstGeom prst="rect">
            <a:avLst/>
          </a:prstGeom>
          <a:noFill/>
          <a:ln>
            <a:noFill/>
          </a:ln>
          <a:effectLst>
            <a:outerShdw blurRad="185738" dist="85725" dir="7860000" algn="bl" rotWithShape="0">
              <a:srgbClr val="000000">
                <a:alpha val="50000"/>
              </a:srgbClr>
            </a:outerShdw>
          </a:effectLst>
        </p:spPr>
      </p:pic>
      <p:pic>
        <p:nvPicPr>
          <p:cNvPr id="239" name="Google Shape;239;p31"/>
          <p:cNvPicPr preferRelativeResize="0"/>
          <p:nvPr/>
        </p:nvPicPr>
        <p:blipFill>
          <a:blip r:embed="rId6">
            <a:alphaModFix/>
          </a:blip>
          <a:stretch>
            <a:fillRect/>
          </a:stretch>
        </p:blipFill>
        <p:spPr>
          <a:xfrm>
            <a:off x="311700" y="1715975"/>
            <a:ext cx="3669844" cy="2324628"/>
          </a:xfrm>
          <a:prstGeom prst="rect">
            <a:avLst/>
          </a:prstGeom>
          <a:noFill/>
          <a:ln>
            <a:noFill/>
          </a:ln>
          <a:effectLst>
            <a:outerShdw blurRad="185738" dist="85725" dir="7860000" algn="bl" rotWithShape="0">
              <a:srgbClr val="000000">
                <a:alpha val="50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Effect transition="in" filter="fade">
                                      <p:cBhvr>
                                        <p:cTn id="7" dur="1000"/>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2"/>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800" b="1">
                <a:solidFill>
                  <a:srgbClr val="073763"/>
                </a:solidFill>
                <a:latin typeface="Poppins"/>
                <a:ea typeface="Poppins"/>
                <a:cs typeface="Poppins"/>
                <a:sym typeface="Poppins"/>
              </a:rPr>
              <a:t>useEffect()</a:t>
            </a:r>
            <a:endParaRPr sz="3600" b="1">
              <a:solidFill>
                <a:srgbClr val="073763"/>
              </a:solidFill>
              <a:latin typeface="Poppins"/>
              <a:ea typeface="Poppins"/>
              <a:cs typeface="Poppins"/>
              <a:sym typeface="Poppins"/>
            </a:endParaRPr>
          </a:p>
        </p:txBody>
      </p:sp>
      <p:pic>
        <p:nvPicPr>
          <p:cNvPr id="245" name="Google Shape;245;p32"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46" name="Google Shape;246;p3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20</a:t>
            </a:fld>
            <a:endParaRPr sz="1000">
              <a:solidFill>
                <a:srgbClr val="595959"/>
              </a:solidFill>
            </a:endParaRPr>
          </a:p>
        </p:txBody>
      </p:sp>
      <p:sp>
        <p:nvSpPr>
          <p:cNvPr id="247" name="Google Shape;247;p32"/>
          <p:cNvSpPr txBox="1"/>
          <p:nvPr/>
        </p:nvSpPr>
        <p:spPr>
          <a:xfrm>
            <a:off x="358850" y="1440300"/>
            <a:ext cx="5203500" cy="169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273239"/>
                </a:solidFill>
                <a:latin typeface="Poppins"/>
                <a:ea typeface="Poppins"/>
                <a:cs typeface="Poppins"/>
                <a:sym typeface="Poppins"/>
              </a:rPr>
              <a:t>3. </a:t>
            </a:r>
            <a:r>
              <a:rPr lang="en" b="1">
                <a:solidFill>
                  <a:srgbClr val="273239"/>
                </a:solidFill>
                <a:latin typeface="Poppins"/>
                <a:ea typeface="Poppins"/>
                <a:cs typeface="Poppins"/>
                <a:sym typeface="Poppins"/>
              </a:rPr>
              <a:t>Run When Specific Data Changes</a:t>
            </a:r>
            <a:endParaRPr b="1">
              <a:solidFill>
                <a:srgbClr val="273239"/>
              </a:solidFill>
              <a:latin typeface="Poppins"/>
              <a:ea typeface="Poppins"/>
              <a:cs typeface="Poppins"/>
              <a:sym typeface="Poppins"/>
            </a:endParaRPr>
          </a:p>
          <a:p>
            <a:pPr marL="0" lvl="0" indent="0" algn="l" rtl="0">
              <a:spcBef>
                <a:spcPts val="0"/>
              </a:spcBef>
              <a:spcAft>
                <a:spcPts val="0"/>
              </a:spcAft>
              <a:buNone/>
            </a:pPr>
            <a:endParaRPr>
              <a:solidFill>
                <a:srgbClr val="273239"/>
              </a:solidFill>
              <a:latin typeface="Poppins"/>
              <a:ea typeface="Poppins"/>
              <a:cs typeface="Poppins"/>
              <a:sym typeface="Poppins"/>
            </a:endParaRPr>
          </a:p>
          <a:p>
            <a:pPr marL="0" lvl="0" indent="0" algn="l" rtl="0">
              <a:spcBef>
                <a:spcPts val="0"/>
              </a:spcBef>
              <a:spcAft>
                <a:spcPts val="0"/>
              </a:spcAft>
              <a:buNone/>
            </a:pPr>
            <a:r>
              <a:rPr lang="en">
                <a:solidFill>
                  <a:srgbClr val="273239"/>
                </a:solidFill>
                <a:latin typeface="Poppins"/>
                <a:ea typeface="Poppins"/>
                <a:cs typeface="Poppins"/>
                <a:sym typeface="Poppins"/>
              </a:rPr>
              <a:t>If you add variables inside the dependency array, the effect runs once when the component first renders, and then runs again only when those variables change.</a:t>
            </a:r>
            <a:endParaRPr>
              <a:solidFill>
                <a:srgbClr val="273239"/>
              </a:solidFill>
              <a:latin typeface="Poppins"/>
              <a:ea typeface="Poppins"/>
              <a:cs typeface="Poppins"/>
              <a:sym typeface="Poppins"/>
            </a:endParaRPr>
          </a:p>
          <a:p>
            <a:pPr marL="0" lvl="0" indent="0" algn="l" rtl="0">
              <a:spcBef>
                <a:spcPts val="0"/>
              </a:spcBef>
              <a:spcAft>
                <a:spcPts val="0"/>
              </a:spcAft>
              <a:buNone/>
            </a:pPr>
            <a:endParaRPr b="1">
              <a:solidFill>
                <a:srgbClr val="273239"/>
              </a:solidFill>
              <a:latin typeface="Poppins"/>
              <a:ea typeface="Poppins"/>
              <a:cs typeface="Poppins"/>
              <a:sym typeface="Poppins"/>
            </a:endParaRPr>
          </a:p>
          <a:p>
            <a:pPr marL="0" lvl="0" indent="0" algn="l" rtl="0">
              <a:spcBef>
                <a:spcPts val="0"/>
              </a:spcBef>
              <a:spcAft>
                <a:spcPts val="0"/>
              </a:spcAft>
              <a:buNone/>
            </a:pPr>
            <a:r>
              <a:rPr lang="en">
                <a:solidFill>
                  <a:srgbClr val="273239"/>
                </a:solidFill>
                <a:latin typeface="Poppins"/>
                <a:ea typeface="Poppins"/>
                <a:cs typeface="Poppins"/>
                <a:sym typeface="Poppins"/>
              </a:rPr>
              <a:t> </a:t>
            </a:r>
            <a:endParaRPr sz="1700">
              <a:solidFill>
                <a:srgbClr val="273239"/>
              </a:solidFill>
              <a:latin typeface="Poppins"/>
              <a:ea typeface="Poppins"/>
              <a:cs typeface="Poppins"/>
              <a:sym typeface="Poppins"/>
            </a:endParaRPr>
          </a:p>
        </p:txBody>
      </p:sp>
      <p:sp>
        <p:nvSpPr>
          <p:cNvPr id="248" name="Google Shape;248;p32"/>
          <p:cNvSpPr txBox="1"/>
          <p:nvPr/>
        </p:nvSpPr>
        <p:spPr>
          <a:xfrm>
            <a:off x="462875" y="2977400"/>
            <a:ext cx="8586000" cy="801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en" b="1">
                <a:solidFill>
                  <a:schemeClr val="dk1"/>
                </a:solidFill>
                <a:latin typeface="Poppins"/>
                <a:ea typeface="Poppins"/>
                <a:cs typeface="Poppins"/>
                <a:sym typeface="Poppins"/>
              </a:rPr>
              <a:t>Example :-</a:t>
            </a:r>
            <a:r>
              <a:rPr lang="en" sz="1100">
                <a:solidFill>
                  <a:schemeClr val="dk1"/>
                </a:solidFill>
              </a:rPr>
              <a:t> </a:t>
            </a:r>
            <a:r>
              <a:rPr lang="en" sz="1300">
                <a:solidFill>
                  <a:schemeClr val="dk1"/>
                </a:solidFill>
                <a:latin typeface="Poppins"/>
                <a:ea typeface="Poppins"/>
                <a:cs typeface="Poppins"/>
                <a:sym typeface="Poppins"/>
              </a:rPr>
              <a:t>Like a </a:t>
            </a:r>
            <a:r>
              <a:rPr lang="en" sz="1300" b="1">
                <a:solidFill>
                  <a:schemeClr val="dk1"/>
                </a:solidFill>
                <a:latin typeface="Poppins"/>
                <a:ea typeface="Poppins"/>
                <a:cs typeface="Poppins"/>
                <a:sym typeface="Poppins"/>
              </a:rPr>
              <a:t>weighing machine</a:t>
            </a:r>
            <a:r>
              <a:rPr lang="en" sz="1300">
                <a:solidFill>
                  <a:schemeClr val="dk1"/>
                </a:solidFill>
                <a:latin typeface="Poppins"/>
                <a:ea typeface="Poppins"/>
                <a:cs typeface="Poppins"/>
                <a:sym typeface="Poppins"/>
              </a:rPr>
              <a:t> — the display updates </a:t>
            </a:r>
            <a:r>
              <a:rPr lang="en" sz="1300" b="1">
                <a:solidFill>
                  <a:schemeClr val="dk1"/>
                </a:solidFill>
                <a:latin typeface="Poppins"/>
                <a:ea typeface="Poppins"/>
                <a:cs typeface="Poppins"/>
                <a:sym typeface="Poppins"/>
              </a:rPr>
              <a:t>only when your weight changes</a:t>
            </a:r>
            <a:r>
              <a:rPr lang="en" sz="1300">
                <a:solidFill>
                  <a:schemeClr val="dk1"/>
                </a:solidFill>
                <a:latin typeface="Poppins"/>
                <a:ea typeface="Poppins"/>
                <a:cs typeface="Poppins"/>
                <a:sym typeface="Poppins"/>
              </a:rPr>
              <a:t>.</a:t>
            </a:r>
            <a:endParaRPr sz="1300" b="1">
              <a:solidFill>
                <a:schemeClr val="dk1"/>
              </a:solidFill>
              <a:latin typeface="Poppins"/>
              <a:ea typeface="Poppins"/>
              <a:cs typeface="Poppins"/>
              <a:sym typeface="Poppins"/>
            </a:endParaRPr>
          </a:p>
          <a:p>
            <a:pPr marL="0" lvl="0" indent="0" algn="l" rtl="0">
              <a:lnSpc>
                <a:spcPct val="115000"/>
              </a:lnSpc>
              <a:spcBef>
                <a:spcPts val="1200"/>
              </a:spcBef>
              <a:spcAft>
                <a:spcPts val="1200"/>
              </a:spcAft>
              <a:buNone/>
            </a:pPr>
            <a:r>
              <a:rPr lang="en">
                <a:solidFill>
                  <a:schemeClr val="dk1"/>
                </a:solidFill>
                <a:latin typeface="Poppins"/>
                <a:ea typeface="Poppins"/>
                <a:cs typeface="Poppins"/>
                <a:sym typeface="Poppins"/>
              </a:rPr>
              <a:t> </a:t>
            </a:r>
            <a:endParaRPr>
              <a:solidFill>
                <a:schemeClr val="dk1"/>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33"/>
          <p:cNvSpPr txBox="1"/>
          <p:nvPr/>
        </p:nvSpPr>
        <p:spPr>
          <a:xfrm>
            <a:off x="311700" y="213250"/>
            <a:ext cx="74709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latin typeface="Poppins"/>
                <a:ea typeface="Poppins"/>
                <a:cs typeface="Poppins"/>
                <a:sym typeface="Poppins"/>
              </a:rPr>
              <a:t>|</a:t>
            </a:r>
            <a:r>
              <a:rPr lang="en" sz="2800" b="1">
                <a:solidFill>
                  <a:srgbClr val="1C4587"/>
                </a:solidFill>
                <a:latin typeface="Poppins"/>
                <a:ea typeface="Poppins"/>
                <a:cs typeface="Poppins"/>
                <a:sym typeface="Poppins"/>
              </a:rPr>
              <a:t>  </a:t>
            </a:r>
            <a:r>
              <a:rPr lang="en" sz="2800" b="1">
                <a:solidFill>
                  <a:srgbClr val="073763"/>
                </a:solidFill>
                <a:latin typeface="Poppins"/>
                <a:ea typeface="Poppins"/>
                <a:cs typeface="Poppins"/>
                <a:sym typeface="Poppins"/>
              </a:rPr>
              <a:t>useEffect()</a:t>
            </a:r>
            <a:endParaRPr sz="3600" b="1">
              <a:solidFill>
                <a:srgbClr val="073763"/>
              </a:solidFill>
              <a:latin typeface="Poppins"/>
              <a:ea typeface="Poppins"/>
              <a:cs typeface="Poppins"/>
              <a:sym typeface="Poppins"/>
            </a:endParaRPr>
          </a:p>
        </p:txBody>
      </p:sp>
      <p:pic>
        <p:nvPicPr>
          <p:cNvPr id="254" name="Google Shape;254;p33"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55" name="Google Shape;255;p3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21</a:t>
            </a:fld>
            <a:endParaRPr sz="1000">
              <a:solidFill>
                <a:srgbClr val="595959"/>
              </a:solidFill>
            </a:endParaRPr>
          </a:p>
        </p:txBody>
      </p:sp>
      <p:cxnSp>
        <p:nvCxnSpPr>
          <p:cNvPr id="256" name="Google Shape;256;p33"/>
          <p:cNvCxnSpPr>
            <a:stCxn id="257" idx="3"/>
          </p:cNvCxnSpPr>
          <p:nvPr/>
        </p:nvCxnSpPr>
        <p:spPr>
          <a:xfrm rot="10800000" flipH="1">
            <a:off x="3974642" y="2876048"/>
            <a:ext cx="1264200" cy="4500"/>
          </a:xfrm>
          <a:prstGeom prst="straightConnector1">
            <a:avLst/>
          </a:prstGeom>
          <a:noFill/>
          <a:ln w="9525" cap="flat" cmpd="sng">
            <a:solidFill>
              <a:schemeClr val="dk2"/>
            </a:solidFill>
            <a:prstDash val="solid"/>
            <a:round/>
            <a:headEnd type="none" w="med" len="med"/>
            <a:tailEnd type="triangle" w="med" len="med"/>
          </a:ln>
        </p:spPr>
      </p:cxnSp>
      <p:pic>
        <p:nvPicPr>
          <p:cNvPr id="258" name="Google Shape;258;p33" title="Screen Recording 2025-08-18 154429.mp4">
            <a:hlinkClick r:id="rId4"/>
          </p:cNvPr>
          <p:cNvPicPr preferRelativeResize="0"/>
          <p:nvPr/>
        </p:nvPicPr>
        <p:blipFill>
          <a:blip r:embed="rId5">
            <a:alphaModFix/>
          </a:blip>
          <a:stretch>
            <a:fillRect/>
          </a:stretch>
        </p:blipFill>
        <p:spPr>
          <a:xfrm>
            <a:off x="5328100" y="2119838"/>
            <a:ext cx="3174725" cy="1667525"/>
          </a:xfrm>
          <a:prstGeom prst="rect">
            <a:avLst/>
          </a:prstGeom>
          <a:noFill/>
          <a:ln>
            <a:noFill/>
          </a:ln>
          <a:effectLst>
            <a:outerShdw blurRad="157163" dist="76200" dir="7560000" algn="bl" rotWithShape="0">
              <a:srgbClr val="000000">
                <a:alpha val="50000"/>
              </a:srgbClr>
            </a:outerShdw>
          </a:effectLst>
        </p:spPr>
      </p:pic>
      <p:pic>
        <p:nvPicPr>
          <p:cNvPr id="259" name="Google Shape;259;p33"/>
          <p:cNvPicPr preferRelativeResize="0"/>
          <p:nvPr/>
        </p:nvPicPr>
        <p:blipFill>
          <a:blip r:embed="rId6">
            <a:alphaModFix/>
          </a:blip>
          <a:stretch>
            <a:fillRect/>
          </a:stretch>
        </p:blipFill>
        <p:spPr>
          <a:xfrm>
            <a:off x="358100" y="1749200"/>
            <a:ext cx="3616551" cy="22581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4"/>
          <p:cNvSpPr txBox="1"/>
          <p:nvPr/>
        </p:nvSpPr>
        <p:spPr>
          <a:xfrm>
            <a:off x="310900" y="197325"/>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800" b="1">
                <a:solidFill>
                  <a:srgbClr val="073763"/>
                </a:solidFill>
                <a:latin typeface="Poppins"/>
                <a:ea typeface="Poppins"/>
                <a:cs typeface="Poppins"/>
                <a:sym typeface="Poppins"/>
              </a:rPr>
              <a:t>Coding Questions</a:t>
            </a:r>
            <a:endParaRPr sz="2800" b="1">
              <a:solidFill>
                <a:srgbClr val="073763"/>
              </a:solidFill>
              <a:latin typeface="Poppins"/>
              <a:ea typeface="Poppins"/>
              <a:cs typeface="Poppins"/>
              <a:sym typeface="Poppins"/>
            </a:endParaRPr>
          </a:p>
        </p:txBody>
      </p:sp>
      <p:pic>
        <p:nvPicPr>
          <p:cNvPr id="265" name="Google Shape;265;p34"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266" name="Google Shape;266;p34"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267" name="Google Shape;267;p3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22</a:t>
            </a:fld>
            <a:endParaRPr sz="1000">
              <a:solidFill>
                <a:srgbClr val="595959"/>
              </a:solidFill>
            </a:endParaRPr>
          </a:p>
        </p:txBody>
      </p:sp>
      <p:grpSp>
        <p:nvGrpSpPr>
          <p:cNvPr id="268" name="Google Shape;268;p34"/>
          <p:cNvGrpSpPr/>
          <p:nvPr/>
        </p:nvGrpSpPr>
        <p:grpSpPr>
          <a:xfrm>
            <a:off x="310894" y="1014975"/>
            <a:ext cx="7421421" cy="1449125"/>
            <a:chOff x="310900" y="1014975"/>
            <a:chExt cx="6992106" cy="1449125"/>
          </a:xfrm>
        </p:grpSpPr>
        <p:sp>
          <p:nvSpPr>
            <p:cNvPr id="269" name="Google Shape;269;p34"/>
            <p:cNvSpPr txBox="1"/>
            <p:nvPr/>
          </p:nvSpPr>
          <p:spPr>
            <a:xfrm>
              <a:off x="310900" y="1014975"/>
              <a:ext cx="5139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1.   </a:t>
              </a:r>
              <a:r>
                <a:rPr lang="en" sz="1100" b="1">
                  <a:solidFill>
                    <a:srgbClr val="000000"/>
                  </a:solidFill>
                </a:rPr>
                <a:t> </a:t>
              </a:r>
              <a:r>
                <a:rPr lang="en" b="1">
                  <a:solidFill>
                    <a:srgbClr val="000000"/>
                  </a:solidFill>
                  <a:latin typeface="Poppins"/>
                  <a:ea typeface="Poppins"/>
                  <a:cs typeface="Poppins"/>
                  <a:sym typeface="Poppins"/>
                </a:rPr>
                <a:t> </a:t>
              </a:r>
              <a:r>
                <a:rPr lang="en" sz="1300" b="1">
                  <a:solidFill>
                    <a:schemeClr val="dk1"/>
                  </a:solidFill>
                  <a:latin typeface="Poppins"/>
                  <a:ea typeface="Poppins"/>
                  <a:cs typeface="Poppins"/>
                  <a:sym typeface="Poppins"/>
                </a:rPr>
                <a:t>Running an Effect Once</a:t>
              </a:r>
              <a:endParaRPr sz="1600" b="1">
                <a:latin typeface="Poppins"/>
                <a:ea typeface="Poppins"/>
                <a:cs typeface="Poppins"/>
                <a:sym typeface="Poppins"/>
              </a:endParaRPr>
            </a:p>
            <a:p>
              <a:pPr marL="0" lvl="0" indent="0" algn="l" rtl="0">
                <a:spcBef>
                  <a:spcPts val="0"/>
                </a:spcBef>
                <a:spcAft>
                  <a:spcPts val="0"/>
                </a:spcAft>
                <a:buNone/>
              </a:pPr>
              <a:endParaRPr b="1">
                <a:latin typeface="Poppins"/>
                <a:ea typeface="Poppins"/>
                <a:cs typeface="Poppins"/>
                <a:sym typeface="Poppins"/>
              </a:endParaRPr>
            </a:p>
          </p:txBody>
        </p:sp>
        <p:sp>
          <p:nvSpPr>
            <p:cNvPr id="270" name="Google Shape;270;p34"/>
            <p:cNvSpPr txBox="1"/>
            <p:nvPr/>
          </p:nvSpPr>
          <p:spPr>
            <a:xfrm>
              <a:off x="310906" y="1725200"/>
              <a:ext cx="6992100" cy="7389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b="1">
                  <a:solidFill>
                    <a:srgbClr val="273239"/>
                  </a:solidFill>
                  <a:latin typeface="Poppins"/>
                  <a:ea typeface="Poppins"/>
                  <a:cs typeface="Poppins"/>
                  <a:sym typeface="Poppins"/>
                </a:rPr>
                <a:t>Task :</a:t>
              </a:r>
              <a:r>
                <a:rPr lang="en" sz="1100"/>
                <a:t> </a:t>
              </a:r>
              <a:r>
                <a:rPr lang="en" sz="1100">
                  <a:solidFill>
                    <a:schemeClr val="dk1"/>
                  </a:solidFill>
                  <a:latin typeface="Poppins"/>
                  <a:ea typeface="Poppins"/>
                  <a:cs typeface="Poppins"/>
                  <a:sym typeface="Poppins"/>
                </a:rPr>
                <a:t> Create a </a:t>
              </a:r>
              <a:r>
                <a:rPr lang="en" sz="1100" b="1">
                  <a:solidFill>
                    <a:schemeClr val="dk1"/>
                  </a:solidFill>
                  <a:latin typeface="Poppins"/>
                  <a:ea typeface="Poppins"/>
                  <a:cs typeface="Poppins"/>
                  <a:sym typeface="Poppins"/>
                </a:rPr>
                <a:t>WelcomeMessage</a:t>
              </a:r>
              <a:r>
                <a:rPr lang="en" sz="1100">
                  <a:solidFill>
                    <a:schemeClr val="dk1"/>
                  </a:solidFill>
                  <a:latin typeface="Poppins"/>
                  <a:ea typeface="Poppins"/>
                  <a:cs typeface="Poppins"/>
                  <a:sym typeface="Poppins"/>
                </a:rPr>
                <a:t> component. Use the </a:t>
              </a:r>
              <a:r>
                <a:rPr lang="en" sz="1100" b="1">
                  <a:solidFill>
                    <a:schemeClr val="dk1"/>
                  </a:solidFill>
                  <a:latin typeface="Poppins"/>
                  <a:ea typeface="Poppins"/>
                  <a:cs typeface="Poppins"/>
                  <a:sym typeface="Poppins"/>
                </a:rPr>
                <a:t>useEffect</a:t>
              </a:r>
              <a:r>
                <a:rPr lang="en" sz="1100">
                  <a:solidFill>
                    <a:schemeClr val="dk1"/>
                  </a:solidFill>
                  <a:latin typeface="Poppins"/>
                  <a:ea typeface="Poppins"/>
                  <a:cs typeface="Poppins"/>
                  <a:sym typeface="Poppins"/>
                </a:rPr>
                <a:t> Hook to log the message  </a:t>
              </a:r>
              <a:endParaRPr sz="1100">
                <a:solidFill>
                  <a:schemeClr val="dk1"/>
                </a:solidFill>
                <a:latin typeface="Poppins"/>
                <a:ea typeface="Poppins"/>
                <a:cs typeface="Poppins"/>
                <a:sym typeface="Poppins"/>
              </a:endParaRPr>
            </a:p>
            <a:p>
              <a:pPr marL="0" lvl="0" indent="0" algn="l" rtl="0">
                <a:lnSpc>
                  <a:spcPct val="100000"/>
                </a:lnSpc>
                <a:spcBef>
                  <a:spcPts val="0"/>
                </a:spcBef>
                <a:spcAft>
                  <a:spcPts val="0"/>
                </a:spcAft>
                <a:buNone/>
              </a:pPr>
              <a:r>
                <a:rPr lang="en" sz="1100">
                  <a:solidFill>
                    <a:schemeClr val="dk1"/>
                  </a:solidFill>
                  <a:latin typeface="Poppins"/>
                  <a:ea typeface="Poppins"/>
                  <a:cs typeface="Poppins"/>
                  <a:sym typeface="Poppins"/>
                </a:rPr>
                <a:t>              "Component has mounted!" to the console </a:t>
              </a:r>
              <a:r>
                <a:rPr lang="en" sz="1100" b="1">
                  <a:solidFill>
                    <a:schemeClr val="dk1"/>
                  </a:solidFill>
                  <a:latin typeface="Poppins"/>
                  <a:ea typeface="Poppins"/>
                  <a:cs typeface="Poppins"/>
                  <a:sym typeface="Poppins"/>
                </a:rPr>
                <a:t>only once</a:t>
              </a:r>
              <a:r>
                <a:rPr lang="en" sz="1100">
                  <a:solidFill>
                    <a:schemeClr val="dk1"/>
                  </a:solidFill>
                  <a:latin typeface="Poppins"/>
                  <a:ea typeface="Poppins"/>
                  <a:cs typeface="Poppins"/>
                  <a:sym typeface="Poppins"/>
                </a:rPr>
                <a:t> when the component first renders.</a:t>
              </a:r>
              <a:endParaRPr sz="1100">
                <a:solidFill>
                  <a:schemeClr val="dk1"/>
                </a:solidFill>
                <a:latin typeface="Poppins"/>
                <a:ea typeface="Poppins"/>
                <a:cs typeface="Poppins"/>
                <a:sym typeface="Poppins"/>
              </a:endParaRPr>
            </a:p>
            <a:p>
              <a:pPr marL="0" lvl="0" indent="0" algn="l" rtl="0">
                <a:lnSpc>
                  <a:spcPct val="150000"/>
                </a:lnSpc>
                <a:spcBef>
                  <a:spcPts val="0"/>
                </a:spcBef>
                <a:spcAft>
                  <a:spcPts val="0"/>
                </a:spcAft>
                <a:buNone/>
              </a:pPr>
              <a:endParaRPr sz="110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5"/>
          <p:cNvSpPr txBox="1"/>
          <p:nvPr/>
        </p:nvSpPr>
        <p:spPr>
          <a:xfrm>
            <a:off x="310900" y="197325"/>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800" b="1">
                <a:solidFill>
                  <a:srgbClr val="073763"/>
                </a:solidFill>
                <a:latin typeface="Poppins"/>
                <a:ea typeface="Poppins"/>
                <a:cs typeface="Poppins"/>
                <a:sym typeface="Poppins"/>
              </a:rPr>
              <a:t>Coding Questions</a:t>
            </a:r>
            <a:endParaRPr sz="2800" b="1">
              <a:solidFill>
                <a:srgbClr val="073763"/>
              </a:solidFill>
              <a:latin typeface="Poppins"/>
              <a:ea typeface="Poppins"/>
              <a:cs typeface="Poppins"/>
              <a:sym typeface="Poppins"/>
            </a:endParaRPr>
          </a:p>
        </p:txBody>
      </p:sp>
      <p:pic>
        <p:nvPicPr>
          <p:cNvPr id="276" name="Google Shape;276;p35"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277" name="Google Shape;277;p35"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278" name="Google Shape;278;p3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23</a:t>
            </a:fld>
            <a:endParaRPr sz="1000">
              <a:solidFill>
                <a:srgbClr val="595959"/>
              </a:solidFill>
            </a:endParaRPr>
          </a:p>
        </p:txBody>
      </p:sp>
      <p:sp>
        <p:nvSpPr>
          <p:cNvPr id="279" name="Google Shape;279;p35"/>
          <p:cNvSpPr txBox="1"/>
          <p:nvPr/>
        </p:nvSpPr>
        <p:spPr>
          <a:xfrm>
            <a:off x="310900" y="1086300"/>
            <a:ext cx="1049700" cy="356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b="1">
                <a:solidFill>
                  <a:srgbClr val="273239"/>
                </a:solidFill>
                <a:latin typeface="Poppins"/>
                <a:ea typeface="Poppins"/>
                <a:cs typeface="Poppins"/>
                <a:sym typeface="Poppins"/>
              </a:rPr>
              <a:t>Solution:</a:t>
            </a:r>
            <a:endParaRPr sz="1700" b="1">
              <a:solidFill>
                <a:srgbClr val="273239"/>
              </a:solidFill>
              <a:latin typeface="Poppins"/>
              <a:ea typeface="Poppins"/>
              <a:cs typeface="Poppins"/>
              <a:sym typeface="Poppins"/>
            </a:endParaRPr>
          </a:p>
        </p:txBody>
      </p:sp>
      <p:pic>
        <p:nvPicPr>
          <p:cNvPr id="280" name="Google Shape;280;p35"/>
          <p:cNvPicPr preferRelativeResize="0"/>
          <p:nvPr/>
        </p:nvPicPr>
        <p:blipFill>
          <a:blip r:embed="rId5">
            <a:alphaModFix/>
          </a:blip>
          <a:stretch>
            <a:fillRect/>
          </a:stretch>
        </p:blipFill>
        <p:spPr>
          <a:xfrm>
            <a:off x="1421375" y="1189725"/>
            <a:ext cx="5272501" cy="2071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6"/>
          <p:cNvSpPr txBox="1"/>
          <p:nvPr/>
        </p:nvSpPr>
        <p:spPr>
          <a:xfrm>
            <a:off x="310900" y="197325"/>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800" b="1">
                <a:solidFill>
                  <a:srgbClr val="073763"/>
                </a:solidFill>
                <a:latin typeface="Poppins"/>
                <a:ea typeface="Poppins"/>
                <a:cs typeface="Poppins"/>
                <a:sym typeface="Poppins"/>
              </a:rPr>
              <a:t>Coding Questions</a:t>
            </a:r>
            <a:endParaRPr sz="2800" b="1">
              <a:solidFill>
                <a:srgbClr val="073763"/>
              </a:solidFill>
              <a:latin typeface="Poppins"/>
              <a:ea typeface="Poppins"/>
              <a:cs typeface="Poppins"/>
              <a:sym typeface="Poppins"/>
            </a:endParaRPr>
          </a:p>
        </p:txBody>
      </p:sp>
      <p:pic>
        <p:nvPicPr>
          <p:cNvPr id="286" name="Google Shape;286;p36"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287" name="Google Shape;287;p36"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288" name="Google Shape;288;p3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24</a:t>
            </a:fld>
            <a:endParaRPr sz="1000">
              <a:solidFill>
                <a:srgbClr val="595959"/>
              </a:solidFill>
            </a:endParaRPr>
          </a:p>
        </p:txBody>
      </p:sp>
      <p:sp>
        <p:nvSpPr>
          <p:cNvPr id="289" name="Google Shape;289;p36"/>
          <p:cNvSpPr txBox="1"/>
          <p:nvPr/>
        </p:nvSpPr>
        <p:spPr>
          <a:xfrm>
            <a:off x="310900" y="1086300"/>
            <a:ext cx="1049700" cy="356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b="1">
                <a:solidFill>
                  <a:srgbClr val="273239"/>
                </a:solidFill>
                <a:latin typeface="Poppins"/>
                <a:ea typeface="Poppins"/>
                <a:cs typeface="Poppins"/>
                <a:sym typeface="Poppins"/>
              </a:rPr>
              <a:t>Output :</a:t>
            </a:r>
            <a:endParaRPr sz="1700" b="1">
              <a:solidFill>
                <a:srgbClr val="273239"/>
              </a:solidFill>
              <a:latin typeface="Poppins"/>
              <a:ea typeface="Poppins"/>
              <a:cs typeface="Poppins"/>
              <a:sym typeface="Poppins"/>
            </a:endParaRPr>
          </a:p>
        </p:txBody>
      </p:sp>
      <p:pic>
        <p:nvPicPr>
          <p:cNvPr id="290" name="Google Shape;290;p36"/>
          <p:cNvPicPr preferRelativeResize="0"/>
          <p:nvPr/>
        </p:nvPicPr>
        <p:blipFill>
          <a:blip r:embed="rId5">
            <a:alphaModFix/>
          </a:blip>
          <a:stretch>
            <a:fillRect/>
          </a:stretch>
        </p:blipFill>
        <p:spPr>
          <a:xfrm>
            <a:off x="1360600" y="1059000"/>
            <a:ext cx="5261250" cy="2294800"/>
          </a:xfrm>
          <a:prstGeom prst="rect">
            <a:avLst/>
          </a:prstGeom>
          <a:noFill/>
          <a:ln>
            <a:noFill/>
          </a:ln>
          <a:effectLst>
            <a:outerShdw blurRad="142875" dist="76200" dir="6960000" algn="bl" rotWithShape="0">
              <a:srgbClr val="000000">
                <a:alpha val="5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7"/>
          <p:cNvSpPr txBox="1"/>
          <p:nvPr/>
        </p:nvSpPr>
        <p:spPr>
          <a:xfrm>
            <a:off x="311700" y="213250"/>
            <a:ext cx="2652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200" b="1">
                <a:latin typeface="Poppins"/>
                <a:ea typeface="Poppins"/>
                <a:cs typeface="Poppins"/>
                <a:sym typeface="Poppins"/>
              </a:rPr>
              <a:t>|</a:t>
            </a:r>
            <a:r>
              <a:rPr lang="en" sz="2200" b="1">
                <a:solidFill>
                  <a:srgbClr val="1C4587"/>
                </a:solidFill>
                <a:latin typeface="Poppins"/>
                <a:ea typeface="Poppins"/>
                <a:cs typeface="Poppins"/>
                <a:sym typeface="Poppins"/>
              </a:rPr>
              <a:t>  </a:t>
            </a:r>
            <a:endParaRPr sz="2200" b="1">
              <a:solidFill>
                <a:srgbClr val="073763"/>
              </a:solidFill>
              <a:latin typeface="Poppins"/>
              <a:ea typeface="Poppins"/>
              <a:cs typeface="Poppins"/>
              <a:sym typeface="Poppins"/>
            </a:endParaRPr>
          </a:p>
        </p:txBody>
      </p:sp>
      <p:pic>
        <p:nvPicPr>
          <p:cNvPr id="296" name="Google Shape;296;p37"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297" name="Google Shape;297;p3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25</a:t>
            </a:fld>
            <a:endParaRPr sz="1000">
              <a:solidFill>
                <a:srgbClr val="595959"/>
              </a:solidFill>
            </a:endParaRPr>
          </a:p>
        </p:txBody>
      </p:sp>
      <p:sp>
        <p:nvSpPr>
          <p:cNvPr id="298" name="Google Shape;298;p37"/>
          <p:cNvSpPr txBox="1"/>
          <p:nvPr/>
        </p:nvSpPr>
        <p:spPr>
          <a:xfrm>
            <a:off x="576900" y="163325"/>
            <a:ext cx="72237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500" b="1">
                <a:solidFill>
                  <a:srgbClr val="073763"/>
                </a:solidFill>
                <a:latin typeface="Poppins"/>
                <a:ea typeface="Poppins"/>
                <a:cs typeface="Poppins"/>
                <a:sym typeface="Poppins"/>
              </a:rPr>
              <a:t>Did you know if I put a heavy function (something that takes a lot of time, like a big loop or an API call) inside useEffect and then remove the component from the UI — will that function still run? What happens then? Is that good practice?</a:t>
            </a:r>
            <a:endParaRPr sz="2000" b="1">
              <a:solidFill>
                <a:srgbClr val="073763"/>
              </a:solidFill>
              <a:latin typeface="Poppins"/>
              <a:ea typeface="Poppins"/>
              <a:cs typeface="Poppins"/>
              <a:sym typeface="Poppins"/>
            </a:endParaRPr>
          </a:p>
        </p:txBody>
      </p:sp>
      <p:pic>
        <p:nvPicPr>
          <p:cNvPr id="299" name="Google Shape;299;p37"/>
          <p:cNvPicPr preferRelativeResize="0"/>
          <p:nvPr/>
        </p:nvPicPr>
        <p:blipFill>
          <a:blip r:embed="rId4">
            <a:alphaModFix/>
          </a:blip>
          <a:stretch>
            <a:fillRect/>
          </a:stretch>
        </p:blipFill>
        <p:spPr>
          <a:xfrm>
            <a:off x="2735838" y="1728550"/>
            <a:ext cx="2905825" cy="29058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8"/>
          <p:cNvSpPr txBox="1"/>
          <p:nvPr/>
        </p:nvSpPr>
        <p:spPr>
          <a:xfrm>
            <a:off x="311700" y="213250"/>
            <a:ext cx="2652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200" b="1">
                <a:latin typeface="Poppins"/>
                <a:ea typeface="Poppins"/>
                <a:cs typeface="Poppins"/>
                <a:sym typeface="Poppins"/>
              </a:rPr>
              <a:t>|</a:t>
            </a:r>
            <a:r>
              <a:rPr lang="en" sz="2200" b="1">
                <a:solidFill>
                  <a:srgbClr val="1C4587"/>
                </a:solidFill>
                <a:latin typeface="Poppins"/>
                <a:ea typeface="Poppins"/>
                <a:cs typeface="Poppins"/>
                <a:sym typeface="Poppins"/>
              </a:rPr>
              <a:t>  </a:t>
            </a:r>
            <a:endParaRPr sz="2200" b="1">
              <a:solidFill>
                <a:srgbClr val="073763"/>
              </a:solidFill>
              <a:latin typeface="Poppins"/>
              <a:ea typeface="Poppins"/>
              <a:cs typeface="Poppins"/>
              <a:sym typeface="Poppins"/>
            </a:endParaRPr>
          </a:p>
        </p:txBody>
      </p:sp>
      <p:pic>
        <p:nvPicPr>
          <p:cNvPr id="305" name="Google Shape;305;p38"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306" name="Google Shape;306;p3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26</a:t>
            </a:fld>
            <a:endParaRPr sz="1000">
              <a:solidFill>
                <a:srgbClr val="595959"/>
              </a:solidFill>
            </a:endParaRPr>
          </a:p>
        </p:txBody>
      </p:sp>
      <p:sp>
        <p:nvSpPr>
          <p:cNvPr id="307" name="Google Shape;307;p38"/>
          <p:cNvSpPr txBox="1"/>
          <p:nvPr/>
        </p:nvSpPr>
        <p:spPr>
          <a:xfrm>
            <a:off x="576900" y="163325"/>
            <a:ext cx="72237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1100"/>
              <a:buFont typeface="Arial"/>
              <a:buNone/>
            </a:pPr>
            <a:r>
              <a:rPr lang="en" sz="1500" b="1">
                <a:solidFill>
                  <a:srgbClr val="073763"/>
                </a:solidFill>
                <a:latin typeface="Poppins"/>
                <a:ea typeface="Poppins"/>
                <a:cs typeface="Poppins"/>
                <a:sym typeface="Poppins"/>
              </a:rPr>
              <a:t>Did you know if I put a heavy function (something that takes a lot of time, like a big loop or an API call) inside useEffect and then remove the component from the UI — will that function still run? What happens then? Is that good practice?</a:t>
            </a:r>
            <a:endParaRPr sz="2000" b="1">
              <a:solidFill>
                <a:srgbClr val="073763"/>
              </a:solidFill>
              <a:latin typeface="Poppins"/>
              <a:ea typeface="Poppins"/>
              <a:cs typeface="Poppins"/>
              <a:sym typeface="Poppins"/>
            </a:endParaRPr>
          </a:p>
        </p:txBody>
      </p:sp>
      <p:sp>
        <p:nvSpPr>
          <p:cNvPr id="308" name="Google Shape;308;p38"/>
          <p:cNvSpPr txBox="1"/>
          <p:nvPr/>
        </p:nvSpPr>
        <p:spPr>
          <a:xfrm>
            <a:off x="311700" y="1593675"/>
            <a:ext cx="5002800" cy="2712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273239"/>
                </a:solidFill>
                <a:latin typeface="Poppins"/>
                <a:ea typeface="Poppins"/>
                <a:cs typeface="Poppins"/>
                <a:sym typeface="Poppins"/>
              </a:rPr>
              <a:t> </a:t>
            </a:r>
            <a:r>
              <a:rPr lang="en" sz="1100">
                <a:solidFill>
                  <a:srgbClr val="273239"/>
                </a:solidFill>
                <a:latin typeface="Poppins"/>
                <a:ea typeface="Poppins"/>
                <a:cs typeface="Poppins"/>
                <a:sym typeface="Poppins"/>
              </a:rPr>
              <a:t>Yes — if a heavy function (like a long loop or a slow API call) has already started inside useEffect, it will keep running even if the component is removed from the UI. React does not have the power to “kill” or “stop” JavaScript code that has already begun execution.</a:t>
            </a:r>
            <a:endParaRPr sz="1100">
              <a:solidFill>
                <a:srgbClr val="273239"/>
              </a:solidFill>
              <a:latin typeface="Poppins"/>
              <a:ea typeface="Poppins"/>
              <a:cs typeface="Poppins"/>
              <a:sym typeface="Poppins"/>
            </a:endParaRPr>
          </a:p>
          <a:p>
            <a:pPr marL="0" lvl="0" indent="0" algn="l" rtl="0">
              <a:lnSpc>
                <a:spcPct val="115000"/>
              </a:lnSpc>
              <a:spcBef>
                <a:spcPts val="1200"/>
              </a:spcBef>
              <a:spcAft>
                <a:spcPts val="0"/>
              </a:spcAft>
              <a:buNone/>
            </a:pPr>
            <a:r>
              <a:rPr lang="en" sz="1100">
                <a:solidFill>
                  <a:srgbClr val="273239"/>
                </a:solidFill>
                <a:latin typeface="Poppins"/>
                <a:ea typeface="Poppins"/>
                <a:cs typeface="Poppins"/>
                <a:sym typeface="Poppins"/>
              </a:rPr>
              <a:t>However, this is </a:t>
            </a:r>
            <a:r>
              <a:rPr lang="en" sz="1100" b="1">
                <a:solidFill>
                  <a:srgbClr val="273239"/>
                </a:solidFill>
                <a:latin typeface="Poppins"/>
                <a:ea typeface="Poppins"/>
                <a:cs typeface="Poppins"/>
                <a:sym typeface="Poppins"/>
              </a:rPr>
              <a:t>not good practice</a:t>
            </a:r>
            <a:r>
              <a:rPr lang="en" sz="1100">
                <a:solidFill>
                  <a:srgbClr val="273239"/>
                </a:solidFill>
                <a:latin typeface="Poppins"/>
                <a:ea typeface="Poppins"/>
                <a:cs typeface="Poppins"/>
                <a:sym typeface="Poppins"/>
              </a:rPr>
              <a:t> because It can waste memory and slow performance</a:t>
            </a:r>
            <a:endParaRPr sz="1100">
              <a:solidFill>
                <a:srgbClr val="273239"/>
              </a:solidFill>
              <a:latin typeface="Poppins"/>
              <a:ea typeface="Poppins"/>
              <a:cs typeface="Poppins"/>
              <a:sym typeface="Poppins"/>
            </a:endParaRPr>
          </a:p>
          <a:p>
            <a:pPr marL="0" lvl="0" indent="0" algn="l" rtl="0">
              <a:lnSpc>
                <a:spcPct val="115000"/>
              </a:lnSpc>
              <a:spcBef>
                <a:spcPts val="1200"/>
              </a:spcBef>
              <a:spcAft>
                <a:spcPts val="0"/>
              </a:spcAft>
              <a:buNone/>
            </a:pPr>
            <a:endParaRPr sz="1100">
              <a:solidFill>
                <a:srgbClr val="273239"/>
              </a:solidFill>
              <a:latin typeface="Poppins"/>
              <a:ea typeface="Poppins"/>
              <a:cs typeface="Poppins"/>
              <a:sym typeface="Poppins"/>
            </a:endParaRPr>
          </a:p>
          <a:p>
            <a:pPr marL="0" lvl="0" indent="0" algn="l" rtl="0">
              <a:lnSpc>
                <a:spcPct val="115000"/>
              </a:lnSpc>
              <a:spcBef>
                <a:spcPts val="1200"/>
              </a:spcBef>
              <a:spcAft>
                <a:spcPts val="0"/>
              </a:spcAft>
              <a:buNone/>
            </a:pPr>
            <a:r>
              <a:rPr lang="en" sz="1100">
                <a:solidFill>
                  <a:srgbClr val="273239"/>
                </a:solidFill>
                <a:latin typeface="Poppins"/>
                <a:ea typeface="Poppins"/>
                <a:cs typeface="Poppins"/>
                <a:sym typeface="Poppins"/>
              </a:rPr>
              <a:t>But A big thanks to the </a:t>
            </a:r>
            <a:r>
              <a:rPr lang="en" sz="1100" b="1">
                <a:solidFill>
                  <a:srgbClr val="273239"/>
                </a:solidFill>
                <a:latin typeface="Poppins"/>
                <a:ea typeface="Poppins"/>
                <a:cs typeface="Poppins"/>
                <a:sym typeface="Poppins"/>
              </a:rPr>
              <a:t>cleanup function</a:t>
            </a:r>
            <a:r>
              <a:rPr lang="en" sz="1100">
                <a:solidFill>
                  <a:srgbClr val="273239"/>
                </a:solidFill>
                <a:latin typeface="Poppins"/>
                <a:ea typeface="Poppins"/>
                <a:cs typeface="Poppins"/>
                <a:sym typeface="Poppins"/>
              </a:rPr>
              <a:t> — it makes sure React components leave no mess behind when they disappear.</a:t>
            </a:r>
            <a:endParaRPr sz="1100">
              <a:solidFill>
                <a:srgbClr val="273239"/>
              </a:solidFill>
              <a:latin typeface="Poppins"/>
              <a:ea typeface="Poppins"/>
              <a:cs typeface="Poppins"/>
              <a:sym typeface="Poppins"/>
            </a:endParaRPr>
          </a:p>
          <a:p>
            <a:pPr marL="0" lvl="0" indent="0" algn="l" rtl="0">
              <a:spcBef>
                <a:spcPts val="1200"/>
              </a:spcBef>
              <a:spcAft>
                <a:spcPts val="0"/>
              </a:spcAft>
              <a:buNone/>
            </a:pPr>
            <a:r>
              <a:rPr lang="en"/>
              <a:t> 	 </a:t>
            </a:r>
            <a:endParaRPr/>
          </a:p>
        </p:txBody>
      </p:sp>
      <p:pic>
        <p:nvPicPr>
          <p:cNvPr id="309" name="Google Shape;309;p38"/>
          <p:cNvPicPr preferRelativeResize="0"/>
          <p:nvPr/>
        </p:nvPicPr>
        <p:blipFill>
          <a:blip r:embed="rId4">
            <a:alphaModFix/>
          </a:blip>
          <a:stretch>
            <a:fillRect/>
          </a:stretch>
        </p:blipFill>
        <p:spPr>
          <a:xfrm>
            <a:off x="6156450" y="1576238"/>
            <a:ext cx="2316000" cy="19910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9"/>
          <p:cNvSpPr txBox="1"/>
          <p:nvPr/>
        </p:nvSpPr>
        <p:spPr>
          <a:xfrm>
            <a:off x="310900" y="197325"/>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500" b="1">
                <a:solidFill>
                  <a:srgbClr val="073763"/>
                </a:solidFill>
                <a:latin typeface="Poppins"/>
                <a:ea typeface="Poppins"/>
                <a:cs typeface="Poppins"/>
                <a:sym typeface="Poppins"/>
              </a:rPr>
              <a:t>cleanup function </a:t>
            </a:r>
            <a:endParaRPr sz="2500" b="1">
              <a:solidFill>
                <a:srgbClr val="073763"/>
              </a:solidFill>
              <a:latin typeface="Poppins"/>
              <a:ea typeface="Poppins"/>
              <a:cs typeface="Poppins"/>
              <a:sym typeface="Poppins"/>
            </a:endParaRPr>
          </a:p>
        </p:txBody>
      </p:sp>
      <p:pic>
        <p:nvPicPr>
          <p:cNvPr id="315" name="Google Shape;315;p39"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316" name="Google Shape;316;p3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27</a:t>
            </a:fld>
            <a:endParaRPr sz="1000">
              <a:solidFill>
                <a:srgbClr val="595959"/>
              </a:solidFill>
            </a:endParaRPr>
          </a:p>
        </p:txBody>
      </p:sp>
      <p:sp>
        <p:nvSpPr>
          <p:cNvPr id="317" name="Google Shape;317;p39"/>
          <p:cNvSpPr txBox="1"/>
          <p:nvPr/>
        </p:nvSpPr>
        <p:spPr>
          <a:xfrm>
            <a:off x="444600" y="10149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Poppins"/>
                <a:ea typeface="Poppins"/>
                <a:cs typeface="Poppins"/>
                <a:sym typeface="Poppins"/>
              </a:rPr>
              <a:t> Problem Without Cleanup</a:t>
            </a:r>
            <a:endParaRPr b="1">
              <a:latin typeface="Poppins"/>
              <a:ea typeface="Poppins"/>
              <a:cs typeface="Poppins"/>
              <a:sym typeface="Poppins"/>
            </a:endParaRPr>
          </a:p>
        </p:txBody>
      </p:sp>
      <p:pic>
        <p:nvPicPr>
          <p:cNvPr id="318" name="Google Shape;318;p39"/>
          <p:cNvPicPr preferRelativeResize="0"/>
          <p:nvPr/>
        </p:nvPicPr>
        <p:blipFill>
          <a:blip r:embed="rId4">
            <a:alphaModFix/>
          </a:blip>
          <a:stretch>
            <a:fillRect/>
          </a:stretch>
        </p:blipFill>
        <p:spPr>
          <a:xfrm>
            <a:off x="444600" y="1612225"/>
            <a:ext cx="3308149" cy="2320625"/>
          </a:xfrm>
          <a:prstGeom prst="rect">
            <a:avLst/>
          </a:prstGeom>
          <a:noFill/>
          <a:ln>
            <a:noFill/>
          </a:ln>
        </p:spPr>
      </p:pic>
      <p:sp>
        <p:nvSpPr>
          <p:cNvPr id="319" name="Google Shape;319;p39"/>
          <p:cNvSpPr txBox="1"/>
          <p:nvPr/>
        </p:nvSpPr>
        <p:spPr>
          <a:xfrm>
            <a:off x="5164350" y="1878975"/>
            <a:ext cx="3308100" cy="1272300"/>
          </a:xfrm>
          <a:prstGeom prst="rect">
            <a:avLst/>
          </a:prstGeom>
          <a:solidFill>
            <a:srgbClr val="FCE5CD"/>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rgbClr val="273239"/>
                </a:solidFill>
                <a:latin typeface="Poppins"/>
                <a:ea typeface="Poppins"/>
                <a:cs typeface="Poppins"/>
                <a:sym typeface="Poppins"/>
              </a:rPr>
              <a:t>If the component is unmounted (e.g., when the page changes), the interval will still keep running.</a:t>
            </a:r>
            <a:endParaRPr>
              <a:solidFill>
                <a:srgbClr val="273239"/>
              </a:solidFill>
              <a:latin typeface="Poppins"/>
              <a:ea typeface="Poppins"/>
              <a:cs typeface="Poppins"/>
              <a:sym typeface="Poppins"/>
            </a:endParaRPr>
          </a:p>
          <a:p>
            <a:pPr marL="0" lvl="0" indent="0" algn="l" rtl="0">
              <a:spcBef>
                <a:spcPts val="0"/>
              </a:spcBef>
              <a:spcAft>
                <a:spcPts val="0"/>
              </a:spcAft>
              <a:buNone/>
            </a:pPr>
            <a:r>
              <a:rPr lang="en">
                <a:solidFill>
                  <a:srgbClr val="273239"/>
                </a:solidFill>
                <a:latin typeface="Poppins"/>
                <a:ea typeface="Poppins"/>
                <a:cs typeface="Poppins"/>
                <a:sym typeface="Poppins"/>
              </a:rPr>
              <a:t>This can lead to memory leaks and unnecessary performance issues.</a:t>
            </a:r>
            <a:endParaRPr>
              <a:solidFill>
                <a:srgbClr val="273239"/>
              </a:solidFill>
              <a:latin typeface="Poppins"/>
              <a:ea typeface="Poppins"/>
              <a:cs typeface="Poppins"/>
              <a:sym typeface="Poppins"/>
            </a:endParaRPr>
          </a:p>
        </p:txBody>
      </p:sp>
      <p:cxnSp>
        <p:nvCxnSpPr>
          <p:cNvPr id="320" name="Google Shape;320;p39"/>
          <p:cNvCxnSpPr>
            <a:stCxn id="319" idx="1"/>
          </p:cNvCxnSpPr>
          <p:nvPr/>
        </p:nvCxnSpPr>
        <p:spPr>
          <a:xfrm flipH="1">
            <a:off x="2393850" y="2515125"/>
            <a:ext cx="2770500" cy="17280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40"/>
          <p:cNvSpPr txBox="1"/>
          <p:nvPr/>
        </p:nvSpPr>
        <p:spPr>
          <a:xfrm>
            <a:off x="310900" y="197325"/>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500" b="1">
                <a:solidFill>
                  <a:srgbClr val="073763"/>
                </a:solidFill>
                <a:latin typeface="Poppins"/>
                <a:ea typeface="Poppins"/>
                <a:cs typeface="Poppins"/>
                <a:sym typeface="Poppins"/>
              </a:rPr>
              <a:t>cleanup function </a:t>
            </a:r>
            <a:endParaRPr sz="2500" b="1">
              <a:solidFill>
                <a:srgbClr val="073763"/>
              </a:solidFill>
              <a:latin typeface="Poppins"/>
              <a:ea typeface="Poppins"/>
              <a:cs typeface="Poppins"/>
              <a:sym typeface="Poppins"/>
            </a:endParaRPr>
          </a:p>
        </p:txBody>
      </p:sp>
      <p:pic>
        <p:nvPicPr>
          <p:cNvPr id="326" name="Google Shape;326;p40"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327" name="Google Shape;327;p4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28</a:t>
            </a:fld>
            <a:endParaRPr sz="1000">
              <a:solidFill>
                <a:srgbClr val="595959"/>
              </a:solidFill>
            </a:endParaRPr>
          </a:p>
        </p:txBody>
      </p:sp>
      <p:sp>
        <p:nvSpPr>
          <p:cNvPr id="328" name="Google Shape;328;p40"/>
          <p:cNvSpPr txBox="1"/>
          <p:nvPr/>
        </p:nvSpPr>
        <p:spPr>
          <a:xfrm>
            <a:off x="444600" y="10149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Poppins"/>
                <a:ea typeface="Poppins"/>
                <a:cs typeface="Poppins"/>
                <a:sym typeface="Poppins"/>
              </a:rPr>
              <a:t> Solution: Cleanup Function</a:t>
            </a:r>
            <a:endParaRPr b="1">
              <a:latin typeface="Poppins"/>
              <a:ea typeface="Poppins"/>
              <a:cs typeface="Poppins"/>
              <a:sym typeface="Poppins"/>
            </a:endParaRPr>
          </a:p>
        </p:txBody>
      </p:sp>
      <p:sp>
        <p:nvSpPr>
          <p:cNvPr id="329" name="Google Shape;329;p40"/>
          <p:cNvSpPr txBox="1"/>
          <p:nvPr/>
        </p:nvSpPr>
        <p:spPr>
          <a:xfrm>
            <a:off x="5349000" y="2910275"/>
            <a:ext cx="3207600" cy="971400"/>
          </a:xfrm>
          <a:prstGeom prst="rect">
            <a:avLst/>
          </a:prstGeom>
          <a:solidFill>
            <a:srgbClr val="FCE5CD"/>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273239"/>
                </a:solidFill>
                <a:latin typeface="Poppins"/>
                <a:ea typeface="Poppins"/>
                <a:cs typeface="Poppins"/>
                <a:sym typeface="Poppins"/>
              </a:rPr>
              <a:t>The code inside return () =&gt; { ... } will run when the component unmounts, and this code will stop the interval.sues.</a:t>
            </a:r>
            <a:endParaRPr>
              <a:solidFill>
                <a:srgbClr val="273239"/>
              </a:solidFill>
              <a:latin typeface="Poppins"/>
              <a:ea typeface="Poppins"/>
              <a:cs typeface="Poppins"/>
              <a:sym typeface="Poppins"/>
            </a:endParaRPr>
          </a:p>
        </p:txBody>
      </p:sp>
      <p:pic>
        <p:nvPicPr>
          <p:cNvPr id="330" name="Google Shape;330;p40"/>
          <p:cNvPicPr preferRelativeResize="0"/>
          <p:nvPr/>
        </p:nvPicPr>
        <p:blipFill>
          <a:blip r:embed="rId4">
            <a:alphaModFix/>
          </a:blip>
          <a:stretch>
            <a:fillRect/>
          </a:stretch>
        </p:blipFill>
        <p:spPr>
          <a:xfrm>
            <a:off x="310900" y="1869100"/>
            <a:ext cx="3480125" cy="2385225"/>
          </a:xfrm>
          <a:prstGeom prst="rect">
            <a:avLst/>
          </a:prstGeom>
          <a:noFill/>
          <a:ln>
            <a:noFill/>
          </a:ln>
        </p:spPr>
      </p:pic>
      <p:cxnSp>
        <p:nvCxnSpPr>
          <p:cNvPr id="331" name="Google Shape;331;p40"/>
          <p:cNvCxnSpPr>
            <a:stCxn id="329" idx="1"/>
          </p:cNvCxnSpPr>
          <p:nvPr/>
        </p:nvCxnSpPr>
        <p:spPr>
          <a:xfrm flipH="1">
            <a:off x="1580100" y="3395975"/>
            <a:ext cx="3768900" cy="330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1"/>
          <p:cNvSpPr txBox="1"/>
          <p:nvPr/>
        </p:nvSpPr>
        <p:spPr>
          <a:xfrm>
            <a:off x="311700" y="213250"/>
            <a:ext cx="2652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200" b="1">
                <a:latin typeface="Poppins"/>
                <a:ea typeface="Poppins"/>
                <a:cs typeface="Poppins"/>
                <a:sym typeface="Poppins"/>
              </a:rPr>
              <a:t>|</a:t>
            </a:r>
            <a:r>
              <a:rPr lang="en" sz="2200" b="1">
                <a:solidFill>
                  <a:srgbClr val="1C4587"/>
                </a:solidFill>
                <a:latin typeface="Poppins"/>
                <a:ea typeface="Poppins"/>
                <a:cs typeface="Poppins"/>
                <a:sym typeface="Poppins"/>
              </a:rPr>
              <a:t>  </a:t>
            </a:r>
            <a:endParaRPr sz="2200" b="1">
              <a:solidFill>
                <a:srgbClr val="073763"/>
              </a:solidFill>
              <a:latin typeface="Poppins"/>
              <a:ea typeface="Poppins"/>
              <a:cs typeface="Poppins"/>
              <a:sym typeface="Poppins"/>
            </a:endParaRPr>
          </a:p>
        </p:txBody>
      </p:sp>
      <p:pic>
        <p:nvPicPr>
          <p:cNvPr id="337" name="Google Shape;337;p41"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338" name="Google Shape;338;p4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29</a:t>
            </a:fld>
            <a:endParaRPr sz="1000">
              <a:solidFill>
                <a:srgbClr val="595959"/>
              </a:solidFill>
            </a:endParaRPr>
          </a:p>
        </p:txBody>
      </p:sp>
      <p:sp>
        <p:nvSpPr>
          <p:cNvPr id="339" name="Google Shape;339;p41"/>
          <p:cNvSpPr txBox="1"/>
          <p:nvPr/>
        </p:nvSpPr>
        <p:spPr>
          <a:xfrm>
            <a:off x="576900" y="163325"/>
            <a:ext cx="72237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b="1">
                <a:solidFill>
                  <a:srgbClr val="073763"/>
                </a:solidFill>
                <a:latin typeface="Poppins"/>
                <a:ea typeface="Poppins"/>
                <a:cs typeface="Poppins"/>
                <a:sym typeface="Poppins"/>
              </a:rPr>
              <a:t>Did you know when the dependency array value changes, React will first run the cleanup function, and then run the new effect.</a:t>
            </a:r>
            <a:endParaRPr sz="2200" b="1">
              <a:solidFill>
                <a:srgbClr val="073763"/>
              </a:solidFill>
              <a:latin typeface="Poppins"/>
              <a:ea typeface="Poppins"/>
              <a:cs typeface="Poppins"/>
              <a:sym typeface="Poppins"/>
            </a:endParaRPr>
          </a:p>
        </p:txBody>
      </p:sp>
      <p:sp>
        <p:nvSpPr>
          <p:cNvPr id="340" name="Google Shape;340;p41"/>
          <p:cNvSpPr txBox="1"/>
          <p:nvPr/>
        </p:nvSpPr>
        <p:spPr>
          <a:xfrm>
            <a:off x="311700" y="1593675"/>
            <a:ext cx="5002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341" name="Google Shape;341;p41" title="Thinking face-rafiki (3).png"/>
          <p:cNvPicPr preferRelativeResize="0"/>
          <p:nvPr/>
        </p:nvPicPr>
        <p:blipFill rotWithShape="1">
          <a:blip r:embed="rId4">
            <a:alphaModFix/>
          </a:blip>
          <a:srcRect/>
          <a:stretch/>
        </p:blipFill>
        <p:spPr>
          <a:xfrm>
            <a:off x="2331720" y="1261872"/>
            <a:ext cx="4489700" cy="3611880"/>
          </a:xfrm>
          <a:prstGeom prst="rect">
            <a:avLst/>
          </a:prstGeom>
          <a:noFill/>
          <a:ln>
            <a:noFill/>
          </a:ln>
          <a:effectLst>
            <a:outerShdw blurRad="85725" dist="95250" dir="7380000" algn="bl" rotWithShape="0">
              <a:srgbClr val="000000">
                <a:alpha val="50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2"/>
          <p:cNvSpPr txBox="1"/>
          <p:nvPr/>
        </p:nvSpPr>
        <p:spPr>
          <a:xfrm>
            <a:off x="310900" y="197325"/>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400" b="1">
                <a:solidFill>
                  <a:srgbClr val="073763"/>
                </a:solidFill>
                <a:latin typeface="Poppins"/>
                <a:ea typeface="Poppins"/>
                <a:cs typeface="Poppins"/>
                <a:sym typeface="Poppins"/>
              </a:rPr>
              <a:t>cleanup for dependency array</a:t>
            </a:r>
            <a:endParaRPr sz="2400" b="1">
              <a:solidFill>
                <a:srgbClr val="073763"/>
              </a:solidFill>
              <a:latin typeface="Poppins"/>
              <a:ea typeface="Poppins"/>
              <a:cs typeface="Poppins"/>
              <a:sym typeface="Poppins"/>
            </a:endParaRPr>
          </a:p>
        </p:txBody>
      </p:sp>
      <p:pic>
        <p:nvPicPr>
          <p:cNvPr id="347" name="Google Shape;347;p42"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348" name="Google Shape;348;p4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30</a:t>
            </a:fld>
            <a:endParaRPr sz="1000">
              <a:solidFill>
                <a:srgbClr val="595959"/>
              </a:solidFill>
            </a:endParaRPr>
          </a:p>
        </p:txBody>
      </p:sp>
      <p:pic>
        <p:nvPicPr>
          <p:cNvPr id="349" name="Google Shape;349;p42"/>
          <p:cNvPicPr preferRelativeResize="0"/>
          <p:nvPr/>
        </p:nvPicPr>
        <p:blipFill>
          <a:blip r:embed="rId4">
            <a:alphaModFix/>
          </a:blip>
          <a:stretch>
            <a:fillRect/>
          </a:stretch>
        </p:blipFill>
        <p:spPr>
          <a:xfrm>
            <a:off x="444600" y="1478951"/>
            <a:ext cx="4190600" cy="1960451"/>
          </a:xfrm>
          <a:prstGeom prst="rect">
            <a:avLst/>
          </a:prstGeom>
          <a:noFill/>
          <a:ln>
            <a:noFill/>
          </a:ln>
        </p:spPr>
      </p:pic>
      <p:sp>
        <p:nvSpPr>
          <p:cNvPr id="350" name="Google Shape;350;p42"/>
          <p:cNvSpPr txBox="1"/>
          <p:nvPr/>
        </p:nvSpPr>
        <p:spPr>
          <a:xfrm>
            <a:off x="5595550" y="1478950"/>
            <a:ext cx="3000000" cy="1200600"/>
          </a:xfrm>
          <a:prstGeom prst="rect">
            <a:avLst/>
          </a:prstGeom>
          <a:solidFill>
            <a:srgbClr val="FCE5CD"/>
          </a:solid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00">
                <a:solidFill>
                  <a:srgbClr val="273239"/>
                </a:solidFill>
                <a:latin typeface="Poppins"/>
                <a:ea typeface="Poppins"/>
                <a:cs typeface="Poppins"/>
                <a:sym typeface="Poppins"/>
              </a:rPr>
              <a:t> When the text prop changes:</a:t>
            </a:r>
            <a:endParaRPr sz="1100">
              <a:solidFill>
                <a:srgbClr val="273239"/>
              </a:solidFill>
              <a:latin typeface="Poppins"/>
              <a:ea typeface="Poppins"/>
              <a:cs typeface="Poppins"/>
              <a:sym typeface="Poppins"/>
            </a:endParaRPr>
          </a:p>
          <a:p>
            <a:pPr marL="457200" lvl="0" indent="-298450" algn="l" rtl="0">
              <a:lnSpc>
                <a:spcPct val="100000"/>
              </a:lnSpc>
              <a:spcBef>
                <a:spcPts val="0"/>
              </a:spcBef>
              <a:spcAft>
                <a:spcPts val="0"/>
              </a:spcAft>
              <a:buClr>
                <a:srgbClr val="273239"/>
              </a:buClr>
              <a:buSzPts val="1100"/>
              <a:buAutoNum type="arabicPeriod"/>
            </a:pPr>
            <a:r>
              <a:rPr lang="en" sz="1100">
                <a:solidFill>
                  <a:srgbClr val="273239"/>
                </a:solidFill>
                <a:latin typeface="Poppins"/>
                <a:ea typeface="Poppins"/>
                <a:cs typeface="Poppins"/>
                <a:sym typeface="Poppins"/>
              </a:rPr>
              <a:t>React first calls the </a:t>
            </a:r>
            <a:r>
              <a:rPr lang="en" sz="1100" b="1">
                <a:solidFill>
                  <a:srgbClr val="273239"/>
                </a:solidFill>
                <a:latin typeface="Poppins"/>
                <a:ea typeface="Poppins"/>
                <a:cs typeface="Poppins"/>
                <a:sym typeface="Poppins"/>
              </a:rPr>
              <a:t>cleanup function</a:t>
            </a:r>
            <a:r>
              <a:rPr lang="en" sz="1100">
                <a:solidFill>
                  <a:srgbClr val="273239"/>
                </a:solidFill>
                <a:latin typeface="Poppins"/>
                <a:ea typeface="Poppins"/>
                <a:cs typeface="Poppins"/>
                <a:sym typeface="Poppins"/>
              </a:rPr>
              <a:t> for the old value of text.</a:t>
            </a:r>
            <a:br>
              <a:rPr lang="en" sz="1100">
                <a:solidFill>
                  <a:srgbClr val="273239"/>
                </a:solidFill>
                <a:latin typeface="Poppins"/>
                <a:ea typeface="Poppins"/>
                <a:cs typeface="Poppins"/>
                <a:sym typeface="Poppins"/>
              </a:rPr>
            </a:br>
            <a:endParaRPr sz="1100">
              <a:solidFill>
                <a:srgbClr val="273239"/>
              </a:solidFill>
              <a:latin typeface="Poppins"/>
              <a:ea typeface="Poppins"/>
              <a:cs typeface="Poppins"/>
              <a:sym typeface="Poppins"/>
            </a:endParaRPr>
          </a:p>
          <a:p>
            <a:pPr marL="457200" lvl="0" indent="-298450" algn="l" rtl="0">
              <a:lnSpc>
                <a:spcPct val="100000"/>
              </a:lnSpc>
              <a:spcBef>
                <a:spcPts val="0"/>
              </a:spcBef>
              <a:spcAft>
                <a:spcPts val="0"/>
              </a:spcAft>
              <a:buClr>
                <a:srgbClr val="273239"/>
              </a:buClr>
              <a:buSzPts val="1100"/>
              <a:buAutoNum type="arabicPeriod"/>
            </a:pPr>
            <a:r>
              <a:rPr lang="en" sz="1100">
                <a:solidFill>
                  <a:srgbClr val="273239"/>
                </a:solidFill>
                <a:latin typeface="Poppins"/>
                <a:ea typeface="Poppins"/>
                <a:cs typeface="Poppins"/>
                <a:sym typeface="Poppins"/>
              </a:rPr>
              <a:t>Then React runs the </a:t>
            </a:r>
            <a:r>
              <a:rPr lang="en" sz="1100" b="1">
                <a:solidFill>
                  <a:srgbClr val="273239"/>
                </a:solidFill>
                <a:latin typeface="Poppins"/>
                <a:ea typeface="Poppins"/>
                <a:cs typeface="Poppins"/>
                <a:sym typeface="Poppins"/>
              </a:rPr>
              <a:t>effect again</a:t>
            </a:r>
            <a:r>
              <a:rPr lang="en" sz="1100">
                <a:solidFill>
                  <a:srgbClr val="273239"/>
                </a:solidFill>
                <a:latin typeface="Poppins"/>
                <a:ea typeface="Poppins"/>
                <a:cs typeface="Poppins"/>
                <a:sym typeface="Poppins"/>
              </a:rPr>
              <a:t> for the new value of text.</a:t>
            </a:r>
            <a:endParaRPr sz="1100">
              <a:solidFill>
                <a:srgbClr val="273239"/>
              </a:solidFill>
              <a:latin typeface="Poppins"/>
              <a:ea typeface="Poppins"/>
              <a:cs typeface="Poppins"/>
              <a:sym typeface="Poppins"/>
            </a:endParaRPr>
          </a:p>
        </p:txBody>
      </p:sp>
      <p:sp>
        <p:nvSpPr>
          <p:cNvPr id="351" name="Google Shape;351;p42"/>
          <p:cNvSpPr txBox="1"/>
          <p:nvPr/>
        </p:nvSpPr>
        <p:spPr>
          <a:xfrm>
            <a:off x="444600" y="4269625"/>
            <a:ext cx="1696200" cy="393600"/>
          </a:xfrm>
          <a:prstGeom prst="rect">
            <a:avLst/>
          </a:prstGeom>
          <a:solidFill>
            <a:srgbClr val="FCE5CD"/>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b="1">
                <a:solidFill>
                  <a:schemeClr val="dk1"/>
                </a:solidFill>
                <a:latin typeface="Poppins"/>
                <a:ea typeface="Poppins"/>
                <a:cs typeface="Poppins"/>
                <a:sym typeface="Poppins"/>
              </a:rPr>
              <a:t>dependency array</a:t>
            </a:r>
            <a:endParaRPr sz="1200">
              <a:solidFill>
                <a:schemeClr val="dk2"/>
              </a:solidFill>
            </a:endParaRPr>
          </a:p>
        </p:txBody>
      </p:sp>
      <p:cxnSp>
        <p:nvCxnSpPr>
          <p:cNvPr id="352" name="Google Shape;352;p42"/>
          <p:cNvCxnSpPr>
            <a:stCxn id="351" idx="0"/>
          </p:cNvCxnSpPr>
          <p:nvPr/>
        </p:nvCxnSpPr>
        <p:spPr>
          <a:xfrm rot="10800000">
            <a:off x="1067100" y="2824825"/>
            <a:ext cx="225600" cy="1444800"/>
          </a:xfrm>
          <a:prstGeom prst="straightConnector1">
            <a:avLst/>
          </a:prstGeom>
          <a:noFill/>
          <a:ln w="9525" cap="flat" cmpd="sng">
            <a:solidFill>
              <a:srgbClr val="FF0000"/>
            </a:solidFill>
            <a:prstDash val="solid"/>
            <a:round/>
            <a:headEnd type="none" w="med" len="med"/>
            <a:tailEnd type="triangle" w="med" len="med"/>
          </a:ln>
        </p:spPr>
      </p:cxnSp>
      <p:cxnSp>
        <p:nvCxnSpPr>
          <p:cNvPr id="353" name="Google Shape;353;p42"/>
          <p:cNvCxnSpPr/>
          <p:nvPr/>
        </p:nvCxnSpPr>
        <p:spPr>
          <a:xfrm flipH="1">
            <a:off x="1839825" y="1826225"/>
            <a:ext cx="3926100" cy="5460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3"/>
          <p:cNvSpPr txBox="1"/>
          <p:nvPr/>
        </p:nvSpPr>
        <p:spPr>
          <a:xfrm>
            <a:off x="311700" y="213250"/>
            <a:ext cx="2652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200" b="1">
                <a:latin typeface="Poppins"/>
                <a:ea typeface="Poppins"/>
                <a:cs typeface="Poppins"/>
                <a:sym typeface="Poppins"/>
              </a:rPr>
              <a:t>|</a:t>
            </a:r>
            <a:r>
              <a:rPr lang="en" sz="2200" b="1">
                <a:solidFill>
                  <a:srgbClr val="1C4587"/>
                </a:solidFill>
                <a:latin typeface="Poppins"/>
                <a:ea typeface="Poppins"/>
                <a:cs typeface="Poppins"/>
                <a:sym typeface="Poppins"/>
              </a:rPr>
              <a:t>  </a:t>
            </a:r>
            <a:endParaRPr sz="2200" b="1">
              <a:solidFill>
                <a:srgbClr val="073763"/>
              </a:solidFill>
              <a:latin typeface="Poppins"/>
              <a:ea typeface="Poppins"/>
              <a:cs typeface="Poppins"/>
              <a:sym typeface="Poppins"/>
            </a:endParaRPr>
          </a:p>
        </p:txBody>
      </p:sp>
      <p:pic>
        <p:nvPicPr>
          <p:cNvPr id="359" name="Google Shape;359;p43"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360" name="Google Shape;360;p4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31</a:t>
            </a:fld>
            <a:endParaRPr sz="1000">
              <a:solidFill>
                <a:srgbClr val="595959"/>
              </a:solidFill>
            </a:endParaRPr>
          </a:p>
        </p:txBody>
      </p:sp>
      <p:sp>
        <p:nvSpPr>
          <p:cNvPr id="361" name="Google Shape;361;p43"/>
          <p:cNvSpPr txBox="1"/>
          <p:nvPr/>
        </p:nvSpPr>
        <p:spPr>
          <a:xfrm>
            <a:off x="576900" y="163325"/>
            <a:ext cx="72237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500" b="1">
                <a:solidFill>
                  <a:srgbClr val="073763"/>
                </a:solidFill>
                <a:latin typeface="Poppins"/>
                <a:ea typeface="Poppins"/>
                <a:cs typeface="Poppins"/>
                <a:sym typeface="Poppins"/>
              </a:rPr>
              <a:t>Have you ever wondered why data fetching is also considered a side effect? Imagine if we place a fetch call directly in the component body — it will run again and again every time the component re-renders. Do we really want that?</a:t>
            </a:r>
            <a:endParaRPr sz="1500" b="1">
              <a:solidFill>
                <a:srgbClr val="073763"/>
              </a:solidFill>
              <a:latin typeface="Poppins"/>
              <a:ea typeface="Poppins"/>
              <a:cs typeface="Poppins"/>
              <a:sym typeface="Poppins"/>
            </a:endParaRPr>
          </a:p>
        </p:txBody>
      </p:sp>
      <p:pic>
        <p:nvPicPr>
          <p:cNvPr id="362" name="Google Shape;362;p43" title="Thinking face-rafiki (3).png"/>
          <p:cNvPicPr preferRelativeResize="0"/>
          <p:nvPr/>
        </p:nvPicPr>
        <p:blipFill rotWithShape="1">
          <a:blip r:embed="rId4">
            <a:alphaModFix/>
          </a:blip>
          <a:srcRect/>
          <a:stretch/>
        </p:blipFill>
        <p:spPr>
          <a:xfrm>
            <a:off x="2331720" y="1261872"/>
            <a:ext cx="4489700" cy="3611880"/>
          </a:xfrm>
          <a:prstGeom prst="rect">
            <a:avLst/>
          </a:prstGeom>
          <a:noFill/>
          <a:ln>
            <a:noFill/>
          </a:ln>
          <a:effectLst>
            <a:outerShdw blurRad="85725" dist="95250" dir="7380000" algn="bl" rotWithShape="0">
              <a:srgbClr val="000000">
                <a:alpha val="5000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44"/>
          <p:cNvSpPr txBox="1"/>
          <p:nvPr/>
        </p:nvSpPr>
        <p:spPr>
          <a:xfrm>
            <a:off x="311700" y="213250"/>
            <a:ext cx="2652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200" b="1">
                <a:latin typeface="Poppins"/>
                <a:ea typeface="Poppins"/>
                <a:cs typeface="Poppins"/>
                <a:sym typeface="Poppins"/>
              </a:rPr>
              <a:t>|</a:t>
            </a:r>
            <a:r>
              <a:rPr lang="en" sz="2200" b="1">
                <a:solidFill>
                  <a:srgbClr val="1C4587"/>
                </a:solidFill>
                <a:latin typeface="Poppins"/>
                <a:ea typeface="Poppins"/>
                <a:cs typeface="Poppins"/>
                <a:sym typeface="Poppins"/>
              </a:rPr>
              <a:t>  </a:t>
            </a:r>
            <a:endParaRPr sz="2200" b="1">
              <a:solidFill>
                <a:srgbClr val="073763"/>
              </a:solidFill>
              <a:latin typeface="Poppins"/>
              <a:ea typeface="Poppins"/>
              <a:cs typeface="Poppins"/>
              <a:sym typeface="Poppins"/>
            </a:endParaRPr>
          </a:p>
        </p:txBody>
      </p:sp>
      <p:pic>
        <p:nvPicPr>
          <p:cNvPr id="368" name="Google Shape;368;p44"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369" name="Google Shape;369;p4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32</a:t>
            </a:fld>
            <a:endParaRPr sz="1000">
              <a:solidFill>
                <a:srgbClr val="595959"/>
              </a:solidFill>
            </a:endParaRPr>
          </a:p>
        </p:txBody>
      </p:sp>
      <p:sp>
        <p:nvSpPr>
          <p:cNvPr id="370" name="Google Shape;370;p44"/>
          <p:cNvSpPr txBox="1"/>
          <p:nvPr/>
        </p:nvSpPr>
        <p:spPr>
          <a:xfrm>
            <a:off x="576900" y="163325"/>
            <a:ext cx="72237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500" b="1">
                <a:solidFill>
                  <a:srgbClr val="073763"/>
                </a:solidFill>
                <a:latin typeface="Poppins"/>
                <a:ea typeface="Poppins"/>
                <a:cs typeface="Poppins"/>
                <a:sym typeface="Poppins"/>
              </a:rPr>
              <a:t>Have you ever wondered why data fetching is also considered a side effect? Imagine if we place a fetch call directly in the component body — it will run again and again every time the component re-renders. Do we really want that?</a:t>
            </a:r>
            <a:endParaRPr sz="1500" b="1">
              <a:solidFill>
                <a:srgbClr val="073763"/>
              </a:solidFill>
              <a:latin typeface="Poppins"/>
              <a:ea typeface="Poppins"/>
              <a:cs typeface="Poppins"/>
              <a:sym typeface="Poppins"/>
            </a:endParaRPr>
          </a:p>
        </p:txBody>
      </p:sp>
      <p:pic>
        <p:nvPicPr>
          <p:cNvPr id="371" name="Google Shape;371;p44"/>
          <p:cNvPicPr preferRelativeResize="0"/>
          <p:nvPr/>
        </p:nvPicPr>
        <p:blipFill>
          <a:blip r:embed="rId4">
            <a:alphaModFix/>
          </a:blip>
          <a:stretch>
            <a:fillRect/>
          </a:stretch>
        </p:blipFill>
        <p:spPr>
          <a:xfrm>
            <a:off x="576900" y="2263973"/>
            <a:ext cx="3393199" cy="2360324"/>
          </a:xfrm>
          <a:prstGeom prst="rect">
            <a:avLst/>
          </a:prstGeom>
          <a:noFill/>
          <a:ln>
            <a:noFill/>
          </a:ln>
        </p:spPr>
      </p:pic>
      <p:sp>
        <p:nvSpPr>
          <p:cNvPr id="372" name="Google Shape;372;p44"/>
          <p:cNvSpPr txBox="1"/>
          <p:nvPr/>
        </p:nvSpPr>
        <p:spPr>
          <a:xfrm>
            <a:off x="510825" y="1555725"/>
            <a:ext cx="4146900" cy="523200"/>
          </a:xfrm>
          <a:prstGeom prst="rect">
            <a:avLst/>
          </a:prstGeom>
          <a:solidFill>
            <a:srgbClr val="FFFFFF"/>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chemeClr val="dk1"/>
                </a:solidFill>
                <a:latin typeface="Poppins"/>
                <a:ea typeface="Poppins"/>
                <a:cs typeface="Poppins"/>
                <a:sym typeface="Poppins"/>
              </a:rPr>
              <a:t>If we write like this for fetching data:</a:t>
            </a:r>
            <a:br>
              <a:rPr lang="en" sz="1100">
                <a:solidFill>
                  <a:schemeClr val="dk1"/>
                </a:solidFill>
                <a:latin typeface="Poppins"/>
                <a:ea typeface="Poppins"/>
                <a:cs typeface="Poppins"/>
                <a:sym typeface="Poppins"/>
              </a:rPr>
            </a:br>
            <a:r>
              <a:rPr lang="en" sz="1100">
                <a:solidFill>
                  <a:schemeClr val="dk1"/>
                </a:solidFill>
                <a:latin typeface="Poppins"/>
                <a:ea typeface="Poppins"/>
                <a:cs typeface="Poppins"/>
                <a:sym typeface="Poppins"/>
              </a:rPr>
              <a:t>This can cause </a:t>
            </a:r>
            <a:r>
              <a:rPr lang="en" sz="1100" b="1">
                <a:solidFill>
                  <a:schemeClr val="dk1"/>
                </a:solidFill>
                <a:latin typeface="Poppins"/>
                <a:ea typeface="Poppins"/>
                <a:cs typeface="Poppins"/>
                <a:sym typeface="Poppins"/>
              </a:rPr>
              <a:t>infinite loops</a:t>
            </a:r>
            <a:r>
              <a:rPr lang="en" sz="1100">
                <a:solidFill>
                  <a:schemeClr val="dk1"/>
                </a:solidFill>
                <a:latin typeface="Poppins"/>
                <a:ea typeface="Poppins"/>
                <a:cs typeface="Poppins"/>
                <a:sym typeface="Poppins"/>
              </a:rPr>
              <a:t> or unnecessary API calls.</a:t>
            </a:r>
            <a:endParaRPr sz="1100">
              <a:solidFill>
                <a:schemeClr val="dk1"/>
              </a:solidFill>
              <a:latin typeface="Poppins"/>
              <a:ea typeface="Poppins"/>
              <a:cs typeface="Poppins"/>
              <a:sym typeface="Poppins"/>
            </a:endParaRPr>
          </a:p>
        </p:txBody>
      </p:sp>
      <p:pic>
        <p:nvPicPr>
          <p:cNvPr id="373" name="Google Shape;373;p44" title="fetch.mp4">
            <a:hlinkClick r:id="rId5"/>
          </p:cNvPr>
          <p:cNvPicPr preferRelativeResize="0"/>
          <p:nvPr/>
        </p:nvPicPr>
        <p:blipFill>
          <a:blip r:embed="rId6">
            <a:alphaModFix/>
          </a:blip>
          <a:stretch>
            <a:fillRect/>
          </a:stretch>
        </p:blipFill>
        <p:spPr>
          <a:xfrm>
            <a:off x="5444625" y="2302425"/>
            <a:ext cx="3238799" cy="2283424"/>
          </a:xfrm>
          <a:prstGeom prst="rect">
            <a:avLst/>
          </a:prstGeom>
          <a:noFill/>
          <a:ln>
            <a:noFill/>
          </a:ln>
        </p:spPr>
      </p:pic>
      <p:cxnSp>
        <p:nvCxnSpPr>
          <p:cNvPr id="374" name="Google Shape;374;p44"/>
          <p:cNvCxnSpPr>
            <a:stCxn id="371" idx="3"/>
            <a:endCxn id="373" idx="1"/>
          </p:cNvCxnSpPr>
          <p:nvPr/>
        </p:nvCxnSpPr>
        <p:spPr>
          <a:xfrm>
            <a:off x="3970099" y="3444135"/>
            <a:ext cx="1474500" cy="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3"/>
                                        </p:tgtEl>
                                        <p:attrNameLst>
                                          <p:attrName>style.visibility</p:attrName>
                                        </p:attrNameLst>
                                      </p:cBhvr>
                                      <p:to>
                                        <p:strVal val="visible"/>
                                      </p:to>
                                    </p:set>
                                    <p:animEffect transition="in" filter="fade">
                                      <p:cBhvr>
                                        <p:cTn id="7" dur="1000"/>
                                        <p:tgtEl>
                                          <p:spTgt spid="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5"/>
          <p:cNvSpPr txBox="1"/>
          <p:nvPr/>
        </p:nvSpPr>
        <p:spPr>
          <a:xfrm>
            <a:off x="311700" y="213250"/>
            <a:ext cx="265200" cy="572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200" b="1">
                <a:latin typeface="Poppins"/>
                <a:ea typeface="Poppins"/>
                <a:cs typeface="Poppins"/>
                <a:sym typeface="Poppins"/>
              </a:rPr>
              <a:t>|</a:t>
            </a:r>
            <a:r>
              <a:rPr lang="en" sz="2200" b="1">
                <a:solidFill>
                  <a:srgbClr val="1C4587"/>
                </a:solidFill>
                <a:latin typeface="Poppins"/>
                <a:ea typeface="Poppins"/>
                <a:cs typeface="Poppins"/>
                <a:sym typeface="Poppins"/>
              </a:rPr>
              <a:t>  </a:t>
            </a:r>
            <a:endParaRPr sz="2200" b="1">
              <a:solidFill>
                <a:srgbClr val="073763"/>
              </a:solidFill>
              <a:latin typeface="Poppins"/>
              <a:ea typeface="Poppins"/>
              <a:cs typeface="Poppins"/>
              <a:sym typeface="Poppins"/>
            </a:endParaRPr>
          </a:p>
        </p:txBody>
      </p:sp>
      <p:pic>
        <p:nvPicPr>
          <p:cNvPr id="380" name="Google Shape;380;p45" title="KRMU LOGO.png"/>
          <p:cNvPicPr preferRelativeResize="0"/>
          <p:nvPr/>
        </p:nvPicPr>
        <p:blipFill>
          <a:blip r:embed="rId3">
            <a:alphaModFix/>
          </a:blip>
          <a:stretch>
            <a:fillRect/>
          </a:stretch>
        </p:blipFill>
        <p:spPr>
          <a:xfrm>
            <a:off x="7857300" y="97175"/>
            <a:ext cx="914400" cy="914400"/>
          </a:xfrm>
          <a:prstGeom prst="rect">
            <a:avLst/>
          </a:prstGeom>
          <a:noFill/>
          <a:ln>
            <a:noFill/>
          </a:ln>
        </p:spPr>
      </p:pic>
      <p:sp>
        <p:nvSpPr>
          <p:cNvPr id="381" name="Google Shape;381;p4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33</a:t>
            </a:fld>
            <a:endParaRPr sz="1000">
              <a:solidFill>
                <a:srgbClr val="595959"/>
              </a:solidFill>
            </a:endParaRPr>
          </a:p>
        </p:txBody>
      </p:sp>
      <p:sp>
        <p:nvSpPr>
          <p:cNvPr id="382" name="Google Shape;382;p45"/>
          <p:cNvSpPr txBox="1"/>
          <p:nvPr/>
        </p:nvSpPr>
        <p:spPr>
          <a:xfrm>
            <a:off x="576900" y="163325"/>
            <a:ext cx="7223700" cy="105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500" b="1">
                <a:solidFill>
                  <a:srgbClr val="073763"/>
                </a:solidFill>
                <a:latin typeface="Poppins"/>
                <a:ea typeface="Poppins"/>
                <a:cs typeface="Poppins"/>
                <a:sym typeface="Poppins"/>
              </a:rPr>
              <a:t>Have you ever wondered why data fetching is also considered a side effect? Imagine if we place a fetch call directly in the component body — it will run again and again every time the component re-renders. Do we really want that?</a:t>
            </a:r>
            <a:endParaRPr sz="1500" b="1">
              <a:solidFill>
                <a:srgbClr val="073763"/>
              </a:solidFill>
              <a:latin typeface="Poppins"/>
              <a:ea typeface="Poppins"/>
              <a:cs typeface="Poppins"/>
              <a:sym typeface="Poppins"/>
            </a:endParaRPr>
          </a:p>
        </p:txBody>
      </p:sp>
      <p:sp>
        <p:nvSpPr>
          <p:cNvPr id="383" name="Google Shape;383;p45"/>
          <p:cNvSpPr txBox="1"/>
          <p:nvPr/>
        </p:nvSpPr>
        <p:spPr>
          <a:xfrm>
            <a:off x="311700" y="1604675"/>
            <a:ext cx="5210700" cy="2293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273239"/>
                </a:solidFill>
                <a:latin typeface="Poppins"/>
                <a:ea typeface="Poppins"/>
                <a:cs typeface="Poppins"/>
                <a:sym typeface="Poppins"/>
              </a:rPr>
              <a:t>No, we don’t want this. If a fetch call runs on </a:t>
            </a:r>
            <a:r>
              <a:rPr lang="en" b="1">
                <a:solidFill>
                  <a:srgbClr val="273239"/>
                </a:solidFill>
                <a:latin typeface="Poppins"/>
                <a:ea typeface="Poppins"/>
                <a:cs typeface="Poppins"/>
                <a:sym typeface="Poppins"/>
              </a:rPr>
              <a:t>every render</a:t>
            </a:r>
            <a:r>
              <a:rPr lang="en">
                <a:solidFill>
                  <a:srgbClr val="273239"/>
                </a:solidFill>
                <a:latin typeface="Poppins"/>
                <a:ea typeface="Poppins"/>
                <a:cs typeface="Poppins"/>
                <a:sym typeface="Poppins"/>
              </a:rPr>
              <a:t>, it will keep hitting the API again and again, causing unnecessary network calls and slowing down the app.</a:t>
            </a:r>
            <a:endParaRPr>
              <a:solidFill>
                <a:srgbClr val="273239"/>
              </a:solidFill>
              <a:latin typeface="Poppins"/>
              <a:ea typeface="Poppins"/>
              <a:cs typeface="Poppins"/>
              <a:sym typeface="Poppins"/>
            </a:endParaRPr>
          </a:p>
          <a:p>
            <a:pPr marL="0" lvl="0" indent="0" algn="l" rtl="0">
              <a:spcBef>
                <a:spcPts val="0"/>
              </a:spcBef>
              <a:spcAft>
                <a:spcPts val="0"/>
              </a:spcAft>
              <a:buNone/>
            </a:pPr>
            <a:endParaRPr>
              <a:solidFill>
                <a:srgbClr val="273239"/>
              </a:solidFill>
              <a:latin typeface="Poppins"/>
              <a:ea typeface="Poppins"/>
              <a:cs typeface="Poppins"/>
              <a:sym typeface="Poppins"/>
            </a:endParaRPr>
          </a:p>
          <a:p>
            <a:pPr marL="0" lvl="0" indent="0" algn="l" rtl="0">
              <a:spcBef>
                <a:spcPts val="0"/>
              </a:spcBef>
              <a:spcAft>
                <a:spcPts val="0"/>
              </a:spcAft>
              <a:buNone/>
            </a:pPr>
            <a:endParaRPr>
              <a:solidFill>
                <a:srgbClr val="273239"/>
              </a:solidFill>
              <a:latin typeface="Poppins"/>
              <a:ea typeface="Poppins"/>
              <a:cs typeface="Poppins"/>
              <a:sym typeface="Poppins"/>
            </a:endParaRPr>
          </a:p>
          <a:p>
            <a:pPr marL="0" lvl="0" indent="0" algn="l" rtl="0">
              <a:spcBef>
                <a:spcPts val="0"/>
              </a:spcBef>
              <a:spcAft>
                <a:spcPts val="0"/>
              </a:spcAft>
              <a:buNone/>
            </a:pPr>
            <a:r>
              <a:rPr lang="en" b="1">
                <a:solidFill>
                  <a:srgbClr val="273239"/>
                </a:solidFill>
                <a:latin typeface="Poppins"/>
                <a:ea typeface="Poppins"/>
                <a:cs typeface="Poppins"/>
                <a:sym typeface="Poppins"/>
              </a:rPr>
              <a:t>Big thanks to useEffect</a:t>
            </a:r>
            <a:r>
              <a:rPr lang="en">
                <a:solidFill>
                  <a:srgbClr val="273239"/>
                </a:solidFill>
                <a:latin typeface="Poppins"/>
                <a:ea typeface="Poppins"/>
                <a:cs typeface="Poppins"/>
                <a:sym typeface="Poppins"/>
              </a:rPr>
              <a:t> — it gives us a safe place to perform data fetching.</a:t>
            </a:r>
            <a:endParaRPr>
              <a:solidFill>
                <a:srgbClr val="273239"/>
              </a:solidFill>
              <a:latin typeface="Poppins"/>
              <a:ea typeface="Poppins"/>
              <a:cs typeface="Poppins"/>
              <a:sym typeface="Poppins"/>
            </a:endParaRPr>
          </a:p>
          <a:p>
            <a:pPr marL="0" lvl="0" indent="0" algn="l" rtl="0">
              <a:spcBef>
                <a:spcPts val="0"/>
              </a:spcBef>
              <a:spcAft>
                <a:spcPts val="0"/>
              </a:spcAft>
              <a:buClr>
                <a:schemeClr val="dk1"/>
              </a:buClr>
              <a:buSzPts val="1100"/>
              <a:buFont typeface="Arial"/>
              <a:buNone/>
            </a:pPr>
            <a:r>
              <a:rPr lang="en">
                <a:solidFill>
                  <a:srgbClr val="273239"/>
                </a:solidFill>
                <a:latin typeface="Poppins"/>
                <a:ea typeface="Poppins"/>
                <a:cs typeface="Poppins"/>
                <a:sym typeface="Poppins"/>
              </a:rPr>
              <a:t> </a:t>
            </a:r>
            <a:endParaRPr>
              <a:solidFill>
                <a:srgbClr val="273239"/>
              </a:solidFill>
              <a:latin typeface="Poppins"/>
              <a:ea typeface="Poppins"/>
              <a:cs typeface="Poppins"/>
              <a:sym typeface="Poppins"/>
            </a:endParaRPr>
          </a:p>
          <a:p>
            <a:pPr marL="0" lvl="0" indent="0" algn="l" rtl="0">
              <a:spcBef>
                <a:spcPts val="0"/>
              </a:spcBef>
              <a:spcAft>
                <a:spcPts val="0"/>
              </a:spcAft>
              <a:buNone/>
            </a:pPr>
            <a:endParaRPr sz="1100">
              <a:solidFill>
                <a:schemeClr val="dk1"/>
              </a:solidFill>
            </a:endParaRPr>
          </a:p>
        </p:txBody>
      </p:sp>
      <p:pic>
        <p:nvPicPr>
          <p:cNvPr id="384" name="Google Shape;384;p45"/>
          <p:cNvPicPr preferRelativeResize="0"/>
          <p:nvPr/>
        </p:nvPicPr>
        <p:blipFill>
          <a:blip r:embed="rId4">
            <a:alphaModFix/>
          </a:blip>
          <a:stretch>
            <a:fillRect/>
          </a:stretch>
        </p:blipFill>
        <p:spPr>
          <a:xfrm>
            <a:off x="6633888" y="1809075"/>
            <a:ext cx="1838562" cy="228101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46"/>
          <p:cNvSpPr txBox="1"/>
          <p:nvPr/>
        </p:nvSpPr>
        <p:spPr>
          <a:xfrm>
            <a:off x="310900" y="197325"/>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500" b="1">
                <a:solidFill>
                  <a:srgbClr val="073763"/>
                </a:solidFill>
                <a:latin typeface="Poppins"/>
                <a:ea typeface="Poppins"/>
                <a:cs typeface="Poppins"/>
                <a:sym typeface="Poppins"/>
              </a:rPr>
              <a:t>Fetching Data with useEffect</a:t>
            </a:r>
            <a:endParaRPr sz="3500" b="1">
              <a:solidFill>
                <a:srgbClr val="073763"/>
              </a:solidFill>
              <a:latin typeface="Poppins"/>
              <a:ea typeface="Poppins"/>
              <a:cs typeface="Poppins"/>
              <a:sym typeface="Poppins"/>
            </a:endParaRPr>
          </a:p>
        </p:txBody>
      </p:sp>
      <p:pic>
        <p:nvPicPr>
          <p:cNvPr id="390" name="Google Shape;390;p46"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391" name="Google Shape;391;p46"/>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34</a:t>
            </a:fld>
            <a:endParaRPr sz="1000">
              <a:solidFill>
                <a:srgbClr val="595959"/>
              </a:solidFill>
            </a:endParaRPr>
          </a:p>
        </p:txBody>
      </p:sp>
      <p:sp>
        <p:nvSpPr>
          <p:cNvPr id="392" name="Google Shape;392;p46"/>
          <p:cNvSpPr txBox="1"/>
          <p:nvPr/>
        </p:nvSpPr>
        <p:spPr>
          <a:xfrm>
            <a:off x="383100" y="884500"/>
            <a:ext cx="41889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Call the function inside useEffect</a:t>
            </a:r>
            <a:r>
              <a:rPr lang="en">
                <a:solidFill>
                  <a:srgbClr val="273239"/>
                </a:solidFill>
                <a:latin typeface="Poppins"/>
                <a:ea typeface="Poppins"/>
                <a:cs typeface="Poppins"/>
                <a:sym typeface="Poppins"/>
              </a:rPr>
              <a:t> with an empty dependency array [].</a:t>
            </a:r>
            <a:endParaRPr>
              <a:solidFill>
                <a:srgbClr val="273239"/>
              </a:solidFill>
              <a:latin typeface="Poppins"/>
              <a:ea typeface="Poppins"/>
              <a:cs typeface="Poppins"/>
              <a:sym typeface="Poppins"/>
            </a:endParaRPr>
          </a:p>
          <a:p>
            <a:pPr marL="0" lvl="0" indent="0" algn="l" rtl="0">
              <a:spcBef>
                <a:spcPts val="0"/>
              </a:spcBef>
              <a:spcAft>
                <a:spcPts val="0"/>
              </a:spcAft>
              <a:buNone/>
            </a:pPr>
            <a:endParaRPr>
              <a:solidFill>
                <a:srgbClr val="273239"/>
              </a:solidFill>
              <a:latin typeface="Poppins"/>
              <a:ea typeface="Poppins"/>
              <a:cs typeface="Poppins"/>
              <a:sym typeface="Poppins"/>
            </a:endParaRPr>
          </a:p>
          <a:p>
            <a:pPr marL="0" lvl="0" indent="0" algn="l" rtl="0">
              <a:spcBef>
                <a:spcPts val="0"/>
              </a:spcBef>
              <a:spcAft>
                <a:spcPts val="0"/>
              </a:spcAft>
              <a:buNone/>
            </a:pPr>
            <a:r>
              <a:rPr lang="en">
                <a:solidFill>
                  <a:srgbClr val="273239"/>
                </a:solidFill>
                <a:latin typeface="Poppins"/>
                <a:ea typeface="Poppins"/>
                <a:cs typeface="Poppins"/>
                <a:sym typeface="Poppins"/>
              </a:rPr>
              <a:t>Empty array means: run this effect only once when the component mounts.</a:t>
            </a:r>
            <a:endParaRPr>
              <a:solidFill>
                <a:srgbClr val="273239"/>
              </a:solidFill>
              <a:latin typeface="Poppins"/>
              <a:ea typeface="Poppins"/>
              <a:cs typeface="Poppins"/>
              <a:sym typeface="Poppins"/>
            </a:endParaRPr>
          </a:p>
        </p:txBody>
      </p:sp>
      <p:pic>
        <p:nvPicPr>
          <p:cNvPr id="393" name="Google Shape;393;p46" title="fetch 2.mp4">
            <a:hlinkClick r:id="rId4"/>
          </p:cNvPr>
          <p:cNvPicPr preferRelativeResize="0"/>
          <p:nvPr/>
        </p:nvPicPr>
        <p:blipFill>
          <a:blip r:embed="rId5">
            <a:alphaModFix/>
          </a:blip>
          <a:stretch>
            <a:fillRect/>
          </a:stretch>
        </p:blipFill>
        <p:spPr>
          <a:xfrm>
            <a:off x="5653400" y="2240200"/>
            <a:ext cx="3208600" cy="2406450"/>
          </a:xfrm>
          <a:prstGeom prst="rect">
            <a:avLst/>
          </a:prstGeom>
          <a:noFill/>
          <a:ln>
            <a:noFill/>
          </a:ln>
        </p:spPr>
      </p:pic>
      <p:pic>
        <p:nvPicPr>
          <p:cNvPr id="394" name="Google Shape;394;p46"/>
          <p:cNvPicPr preferRelativeResize="0"/>
          <p:nvPr/>
        </p:nvPicPr>
        <p:blipFill>
          <a:blip r:embed="rId6">
            <a:alphaModFix/>
          </a:blip>
          <a:stretch>
            <a:fillRect/>
          </a:stretch>
        </p:blipFill>
        <p:spPr>
          <a:xfrm>
            <a:off x="462000" y="2240200"/>
            <a:ext cx="3880552" cy="2692101"/>
          </a:xfrm>
          <a:prstGeom prst="rect">
            <a:avLst/>
          </a:prstGeom>
          <a:noFill/>
          <a:ln>
            <a:noFill/>
          </a:ln>
        </p:spPr>
      </p:pic>
      <p:cxnSp>
        <p:nvCxnSpPr>
          <p:cNvPr id="395" name="Google Shape;395;p46"/>
          <p:cNvCxnSpPr>
            <a:stCxn id="394" idx="3"/>
          </p:cNvCxnSpPr>
          <p:nvPr/>
        </p:nvCxnSpPr>
        <p:spPr>
          <a:xfrm rot="10800000" flipH="1">
            <a:off x="4342552" y="3585650"/>
            <a:ext cx="1035900" cy="60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3"/>
                                        </p:tgtEl>
                                        <p:attrNameLst>
                                          <p:attrName>style.visibility</p:attrName>
                                        </p:attrNameLst>
                                      </p:cBhvr>
                                      <p:to>
                                        <p:strVal val="visible"/>
                                      </p:to>
                                    </p:set>
                                    <p:animEffect transition="in" filter="fade">
                                      <p:cBhvr>
                                        <p:cTn id="7" dur="1000"/>
                                        <p:tgtEl>
                                          <p:spTgt spid="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7"/>
          <p:cNvSpPr txBox="1"/>
          <p:nvPr/>
        </p:nvSpPr>
        <p:spPr>
          <a:xfrm>
            <a:off x="310900" y="197325"/>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800" b="1">
                <a:solidFill>
                  <a:srgbClr val="073763"/>
                </a:solidFill>
                <a:latin typeface="Poppins"/>
                <a:ea typeface="Poppins"/>
                <a:cs typeface="Poppins"/>
                <a:sym typeface="Poppins"/>
              </a:rPr>
              <a:t>Coding Questions</a:t>
            </a:r>
            <a:endParaRPr sz="2800" b="1">
              <a:solidFill>
                <a:srgbClr val="073763"/>
              </a:solidFill>
              <a:latin typeface="Poppins"/>
              <a:ea typeface="Poppins"/>
              <a:cs typeface="Poppins"/>
              <a:sym typeface="Poppins"/>
            </a:endParaRPr>
          </a:p>
        </p:txBody>
      </p:sp>
      <p:pic>
        <p:nvPicPr>
          <p:cNvPr id="401" name="Google Shape;401;p47"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402" name="Google Shape;402;p47"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403" name="Google Shape;403;p47"/>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35</a:t>
            </a:fld>
            <a:endParaRPr sz="1000">
              <a:solidFill>
                <a:srgbClr val="595959"/>
              </a:solidFill>
            </a:endParaRPr>
          </a:p>
        </p:txBody>
      </p:sp>
      <p:grpSp>
        <p:nvGrpSpPr>
          <p:cNvPr id="404" name="Google Shape;404;p47"/>
          <p:cNvGrpSpPr/>
          <p:nvPr/>
        </p:nvGrpSpPr>
        <p:grpSpPr>
          <a:xfrm>
            <a:off x="310894" y="1014975"/>
            <a:ext cx="6716433" cy="2704925"/>
            <a:chOff x="310900" y="1014975"/>
            <a:chExt cx="6327900" cy="2704925"/>
          </a:xfrm>
        </p:grpSpPr>
        <p:sp>
          <p:nvSpPr>
            <p:cNvPr id="405" name="Google Shape;405;p47"/>
            <p:cNvSpPr txBox="1"/>
            <p:nvPr/>
          </p:nvSpPr>
          <p:spPr>
            <a:xfrm>
              <a:off x="310900" y="1014975"/>
              <a:ext cx="51390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2.   </a:t>
              </a:r>
              <a:r>
                <a:rPr lang="en" sz="1100" b="1">
                  <a:solidFill>
                    <a:srgbClr val="000000"/>
                  </a:solidFill>
                </a:rPr>
                <a:t> </a:t>
              </a:r>
              <a:r>
                <a:rPr lang="en" sz="1100" b="1">
                  <a:solidFill>
                    <a:schemeClr val="dk1"/>
                  </a:solidFill>
                </a:rPr>
                <a:t> Fetching Data with useEffect</a:t>
              </a:r>
              <a:endParaRPr sz="1100" b="1">
                <a:solidFill>
                  <a:schemeClr val="dk1"/>
                </a:solidFill>
              </a:endParaRPr>
            </a:p>
            <a:p>
              <a:pPr marL="0" lvl="0" indent="0" algn="l" rtl="0">
                <a:spcBef>
                  <a:spcPts val="0"/>
                </a:spcBef>
                <a:spcAft>
                  <a:spcPts val="0"/>
                </a:spcAft>
                <a:buNone/>
              </a:pPr>
              <a:endParaRPr b="1">
                <a:latin typeface="Poppins"/>
                <a:ea typeface="Poppins"/>
                <a:cs typeface="Poppins"/>
                <a:sym typeface="Poppins"/>
              </a:endParaRPr>
            </a:p>
            <a:p>
              <a:pPr marL="0" lvl="0" indent="0" algn="l" rtl="0">
                <a:spcBef>
                  <a:spcPts val="0"/>
                </a:spcBef>
                <a:spcAft>
                  <a:spcPts val="0"/>
                </a:spcAft>
                <a:buNone/>
              </a:pPr>
              <a:endParaRPr b="1">
                <a:latin typeface="Poppins"/>
                <a:ea typeface="Poppins"/>
                <a:cs typeface="Poppins"/>
                <a:sym typeface="Poppins"/>
              </a:endParaRPr>
            </a:p>
          </p:txBody>
        </p:sp>
        <p:sp>
          <p:nvSpPr>
            <p:cNvPr id="406" name="Google Shape;406;p47"/>
            <p:cNvSpPr txBox="1"/>
            <p:nvPr/>
          </p:nvSpPr>
          <p:spPr>
            <a:xfrm>
              <a:off x="310900" y="1725200"/>
              <a:ext cx="6327900" cy="19947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b="1">
                  <a:solidFill>
                    <a:srgbClr val="273239"/>
                  </a:solidFill>
                  <a:latin typeface="Poppins"/>
                  <a:ea typeface="Poppins"/>
                  <a:cs typeface="Poppins"/>
                  <a:sym typeface="Poppins"/>
                </a:rPr>
                <a:t>Task :</a:t>
              </a:r>
              <a:r>
                <a:rPr lang="en" sz="1100"/>
                <a:t> </a:t>
              </a:r>
              <a:r>
                <a:rPr lang="en" sz="1100">
                  <a:solidFill>
                    <a:schemeClr val="dk1"/>
                  </a:solidFill>
                </a:rPr>
                <a:t> Create a </a:t>
              </a:r>
              <a:r>
                <a:rPr lang="en" sz="1100" b="1">
                  <a:solidFill>
                    <a:schemeClr val="dk1"/>
                  </a:solidFill>
                </a:rPr>
                <a:t>TodoItem </a:t>
              </a:r>
              <a:r>
                <a:rPr lang="en" sz="1100">
                  <a:solidFill>
                    <a:schemeClr val="dk1"/>
                  </a:solidFill>
                </a:rPr>
                <a:t>component that fetches and displays a single "todo" item from the </a:t>
              </a:r>
              <a:endParaRPr sz="1100">
                <a:solidFill>
                  <a:schemeClr val="dk1"/>
                </a:solidFill>
              </a:endParaRPr>
            </a:p>
            <a:p>
              <a:pPr marL="0" lvl="0" indent="0" algn="l" rtl="0">
                <a:lnSpc>
                  <a:spcPct val="100000"/>
                </a:lnSpc>
                <a:spcBef>
                  <a:spcPts val="0"/>
                </a:spcBef>
                <a:spcAft>
                  <a:spcPts val="0"/>
                </a:spcAft>
                <a:buNone/>
              </a:pPr>
              <a:r>
                <a:rPr lang="en" sz="1100">
                  <a:solidFill>
                    <a:schemeClr val="dk1"/>
                  </a:solidFill>
                </a:rPr>
                <a:t>               JSONPlaceholder API when it mounts.</a:t>
              </a:r>
              <a:endParaRPr sz="1100">
                <a:solidFill>
                  <a:schemeClr val="dk1"/>
                </a:solidFill>
              </a:endParaRPr>
            </a:p>
            <a:p>
              <a:pPr marL="914400" lvl="1" indent="-298450" algn="l" rtl="0">
                <a:lnSpc>
                  <a:spcPct val="115000"/>
                </a:lnSpc>
                <a:spcBef>
                  <a:spcPts val="1200"/>
                </a:spcBef>
                <a:spcAft>
                  <a:spcPts val="0"/>
                </a:spcAft>
                <a:buClr>
                  <a:schemeClr val="dk1"/>
                </a:buClr>
                <a:buSzPts val="1100"/>
                <a:buAutoNum type="arabicPeriod"/>
              </a:pPr>
              <a:r>
                <a:rPr lang="en" sz="1100">
                  <a:solidFill>
                    <a:schemeClr val="dk1"/>
                  </a:solidFill>
                </a:rPr>
                <a:t>Use </a:t>
              </a:r>
              <a:r>
                <a:rPr lang="en" sz="1100" b="1">
                  <a:solidFill>
                    <a:schemeClr val="dk1"/>
                  </a:solidFill>
                </a:rPr>
                <a:t>useState</a:t>
              </a:r>
              <a:r>
                <a:rPr lang="en" sz="1100">
                  <a:solidFill>
                    <a:schemeClr val="dk1"/>
                  </a:solidFill>
                </a:rPr>
                <a:t> to store the todo data.</a:t>
              </a:r>
              <a:endParaRPr sz="1100">
                <a:solidFill>
                  <a:schemeClr val="dk1"/>
                </a:solidFill>
              </a:endParaRPr>
            </a:p>
            <a:p>
              <a:pPr marL="914400" lvl="1" indent="-298450" algn="l" rtl="0">
                <a:lnSpc>
                  <a:spcPct val="115000"/>
                </a:lnSpc>
                <a:spcBef>
                  <a:spcPts val="0"/>
                </a:spcBef>
                <a:spcAft>
                  <a:spcPts val="0"/>
                </a:spcAft>
                <a:buClr>
                  <a:schemeClr val="dk1"/>
                </a:buClr>
                <a:buSzPts val="1100"/>
                <a:buAutoNum type="arabicPeriod"/>
              </a:pPr>
              <a:r>
                <a:rPr lang="en" sz="1100">
                  <a:solidFill>
                    <a:schemeClr val="dk1"/>
                  </a:solidFill>
                </a:rPr>
                <a:t>Use </a:t>
              </a:r>
              <a:r>
                <a:rPr lang="en" sz="1100" b="1">
                  <a:solidFill>
                    <a:schemeClr val="dk1"/>
                  </a:solidFill>
                </a:rPr>
                <a:t>useEffect</a:t>
              </a:r>
              <a:r>
                <a:rPr lang="en" sz="1100">
                  <a:solidFill>
                    <a:schemeClr val="dk1"/>
                  </a:solidFill>
                </a:rPr>
                <a:t> to fetch the data from </a:t>
              </a:r>
              <a:r>
                <a:rPr lang="en" sz="1100" b="1">
                  <a:solidFill>
                    <a:schemeClr val="dk1"/>
                  </a:solidFill>
                </a:rPr>
                <a:t>https://jsonplaceholder.typicode.com/todos/1.</a:t>
              </a:r>
              <a:endParaRPr sz="1100" b="1">
                <a:solidFill>
                  <a:schemeClr val="dk1"/>
                </a:solidFill>
              </a:endParaRPr>
            </a:p>
            <a:p>
              <a:pPr marL="914400" lvl="1" indent="-298450" algn="l" rtl="0">
                <a:lnSpc>
                  <a:spcPct val="115000"/>
                </a:lnSpc>
                <a:spcBef>
                  <a:spcPts val="0"/>
                </a:spcBef>
                <a:spcAft>
                  <a:spcPts val="0"/>
                </a:spcAft>
                <a:buClr>
                  <a:schemeClr val="dk1"/>
                </a:buClr>
                <a:buSzPts val="1100"/>
                <a:buAutoNum type="arabicPeriod"/>
              </a:pPr>
              <a:r>
                <a:rPr lang="en" sz="1100">
                  <a:solidFill>
                    <a:schemeClr val="dk1"/>
                  </a:solidFill>
                </a:rPr>
                <a:t>Update the state with the fetched data.</a:t>
              </a:r>
              <a:endParaRPr sz="1100">
                <a:solidFill>
                  <a:schemeClr val="dk1"/>
                </a:solidFill>
              </a:endParaRPr>
            </a:p>
            <a:p>
              <a:pPr marL="914400" lvl="1" indent="-298450" algn="l" rtl="0">
                <a:lnSpc>
                  <a:spcPct val="115000"/>
                </a:lnSpc>
                <a:spcBef>
                  <a:spcPts val="0"/>
                </a:spcBef>
                <a:spcAft>
                  <a:spcPts val="0"/>
                </a:spcAft>
                <a:buClr>
                  <a:schemeClr val="dk1"/>
                </a:buClr>
                <a:buSzPts val="1100"/>
                <a:buAutoNum type="arabicPeriod"/>
              </a:pPr>
              <a:r>
                <a:rPr lang="en" sz="1100">
                  <a:solidFill>
                    <a:schemeClr val="dk1"/>
                  </a:solidFill>
                </a:rPr>
                <a:t>Display the todo's title.</a:t>
              </a:r>
              <a:endParaRPr sz="1100">
                <a:solidFill>
                  <a:schemeClr val="dk1"/>
                </a:solidFill>
              </a:endParaRPr>
            </a:p>
            <a:p>
              <a:pPr marL="0" lvl="0" indent="0" algn="l" rtl="0">
                <a:lnSpc>
                  <a:spcPct val="100000"/>
                </a:lnSpc>
                <a:spcBef>
                  <a:spcPts val="1200"/>
                </a:spcBef>
                <a:spcAft>
                  <a:spcPts val="0"/>
                </a:spcAft>
                <a:buNone/>
              </a:pPr>
              <a:endParaRPr sz="1100">
                <a:solidFill>
                  <a:schemeClr val="dk1"/>
                </a:solidFill>
              </a:endParaRPr>
            </a:p>
            <a:p>
              <a:pPr marL="0" lvl="0" indent="0" algn="l" rtl="0">
                <a:lnSpc>
                  <a:spcPct val="150000"/>
                </a:lnSpc>
                <a:spcBef>
                  <a:spcPts val="0"/>
                </a:spcBef>
                <a:spcAft>
                  <a:spcPts val="0"/>
                </a:spcAft>
                <a:buNone/>
              </a:pPr>
              <a:endParaRPr sz="1100"/>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8"/>
          <p:cNvSpPr txBox="1"/>
          <p:nvPr/>
        </p:nvSpPr>
        <p:spPr>
          <a:xfrm>
            <a:off x="310900" y="197325"/>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800" b="1">
                <a:solidFill>
                  <a:srgbClr val="073763"/>
                </a:solidFill>
                <a:latin typeface="Poppins"/>
                <a:ea typeface="Poppins"/>
                <a:cs typeface="Poppins"/>
                <a:sym typeface="Poppins"/>
              </a:rPr>
              <a:t>Coding Questions</a:t>
            </a:r>
            <a:endParaRPr sz="2800" b="1">
              <a:solidFill>
                <a:srgbClr val="073763"/>
              </a:solidFill>
              <a:latin typeface="Poppins"/>
              <a:ea typeface="Poppins"/>
              <a:cs typeface="Poppins"/>
              <a:sym typeface="Poppins"/>
            </a:endParaRPr>
          </a:p>
        </p:txBody>
      </p:sp>
      <p:pic>
        <p:nvPicPr>
          <p:cNvPr id="412" name="Google Shape;412;p48"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413" name="Google Shape;413;p48"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414" name="Google Shape;414;p48"/>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36</a:t>
            </a:fld>
            <a:endParaRPr sz="1000">
              <a:solidFill>
                <a:srgbClr val="595959"/>
              </a:solidFill>
            </a:endParaRPr>
          </a:p>
        </p:txBody>
      </p:sp>
      <p:sp>
        <p:nvSpPr>
          <p:cNvPr id="415" name="Google Shape;415;p48"/>
          <p:cNvSpPr txBox="1"/>
          <p:nvPr/>
        </p:nvSpPr>
        <p:spPr>
          <a:xfrm>
            <a:off x="310900" y="1086300"/>
            <a:ext cx="1049700" cy="356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b="1">
                <a:solidFill>
                  <a:srgbClr val="273239"/>
                </a:solidFill>
                <a:latin typeface="Poppins"/>
                <a:ea typeface="Poppins"/>
                <a:cs typeface="Poppins"/>
                <a:sym typeface="Poppins"/>
              </a:rPr>
              <a:t>Solution:</a:t>
            </a:r>
            <a:endParaRPr sz="1700" b="1">
              <a:solidFill>
                <a:srgbClr val="273239"/>
              </a:solidFill>
              <a:latin typeface="Poppins"/>
              <a:ea typeface="Poppins"/>
              <a:cs typeface="Poppins"/>
              <a:sym typeface="Poppins"/>
            </a:endParaRPr>
          </a:p>
        </p:txBody>
      </p:sp>
      <p:pic>
        <p:nvPicPr>
          <p:cNvPr id="416" name="Google Shape;416;p48"/>
          <p:cNvPicPr preferRelativeResize="0"/>
          <p:nvPr/>
        </p:nvPicPr>
        <p:blipFill>
          <a:blip r:embed="rId5">
            <a:alphaModFix/>
          </a:blip>
          <a:stretch>
            <a:fillRect/>
          </a:stretch>
        </p:blipFill>
        <p:spPr>
          <a:xfrm>
            <a:off x="1513000" y="922425"/>
            <a:ext cx="4383408" cy="406867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9"/>
          <p:cNvSpPr txBox="1"/>
          <p:nvPr/>
        </p:nvSpPr>
        <p:spPr>
          <a:xfrm>
            <a:off x="310900" y="197325"/>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800" b="1">
                <a:solidFill>
                  <a:srgbClr val="073763"/>
                </a:solidFill>
                <a:latin typeface="Poppins"/>
                <a:ea typeface="Poppins"/>
                <a:cs typeface="Poppins"/>
                <a:sym typeface="Poppins"/>
              </a:rPr>
              <a:t>Coding Questions</a:t>
            </a:r>
            <a:endParaRPr sz="2800" b="1">
              <a:solidFill>
                <a:srgbClr val="073763"/>
              </a:solidFill>
              <a:latin typeface="Poppins"/>
              <a:ea typeface="Poppins"/>
              <a:cs typeface="Poppins"/>
              <a:sym typeface="Poppins"/>
            </a:endParaRPr>
          </a:p>
        </p:txBody>
      </p:sp>
      <p:pic>
        <p:nvPicPr>
          <p:cNvPr id="422" name="Google Shape;422;p49"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pic>
        <p:nvPicPr>
          <p:cNvPr id="423" name="Google Shape;423;p49"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424" name="Google Shape;424;p49"/>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37</a:t>
            </a:fld>
            <a:endParaRPr sz="1000">
              <a:solidFill>
                <a:srgbClr val="595959"/>
              </a:solidFill>
            </a:endParaRPr>
          </a:p>
        </p:txBody>
      </p:sp>
      <p:sp>
        <p:nvSpPr>
          <p:cNvPr id="425" name="Google Shape;425;p49"/>
          <p:cNvSpPr txBox="1"/>
          <p:nvPr/>
        </p:nvSpPr>
        <p:spPr>
          <a:xfrm>
            <a:off x="310900" y="1086300"/>
            <a:ext cx="1049700" cy="356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 b="1">
                <a:solidFill>
                  <a:srgbClr val="273239"/>
                </a:solidFill>
                <a:latin typeface="Poppins"/>
                <a:ea typeface="Poppins"/>
                <a:cs typeface="Poppins"/>
                <a:sym typeface="Poppins"/>
              </a:rPr>
              <a:t>Output :</a:t>
            </a:r>
            <a:endParaRPr sz="1700" b="1">
              <a:solidFill>
                <a:srgbClr val="273239"/>
              </a:solidFill>
              <a:latin typeface="Poppins"/>
              <a:ea typeface="Poppins"/>
              <a:cs typeface="Poppins"/>
              <a:sym typeface="Poppins"/>
            </a:endParaRPr>
          </a:p>
        </p:txBody>
      </p:sp>
      <p:pic>
        <p:nvPicPr>
          <p:cNvPr id="426" name="Google Shape;426;p49"/>
          <p:cNvPicPr preferRelativeResize="0"/>
          <p:nvPr/>
        </p:nvPicPr>
        <p:blipFill>
          <a:blip r:embed="rId5">
            <a:alphaModFix/>
          </a:blip>
          <a:stretch>
            <a:fillRect/>
          </a:stretch>
        </p:blipFill>
        <p:spPr>
          <a:xfrm>
            <a:off x="1391850" y="1757550"/>
            <a:ext cx="1934025" cy="1147050"/>
          </a:xfrm>
          <a:prstGeom prst="rect">
            <a:avLst/>
          </a:prstGeom>
          <a:noFill/>
          <a:ln>
            <a:noFill/>
          </a:ln>
          <a:effectLst>
            <a:outerShdw blurRad="114300" dist="57150" dir="8340000" algn="bl" rotWithShape="0">
              <a:srgbClr val="000000">
                <a:alpha val="50000"/>
              </a:srgbClr>
            </a:outerShdw>
          </a:effectLst>
        </p:spPr>
      </p:pic>
      <p:pic>
        <p:nvPicPr>
          <p:cNvPr id="427" name="Google Shape;427;p49"/>
          <p:cNvPicPr preferRelativeResize="0"/>
          <p:nvPr/>
        </p:nvPicPr>
        <p:blipFill>
          <a:blip r:embed="rId6">
            <a:alphaModFix/>
          </a:blip>
          <a:stretch>
            <a:fillRect/>
          </a:stretch>
        </p:blipFill>
        <p:spPr>
          <a:xfrm>
            <a:off x="4424200" y="1757550"/>
            <a:ext cx="1934025" cy="1147050"/>
          </a:xfrm>
          <a:prstGeom prst="rect">
            <a:avLst/>
          </a:prstGeom>
          <a:noFill/>
          <a:ln>
            <a:noFill/>
          </a:ln>
          <a:effectLst>
            <a:outerShdw blurRad="114300" dist="47625" dir="7200000" algn="bl" rotWithShape="0">
              <a:srgbClr val="000000">
                <a:alpha val="50000"/>
              </a:srgbClr>
            </a:outerShdw>
          </a:effectLst>
        </p:spPr>
      </p:pic>
      <p:sp>
        <p:nvSpPr>
          <p:cNvPr id="428" name="Google Shape;428;p49"/>
          <p:cNvSpPr txBox="1"/>
          <p:nvPr/>
        </p:nvSpPr>
        <p:spPr>
          <a:xfrm>
            <a:off x="1621878" y="3096375"/>
            <a:ext cx="1248600" cy="255600"/>
          </a:xfrm>
          <a:prstGeom prst="rect">
            <a:avLst/>
          </a:prstGeom>
          <a:solidFill>
            <a:srgbClr val="FCE5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273239"/>
                </a:solidFill>
              </a:rPr>
              <a:t>API Data fetching…</a:t>
            </a:r>
            <a:endParaRPr sz="900">
              <a:solidFill>
                <a:srgbClr val="273239"/>
              </a:solidFill>
            </a:endParaRPr>
          </a:p>
        </p:txBody>
      </p:sp>
      <p:sp>
        <p:nvSpPr>
          <p:cNvPr id="429" name="Google Shape;429;p49"/>
          <p:cNvSpPr txBox="1"/>
          <p:nvPr/>
        </p:nvSpPr>
        <p:spPr>
          <a:xfrm>
            <a:off x="4742950" y="3096375"/>
            <a:ext cx="1159800" cy="255600"/>
          </a:xfrm>
          <a:prstGeom prst="rect">
            <a:avLst/>
          </a:prstGeom>
          <a:solidFill>
            <a:srgbClr val="FCE5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273239"/>
                </a:solidFill>
              </a:rPr>
              <a:t>API Data fetched</a:t>
            </a:r>
            <a:endParaRPr sz="900">
              <a:solidFill>
                <a:srgbClr val="273239"/>
              </a:solidFill>
            </a:endParaRPr>
          </a:p>
        </p:txBody>
      </p:sp>
      <p:sp>
        <p:nvSpPr>
          <p:cNvPr id="430" name="Google Shape;430;p49"/>
          <p:cNvSpPr txBox="1"/>
          <p:nvPr/>
        </p:nvSpPr>
        <p:spPr>
          <a:xfrm>
            <a:off x="1872975" y="1310175"/>
            <a:ext cx="746400" cy="255600"/>
          </a:xfrm>
          <a:prstGeom prst="rect">
            <a:avLst/>
          </a:prstGeom>
          <a:solidFill>
            <a:srgbClr val="FCE5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273239"/>
                </a:solidFill>
              </a:rPr>
              <a:t>Output</a:t>
            </a:r>
            <a:endParaRPr sz="900">
              <a:solidFill>
                <a:srgbClr val="273239"/>
              </a:solidFill>
            </a:endParaRPr>
          </a:p>
        </p:txBody>
      </p:sp>
      <p:sp>
        <p:nvSpPr>
          <p:cNvPr id="431" name="Google Shape;431;p49"/>
          <p:cNvSpPr txBox="1"/>
          <p:nvPr/>
        </p:nvSpPr>
        <p:spPr>
          <a:xfrm>
            <a:off x="4949650" y="1274850"/>
            <a:ext cx="746400" cy="255600"/>
          </a:xfrm>
          <a:prstGeom prst="rect">
            <a:avLst/>
          </a:prstGeom>
          <a:solidFill>
            <a:srgbClr val="FCE5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rgbClr val="273239"/>
                </a:solidFill>
              </a:rPr>
              <a:t>Output</a:t>
            </a:r>
            <a:endParaRPr sz="900">
              <a:solidFill>
                <a:srgbClr val="273239"/>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50"/>
          <p:cNvSpPr txBox="1"/>
          <p:nvPr/>
        </p:nvSpPr>
        <p:spPr>
          <a:xfrm>
            <a:off x="310900" y="210300"/>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800" b="1">
                <a:solidFill>
                  <a:srgbClr val="073763"/>
                </a:solidFill>
                <a:latin typeface="Poppins"/>
                <a:ea typeface="Poppins"/>
                <a:cs typeface="Poppins"/>
                <a:sym typeface="Poppins"/>
              </a:rPr>
              <a:t>Check Your Understanding</a:t>
            </a:r>
            <a:endParaRPr sz="2800" b="1">
              <a:solidFill>
                <a:srgbClr val="073763"/>
              </a:solidFill>
              <a:latin typeface="Poppins"/>
              <a:ea typeface="Poppins"/>
              <a:cs typeface="Poppins"/>
              <a:sym typeface="Poppins"/>
            </a:endParaRPr>
          </a:p>
        </p:txBody>
      </p:sp>
      <p:pic>
        <p:nvPicPr>
          <p:cNvPr id="437" name="Google Shape;437;p50"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438" name="Google Shape;438;p50"/>
          <p:cNvSpPr txBox="1"/>
          <p:nvPr/>
        </p:nvSpPr>
        <p:spPr>
          <a:xfrm>
            <a:off x="310900" y="1228825"/>
            <a:ext cx="81615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Question :  </a:t>
            </a:r>
            <a:r>
              <a:rPr lang="en" sz="1100" b="1">
                <a:solidFill>
                  <a:schemeClr val="dk1"/>
                </a:solidFill>
              </a:rPr>
              <a:t> What is a "side effect" in a React component?</a:t>
            </a:r>
            <a:r>
              <a:rPr lang="en" sz="1100">
                <a:solidFill>
                  <a:schemeClr val="dk1"/>
                </a:solidFill>
              </a:rPr>
              <a:t> </a:t>
            </a:r>
            <a:endParaRPr sz="1100">
              <a:solidFill>
                <a:schemeClr val="dk1"/>
              </a:solidFill>
            </a:endParaRPr>
          </a:p>
          <a:p>
            <a:pPr marL="0" lvl="0" indent="0" algn="l" rtl="0">
              <a:spcBef>
                <a:spcPts val="0"/>
              </a:spcBef>
              <a:spcAft>
                <a:spcPts val="0"/>
              </a:spcAft>
              <a:buNone/>
            </a:pPr>
            <a:endParaRPr sz="1300" b="1">
              <a:solidFill>
                <a:srgbClr val="273239"/>
              </a:solidFill>
              <a:latin typeface="Poppins"/>
              <a:ea typeface="Poppins"/>
              <a:cs typeface="Poppins"/>
              <a:sym typeface="Poppins"/>
            </a:endParaRPr>
          </a:p>
        </p:txBody>
      </p:sp>
      <p:sp>
        <p:nvSpPr>
          <p:cNvPr id="439" name="Google Shape;439;p50"/>
          <p:cNvSpPr txBox="1"/>
          <p:nvPr/>
        </p:nvSpPr>
        <p:spPr>
          <a:xfrm>
            <a:off x="310900" y="1793225"/>
            <a:ext cx="8055900" cy="145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rgbClr val="000000"/>
              </a:buClr>
              <a:buSzPts val="1100"/>
              <a:buFont typeface="Arial"/>
              <a:buNone/>
            </a:pPr>
            <a:r>
              <a:rPr lang="en" b="1">
                <a:solidFill>
                  <a:srgbClr val="273239"/>
                </a:solidFill>
                <a:latin typeface="Poppins"/>
                <a:ea typeface="Poppins"/>
                <a:cs typeface="Poppins"/>
                <a:sym typeface="Poppins"/>
              </a:rPr>
              <a:t>Options    :</a:t>
            </a:r>
            <a:r>
              <a:rPr lang="en" sz="1100">
                <a:solidFill>
                  <a:srgbClr val="000000"/>
                </a:solidFill>
              </a:rPr>
              <a:t>    </a:t>
            </a:r>
            <a:r>
              <a:rPr lang="en" sz="1100">
                <a:solidFill>
                  <a:srgbClr val="000000"/>
                </a:solidFill>
                <a:latin typeface="Poppins"/>
                <a:ea typeface="Poppins"/>
                <a:cs typeface="Poppins"/>
                <a:sym typeface="Poppins"/>
              </a:rPr>
              <a:t>  </a:t>
            </a:r>
            <a:r>
              <a:rPr lang="en" sz="1100">
                <a:solidFill>
                  <a:schemeClr val="dk1"/>
                </a:solidFill>
              </a:rPr>
              <a:t>a) An unexpected bug in the code. </a:t>
            </a:r>
            <a:endParaRPr sz="1100">
              <a:solidFill>
                <a:schemeClr val="dk1"/>
              </a:solidFill>
            </a:endParaRPr>
          </a:p>
          <a:p>
            <a:pPr marL="1143000" lvl="0" indent="0" algn="l" rtl="0">
              <a:lnSpc>
                <a:spcPct val="115000"/>
              </a:lnSpc>
              <a:spcBef>
                <a:spcPts val="1200"/>
              </a:spcBef>
              <a:spcAft>
                <a:spcPts val="0"/>
              </a:spcAft>
              <a:buClr>
                <a:schemeClr val="dk1"/>
              </a:buClr>
              <a:buSzPts val="1100"/>
              <a:buFont typeface="Arial"/>
              <a:buNone/>
            </a:pPr>
            <a:r>
              <a:rPr lang="en" sz="1100">
                <a:solidFill>
                  <a:schemeClr val="dk1"/>
                </a:solidFill>
              </a:rPr>
              <a:t>b) Any interaction with the "outside world" from within your component, like fetching data or setting a timer. </a:t>
            </a:r>
            <a:endParaRPr sz="1100">
              <a:solidFill>
                <a:schemeClr val="dk1"/>
              </a:solidFill>
            </a:endParaRPr>
          </a:p>
          <a:p>
            <a:pPr marL="1143000" lvl="0" indent="0" algn="l" rtl="0">
              <a:lnSpc>
                <a:spcPct val="115000"/>
              </a:lnSpc>
              <a:spcBef>
                <a:spcPts val="1200"/>
              </a:spcBef>
              <a:spcAft>
                <a:spcPts val="0"/>
              </a:spcAft>
              <a:buClr>
                <a:schemeClr val="dk1"/>
              </a:buClr>
              <a:buSzPts val="1100"/>
              <a:buFont typeface="Arial"/>
              <a:buNone/>
            </a:pPr>
            <a:r>
              <a:rPr lang="en" sz="1100">
                <a:solidFill>
                  <a:schemeClr val="dk1"/>
                </a:solidFill>
              </a:rPr>
              <a:t>c) A function that changes the component's state. </a:t>
            </a:r>
            <a:endParaRPr sz="1100">
              <a:solidFill>
                <a:schemeClr val="dk1"/>
              </a:solidFill>
            </a:endParaRPr>
          </a:p>
          <a:p>
            <a:pPr marL="1143000" lvl="0" indent="0" algn="l" rtl="0">
              <a:lnSpc>
                <a:spcPct val="115000"/>
              </a:lnSpc>
              <a:spcBef>
                <a:spcPts val="1200"/>
              </a:spcBef>
              <a:spcAft>
                <a:spcPts val="1200"/>
              </a:spcAft>
              <a:buClr>
                <a:schemeClr val="dk1"/>
              </a:buClr>
              <a:buSzPts val="1100"/>
              <a:buFont typeface="Arial"/>
              <a:buNone/>
            </a:pPr>
            <a:r>
              <a:rPr lang="en" sz="1100">
                <a:solidFill>
                  <a:schemeClr val="dk1"/>
                </a:solidFill>
              </a:rPr>
              <a:t>d) The process of passing props to a child component.</a:t>
            </a:r>
            <a:endParaRPr sz="1100">
              <a:latin typeface="Poppins"/>
              <a:ea typeface="Poppins"/>
              <a:cs typeface="Poppins"/>
              <a:sym typeface="Poppins"/>
            </a:endParaRPr>
          </a:p>
        </p:txBody>
      </p:sp>
      <p:pic>
        <p:nvPicPr>
          <p:cNvPr id="440" name="Google Shape;440;p50"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441" name="Google Shape;441;p50"/>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38</a:t>
            </a:fld>
            <a:endParaRPr sz="1000">
              <a:solidFill>
                <a:srgbClr val="595959"/>
              </a:solidFill>
            </a:endParaRPr>
          </a:p>
        </p:txBody>
      </p:sp>
      <p:sp>
        <p:nvSpPr>
          <p:cNvPr id="442" name="Google Shape;442;p50"/>
          <p:cNvSpPr txBox="1"/>
          <p:nvPr/>
        </p:nvSpPr>
        <p:spPr>
          <a:xfrm>
            <a:off x="310900" y="3156125"/>
            <a:ext cx="62094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Answer :  </a:t>
            </a:r>
            <a:r>
              <a:rPr lang="en" sz="1800">
                <a:solidFill>
                  <a:srgbClr val="595959"/>
                </a:solidFill>
              </a:rPr>
              <a:t> </a:t>
            </a:r>
            <a:r>
              <a:rPr lang="en" sz="1100">
                <a:solidFill>
                  <a:schemeClr val="dk1"/>
                </a:solidFill>
              </a:rPr>
              <a:t>b) Any interaction with the "outside world" from within your component, like  </a:t>
            </a:r>
            <a:endParaRPr sz="1100">
              <a:solidFill>
                <a:schemeClr val="dk1"/>
              </a:solidFill>
            </a:endParaRPr>
          </a:p>
          <a:p>
            <a:pPr marL="0" lvl="0" indent="0" algn="l" rtl="0">
              <a:spcBef>
                <a:spcPts val="0"/>
              </a:spcBef>
              <a:spcAft>
                <a:spcPts val="0"/>
              </a:spcAft>
              <a:buNone/>
            </a:pPr>
            <a:r>
              <a:rPr lang="en" sz="1100">
                <a:solidFill>
                  <a:schemeClr val="dk1"/>
                </a:solidFill>
              </a:rPr>
              <a:t>                        fetching data or setting a timer. </a:t>
            </a:r>
            <a:endParaRPr sz="1100">
              <a:solidFill>
                <a:schemeClr val="dk1"/>
              </a:solidFill>
            </a:endParaRPr>
          </a:p>
          <a:p>
            <a:pPr marL="0" lvl="0" indent="0" algn="l" rtl="0">
              <a:spcBef>
                <a:spcPts val="0"/>
              </a:spcBef>
              <a:spcAft>
                <a:spcPts val="0"/>
              </a:spcAft>
              <a:buNone/>
            </a:pPr>
            <a:endParaRPr sz="1100">
              <a:latin typeface="Poppins"/>
              <a:ea typeface="Poppins"/>
              <a:cs typeface="Poppins"/>
              <a:sym typeface="Poppins"/>
            </a:endParaRPr>
          </a:p>
        </p:txBody>
      </p:sp>
      <p:grpSp>
        <p:nvGrpSpPr>
          <p:cNvPr id="443" name="Google Shape;443;p50"/>
          <p:cNvGrpSpPr/>
          <p:nvPr/>
        </p:nvGrpSpPr>
        <p:grpSpPr>
          <a:xfrm>
            <a:off x="310900" y="3742463"/>
            <a:ext cx="6005825" cy="1092013"/>
            <a:chOff x="310900" y="3742463"/>
            <a:chExt cx="6005825" cy="1092013"/>
          </a:xfrm>
        </p:grpSpPr>
        <p:sp>
          <p:nvSpPr>
            <p:cNvPr id="444" name="Google Shape;444;p50"/>
            <p:cNvSpPr txBox="1"/>
            <p:nvPr/>
          </p:nvSpPr>
          <p:spPr>
            <a:xfrm>
              <a:off x="310900" y="3742463"/>
              <a:ext cx="13359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rgbClr val="000000"/>
                </a:buClr>
                <a:buSzPts val="1100"/>
                <a:buFont typeface="Arial"/>
                <a:buNone/>
              </a:pPr>
              <a:r>
                <a:rPr lang="en" b="1">
                  <a:solidFill>
                    <a:srgbClr val="273239"/>
                  </a:solidFill>
                  <a:latin typeface="Poppins"/>
                  <a:ea typeface="Poppins"/>
                  <a:cs typeface="Poppins"/>
                  <a:sym typeface="Poppins"/>
                </a:rPr>
                <a:t>Explanation:</a:t>
              </a:r>
              <a:endParaRPr sz="1800">
                <a:solidFill>
                  <a:srgbClr val="595959"/>
                </a:solidFill>
              </a:endParaRPr>
            </a:p>
          </p:txBody>
        </p:sp>
        <p:sp>
          <p:nvSpPr>
            <p:cNvPr id="445" name="Google Shape;445;p50"/>
            <p:cNvSpPr txBox="1"/>
            <p:nvPr/>
          </p:nvSpPr>
          <p:spPr>
            <a:xfrm>
              <a:off x="1607925" y="3742475"/>
              <a:ext cx="4708800" cy="1092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a:solidFill>
                    <a:schemeClr val="dk1"/>
                  </a:solidFill>
                </a:rPr>
                <a:t>Side effects are operations that are not directly related to rendering the UI, such as API calls, subscriptions, or manually manipulating the DOM. The </a:t>
              </a:r>
              <a:r>
                <a:rPr lang="en" sz="1100" b="1">
                  <a:solidFill>
                    <a:schemeClr val="dk1"/>
                  </a:solidFill>
                </a:rPr>
                <a:t>useEffect</a:t>
              </a:r>
              <a:r>
                <a:rPr lang="en" sz="1100">
                  <a:solidFill>
                    <a:schemeClr val="dk1"/>
                  </a:solidFill>
                </a:rPr>
                <a:t> Hook is the primary tool for managing them.</a:t>
              </a:r>
              <a:endParaRPr sz="1100">
                <a:solidFill>
                  <a:schemeClr val="dk1"/>
                </a:solidFill>
              </a:endParaRPr>
            </a:p>
            <a:p>
              <a:pPr marL="0" lvl="0" indent="0" algn="l" rtl="0">
                <a:lnSpc>
                  <a:spcPct val="115000"/>
                </a:lnSpc>
                <a:spcBef>
                  <a:spcPts val="1200"/>
                </a:spcBef>
                <a:spcAft>
                  <a:spcPts val="1200"/>
                </a:spcAft>
                <a:buNone/>
              </a:pPr>
              <a:endParaRPr sz="1100">
                <a:latin typeface="Poppins"/>
                <a:ea typeface="Poppins"/>
                <a:cs typeface="Poppins"/>
                <a:sym typeface="Poppins"/>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1"/>
          <p:cNvSpPr txBox="1"/>
          <p:nvPr/>
        </p:nvSpPr>
        <p:spPr>
          <a:xfrm>
            <a:off x="310900" y="210300"/>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800" b="1">
                <a:solidFill>
                  <a:srgbClr val="073763"/>
                </a:solidFill>
                <a:latin typeface="Poppins"/>
                <a:ea typeface="Poppins"/>
                <a:cs typeface="Poppins"/>
                <a:sym typeface="Poppins"/>
              </a:rPr>
              <a:t>Check Your Understanding</a:t>
            </a:r>
            <a:endParaRPr sz="2800" b="1">
              <a:solidFill>
                <a:srgbClr val="073763"/>
              </a:solidFill>
              <a:latin typeface="Poppins"/>
              <a:ea typeface="Poppins"/>
              <a:cs typeface="Poppins"/>
              <a:sym typeface="Poppins"/>
            </a:endParaRPr>
          </a:p>
        </p:txBody>
      </p:sp>
      <p:pic>
        <p:nvPicPr>
          <p:cNvPr id="451" name="Google Shape;451;p51"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452" name="Google Shape;452;p51"/>
          <p:cNvSpPr txBox="1"/>
          <p:nvPr/>
        </p:nvSpPr>
        <p:spPr>
          <a:xfrm>
            <a:off x="310900" y="1228825"/>
            <a:ext cx="81615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Question :  </a:t>
            </a:r>
            <a:r>
              <a:rPr lang="en" sz="1100" b="1">
                <a:solidFill>
                  <a:schemeClr val="dk1"/>
                </a:solidFill>
              </a:rPr>
              <a:t> Which React Hook is used to perform side effects in functional components?</a:t>
            </a:r>
            <a:r>
              <a:rPr lang="en" sz="1100">
                <a:solidFill>
                  <a:schemeClr val="dk1"/>
                </a:solidFill>
              </a:rPr>
              <a:t> </a:t>
            </a:r>
            <a:endParaRPr sz="1100">
              <a:solidFill>
                <a:schemeClr val="dk1"/>
              </a:solidFill>
            </a:endParaRPr>
          </a:p>
          <a:p>
            <a:pPr marL="0" lvl="0" indent="0" algn="l" rtl="0">
              <a:spcBef>
                <a:spcPts val="0"/>
              </a:spcBef>
              <a:spcAft>
                <a:spcPts val="0"/>
              </a:spcAft>
              <a:buNone/>
            </a:pPr>
            <a:endParaRPr sz="1300" b="1">
              <a:solidFill>
                <a:srgbClr val="273239"/>
              </a:solidFill>
              <a:latin typeface="Poppins"/>
              <a:ea typeface="Poppins"/>
              <a:cs typeface="Poppins"/>
              <a:sym typeface="Poppins"/>
            </a:endParaRPr>
          </a:p>
        </p:txBody>
      </p:sp>
      <p:sp>
        <p:nvSpPr>
          <p:cNvPr id="453" name="Google Shape;453;p51"/>
          <p:cNvSpPr txBox="1"/>
          <p:nvPr/>
        </p:nvSpPr>
        <p:spPr>
          <a:xfrm>
            <a:off x="310900" y="1640829"/>
            <a:ext cx="7176900" cy="1185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Clr>
                <a:srgbClr val="000000"/>
              </a:buClr>
              <a:buSzPts val="1100"/>
              <a:buFont typeface="Arial"/>
              <a:buNone/>
            </a:pPr>
            <a:r>
              <a:rPr lang="en" b="1">
                <a:solidFill>
                  <a:srgbClr val="273239"/>
                </a:solidFill>
                <a:latin typeface="Poppins"/>
                <a:ea typeface="Poppins"/>
                <a:cs typeface="Poppins"/>
                <a:sym typeface="Poppins"/>
              </a:rPr>
              <a:t>Options    :</a:t>
            </a:r>
            <a:r>
              <a:rPr lang="en" sz="1100">
                <a:solidFill>
                  <a:srgbClr val="000000"/>
                </a:solidFill>
              </a:rPr>
              <a:t>    </a:t>
            </a:r>
            <a:r>
              <a:rPr lang="en" sz="1100">
                <a:solidFill>
                  <a:srgbClr val="000000"/>
                </a:solidFill>
                <a:latin typeface="Poppins"/>
                <a:ea typeface="Poppins"/>
                <a:cs typeface="Poppins"/>
                <a:sym typeface="Poppins"/>
              </a:rPr>
              <a:t> </a:t>
            </a:r>
            <a:r>
              <a:rPr lang="en" sz="1100">
                <a:solidFill>
                  <a:schemeClr val="dk1"/>
                </a:solidFill>
              </a:rPr>
              <a:t>a) useState </a:t>
            </a:r>
            <a:endParaRPr sz="1100">
              <a:solidFill>
                <a:schemeClr val="dk1"/>
              </a:solidFill>
            </a:endParaRPr>
          </a:p>
          <a:p>
            <a:pPr marL="914400" lvl="0" indent="0" algn="l" rtl="0">
              <a:lnSpc>
                <a:spcPct val="150000"/>
              </a:lnSpc>
              <a:spcBef>
                <a:spcPts val="0"/>
              </a:spcBef>
              <a:spcAft>
                <a:spcPts val="0"/>
              </a:spcAft>
              <a:buClr>
                <a:srgbClr val="000000"/>
              </a:buClr>
              <a:buSzPts val="1100"/>
              <a:buFont typeface="Arial"/>
              <a:buNone/>
            </a:pPr>
            <a:r>
              <a:rPr lang="en" sz="1100">
                <a:solidFill>
                  <a:schemeClr val="dk1"/>
                </a:solidFill>
              </a:rPr>
              <a:t>     b) useEffect </a:t>
            </a:r>
            <a:endParaRPr sz="1100">
              <a:solidFill>
                <a:schemeClr val="dk1"/>
              </a:solidFill>
            </a:endParaRPr>
          </a:p>
          <a:p>
            <a:pPr marL="914400" lvl="0" indent="0" algn="l" rtl="0">
              <a:lnSpc>
                <a:spcPct val="150000"/>
              </a:lnSpc>
              <a:spcBef>
                <a:spcPts val="0"/>
              </a:spcBef>
              <a:spcAft>
                <a:spcPts val="0"/>
              </a:spcAft>
              <a:buClr>
                <a:srgbClr val="000000"/>
              </a:buClr>
              <a:buSzPts val="1100"/>
              <a:buFont typeface="Arial"/>
              <a:buNone/>
            </a:pPr>
            <a:r>
              <a:rPr lang="en" sz="1100">
                <a:solidFill>
                  <a:schemeClr val="dk1"/>
                </a:solidFill>
              </a:rPr>
              <a:t>     c) useContext </a:t>
            </a:r>
            <a:endParaRPr sz="1100">
              <a:solidFill>
                <a:schemeClr val="dk1"/>
              </a:solidFill>
            </a:endParaRPr>
          </a:p>
          <a:p>
            <a:pPr marL="914400" lvl="0" indent="0" algn="l" rtl="0">
              <a:lnSpc>
                <a:spcPct val="150000"/>
              </a:lnSpc>
              <a:spcBef>
                <a:spcPts val="0"/>
              </a:spcBef>
              <a:spcAft>
                <a:spcPts val="0"/>
              </a:spcAft>
              <a:buClr>
                <a:srgbClr val="000000"/>
              </a:buClr>
              <a:buSzPts val="1100"/>
              <a:buFont typeface="Arial"/>
              <a:buNone/>
            </a:pPr>
            <a:r>
              <a:rPr lang="en" sz="1100">
                <a:solidFill>
                  <a:schemeClr val="dk1"/>
                </a:solidFill>
              </a:rPr>
              <a:t>     d) useReducer</a:t>
            </a:r>
            <a:endParaRPr sz="1100">
              <a:latin typeface="Poppins"/>
              <a:ea typeface="Poppins"/>
              <a:cs typeface="Poppins"/>
              <a:sym typeface="Poppins"/>
            </a:endParaRPr>
          </a:p>
        </p:txBody>
      </p:sp>
      <p:pic>
        <p:nvPicPr>
          <p:cNvPr id="454" name="Google Shape;454;p51"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455" name="Google Shape;455;p5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39</a:t>
            </a:fld>
            <a:endParaRPr sz="1000">
              <a:solidFill>
                <a:srgbClr val="595959"/>
              </a:solidFill>
            </a:endParaRPr>
          </a:p>
        </p:txBody>
      </p:sp>
      <p:sp>
        <p:nvSpPr>
          <p:cNvPr id="456" name="Google Shape;456;p51"/>
          <p:cNvSpPr txBox="1"/>
          <p:nvPr/>
        </p:nvSpPr>
        <p:spPr>
          <a:xfrm>
            <a:off x="310900" y="2958500"/>
            <a:ext cx="6275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Answer :  </a:t>
            </a:r>
            <a:r>
              <a:rPr lang="en" sz="1800">
                <a:solidFill>
                  <a:srgbClr val="595959"/>
                </a:solidFill>
              </a:rPr>
              <a:t> </a:t>
            </a:r>
            <a:r>
              <a:rPr lang="en" sz="1100">
                <a:solidFill>
                  <a:schemeClr val="dk1"/>
                </a:solidFill>
              </a:rPr>
              <a:t> b) useEffect </a:t>
            </a:r>
            <a:endParaRPr sz="1100">
              <a:latin typeface="Poppins"/>
              <a:ea typeface="Poppins"/>
              <a:cs typeface="Poppins"/>
              <a:sym typeface="Poppins"/>
            </a:endParaRPr>
          </a:p>
        </p:txBody>
      </p:sp>
      <p:grpSp>
        <p:nvGrpSpPr>
          <p:cNvPr id="457" name="Google Shape;457;p51"/>
          <p:cNvGrpSpPr/>
          <p:nvPr/>
        </p:nvGrpSpPr>
        <p:grpSpPr>
          <a:xfrm>
            <a:off x="310900" y="3552575"/>
            <a:ext cx="6005825" cy="897300"/>
            <a:chOff x="310900" y="3552575"/>
            <a:chExt cx="6005825" cy="897300"/>
          </a:xfrm>
        </p:grpSpPr>
        <p:sp>
          <p:nvSpPr>
            <p:cNvPr id="458" name="Google Shape;458;p51"/>
            <p:cNvSpPr txBox="1"/>
            <p:nvPr/>
          </p:nvSpPr>
          <p:spPr>
            <a:xfrm>
              <a:off x="310900" y="3742463"/>
              <a:ext cx="13359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rgbClr val="000000"/>
                </a:buClr>
                <a:buSzPts val="1100"/>
                <a:buFont typeface="Arial"/>
                <a:buNone/>
              </a:pPr>
              <a:r>
                <a:rPr lang="en" b="1">
                  <a:solidFill>
                    <a:srgbClr val="273239"/>
                  </a:solidFill>
                  <a:latin typeface="Poppins"/>
                  <a:ea typeface="Poppins"/>
                  <a:cs typeface="Poppins"/>
                  <a:sym typeface="Poppins"/>
                </a:rPr>
                <a:t>Explanation:</a:t>
              </a:r>
              <a:endParaRPr sz="1800">
                <a:solidFill>
                  <a:srgbClr val="595959"/>
                </a:solidFill>
              </a:endParaRPr>
            </a:p>
          </p:txBody>
        </p:sp>
        <p:sp>
          <p:nvSpPr>
            <p:cNvPr id="459" name="Google Shape;459;p51"/>
            <p:cNvSpPr txBox="1"/>
            <p:nvPr/>
          </p:nvSpPr>
          <p:spPr>
            <a:xfrm>
              <a:off x="1607925" y="3552575"/>
              <a:ext cx="4708800" cy="897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a:solidFill>
                    <a:schemeClr val="dk1"/>
                  </a:solidFill>
                </a:rPr>
                <a:t>useEffect</a:t>
              </a:r>
              <a:r>
                <a:rPr lang="en" sz="1100">
                  <a:solidFill>
                    <a:schemeClr val="dk1"/>
                  </a:solidFill>
                </a:rPr>
                <a:t> allows you to run code with side effects in response to a component rendering or specific state/prop changes.</a:t>
              </a:r>
              <a:endParaRPr sz="1100">
                <a:solidFill>
                  <a:schemeClr val="dk1"/>
                </a:solidFill>
              </a:endParaRPr>
            </a:p>
            <a:p>
              <a:pPr marL="0" lvl="0" indent="0" algn="l" rtl="0">
                <a:lnSpc>
                  <a:spcPct val="115000"/>
                </a:lnSpc>
                <a:spcBef>
                  <a:spcPts val="1200"/>
                </a:spcBef>
                <a:spcAft>
                  <a:spcPts val="1200"/>
                </a:spcAft>
                <a:buNone/>
              </a:pPr>
              <a:endParaRPr sz="1100">
                <a:latin typeface="Poppins"/>
                <a:ea typeface="Poppins"/>
                <a:cs typeface="Poppins"/>
                <a:sym typeface="Poppins"/>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52"/>
          <p:cNvSpPr txBox="1"/>
          <p:nvPr/>
        </p:nvSpPr>
        <p:spPr>
          <a:xfrm>
            <a:off x="310900" y="210300"/>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800" b="1">
                <a:solidFill>
                  <a:srgbClr val="073763"/>
                </a:solidFill>
                <a:latin typeface="Poppins"/>
                <a:ea typeface="Poppins"/>
                <a:cs typeface="Poppins"/>
                <a:sym typeface="Poppins"/>
              </a:rPr>
              <a:t>Check Your Understanding</a:t>
            </a:r>
            <a:endParaRPr sz="2800" b="1">
              <a:solidFill>
                <a:srgbClr val="073763"/>
              </a:solidFill>
              <a:latin typeface="Poppins"/>
              <a:ea typeface="Poppins"/>
              <a:cs typeface="Poppins"/>
              <a:sym typeface="Poppins"/>
            </a:endParaRPr>
          </a:p>
        </p:txBody>
      </p:sp>
      <p:pic>
        <p:nvPicPr>
          <p:cNvPr id="465" name="Google Shape;465;p52"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466" name="Google Shape;466;p52"/>
          <p:cNvSpPr txBox="1"/>
          <p:nvPr/>
        </p:nvSpPr>
        <p:spPr>
          <a:xfrm>
            <a:off x="310900" y="1228825"/>
            <a:ext cx="8161500" cy="600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Question :  </a:t>
            </a:r>
            <a:r>
              <a:rPr lang="en" sz="1100" b="1">
                <a:solidFill>
                  <a:schemeClr val="dk1"/>
                </a:solidFill>
              </a:rPr>
              <a:t> In useEffect(() =&gt; { ... }, []);, what does the empty dependency array [] signify?</a:t>
            </a:r>
            <a:r>
              <a:rPr lang="en" sz="1100">
                <a:solidFill>
                  <a:schemeClr val="dk1"/>
                </a:solidFill>
              </a:rPr>
              <a:t> </a:t>
            </a:r>
            <a:endParaRPr sz="1100">
              <a:solidFill>
                <a:schemeClr val="dk1"/>
              </a:solidFill>
            </a:endParaRPr>
          </a:p>
          <a:p>
            <a:pPr marL="0" lvl="0" indent="0" algn="l" rtl="0">
              <a:spcBef>
                <a:spcPts val="0"/>
              </a:spcBef>
              <a:spcAft>
                <a:spcPts val="0"/>
              </a:spcAft>
              <a:buNone/>
            </a:pPr>
            <a:endParaRPr sz="1300" b="1">
              <a:solidFill>
                <a:srgbClr val="273239"/>
              </a:solidFill>
              <a:latin typeface="Poppins"/>
              <a:ea typeface="Poppins"/>
              <a:cs typeface="Poppins"/>
              <a:sym typeface="Poppins"/>
            </a:endParaRPr>
          </a:p>
        </p:txBody>
      </p:sp>
      <p:sp>
        <p:nvSpPr>
          <p:cNvPr id="467" name="Google Shape;467;p52"/>
          <p:cNvSpPr txBox="1"/>
          <p:nvPr/>
        </p:nvSpPr>
        <p:spPr>
          <a:xfrm>
            <a:off x="310900" y="1793229"/>
            <a:ext cx="7176900" cy="1801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rgbClr val="000000"/>
              </a:buClr>
              <a:buSzPts val="1100"/>
              <a:buFont typeface="Arial"/>
              <a:buNone/>
            </a:pPr>
            <a:r>
              <a:rPr lang="en" b="1">
                <a:solidFill>
                  <a:srgbClr val="273239"/>
                </a:solidFill>
                <a:latin typeface="Poppins"/>
                <a:ea typeface="Poppins"/>
                <a:cs typeface="Poppins"/>
                <a:sym typeface="Poppins"/>
              </a:rPr>
              <a:t>Options    :</a:t>
            </a:r>
            <a:r>
              <a:rPr lang="en" sz="1100">
                <a:solidFill>
                  <a:srgbClr val="000000"/>
                </a:solidFill>
              </a:rPr>
              <a:t>    </a:t>
            </a:r>
            <a:r>
              <a:rPr lang="en" sz="1100">
                <a:solidFill>
                  <a:srgbClr val="000000"/>
                </a:solidFill>
                <a:latin typeface="Poppins"/>
                <a:ea typeface="Poppins"/>
                <a:cs typeface="Poppins"/>
                <a:sym typeface="Poppins"/>
              </a:rPr>
              <a:t>  </a:t>
            </a:r>
            <a:r>
              <a:rPr lang="en" sz="1100">
                <a:solidFill>
                  <a:schemeClr val="dk1"/>
                </a:solidFill>
              </a:rPr>
              <a:t>a) The effect will run after every render. </a:t>
            </a:r>
            <a:endParaRPr sz="1100">
              <a:solidFill>
                <a:schemeClr val="dk1"/>
              </a:solidFill>
            </a:endParaRPr>
          </a:p>
          <a:p>
            <a:pPr marL="1257300" lvl="0" indent="-114300" algn="l" rtl="0">
              <a:lnSpc>
                <a:spcPct val="115000"/>
              </a:lnSpc>
              <a:spcBef>
                <a:spcPts val="1200"/>
              </a:spcBef>
              <a:spcAft>
                <a:spcPts val="0"/>
              </a:spcAft>
              <a:buClr>
                <a:schemeClr val="dk1"/>
              </a:buClr>
              <a:buSzPts val="1100"/>
              <a:buFont typeface="Arial"/>
              <a:buNone/>
            </a:pPr>
            <a:r>
              <a:rPr lang="en" sz="1100">
                <a:solidFill>
                  <a:schemeClr val="dk1"/>
                </a:solidFill>
              </a:rPr>
              <a:t>b) The effect will not run at all. </a:t>
            </a:r>
            <a:endParaRPr sz="1100">
              <a:solidFill>
                <a:schemeClr val="dk1"/>
              </a:solidFill>
            </a:endParaRPr>
          </a:p>
          <a:p>
            <a:pPr marL="1257300" lvl="0" indent="-114300" algn="l" rtl="0">
              <a:lnSpc>
                <a:spcPct val="115000"/>
              </a:lnSpc>
              <a:spcBef>
                <a:spcPts val="1200"/>
              </a:spcBef>
              <a:spcAft>
                <a:spcPts val="0"/>
              </a:spcAft>
              <a:buClr>
                <a:schemeClr val="dk1"/>
              </a:buClr>
              <a:buSzPts val="1100"/>
              <a:buFont typeface="Arial"/>
              <a:buNone/>
            </a:pPr>
            <a:r>
              <a:rPr lang="en" sz="1100">
                <a:solidFill>
                  <a:schemeClr val="dk1"/>
                </a:solidFill>
              </a:rPr>
              <a:t>c) The effect will run only once, after the component's initial render (mount). </a:t>
            </a:r>
            <a:endParaRPr sz="1100">
              <a:solidFill>
                <a:schemeClr val="dk1"/>
              </a:solidFill>
            </a:endParaRPr>
          </a:p>
          <a:p>
            <a:pPr marL="1257300" lvl="0" indent="-114300" algn="l" rtl="0">
              <a:lnSpc>
                <a:spcPct val="115000"/>
              </a:lnSpc>
              <a:spcBef>
                <a:spcPts val="1200"/>
              </a:spcBef>
              <a:spcAft>
                <a:spcPts val="0"/>
              </a:spcAft>
              <a:buClr>
                <a:schemeClr val="dk1"/>
              </a:buClr>
              <a:buSzPts val="1100"/>
              <a:buFont typeface="Arial"/>
              <a:buNone/>
            </a:pPr>
            <a:r>
              <a:rPr lang="en" sz="1100">
                <a:solidFill>
                  <a:schemeClr val="dk1"/>
                </a:solidFill>
              </a:rPr>
              <a:t>d) The effect will run when the component is removed from the DOM.</a:t>
            </a:r>
            <a:endParaRPr sz="1100">
              <a:solidFill>
                <a:schemeClr val="dk1"/>
              </a:solidFill>
            </a:endParaRPr>
          </a:p>
          <a:p>
            <a:pPr marL="0" lvl="0" indent="0" algn="l" rtl="0">
              <a:lnSpc>
                <a:spcPct val="115000"/>
              </a:lnSpc>
              <a:spcBef>
                <a:spcPts val="1200"/>
              </a:spcBef>
              <a:spcAft>
                <a:spcPts val="1200"/>
              </a:spcAft>
              <a:buClr>
                <a:srgbClr val="000000"/>
              </a:buClr>
              <a:buSzPts val="1100"/>
              <a:buFont typeface="Arial"/>
              <a:buNone/>
            </a:pPr>
            <a:endParaRPr sz="1100">
              <a:latin typeface="Poppins"/>
              <a:ea typeface="Poppins"/>
              <a:cs typeface="Poppins"/>
              <a:sym typeface="Poppins"/>
            </a:endParaRPr>
          </a:p>
        </p:txBody>
      </p:sp>
      <p:pic>
        <p:nvPicPr>
          <p:cNvPr id="468" name="Google Shape;468;p52"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469" name="Google Shape;469;p52"/>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40</a:t>
            </a:fld>
            <a:endParaRPr sz="1000">
              <a:solidFill>
                <a:srgbClr val="595959"/>
              </a:solidFill>
            </a:endParaRPr>
          </a:p>
        </p:txBody>
      </p:sp>
      <p:sp>
        <p:nvSpPr>
          <p:cNvPr id="470" name="Google Shape;470;p52"/>
          <p:cNvSpPr txBox="1"/>
          <p:nvPr/>
        </p:nvSpPr>
        <p:spPr>
          <a:xfrm>
            <a:off x="310900" y="3156125"/>
            <a:ext cx="6275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Answer :  </a:t>
            </a:r>
            <a:r>
              <a:rPr lang="en" sz="1800">
                <a:solidFill>
                  <a:srgbClr val="595959"/>
                </a:solidFill>
              </a:rPr>
              <a:t> </a:t>
            </a:r>
            <a:r>
              <a:rPr lang="en" sz="1100">
                <a:solidFill>
                  <a:schemeClr val="dk1"/>
                </a:solidFill>
              </a:rPr>
              <a:t>c) The effect will run only once, after the component's initial render (mount). </a:t>
            </a:r>
            <a:endParaRPr sz="1100">
              <a:latin typeface="Poppins"/>
              <a:ea typeface="Poppins"/>
              <a:cs typeface="Poppins"/>
              <a:sym typeface="Poppins"/>
            </a:endParaRPr>
          </a:p>
        </p:txBody>
      </p:sp>
      <p:grpSp>
        <p:nvGrpSpPr>
          <p:cNvPr id="471" name="Google Shape;471;p52"/>
          <p:cNvGrpSpPr/>
          <p:nvPr/>
        </p:nvGrpSpPr>
        <p:grpSpPr>
          <a:xfrm>
            <a:off x="310900" y="3742463"/>
            <a:ext cx="6005825" cy="1092013"/>
            <a:chOff x="310900" y="3742463"/>
            <a:chExt cx="6005825" cy="1092013"/>
          </a:xfrm>
        </p:grpSpPr>
        <p:sp>
          <p:nvSpPr>
            <p:cNvPr id="472" name="Google Shape;472;p52"/>
            <p:cNvSpPr txBox="1"/>
            <p:nvPr/>
          </p:nvSpPr>
          <p:spPr>
            <a:xfrm>
              <a:off x="310900" y="3742463"/>
              <a:ext cx="13359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rgbClr val="000000"/>
                </a:buClr>
                <a:buSzPts val="1100"/>
                <a:buFont typeface="Arial"/>
                <a:buNone/>
              </a:pPr>
              <a:r>
                <a:rPr lang="en" b="1">
                  <a:solidFill>
                    <a:srgbClr val="273239"/>
                  </a:solidFill>
                  <a:latin typeface="Poppins"/>
                  <a:ea typeface="Poppins"/>
                  <a:cs typeface="Poppins"/>
                  <a:sym typeface="Poppins"/>
                </a:rPr>
                <a:t>Explanation:</a:t>
              </a:r>
              <a:endParaRPr sz="1800">
                <a:solidFill>
                  <a:srgbClr val="595959"/>
                </a:solidFill>
              </a:endParaRPr>
            </a:p>
          </p:txBody>
        </p:sp>
        <p:sp>
          <p:nvSpPr>
            <p:cNvPr id="473" name="Google Shape;473;p52"/>
            <p:cNvSpPr txBox="1"/>
            <p:nvPr/>
          </p:nvSpPr>
          <p:spPr>
            <a:xfrm>
              <a:off x="1607925" y="3742475"/>
              <a:ext cx="4708800" cy="1092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a:solidFill>
                    <a:schemeClr val="dk1"/>
                  </a:solidFill>
                </a:rPr>
                <a:t>An empty dependency array tells React that the effect does not depend on any props or state, so it should only be executed once when the component first mounts. This is ideal for initial data fetching.</a:t>
              </a:r>
              <a:endParaRPr sz="1100">
                <a:solidFill>
                  <a:schemeClr val="dk1"/>
                </a:solidFill>
              </a:endParaRPr>
            </a:p>
            <a:p>
              <a:pPr marL="0" lvl="0" indent="0" algn="l" rtl="0">
                <a:lnSpc>
                  <a:spcPct val="115000"/>
                </a:lnSpc>
                <a:spcBef>
                  <a:spcPts val="1200"/>
                </a:spcBef>
                <a:spcAft>
                  <a:spcPts val="1200"/>
                </a:spcAft>
                <a:buNone/>
              </a:pPr>
              <a:endParaRPr sz="1100">
                <a:latin typeface="Poppins"/>
                <a:ea typeface="Poppins"/>
                <a:cs typeface="Poppins"/>
                <a:sym typeface="Poppins"/>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53"/>
          <p:cNvSpPr txBox="1"/>
          <p:nvPr/>
        </p:nvSpPr>
        <p:spPr>
          <a:xfrm>
            <a:off x="310900" y="210300"/>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800" b="1">
                <a:solidFill>
                  <a:srgbClr val="073763"/>
                </a:solidFill>
                <a:latin typeface="Poppins"/>
                <a:ea typeface="Poppins"/>
                <a:cs typeface="Poppins"/>
                <a:sym typeface="Poppins"/>
              </a:rPr>
              <a:t>Check Your Understanding</a:t>
            </a:r>
            <a:endParaRPr sz="2800" b="1">
              <a:solidFill>
                <a:srgbClr val="073763"/>
              </a:solidFill>
              <a:latin typeface="Poppins"/>
              <a:ea typeface="Poppins"/>
              <a:cs typeface="Poppins"/>
              <a:sym typeface="Poppins"/>
            </a:endParaRPr>
          </a:p>
        </p:txBody>
      </p:sp>
      <p:pic>
        <p:nvPicPr>
          <p:cNvPr id="479" name="Google Shape;479;p53"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480" name="Google Shape;480;p53"/>
          <p:cNvSpPr txBox="1"/>
          <p:nvPr/>
        </p:nvSpPr>
        <p:spPr>
          <a:xfrm>
            <a:off x="310900" y="1228825"/>
            <a:ext cx="8161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Question :  </a:t>
            </a:r>
            <a:r>
              <a:rPr lang="en" sz="1100" b="1">
                <a:solidFill>
                  <a:schemeClr val="dk1"/>
                </a:solidFill>
              </a:rPr>
              <a:t> What is the main purpose of the cleanup function returned from useEffect?</a:t>
            </a:r>
            <a:r>
              <a:rPr lang="en" sz="1100">
                <a:solidFill>
                  <a:schemeClr val="dk1"/>
                </a:solidFill>
              </a:rPr>
              <a:t> </a:t>
            </a:r>
            <a:endParaRPr sz="1500" b="1">
              <a:solidFill>
                <a:srgbClr val="273239"/>
              </a:solidFill>
              <a:latin typeface="Poppins"/>
              <a:ea typeface="Poppins"/>
              <a:cs typeface="Poppins"/>
              <a:sym typeface="Poppins"/>
            </a:endParaRPr>
          </a:p>
        </p:txBody>
      </p:sp>
      <p:sp>
        <p:nvSpPr>
          <p:cNvPr id="481" name="Google Shape;481;p53"/>
          <p:cNvSpPr txBox="1"/>
          <p:nvPr/>
        </p:nvSpPr>
        <p:spPr>
          <a:xfrm>
            <a:off x="340900" y="1687500"/>
            <a:ext cx="7864500" cy="145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rgbClr val="000000"/>
              </a:buClr>
              <a:buSzPts val="1100"/>
              <a:buFont typeface="Arial"/>
              <a:buNone/>
            </a:pPr>
            <a:r>
              <a:rPr lang="en" b="1">
                <a:solidFill>
                  <a:srgbClr val="273239"/>
                </a:solidFill>
                <a:latin typeface="Poppins"/>
                <a:ea typeface="Poppins"/>
                <a:cs typeface="Poppins"/>
                <a:sym typeface="Poppins"/>
              </a:rPr>
              <a:t>Options    :</a:t>
            </a:r>
            <a:r>
              <a:rPr lang="en" sz="1100">
                <a:solidFill>
                  <a:srgbClr val="000000"/>
                </a:solidFill>
              </a:rPr>
              <a:t>    </a:t>
            </a:r>
            <a:r>
              <a:rPr lang="en" sz="1100">
                <a:solidFill>
                  <a:schemeClr val="dk1"/>
                </a:solidFill>
              </a:rPr>
              <a:t>a) To clean up resources and prevent memory leaks before the component unmounts or the effect re-runs. </a:t>
            </a:r>
            <a:endParaRPr sz="1100">
              <a:solidFill>
                <a:schemeClr val="dk1"/>
              </a:solidFill>
            </a:endParaRPr>
          </a:p>
          <a:p>
            <a:pPr marL="457200" lvl="0" indent="628650" algn="l" rtl="0">
              <a:lnSpc>
                <a:spcPct val="115000"/>
              </a:lnSpc>
              <a:spcBef>
                <a:spcPts val="1200"/>
              </a:spcBef>
              <a:spcAft>
                <a:spcPts val="0"/>
              </a:spcAft>
              <a:buClr>
                <a:schemeClr val="dk1"/>
              </a:buClr>
              <a:buSzPts val="1100"/>
              <a:buFont typeface="Arial"/>
              <a:buNone/>
            </a:pPr>
            <a:r>
              <a:rPr lang="en" sz="1100">
                <a:solidFill>
                  <a:schemeClr val="dk1"/>
                </a:solidFill>
              </a:rPr>
              <a:t>b) To reset the component's state. </a:t>
            </a:r>
            <a:endParaRPr sz="1100">
              <a:solidFill>
                <a:schemeClr val="dk1"/>
              </a:solidFill>
            </a:endParaRPr>
          </a:p>
          <a:p>
            <a:pPr marL="457200" lvl="0" indent="628650" algn="l" rtl="0">
              <a:lnSpc>
                <a:spcPct val="115000"/>
              </a:lnSpc>
              <a:spcBef>
                <a:spcPts val="1200"/>
              </a:spcBef>
              <a:spcAft>
                <a:spcPts val="0"/>
              </a:spcAft>
              <a:buClr>
                <a:schemeClr val="dk1"/>
              </a:buClr>
              <a:buSzPts val="1100"/>
              <a:buFont typeface="Arial"/>
              <a:buNone/>
            </a:pPr>
            <a:r>
              <a:rPr lang="en" sz="1100">
                <a:solidFill>
                  <a:schemeClr val="dk1"/>
                </a:solidFill>
              </a:rPr>
              <a:t>c) To log an error message if the effect fails. </a:t>
            </a:r>
            <a:endParaRPr sz="1100">
              <a:solidFill>
                <a:schemeClr val="dk1"/>
              </a:solidFill>
            </a:endParaRPr>
          </a:p>
          <a:p>
            <a:pPr marL="457200" lvl="0" indent="628650" algn="l" rtl="0">
              <a:lnSpc>
                <a:spcPct val="115000"/>
              </a:lnSpc>
              <a:spcBef>
                <a:spcPts val="1200"/>
              </a:spcBef>
              <a:spcAft>
                <a:spcPts val="1200"/>
              </a:spcAft>
              <a:buClr>
                <a:schemeClr val="dk1"/>
              </a:buClr>
              <a:buSzPts val="1100"/>
              <a:buFont typeface="Arial"/>
              <a:buNone/>
            </a:pPr>
            <a:r>
              <a:rPr lang="en" sz="1100">
                <a:solidFill>
                  <a:schemeClr val="dk1"/>
                </a:solidFill>
              </a:rPr>
              <a:t>d) To return a value from the effect.</a:t>
            </a:r>
            <a:endParaRPr sz="1100">
              <a:latin typeface="Poppins"/>
              <a:ea typeface="Poppins"/>
              <a:cs typeface="Poppins"/>
              <a:sym typeface="Poppins"/>
            </a:endParaRPr>
          </a:p>
        </p:txBody>
      </p:sp>
      <p:pic>
        <p:nvPicPr>
          <p:cNvPr id="482" name="Google Shape;482;p53"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483" name="Google Shape;483;p53"/>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41</a:t>
            </a:fld>
            <a:endParaRPr sz="1000">
              <a:solidFill>
                <a:srgbClr val="595959"/>
              </a:solidFill>
            </a:endParaRPr>
          </a:p>
        </p:txBody>
      </p:sp>
      <p:sp>
        <p:nvSpPr>
          <p:cNvPr id="484" name="Google Shape;484;p53"/>
          <p:cNvSpPr txBox="1"/>
          <p:nvPr/>
        </p:nvSpPr>
        <p:spPr>
          <a:xfrm>
            <a:off x="310900" y="3156125"/>
            <a:ext cx="6495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Answer :  </a:t>
            </a:r>
            <a:r>
              <a:rPr lang="en" sz="1800">
                <a:solidFill>
                  <a:srgbClr val="595959"/>
                </a:solidFill>
              </a:rPr>
              <a:t> </a:t>
            </a:r>
            <a:r>
              <a:rPr lang="en" sz="1100">
                <a:solidFill>
                  <a:schemeClr val="dk1"/>
                </a:solidFill>
              </a:rPr>
              <a:t>a) To clean up resources and prevent memory leaks before the component unmounts </a:t>
            </a:r>
            <a:endParaRPr sz="1100">
              <a:solidFill>
                <a:schemeClr val="dk1"/>
              </a:solidFill>
            </a:endParaRPr>
          </a:p>
          <a:p>
            <a:pPr marL="0" lvl="0" indent="0" algn="l" rtl="0">
              <a:spcBef>
                <a:spcPts val="0"/>
              </a:spcBef>
              <a:spcAft>
                <a:spcPts val="0"/>
              </a:spcAft>
              <a:buNone/>
            </a:pPr>
            <a:r>
              <a:rPr lang="en" sz="1100">
                <a:solidFill>
                  <a:schemeClr val="dk1"/>
                </a:solidFill>
              </a:rPr>
              <a:t>                       or the effect re-runs. </a:t>
            </a:r>
            <a:endParaRPr sz="1100">
              <a:solidFill>
                <a:schemeClr val="dk1"/>
              </a:solidFill>
            </a:endParaRPr>
          </a:p>
          <a:p>
            <a:pPr marL="0" lvl="0" indent="0" algn="l" rtl="0">
              <a:spcBef>
                <a:spcPts val="0"/>
              </a:spcBef>
              <a:spcAft>
                <a:spcPts val="0"/>
              </a:spcAft>
              <a:buNone/>
            </a:pPr>
            <a:endParaRPr sz="1100">
              <a:latin typeface="Poppins"/>
              <a:ea typeface="Poppins"/>
              <a:cs typeface="Poppins"/>
              <a:sym typeface="Poppins"/>
            </a:endParaRPr>
          </a:p>
        </p:txBody>
      </p:sp>
      <p:grpSp>
        <p:nvGrpSpPr>
          <p:cNvPr id="485" name="Google Shape;485;p53"/>
          <p:cNvGrpSpPr/>
          <p:nvPr/>
        </p:nvGrpSpPr>
        <p:grpSpPr>
          <a:xfrm>
            <a:off x="310900" y="3742463"/>
            <a:ext cx="6005825" cy="1286713"/>
            <a:chOff x="310900" y="3742463"/>
            <a:chExt cx="6005825" cy="1286713"/>
          </a:xfrm>
        </p:grpSpPr>
        <p:sp>
          <p:nvSpPr>
            <p:cNvPr id="486" name="Google Shape;486;p53"/>
            <p:cNvSpPr txBox="1"/>
            <p:nvPr/>
          </p:nvSpPr>
          <p:spPr>
            <a:xfrm>
              <a:off x="310900" y="3742463"/>
              <a:ext cx="13359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rgbClr val="000000"/>
                </a:buClr>
                <a:buSzPts val="1100"/>
                <a:buFont typeface="Arial"/>
                <a:buNone/>
              </a:pPr>
              <a:r>
                <a:rPr lang="en" b="1">
                  <a:solidFill>
                    <a:srgbClr val="273239"/>
                  </a:solidFill>
                  <a:latin typeface="Poppins"/>
                  <a:ea typeface="Poppins"/>
                  <a:cs typeface="Poppins"/>
                  <a:sym typeface="Poppins"/>
                </a:rPr>
                <a:t>Explanation:</a:t>
              </a:r>
              <a:endParaRPr sz="1800">
                <a:solidFill>
                  <a:srgbClr val="595959"/>
                </a:solidFill>
              </a:endParaRPr>
            </a:p>
          </p:txBody>
        </p:sp>
        <p:sp>
          <p:nvSpPr>
            <p:cNvPr id="487" name="Google Shape;487;p53"/>
            <p:cNvSpPr txBox="1"/>
            <p:nvPr/>
          </p:nvSpPr>
          <p:spPr>
            <a:xfrm>
              <a:off x="1607925" y="3742475"/>
              <a:ext cx="4708800" cy="1286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a:solidFill>
                    <a:schemeClr val="dk1"/>
                  </a:solidFill>
                </a:rPr>
                <a:t>The cleanup function is crucial for canceling subscriptions, clearing timers (</a:t>
              </a:r>
              <a:r>
                <a:rPr lang="en" sz="1100" b="1">
                  <a:solidFill>
                    <a:schemeClr val="dk1"/>
                  </a:solidFill>
                </a:rPr>
                <a:t>clearInterval</a:t>
              </a:r>
              <a:r>
                <a:rPr lang="en" sz="1100">
                  <a:solidFill>
                    <a:schemeClr val="dk1"/>
                  </a:solidFill>
                </a:rPr>
                <a:t>), or stopping any other ongoing processes that the effect started, ensuring they don't continue to run after the component is gone.</a:t>
              </a:r>
              <a:endParaRPr sz="1100">
                <a:solidFill>
                  <a:schemeClr val="dk1"/>
                </a:solidFill>
              </a:endParaRPr>
            </a:p>
            <a:p>
              <a:pPr marL="0" lvl="0" indent="0" algn="l" rtl="0">
                <a:lnSpc>
                  <a:spcPct val="115000"/>
                </a:lnSpc>
                <a:spcBef>
                  <a:spcPts val="1200"/>
                </a:spcBef>
                <a:spcAft>
                  <a:spcPts val="1200"/>
                </a:spcAft>
                <a:buNone/>
              </a:pPr>
              <a:endParaRPr sz="1100">
                <a:latin typeface="Poppins"/>
                <a:ea typeface="Poppins"/>
                <a:cs typeface="Poppins"/>
                <a:sym typeface="Poppins"/>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54"/>
          <p:cNvSpPr txBox="1"/>
          <p:nvPr/>
        </p:nvSpPr>
        <p:spPr>
          <a:xfrm>
            <a:off x="310900" y="210300"/>
            <a:ext cx="747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800" b="1">
                <a:solidFill>
                  <a:srgbClr val="073763"/>
                </a:solidFill>
                <a:latin typeface="Poppins"/>
                <a:ea typeface="Poppins"/>
                <a:cs typeface="Poppins"/>
                <a:sym typeface="Poppins"/>
              </a:rPr>
              <a:t>Check Your Understanding</a:t>
            </a:r>
            <a:endParaRPr sz="2800" b="1">
              <a:solidFill>
                <a:srgbClr val="073763"/>
              </a:solidFill>
              <a:latin typeface="Poppins"/>
              <a:ea typeface="Poppins"/>
              <a:cs typeface="Poppins"/>
              <a:sym typeface="Poppins"/>
            </a:endParaRPr>
          </a:p>
        </p:txBody>
      </p:sp>
      <p:pic>
        <p:nvPicPr>
          <p:cNvPr id="493" name="Google Shape;493;p54"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494" name="Google Shape;494;p54"/>
          <p:cNvSpPr txBox="1"/>
          <p:nvPr/>
        </p:nvSpPr>
        <p:spPr>
          <a:xfrm>
            <a:off x="310900" y="1228825"/>
            <a:ext cx="8161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Question :  </a:t>
            </a:r>
            <a:r>
              <a:rPr lang="en" sz="1100" b="1">
                <a:solidFill>
                  <a:schemeClr val="dk1"/>
                </a:solidFill>
              </a:rPr>
              <a:t> If you have useEffect(() =&gt; { ... }, [count]);, when will the effect's callback function be executed?</a:t>
            </a:r>
            <a:r>
              <a:rPr lang="en" sz="1100">
                <a:solidFill>
                  <a:schemeClr val="dk1"/>
                </a:solidFill>
              </a:rPr>
              <a:t> </a:t>
            </a:r>
            <a:endParaRPr sz="1300" b="1">
              <a:solidFill>
                <a:srgbClr val="273239"/>
              </a:solidFill>
              <a:latin typeface="Poppins"/>
              <a:ea typeface="Poppins"/>
              <a:cs typeface="Poppins"/>
              <a:sym typeface="Poppins"/>
            </a:endParaRPr>
          </a:p>
        </p:txBody>
      </p:sp>
      <p:sp>
        <p:nvSpPr>
          <p:cNvPr id="495" name="Google Shape;495;p54"/>
          <p:cNvSpPr txBox="1"/>
          <p:nvPr/>
        </p:nvSpPr>
        <p:spPr>
          <a:xfrm>
            <a:off x="310900" y="1793229"/>
            <a:ext cx="7176900" cy="1801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rgbClr val="000000"/>
              </a:buClr>
              <a:buSzPts val="1100"/>
              <a:buFont typeface="Arial"/>
              <a:buNone/>
            </a:pPr>
            <a:r>
              <a:rPr lang="en" b="1">
                <a:solidFill>
                  <a:srgbClr val="273239"/>
                </a:solidFill>
                <a:latin typeface="Poppins"/>
                <a:ea typeface="Poppins"/>
                <a:cs typeface="Poppins"/>
                <a:sym typeface="Poppins"/>
              </a:rPr>
              <a:t>Options    :</a:t>
            </a:r>
            <a:r>
              <a:rPr lang="en" sz="1100">
                <a:solidFill>
                  <a:srgbClr val="000000"/>
                </a:solidFill>
              </a:rPr>
              <a:t>    </a:t>
            </a:r>
            <a:r>
              <a:rPr lang="en" sz="1100">
                <a:solidFill>
                  <a:srgbClr val="000000"/>
                </a:solidFill>
                <a:latin typeface="Poppins"/>
                <a:ea typeface="Poppins"/>
                <a:cs typeface="Poppins"/>
                <a:sym typeface="Poppins"/>
              </a:rPr>
              <a:t>  </a:t>
            </a:r>
            <a:r>
              <a:rPr lang="en" sz="1100">
                <a:solidFill>
                  <a:schemeClr val="dk1"/>
                </a:solidFill>
              </a:rPr>
              <a:t>a) Only once, when the component mounts. </a:t>
            </a:r>
            <a:endParaRPr sz="1100">
              <a:solidFill>
                <a:schemeClr val="dk1"/>
              </a:solidFill>
            </a:endParaRPr>
          </a:p>
          <a:p>
            <a:pPr marL="914400" lvl="0" indent="228600" algn="l" rtl="0">
              <a:lnSpc>
                <a:spcPct val="115000"/>
              </a:lnSpc>
              <a:spcBef>
                <a:spcPts val="1200"/>
              </a:spcBef>
              <a:spcAft>
                <a:spcPts val="0"/>
              </a:spcAft>
              <a:buClr>
                <a:schemeClr val="dk1"/>
              </a:buClr>
              <a:buSzPts val="1100"/>
              <a:buFont typeface="Arial"/>
              <a:buNone/>
            </a:pPr>
            <a:r>
              <a:rPr lang="en" sz="1100">
                <a:solidFill>
                  <a:schemeClr val="dk1"/>
                </a:solidFill>
              </a:rPr>
              <a:t>b) After every single render of the component. </a:t>
            </a:r>
            <a:endParaRPr sz="1100">
              <a:solidFill>
                <a:schemeClr val="dk1"/>
              </a:solidFill>
            </a:endParaRPr>
          </a:p>
          <a:p>
            <a:pPr marL="914400" lvl="0" indent="228600" algn="l" rtl="0">
              <a:lnSpc>
                <a:spcPct val="115000"/>
              </a:lnSpc>
              <a:spcBef>
                <a:spcPts val="1200"/>
              </a:spcBef>
              <a:spcAft>
                <a:spcPts val="0"/>
              </a:spcAft>
              <a:buClr>
                <a:schemeClr val="dk1"/>
              </a:buClr>
              <a:buSzPts val="1100"/>
              <a:buFont typeface="Arial"/>
              <a:buNone/>
            </a:pPr>
            <a:r>
              <a:rPr lang="en" sz="1100">
                <a:solidFill>
                  <a:schemeClr val="dk1"/>
                </a:solidFill>
              </a:rPr>
              <a:t>c) When the component mounts, and then again anytime the </a:t>
            </a:r>
            <a:r>
              <a:rPr lang="en" sz="1100" b="1">
                <a:solidFill>
                  <a:schemeClr val="dk1"/>
                </a:solidFill>
              </a:rPr>
              <a:t>count</a:t>
            </a:r>
            <a:r>
              <a:rPr lang="en" sz="1100">
                <a:solidFill>
                  <a:schemeClr val="dk1"/>
                </a:solidFill>
              </a:rPr>
              <a:t> state variable changes. </a:t>
            </a:r>
            <a:endParaRPr sz="1100">
              <a:solidFill>
                <a:schemeClr val="dk1"/>
              </a:solidFill>
            </a:endParaRPr>
          </a:p>
          <a:p>
            <a:pPr marL="914400" lvl="0" indent="228600" algn="l" rtl="0">
              <a:lnSpc>
                <a:spcPct val="115000"/>
              </a:lnSpc>
              <a:spcBef>
                <a:spcPts val="1200"/>
              </a:spcBef>
              <a:spcAft>
                <a:spcPts val="0"/>
              </a:spcAft>
              <a:buClr>
                <a:schemeClr val="dk1"/>
              </a:buClr>
              <a:buSzPts val="1100"/>
              <a:buFont typeface="Arial"/>
              <a:buNone/>
            </a:pPr>
            <a:r>
              <a:rPr lang="en" sz="1100">
                <a:solidFill>
                  <a:schemeClr val="dk1"/>
                </a:solidFill>
              </a:rPr>
              <a:t>d) Only when the </a:t>
            </a:r>
            <a:r>
              <a:rPr lang="en" sz="1100" b="1">
                <a:solidFill>
                  <a:schemeClr val="dk1"/>
                </a:solidFill>
              </a:rPr>
              <a:t>count</a:t>
            </a:r>
            <a:r>
              <a:rPr lang="en" sz="1100">
                <a:solidFill>
                  <a:schemeClr val="dk1"/>
                </a:solidFill>
              </a:rPr>
              <a:t> state variable changes, but not on the initial mount.</a:t>
            </a:r>
            <a:endParaRPr sz="1100">
              <a:solidFill>
                <a:schemeClr val="dk1"/>
              </a:solidFill>
            </a:endParaRPr>
          </a:p>
          <a:p>
            <a:pPr marL="0" lvl="0" indent="0" algn="l" rtl="0">
              <a:lnSpc>
                <a:spcPct val="115000"/>
              </a:lnSpc>
              <a:spcBef>
                <a:spcPts val="1200"/>
              </a:spcBef>
              <a:spcAft>
                <a:spcPts val="1200"/>
              </a:spcAft>
              <a:buClr>
                <a:srgbClr val="000000"/>
              </a:buClr>
              <a:buSzPts val="1100"/>
              <a:buFont typeface="Arial"/>
              <a:buNone/>
            </a:pPr>
            <a:endParaRPr sz="1100">
              <a:latin typeface="Poppins"/>
              <a:ea typeface="Poppins"/>
              <a:cs typeface="Poppins"/>
              <a:sym typeface="Poppins"/>
            </a:endParaRPr>
          </a:p>
        </p:txBody>
      </p:sp>
      <p:pic>
        <p:nvPicPr>
          <p:cNvPr id="496" name="Google Shape;496;p54" title="question-and-answer-illustration-download-in-svg-png-gif-file-formats--answers-faq-comments-chatting-business-pack-people-illustrations-4257057.png"/>
          <p:cNvPicPr preferRelativeResize="0"/>
          <p:nvPr/>
        </p:nvPicPr>
        <p:blipFill>
          <a:blip r:embed="rId4">
            <a:alphaModFix/>
          </a:blip>
          <a:stretch>
            <a:fillRect/>
          </a:stretch>
        </p:blipFill>
        <p:spPr>
          <a:xfrm>
            <a:off x="6051839" y="3027775"/>
            <a:ext cx="3001612" cy="2001075"/>
          </a:xfrm>
          <a:prstGeom prst="rect">
            <a:avLst/>
          </a:prstGeom>
          <a:noFill/>
          <a:ln>
            <a:noFill/>
          </a:ln>
        </p:spPr>
      </p:pic>
      <p:sp>
        <p:nvSpPr>
          <p:cNvPr id="497" name="Google Shape;497;p54"/>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42</a:t>
            </a:fld>
            <a:endParaRPr sz="1000">
              <a:solidFill>
                <a:srgbClr val="595959"/>
              </a:solidFill>
            </a:endParaRPr>
          </a:p>
        </p:txBody>
      </p:sp>
      <p:sp>
        <p:nvSpPr>
          <p:cNvPr id="498" name="Google Shape;498;p54"/>
          <p:cNvSpPr txBox="1"/>
          <p:nvPr/>
        </p:nvSpPr>
        <p:spPr>
          <a:xfrm>
            <a:off x="310900" y="3156125"/>
            <a:ext cx="62460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273239"/>
                </a:solidFill>
                <a:latin typeface="Poppins"/>
                <a:ea typeface="Poppins"/>
                <a:cs typeface="Poppins"/>
                <a:sym typeface="Poppins"/>
              </a:rPr>
              <a:t>Answer :  </a:t>
            </a:r>
            <a:r>
              <a:rPr lang="en" sz="1800">
                <a:solidFill>
                  <a:srgbClr val="595959"/>
                </a:solidFill>
              </a:rPr>
              <a:t> </a:t>
            </a:r>
            <a:r>
              <a:rPr lang="en" sz="1100">
                <a:solidFill>
                  <a:schemeClr val="dk1"/>
                </a:solidFill>
              </a:rPr>
              <a:t>c) When the component mounts, and then again anytime the </a:t>
            </a:r>
            <a:r>
              <a:rPr lang="en" sz="1100" b="1">
                <a:solidFill>
                  <a:schemeClr val="dk1"/>
                </a:solidFill>
              </a:rPr>
              <a:t>count</a:t>
            </a:r>
            <a:r>
              <a:rPr lang="en" sz="1100">
                <a:solidFill>
                  <a:schemeClr val="dk1"/>
                </a:solidFill>
              </a:rPr>
              <a:t> state variable   </a:t>
            </a:r>
            <a:endParaRPr sz="1100">
              <a:solidFill>
                <a:schemeClr val="dk1"/>
              </a:solidFill>
            </a:endParaRPr>
          </a:p>
          <a:p>
            <a:pPr marL="0" lvl="0" indent="0" algn="l" rtl="0">
              <a:spcBef>
                <a:spcPts val="0"/>
              </a:spcBef>
              <a:spcAft>
                <a:spcPts val="0"/>
              </a:spcAft>
              <a:buNone/>
            </a:pPr>
            <a:r>
              <a:rPr lang="en" sz="1100">
                <a:solidFill>
                  <a:schemeClr val="dk1"/>
                </a:solidFill>
              </a:rPr>
              <a:t>                        changes. </a:t>
            </a:r>
            <a:endParaRPr sz="1100">
              <a:solidFill>
                <a:schemeClr val="dk1"/>
              </a:solidFill>
            </a:endParaRPr>
          </a:p>
          <a:p>
            <a:pPr marL="0" lvl="0" indent="0" algn="l" rtl="0">
              <a:spcBef>
                <a:spcPts val="0"/>
              </a:spcBef>
              <a:spcAft>
                <a:spcPts val="0"/>
              </a:spcAft>
              <a:buNone/>
            </a:pPr>
            <a:endParaRPr sz="1100">
              <a:latin typeface="Poppins"/>
              <a:ea typeface="Poppins"/>
              <a:cs typeface="Poppins"/>
              <a:sym typeface="Poppins"/>
            </a:endParaRPr>
          </a:p>
        </p:txBody>
      </p:sp>
      <p:grpSp>
        <p:nvGrpSpPr>
          <p:cNvPr id="499" name="Google Shape;499;p54"/>
          <p:cNvGrpSpPr/>
          <p:nvPr/>
        </p:nvGrpSpPr>
        <p:grpSpPr>
          <a:xfrm>
            <a:off x="310900" y="3742463"/>
            <a:ext cx="6005825" cy="743413"/>
            <a:chOff x="310900" y="3742463"/>
            <a:chExt cx="6005825" cy="743413"/>
          </a:xfrm>
        </p:grpSpPr>
        <p:sp>
          <p:nvSpPr>
            <p:cNvPr id="500" name="Google Shape;500;p54"/>
            <p:cNvSpPr txBox="1"/>
            <p:nvPr/>
          </p:nvSpPr>
          <p:spPr>
            <a:xfrm>
              <a:off x="310900" y="3742463"/>
              <a:ext cx="1335900" cy="40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Clr>
                  <a:srgbClr val="000000"/>
                </a:buClr>
                <a:buSzPts val="1100"/>
                <a:buFont typeface="Arial"/>
                <a:buNone/>
              </a:pPr>
              <a:r>
                <a:rPr lang="en" b="1">
                  <a:solidFill>
                    <a:srgbClr val="273239"/>
                  </a:solidFill>
                  <a:latin typeface="Poppins"/>
                  <a:ea typeface="Poppins"/>
                  <a:cs typeface="Poppins"/>
                  <a:sym typeface="Poppins"/>
                </a:rPr>
                <a:t>Explanation:</a:t>
              </a:r>
              <a:endParaRPr sz="1800">
                <a:solidFill>
                  <a:srgbClr val="595959"/>
                </a:solidFill>
              </a:endParaRPr>
            </a:p>
          </p:txBody>
        </p:sp>
        <p:sp>
          <p:nvSpPr>
            <p:cNvPr id="501" name="Google Shape;501;p54"/>
            <p:cNvSpPr txBox="1"/>
            <p:nvPr/>
          </p:nvSpPr>
          <p:spPr>
            <a:xfrm>
              <a:off x="1607925" y="3742475"/>
              <a:ext cx="4708800" cy="743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100">
                  <a:solidFill>
                    <a:schemeClr val="dk1"/>
                  </a:solidFill>
                </a:rPr>
                <a:t>The dependency array tells React to re-run the effect if any of the values inside the array have changed between renders. It always runs on the initial mount as well.</a:t>
              </a:r>
              <a:endParaRPr sz="1100" b="1">
                <a:solidFill>
                  <a:srgbClr val="000000"/>
                </a:solidFill>
                <a:latin typeface="Poppins"/>
                <a:ea typeface="Poppins"/>
                <a:cs typeface="Poppins"/>
                <a:sym typeface="Poppins"/>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55"/>
          <p:cNvSpPr txBox="1"/>
          <p:nvPr/>
        </p:nvSpPr>
        <p:spPr>
          <a:xfrm>
            <a:off x="310896" y="210312"/>
            <a:ext cx="8520600" cy="572700"/>
          </a:xfrm>
          <a:prstGeom prst="rect">
            <a:avLst/>
          </a:prstGeom>
          <a:noFill/>
          <a:ln>
            <a:noFill/>
          </a:ln>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2800" b="1">
                <a:solidFill>
                  <a:srgbClr val="000000"/>
                </a:solidFill>
                <a:latin typeface="Poppins"/>
                <a:ea typeface="Poppins"/>
                <a:cs typeface="Poppins"/>
                <a:sym typeface="Poppins"/>
              </a:rPr>
              <a:t>|</a:t>
            </a:r>
            <a:r>
              <a:rPr lang="en" sz="2800">
                <a:solidFill>
                  <a:srgbClr val="000000"/>
                </a:solidFill>
              </a:rPr>
              <a:t>  </a:t>
            </a:r>
            <a:r>
              <a:rPr lang="en" sz="2800" b="1">
                <a:solidFill>
                  <a:srgbClr val="073763"/>
                </a:solidFill>
                <a:latin typeface="Poppins"/>
                <a:ea typeface="Poppins"/>
                <a:cs typeface="Poppins"/>
                <a:sym typeface="Poppins"/>
              </a:rPr>
              <a:t>References</a:t>
            </a:r>
            <a:endParaRPr sz="2800" b="1">
              <a:solidFill>
                <a:srgbClr val="073763"/>
              </a:solidFill>
              <a:latin typeface="Poppins"/>
              <a:ea typeface="Poppins"/>
              <a:cs typeface="Poppins"/>
              <a:sym typeface="Poppins"/>
            </a:endParaRPr>
          </a:p>
        </p:txBody>
      </p:sp>
      <p:pic>
        <p:nvPicPr>
          <p:cNvPr id="507" name="Google Shape;507;p55" title="KRMU LOGO.png"/>
          <p:cNvPicPr preferRelativeResize="0"/>
          <p:nvPr/>
        </p:nvPicPr>
        <p:blipFill>
          <a:blip r:embed="rId3">
            <a:alphaModFix/>
          </a:blip>
          <a:stretch>
            <a:fillRect/>
          </a:stretch>
        </p:blipFill>
        <p:spPr>
          <a:xfrm>
            <a:off x="7854696" y="100584"/>
            <a:ext cx="914400" cy="914400"/>
          </a:xfrm>
          <a:prstGeom prst="rect">
            <a:avLst/>
          </a:prstGeom>
          <a:noFill/>
          <a:ln>
            <a:noFill/>
          </a:ln>
        </p:spPr>
      </p:pic>
      <p:sp>
        <p:nvSpPr>
          <p:cNvPr id="508" name="Google Shape;508;p55"/>
          <p:cNvSpPr txBox="1"/>
          <p:nvPr/>
        </p:nvSpPr>
        <p:spPr>
          <a:xfrm>
            <a:off x="358850" y="1181200"/>
            <a:ext cx="8520600" cy="34380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SzPts val="1100"/>
              <a:buChar char="●"/>
            </a:pPr>
            <a:r>
              <a:rPr lang="en" sz="1100" b="1">
                <a:solidFill>
                  <a:srgbClr val="000000"/>
                </a:solidFill>
                <a:latin typeface="Poppins"/>
                <a:ea typeface="Poppins"/>
                <a:cs typeface="Poppins"/>
                <a:sym typeface="Poppins"/>
              </a:rPr>
              <a:t>MDN Web Docs</a:t>
            </a:r>
            <a:r>
              <a:rPr lang="en" sz="1100" b="1">
                <a:solidFill>
                  <a:srgbClr val="000000"/>
                </a:solidFill>
              </a:rPr>
              <a:t> : </a:t>
            </a:r>
            <a:r>
              <a:rPr lang="en" sz="1100" i="1">
                <a:solidFill>
                  <a:srgbClr val="000000"/>
                </a:solidFill>
                <a:latin typeface="Poppins"/>
                <a:ea typeface="Poppins"/>
                <a:cs typeface="Poppins"/>
                <a:sym typeface="Poppins"/>
              </a:rPr>
              <a:t>Comprehensive and official documentation for JS.</a:t>
            </a:r>
            <a:br>
              <a:rPr lang="en" sz="1100" i="1">
                <a:solidFill>
                  <a:srgbClr val="000000"/>
                </a:solidFill>
              </a:rPr>
            </a:br>
            <a:r>
              <a:rPr lang="en" sz="1100">
                <a:solidFill>
                  <a:srgbClr val="000000"/>
                </a:solidFill>
              </a:rPr>
              <a:t> 🔗</a:t>
            </a:r>
            <a:r>
              <a:rPr lang="en" sz="1100" u="sng">
                <a:solidFill>
                  <a:srgbClr val="0097A7"/>
                </a:solidFill>
                <a:hlinkClick r:id="rId4">
                  <a:extLst>
                    <a:ext uri="{A12FA001-AC4F-418D-AE19-62706E023703}">
                      <ahyp:hlinkClr xmlns:ahyp="http://schemas.microsoft.com/office/drawing/2018/hyperlinkcolor" val="tx"/>
                    </a:ext>
                  </a:extLst>
                </a:hlinkClick>
              </a:rPr>
              <a:t>https://developer.mozilla.org/en-US/docs/Web/JavaScript</a:t>
            </a:r>
            <a:endParaRPr sz="1100" u="sng">
              <a:solidFill>
                <a:srgbClr val="0097A7"/>
              </a:solidFill>
            </a:endParaRPr>
          </a:p>
          <a:p>
            <a:pPr marL="457200" lvl="0" indent="0" algn="l" rtl="0">
              <a:lnSpc>
                <a:spcPct val="115000"/>
              </a:lnSpc>
              <a:spcBef>
                <a:spcPts val="0"/>
              </a:spcBef>
              <a:spcAft>
                <a:spcPts val="0"/>
              </a:spcAft>
              <a:buNone/>
            </a:pPr>
            <a:endParaRPr sz="1100" u="sng">
              <a:solidFill>
                <a:srgbClr val="0097A7"/>
              </a:solidFill>
            </a:endParaRPr>
          </a:p>
          <a:p>
            <a:pPr marL="457200" lvl="0" indent="0" algn="l" rtl="0">
              <a:lnSpc>
                <a:spcPct val="115000"/>
              </a:lnSpc>
              <a:spcBef>
                <a:spcPts val="0"/>
              </a:spcBef>
              <a:spcAft>
                <a:spcPts val="0"/>
              </a:spcAft>
              <a:buNone/>
            </a:pPr>
            <a:endParaRPr sz="1100" u="sng">
              <a:solidFill>
                <a:srgbClr val="0097A7"/>
              </a:solidFill>
            </a:endParaRPr>
          </a:p>
          <a:p>
            <a:pPr marL="457200" lvl="0" indent="0" algn="l" rtl="0">
              <a:lnSpc>
                <a:spcPct val="115000"/>
              </a:lnSpc>
              <a:spcBef>
                <a:spcPts val="0"/>
              </a:spcBef>
              <a:spcAft>
                <a:spcPts val="0"/>
              </a:spcAft>
              <a:buNone/>
            </a:pPr>
            <a:endParaRPr sz="1100" u="sng">
              <a:solidFill>
                <a:srgbClr val="0097A7"/>
              </a:solidFill>
            </a:endParaRPr>
          </a:p>
          <a:p>
            <a:pPr marL="457200" lvl="0" indent="-298450" algn="l" rtl="0">
              <a:lnSpc>
                <a:spcPct val="115000"/>
              </a:lnSpc>
              <a:spcBef>
                <a:spcPts val="0"/>
              </a:spcBef>
              <a:spcAft>
                <a:spcPts val="0"/>
              </a:spcAft>
              <a:buClr>
                <a:srgbClr val="000000"/>
              </a:buClr>
              <a:buSzPts val="1100"/>
              <a:buChar char="●"/>
            </a:pPr>
            <a:r>
              <a:rPr lang="en" sz="1100" b="1">
                <a:solidFill>
                  <a:srgbClr val="000000"/>
                </a:solidFill>
                <a:latin typeface="Poppins"/>
                <a:ea typeface="Poppins"/>
                <a:cs typeface="Poppins"/>
                <a:sym typeface="Poppins"/>
              </a:rPr>
              <a:t>W3Schools – JS Tutorial : </a:t>
            </a:r>
            <a:r>
              <a:rPr lang="en" sz="1100" i="1">
                <a:solidFill>
                  <a:srgbClr val="000000"/>
                </a:solidFill>
                <a:latin typeface="Poppins"/>
                <a:ea typeface="Poppins"/>
                <a:cs typeface="Poppins"/>
                <a:sym typeface="Poppins"/>
              </a:rPr>
              <a:t>Beginner-friendly JS tutorials with examples and interactive editors.</a:t>
            </a:r>
            <a:br>
              <a:rPr lang="en" sz="1100" i="1">
                <a:solidFill>
                  <a:srgbClr val="000000"/>
                </a:solidFill>
                <a:latin typeface="Poppins"/>
                <a:ea typeface="Poppins"/>
                <a:cs typeface="Poppins"/>
                <a:sym typeface="Poppins"/>
              </a:rPr>
            </a:br>
            <a:r>
              <a:rPr lang="en" sz="1100">
                <a:solidFill>
                  <a:srgbClr val="000000"/>
                </a:solidFill>
              </a:rPr>
              <a:t> 🔗</a:t>
            </a:r>
            <a:r>
              <a:rPr lang="en" sz="1100" u="sng">
                <a:solidFill>
                  <a:srgbClr val="0097A7"/>
                </a:solidFill>
                <a:hlinkClick r:id="rId5">
                  <a:extLst>
                    <a:ext uri="{A12FA001-AC4F-418D-AE19-62706E023703}">
                      <ahyp:hlinkClr xmlns:ahyp="http://schemas.microsoft.com/office/drawing/2018/hyperlinkcolor" val="tx"/>
                    </a:ext>
                  </a:extLst>
                </a:hlinkClick>
              </a:rPr>
              <a:t> https://www.w3schools.com/js/</a:t>
            </a:r>
            <a:endParaRPr sz="1100">
              <a:solidFill>
                <a:srgbClr val="000000"/>
              </a:solidFill>
            </a:endParaRPr>
          </a:p>
          <a:p>
            <a:pPr marL="0" lvl="0" indent="0" algn="l" rtl="0">
              <a:lnSpc>
                <a:spcPct val="115000"/>
              </a:lnSpc>
              <a:spcBef>
                <a:spcPts val="0"/>
              </a:spcBef>
              <a:spcAft>
                <a:spcPts val="0"/>
              </a:spcAft>
              <a:buNone/>
            </a:pPr>
            <a:endParaRPr sz="1100">
              <a:solidFill>
                <a:srgbClr val="000000"/>
              </a:solidFill>
            </a:endParaRPr>
          </a:p>
          <a:p>
            <a:pPr marL="0" lvl="0" indent="0" algn="l" rtl="0">
              <a:lnSpc>
                <a:spcPct val="115000"/>
              </a:lnSpc>
              <a:spcBef>
                <a:spcPts val="0"/>
              </a:spcBef>
              <a:spcAft>
                <a:spcPts val="0"/>
              </a:spcAft>
              <a:buNone/>
            </a:pPr>
            <a:endParaRPr sz="1100">
              <a:solidFill>
                <a:srgbClr val="000000"/>
              </a:solidFill>
            </a:endParaRPr>
          </a:p>
          <a:p>
            <a:pPr marL="0" lvl="0" indent="0" algn="l" rtl="0">
              <a:lnSpc>
                <a:spcPct val="115000"/>
              </a:lnSpc>
              <a:spcBef>
                <a:spcPts val="0"/>
              </a:spcBef>
              <a:spcAft>
                <a:spcPts val="0"/>
              </a:spcAft>
              <a:buNone/>
            </a:pPr>
            <a:endParaRPr sz="1100">
              <a:solidFill>
                <a:srgbClr val="000000"/>
              </a:solidFill>
            </a:endParaRPr>
          </a:p>
          <a:p>
            <a:pPr marL="457200" lvl="0" indent="-298450" algn="l" rtl="0">
              <a:lnSpc>
                <a:spcPct val="115000"/>
              </a:lnSpc>
              <a:spcBef>
                <a:spcPts val="0"/>
              </a:spcBef>
              <a:spcAft>
                <a:spcPts val="0"/>
              </a:spcAft>
              <a:buClr>
                <a:srgbClr val="000000"/>
              </a:buClr>
              <a:buSzPts val="1100"/>
              <a:buChar char="●"/>
            </a:pPr>
            <a:r>
              <a:rPr lang="en" sz="1100" b="1">
                <a:solidFill>
                  <a:srgbClr val="000000"/>
                </a:solidFill>
                <a:latin typeface="Poppins"/>
                <a:ea typeface="Poppins"/>
                <a:cs typeface="Poppins"/>
                <a:sym typeface="Poppins"/>
              </a:rPr>
              <a:t>react.dev -</a:t>
            </a:r>
            <a:r>
              <a:rPr lang="en" sz="1100" b="1" i="1">
                <a:solidFill>
                  <a:srgbClr val="000000"/>
                </a:solidFill>
                <a:latin typeface="Poppins"/>
                <a:ea typeface="Poppins"/>
                <a:cs typeface="Poppins"/>
                <a:sym typeface="Poppins"/>
              </a:rPr>
              <a:t> </a:t>
            </a:r>
            <a:r>
              <a:rPr lang="en" sz="1100" i="1">
                <a:solidFill>
                  <a:srgbClr val="000000"/>
                </a:solidFill>
                <a:latin typeface="Poppins"/>
                <a:ea typeface="Poppins"/>
                <a:cs typeface="Poppins"/>
                <a:sym typeface="Poppins"/>
              </a:rPr>
              <a:t>A comprehensive, tutorial-style website that deeply explores core React concepts, including components, state, effects, and hooks, through interactive examples and in-depth explanations.</a:t>
            </a:r>
            <a:endParaRPr sz="1100" i="1">
              <a:solidFill>
                <a:srgbClr val="000000"/>
              </a:solidFill>
              <a:latin typeface="Poppins"/>
              <a:ea typeface="Poppins"/>
              <a:cs typeface="Poppins"/>
              <a:sym typeface="Poppins"/>
            </a:endParaRPr>
          </a:p>
          <a:p>
            <a:pPr marL="457200" lvl="0" indent="0" algn="l" rtl="0">
              <a:lnSpc>
                <a:spcPct val="115000"/>
              </a:lnSpc>
              <a:spcBef>
                <a:spcPts val="0"/>
              </a:spcBef>
              <a:spcAft>
                <a:spcPts val="0"/>
              </a:spcAft>
              <a:buNone/>
            </a:pPr>
            <a:r>
              <a:rPr lang="en" sz="1100">
                <a:solidFill>
                  <a:srgbClr val="000000"/>
                </a:solidFill>
              </a:rPr>
              <a:t>🔗</a:t>
            </a:r>
            <a:r>
              <a:rPr lang="en" sz="1100" u="sng">
                <a:solidFill>
                  <a:srgbClr val="0097A7"/>
                </a:solidFill>
                <a:hlinkClick r:id="rId6">
                  <a:extLst>
                    <a:ext uri="{A12FA001-AC4F-418D-AE19-62706E023703}">
                      <ahyp:hlinkClr xmlns:ahyp="http://schemas.microsoft.com/office/drawing/2018/hyperlinkcolor" val="tx"/>
                    </a:ext>
                  </a:extLst>
                </a:hlinkClick>
              </a:rPr>
              <a:t>https://react.dev/</a:t>
            </a:r>
            <a:endParaRPr sz="1100" i="1">
              <a:solidFill>
                <a:srgbClr val="000000"/>
              </a:solidFill>
              <a:latin typeface="Poppins"/>
              <a:ea typeface="Poppins"/>
              <a:cs typeface="Poppins"/>
              <a:sym typeface="Poppins"/>
            </a:endParaRPr>
          </a:p>
        </p:txBody>
      </p:sp>
      <p:sp>
        <p:nvSpPr>
          <p:cNvPr id="509" name="Google Shape;509;p55"/>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43</a:t>
            </a:fld>
            <a:endParaRPr sz="1000">
              <a:solidFill>
                <a:srgbClr val="595959"/>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pic>
        <p:nvPicPr>
          <p:cNvPr id="514" name="Google Shape;514;p56" title="subtle-prism (2).png"/>
          <p:cNvPicPr preferRelativeResize="0"/>
          <p:nvPr/>
        </p:nvPicPr>
        <p:blipFill>
          <a:blip r:embed="rId3">
            <a:alphaModFix/>
          </a:blip>
          <a:stretch>
            <a:fillRect/>
          </a:stretch>
        </p:blipFill>
        <p:spPr>
          <a:xfrm rot="5400050">
            <a:off x="-395563" y="395600"/>
            <a:ext cx="5157175" cy="4365975"/>
          </a:xfrm>
          <a:prstGeom prst="flowChartManualInput">
            <a:avLst/>
          </a:prstGeom>
          <a:noFill/>
          <a:ln>
            <a:noFill/>
          </a:ln>
        </p:spPr>
      </p:pic>
      <p:pic>
        <p:nvPicPr>
          <p:cNvPr id="515" name="Google Shape;515;p56" title="KRMU_Full_heading_Logo-removebg-preview.png"/>
          <p:cNvPicPr preferRelativeResize="0"/>
          <p:nvPr/>
        </p:nvPicPr>
        <p:blipFill>
          <a:blip r:embed="rId4">
            <a:alphaModFix/>
          </a:blip>
          <a:stretch>
            <a:fillRect/>
          </a:stretch>
        </p:blipFill>
        <p:spPr>
          <a:xfrm>
            <a:off x="3806125" y="452500"/>
            <a:ext cx="5337876" cy="1363050"/>
          </a:xfrm>
          <a:prstGeom prst="rect">
            <a:avLst/>
          </a:prstGeom>
          <a:noFill/>
          <a:ln>
            <a:noFill/>
          </a:ln>
        </p:spPr>
      </p:pic>
      <p:sp>
        <p:nvSpPr>
          <p:cNvPr id="516" name="Google Shape;516;p56"/>
          <p:cNvSpPr txBox="1"/>
          <p:nvPr/>
        </p:nvSpPr>
        <p:spPr>
          <a:xfrm>
            <a:off x="4407400" y="2020825"/>
            <a:ext cx="4636200" cy="55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solidFill>
                  <a:srgbClr val="173034"/>
                </a:solidFill>
              </a:rPr>
              <a:t>Course - Web Development - II</a:t>
            </a:r>
            <a:endParaRPr sz="2400" b="1">
              <a:solidFill>
                <a:srgbClr val="173034"/>
              </a:solidFill>
            </a:endParaRPr>
          </a:p>
        </p:txBody>
      </p:sp>
      <p:grpSp>
        <p:nvGrpSpPr>
          <p:cNvPr id="517" name="Google Shape;517;p56"/>
          <p:cNvGrpSpPr/>
          <p:nvPr/>
        </p:nvGrpSpPr>
        <p:grpSpPr>
          <a:xfrm>
            <a:off x="4572000" y="4881413"/>
            <a:ext cx="1607600" cy="292500"/>
            <a:chOff x="5060775" y="4881413"/>
            <a:chExt cx="1607600" cy="292500"/>
          </a:xfrm>
        </p:grpSpPr>
        <p:sp>
          <p:nvSpPr>
            <p:cNvPr id="518" name="Google Shape;518;p56"/>
            <p:cNvSpPr txBox="1"/>
            <p:nvPr/>
          </p:nvSpPr>
          <p:spPr>
            <a:xfrm>
              <a:off x="5165675" y="4881413"/>
              <a:ext cx="15027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000000"/>
                  </a:solidFill>
                </a:rPr>
                <a:t>welcome@krmangalam.edu.in</a:t>
              </a:r>
              <a:endParaRPr sz="900">
                <a:solidFill>
                  <a:srgbClr val="000000"/>
                </a:solidFill>
              </a:endParaRPr>
            </a:p>
          </p:txBody>
        </p:sp>
        <p:pic>
          <p:nvPicPr>
            <p:cNvPr id="519" name="Google Shape;519;p56" title="email.png"/>
            <p:cNvPicPr preferRelativeResize="0"/>
            <p:nvPr/>
          </p:nvPicPr>
          <p:blipFill>
            <a:blip r:embed="rId5">
              <a:alphaModFix/>
            </a:blip>
            <a:stretch>
              <a:fillRect/>
            </a:stretch>
          </p:blipFill>
          <p:spPr>
            <a:xfrm>
              <a:off x="5060775" y="4966738"/>
              <a:ext cx="137160" cy="137160"/>
            </a:xfrm>
            <a:prstGeom prst="rect">
              <a:avLst/>
            </a:prstGeom>
            <a:noFill/>
            <a:ln>
              <a:noFill/>
            </a:ln>
          </p:spPr>
        </p:pic>
      </p:grpSp>
      <p:sp>
        <p:nvSpPr>
          <p:cNvPr id="520" name="Google Shape;520;p56"/>
          <p:cNvSpPr txBox="1"/>
          <p:nvPr/>
        </p:nvSpPr>
        <p:spPr>
          <a:xfrm>
            <a:off x="7326500" y="4881425"/>
            <a:ext cx="23400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212121"/>
                </a:solidFill>
              </a:rPr>
              <a:t>Sohna Road,Gurugram,Haryana 122103</a:t>
            </a:r>
            <a:endParaRPr sz="700">
              <a:solidFill>
                <a:srgbClr val="212121"/>
              </a:solidFill>
            </a:endParaRPr>
          </a:p>
        </p:txBody>
      </p:sp>
      <p:pic>
        <p:nvPicPr>
          <p:cNvPr id="521" name="Google Shape;521;p56" title="location.png"/>
          <p:cNvPicPr preferRelativeResize="0"/>
          <p:nvPr/>
        </p:nvPicPr>
        <p:blipFill>
          <a:blip r:embed="rId6">
            <a:alphaModFix/>
          </a:blip>
          <a:stretch>
            <a:fillRect/>
          </a:stretch>
        </p:blipFill>
        <p:spPr>
          <a:xfrm>
            <a:off x="7229300" y="4959088"/>
            <a:ext cx="137160" cy="137160"/>
          </a:xfrm>
          <a:prstGeom prst="rect">
            <a:avLst/>
          </a:prstGeom>
          <a:noFill/>
          <a:ln>
            <a:noFill/>
          </a:ln>
        </p:spPr>
      </p:pic>
      <p:sp>
        <p:nvSpPr>
          <p:cNvPr id="522" name="Google Shape;522;p56"/>
          <p:cNvSpPr txBox="1"/>
          <p:nvPr/>
        </p:nvSpPr>
        <p:spPr>
          <a:xfrm>
            <a:off x="8494883" y="464826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1000">
                <a:solidFill>
                  <a:srgbClr val="595959"/>
                </a:solidFill>
              </a:rPr>
              <a:t>44</a:t>
            </a:fld>
            <a:endParaRPr sz="1000">
              <a:solidFill>
                <a:srgbClr val="595959"/>
              </a:solidFill>
            </a:endParaRPr>
          </a:p>
        </p:txBody>
      </p:sp>
      <p:sp>
        <p:nvSpPr>
          <p:cNvPr id="523" name="Google Shape;523;p56"/>
          <p:cNvSpPr txBox="1"/>
          <p:nvPr/>
        </p:nvSpPr>
        <p:spPr>
          <a:xfrm>
            <a:off x="1033275" y="1691650"/>
            <a:ext cx="2313000" cy="1754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400">
                <a:solidFill>
                  <a:srgbClr val="FFFFFF"/>
                </a:solidFill>
                <a:latin typeface="Poppins"/>
                <a:ea typeface="Poppins"/>
                <a:cs typeface="Poppins"/>
                <a:sym typeface="Poppins"/>
              </a:rPr>
              <a:t>Thanks</a:t>
            </a:r>
            <a:endParaRPr sz="3400">
              <a:solidFill>
                <a:srgbClr val="FFFFFF"/>
              </a:solidFill>
              <a:latin typeface="Poppins"/>
              <a:ea typeface="Poppins"/>
              <a:cs typeface="Poppins"/>
              <a:sym typeface="Poppins"/>
            </a:endParaRPr>
          </a:p>
          <a:p>
            <a:pPr marL="0" lvl="0" indent="0" algn="l" rtl="0">
              <a:spcBef>
                <a:spcPts val="0"/>
              </a:spcBef>
              <a:spcAft>
                <a:spcPts val="0"/>
              </a:spcAft>
              <a:buNone/>
            </a:pPr>
            <a:r>
              <a:rPr lang="en" sz="3400">
                <a:solidFill>
                  <a:srgbClr val="FFFFFF"/>
                </a:solidFill>
                <a:latin typeface="Poppins"/>
                <a:ea typeface="Poppins"/>
                <a:cs typeface="Poppins"/>
                <a:sym typeface="Poppins"/>
              </a:rPr>
              <a:t>For</a:t>
            </a:r>
            <a:endParaRPr sz="3400">
              <a:solidFill>
                <a:srgbClr val="FFFFFF"/>
              </a:solidFill>
              <a:latin typeface="Poppins"/>
              <a:ea typeface="Poppins"/>
              <a:cs typeface="Poppins"/>
              <a:sym typeface="Poppins"/>
            </a:endParaRPr>
          </a:p>
          <a:p>
            <a:pPr marL="0" lvl="0" indent="0" algn="l" rtl="0">
              <a:spcBef>
                <a:spcPts val="0"/>
              </a:spcBef>
              <a:spcAft>
                <a:spcPts val="0"/>
              </a:spcAft>
              <a:buNone/>
            </a:pPr>
            <a:r>
              <a:rPr lang="en" sz="3400">
                <a:solidFill>
                  <a:srgbClr val="FFFFFF"/>
                </a:solidFill>
                <a:latin typeface="Poppins"/>
                <a:ea typeface="Poppins"/>
                <a:cs typeface="Poppins"/>
                <a:sym typeface="Poppins"/>
              </a:rPr>
              <a:t>Watching</a:t>
            </a:r>
            <a:endParaRPr sz="3400">
              <a:solidFill>
                <a:srgbClr val="FFFFFF"/>
              </a:solidFill>
              <a:latin typeface="Poppins"/>
              <a:ea typeface="Poppins"/>
              <a:cs typeface="Poppins"/>
              <a:sym typeface="Poppins"/>
            </a:endParaRPr>
          </a:p>
        </p:txBody>
      </p:sp>
      <p:pic>
        <p:nvPicPr>
          <p:cNvPr id="524" name="Google Shape;524;p56" title="Untitled (2).png"/>
          <p:cNvPicPr preferRelativeResize="0"/>
          <p:nvPr/>
        </p:nvPicPr>
        <p:blipFill rotWithShape="1">
          <a:blip r:embed="rId7">
            <a:alphaModFix/>
          </a:blip>
          <a:srcRect/>
          <a:stretch/>
        </p:blipFill>
        <p:spPr>
          <a:xfrm>
            <a:off x="5038344" y="2660904"/>
            <a:ext cx="3309826" cy="2000826"/>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2518</Words>
  <Application>Microsoft Office PowerPoint</Application>
  <PresentationFormat>On-screen Show (16:9)</PresentationFormat>
  <Paragraphs>304</Paragraphs>
  <Slides>44</Slides>
  <Notes>44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Roboto Slab</vt:lpstr>
      <vt:lpstr>Poppins</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Love Porwal</cp:lastModifiedBy>
  <cp:revision>1</cp:revision>
  <dcterms:modified xsi:type="dcterms:W3CDTF">2026-03-17T13:55:04Z</dcterms:modified>
</cp:coreProperties>
</file>