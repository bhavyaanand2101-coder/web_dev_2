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57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94" r:id="rId23"/>
    <p:sldId id="295" r:id="rId24"/>
  </p:sldIdLst>
  <p:sldSz cx="9144000" cy="5143500" type="screen16x9"/>
  <p:notesSz cx="6858000" cy="9144000"/>
  <p:embeddedFontLst>
    <p:embeddedFont>
      <p:font typeface="Poppins" panose="00000500000000000000" pitchFamily="2" charset="0"/>
      <p:regular r:id="rId26"/>
      <p:bold r:id="rId27"/>
      <p:italic r:id="rId28"/>
      <p:boldItalic r:id="rId29"/>
    </p:embeddedFont>
    <p:embeddedFont>
      <p:font typeface="Roboto Slab" pitchFamily="2" charset="0"/>
      <p:regular r:id="rId30"/>
      <p:bold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b76f676d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b76f676d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b76f676d5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b76f676d5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7b8b67f7f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7b8b67f7f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7b8b67f7f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7b8b67f7f4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7b76f676d5_0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7b76f676d5_0_3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7b8b67f7f4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7b8b67f7f4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7b8b67f7f4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7b8b67f7f4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7b8b67f7f4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7b8b67f7f4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7b8b67f7f4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7b8b67f7f4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7b8b67f7f4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7b8b67f7f4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7b8b67f7f4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7b8b67f7f4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7b8b67f7f4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7b8b67f7f4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77d080cf1a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77d080cf1a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77d080cf1a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77d080cf1a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77d080cf1a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77d080cf1a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77d080cf1a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77d080cf1a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7b76f676d5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7b76f676d5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77d080cf1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77d080cf1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77d080cf1a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77d080cf1a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77d080cf1a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77d080cf1a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77d080cf1a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77d080cf1a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7b76f676d5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7b76f676d5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7b76f676d5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7b76f676d5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jpg"/><Relationship Id="rId5" Type="http://schemas.openxmlformats.org/officeDocument/2006/relationships/hyperlink" Target="http://drive.google.com/file/d/1hNR7ZGrwnTcStQ6n98NSsdsmPAYmI3_6/view" TargetMode="Externa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react.dev/" TargetMode="External"/><Relationship Id="rId5" Type="http://schemas.openxmlformats.org/officeDocument/2006/relationships/hyperlink" Target="https://www.w3schools.com/js/" TargetMode="External"/><Relationship Id="rId4" Type="http://schemas.openxmlformats.org/officeDocument/2006/relationships/hyperlink" Target="https://developer.mozilla.org/en-US/docs/Web/JavaScript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55" name="Google Shape;55;p13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4405600" y="2017650"/>
            <a:ext cx="4583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173034"/>
                </a:solidFill>
              </a:rPr>
              <a:t>Course - Web Development - II </a:t>
            </a:r>
            <a:endParaRPr sz="2400" b="1">
              <a:solidFill>
                <a:srgbClr val="173034"/>
              </a:solidFill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4572000" y="4882896"/>
            <a:ext cx="1607600" cy="292500"/>
            <a:chOff x="5060775" y="4881413"/>
            <a:chExt cx="1607600" cy="292500"/>
          </a:xfrm>
        </p:grpSpPr>
        <p:sp>
          <p:nvSpPr>
            <p:cNvPr id="58" name="Google Shape;58;p13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59" name="Google Shape;59;p13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" name="Google Shape;60;p13"/>
          <p:cNvGrpSpPr/>
          <p:nvPr/>
        </p:nvGrpSpPr>
        <p:grpSpPr>
          <a:xfrm>
            <a:off x="7229300" y="4881425"/>
            <a:ext cx="1926000" cy="292500"/>
            <a:chOff x="7229300" y="4881425"/>
            <a:chExt cx="1926000" cy="292500"/>
          </a:xfrm>
        </p:grpSpPr>
        <p:sp>
          <p:nvSpPr>
            <p:cNvPr id="61" name="Google Shape;61;p13"/>
            <p:cNvSpPr txBox="1"/>
            <p:nvPr/>
          </p:nvSpPr>
          <p:spPr>
            <a:xfrm>
              <a:off x="7326500" y="4881425"/>
              <a:ext cx="1828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accent2"/>
                  </a:solidFill>
                </a:rPr>
                <a:t>Sohna Road,Gurugram,Haryana 122103</a:t>
              </a:r>
              <a:endParaRPr sz="700">
                <a:solidFill>
                  <a:schemeClr val="accent2"/>
                </a:solidFill>
              </a:endParaRPr>
            </a:p>
          </p:txBody>
        </p:sp>
        <p:pic>
          <p:nvPicPr>
            <p:cNvPr id="62" name="Google Shape;62;p13" title="location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29300" y="4965192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3" name="Google Shape;63;p13" title="Untitled (2)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42538" y="2662400"/>
            <a:ext cx="3309826" cy="2000826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grpSp>
        <p:nvGrpSpPr>
          <p:cNvPr id="65" name="Google Shape;65;p13"/>
          <p:cNvGrpSpPr/>
          <p:nvPr/>
        </p:nvGrpSpPr>
        <p:grpSpPr>
          <a:xfrm>
            <a:off x="309849" y="1233369"/>
            <a:ext cx="3415942" cy="1911275"/>
            <a:chOff x="788865" y="1515488"/>
            <a:chExt cx="4594407" cy="2387862"/>
          </a:xfrm>
        </p:grpSpPr>
        <p:sp>
          <p:nvSpPr>
            <p:cNvPr id="66" name="Google Shape;66;p13"/>
            <p:cNvSpPr txBox="1"/>
            <p:nvPr/>
          </p:nvSpPr>
          <p:spPr>
            <a:xfrm>
              <a:off x="788865" y="1515488"/>
              <a:ext cx="3197700" cy="7497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 b="1" dirty="0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Lecture 34</a:t>
              </a:r>
              <a:r>
                <a:rPr lang="en" sz="2700" dirty="0">
                  <a:solidFill>
                    <a:schemeClr val="lt1"/>
                  </a:solidFill>
                </a:rPr>
                <a:t>:</a:t>
              </a:r>
              <a:endParaRPr sz="2200" dirty="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67" name="Google Shape;67;p13"/>
            <p:cNvSpPr txBox="1"/>
            <p:nvPr/>
          </p:nvSpPr>
          <p:spPr>
            <a:xfrm>
              <a:off x="788875" y="3475300"/>
              <a:ext cx="6990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-By</a:t>
              </a:r>
              <a:endPara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8" name="Google Shape;68;p13"/>
            <p:cNvSpPr txBox="1"/>
            <p:nvPr/>
          </p:nvSpPr>
          <p:spPr>
            <a:xfrm>
              <a:off x="790272" y="2145213"/>
              <a:ext cx="4593000" cy="11535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lvl="0">
                <a:buClr>
                  <a:schemeClr val="dk1"/>
                </a:buClr>
                <a:buSzPts val="1100"/>
              </a:pPr>
              <a:r>
                <a:rPr lang="en-IN" sz="2400" dirty="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Route Parameters</a:t>
              </a:r>
              <a:endParaRPr sz="2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2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9" name="Google Shape;69;p13"/>
            <p:cNvSpPr txBox="1"/>
            <p:nvPr/>
          </p:nvSpPr>
          <p:spPr>
            <a:xfrm>
              <a:off x="1330896" y="3491750"/>
              <a:ext cx="33132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Instructor Name</a:t>
              </a:r>
              <a:endPara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70" name="Google Shape;70;p13" title="png-transparent-js-react-js-logo-react-react-native-logos-icon-removebg-preview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33272" y="3503196"/>
            <a:ext cx="521207" cy="521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Table of Contents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" name="Google Shape;76;p14"/>
          <p:cNvSpPr txBox="1">
            <a:spLocks noGrp="1"/>
          </p:cNvSpPr>
          <p:nvPr>
            <p:ph type="body" idx="1"/>
          </p:nvPr>
        </p:nvSpPr>
        <p:spPr>
          <a:xfrm>
            <a:off x="311700" y="12347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dirty="0">
                <a:solidFill>
                  <a:srgbClr val="273239"/>
                </a:solidFill>
              </a:rPr>
              <a:t>Route Parameters &amp; Nested Routes.</a:t>
            </a:r>
          </a:p>
          <a:p>
            <a:pPr>
              <a:lnSpc>
                <a:spcPct val="150000"/>
              </a:lnSpc>
              <a:buClr>
                <a:srgbClr val="273239"/>
              </a:buClr>
            </a:pPr>
            <a:r>
              <a:rPr lang="en-IN" dirty="0">
                <a:solidFill>
                  <a:srgbClr val="273239"/>
                </a:solidFill>
              </a:rPr>
              <a:t>Dynamic routing -</a:t>
            </a:r>
            <a:r>
              <a:rPr lang="en-IN" dirty="0" err="1">
                <a:solidFill>
                  <a:srgbClr val="273239"/>
                </a:solidFill>
              </a:rPr>
              <a:t>useParams</a:t>
            </a:r>
            <a:endParaRPr dirty="0">
              <a:solidFill>
                <a:srgbClr val="273239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dirty="0">
                <a:solidFill>
                  <a:srgbClr val="273239"/>
                </a:solidFill>
              </a:rPr>
              <a:t>References.</a:t>
            </a:r>
            <a:endParaRPr dirty="0">
              <a:solidFill>
                <a:srgbClr val="273239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dirty="0">
                <a:solidFill>
                  <a:srgbClr val="273239"/>
                </a:solidFill>
              </a:rPr>
              <a:t>The End.</a:t>
            </a:r>
            <a:endParaRPr dirty="0">
              <a:solidFill>
                <a:srgbClr val="273239"/>
              </a:solidFill>
            </a:endParaRPr>
          </a:p>
        </p:txBody>
      </p:sp>
      <p:pic>
        <p:nvPicPr>
          <p:cNvPr id="77" name="Google Shape;77;p1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2"/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2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sz="22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6" name="Google Shape;246;p3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248" name="Google Shape;248;p32"/>
          <p:cNvSpPr txBox="1"/>
          <p:nvPr/>
        </p:nvSpPr>
        <p:spPr>
          <a:xfrm>
            <a:off x="576075" y="210300"/>
            <a:ext cx="7223700" cy="12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Think of Instagram: when you go to </a:t>
            </a:r>
            <a:r>
              <a:rPr lang="en" sz="1900" b="1">
                <a:solidFill>
                  <a:srgbClr val="1155CC"/>
                </a:solidFill>
                <a:latin typeface="Poppins"/>
                <a:ea typeface="Poppins"/>
                <a:cs typeface="Poppins"/>
                <a:sym typeface="Poppins"/>
              </a:rPr>
              <a:t>/profile/john</a:t>
            </a:r>
            <a:r>
              <a:rPr lang="en" sz="19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vs </a:t>
            </a:r>
            <a:r>
              <a:rPr lang="en" sz="1900" b="1">
                <a:solidFill>
                  <a:srgbClr val="1155CC"/>
                </a:solidFill>
                <a:latin typeface="Poppins"/>
                <a:ea typeface="Poppins"/>
                <a:cs typeface="Poppins"/>
                <a:sym typeface="Poppins"/>
              </a:rPr>
              <a:t>/profile/emma</a:t>
            </a:r>
            <a:r>
              <a:rPr lang="en" sz="19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, does Instagram load two different apps — or just one route that changes based on the username?</a:t>
            </a:r>
            <a:endParaRPr sz="19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9" name="Google Shape;249;p32" title="Thinking face-pan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1720" y="1261872"/>
            <a:ext cx="4489705" cy="3611880"/>
          </a:xfrm>
          <a:prstGeom prst="rect">
            <a:avLst/>
          </a:prstGeom>
          <a:noFill/>
          <a:ln>
            <a:noFill/>
          </a:ln>
          <a:effectLst>
            <a:outerShdw blurRad="142875" dist="95250" dir="738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3"/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2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sz="22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5" name="Google Shape;255;p3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257" name="Google Shape;257;p33"/>
          <p:cNvSpPr txBox="1"/>
          <p:nvPr/>
        </p:nvSpPr>
        <p:spPr>
          <a:xfrm>
            <a:off x="576075" y="210300"/>
            <a:ext cx="7223700" cy="12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Think of Instagram: when you go to </a:t>
            </a:r>
            <a:r>
              <a:rPr lang="en" sz="1900" b="1">
                <a:solidFill>
                  <a:srgbClr val="1155CC"/>
                </a:solidFill>
                <a:latin typeface="Poppins"/>
                <a:ea typeface="Poppins"/>
                <a:cs typeface="Poppins"/>
                <a:sym typeface="Poppins"/>
              </a:rPr>
              <a:t>/profile/john</a:t>
            </a:r>
            <a:r>
              <a:rPr lang="en" sz="19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vs </a:t>
            </a:r>
            <a:r>
              <a:rPr lang="en" sz="1900" b="1">
                <a:solidFill>
                  <a:srgbClr val="1155CC"/>
                </a:solidFill>
                <a:latin typeface="Poppins"/>
                <a:ea typeface="Poppins"/>
                <a:cs typeface="Poppins"/>
                <a:sym typeface="Poppins"/>
              </a:rPr>
              <a:t>/profile/emma</a:t>
            </a:r>
            <a:r>
              <a:rPr lang="en" sz="19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, does Instagram load two different apps — or just one route that changes based on the username?</a:t>
            </a:r>
            <a:endParaRPr sz="19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8" name="Google Shape;258;p33"/>
          <p:cNvSpPr txBox="1"/>
          <p:nvPr/>
        </p:nvSpPr>
        <p:spPr>
          <a:xfrm>
            <a:off x="453825" y="1857375"/>
            <a:ext cx="4840800" cy="25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It’s not loading two different apps — it’s the same route that changes dynamically based on the username. 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In React Router, we use a </a:t>
            </a:r>
            <a:r>
              <a:rPr lang="en" i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Route Parameter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 For example, 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/profile/:username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is one route, and :username is a placeholder. 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So when you visit /profile/john or /profile/emma, React Router dynamically updates the content by filling in the parameter, and shows the correct profile.</a:t>
            </a:r>
            <a:endParaRPr sz="21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9" name="Google Shape;259;p33" title="20250822_1941_Dynamic Profile Page_simple_compose_01k391tzz0fva9v4f1kycj3hm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0825" y="1421600"/>
            <a:ext cx="3285724" cy="3511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4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Route Parameters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5" name="Google Shape;265;p3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267" name="Google Shape;267;p34"/>
          <p:cNvSpPr txBox="1"/>
          <p:nvPr/>
        </p:nvSpPr>
        <p:spPr>
          <a:xfrm>
            <a:off x="310900" y="1092575"/>
            <a:ext cx="7732200" cy="10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Route parameters let us create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dynamic routes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Instead of hardcoding paths, we use placeholders (like 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:id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or 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:username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They allow one route to handle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multiple variations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1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8" name="Google Shape;268;p34" title="carbon (33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4425" y="2257975"/>
            <a:ext cx="6209750" cy="270259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4"/>
          <p:cNvSpPr txBox="1"/>
          <p:nvPr/>
        </p:nvSpPr>
        <p:spPr>
          <a:xfrm>
            <a:off x="310900" y="2371650"/>
            <a:ext cx="1387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Example : 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5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sz="1100"/>
              <a:t> </a:t>
            </a:r>
            <a:r>
              <a:rPr lang="en" sz="275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Setting </a:t>
            </a:r>
            <a:r>
              <a:rPr lang="en" sz="275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:username</a:t>
            </a:r>
            <a:r>
              <a:rPr lang="en" sz="275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using Link</a:t>
            </a:r>
            <a:endParaRPr sz="275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75" name="Google Shape;275;p3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277" name="Google Shape;277;p35" title="carbon (34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475" y="1151400"/>
            <a:ext cx="7912977" cy="373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6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sz="1100"/>
              <a:t> </a:t>
            </a:r>
            <a:r>
              <a:rPr lang="en" sz="275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Accessing the Parameter with </a:t>
            </a:r>
            <a:r>
              <a:rPr lang="en" sz="275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useParams</a:t>
            </a:r>
            <a:endParaRPr sz="2750" b="1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83" name="Google Shape;283;p3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285" name="Google Shape;285;p36" title="carbon (35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5150" y="1083309"/>
            <a:ext cx="7633678" cy="38237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7"/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2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sz="22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91" name="Google Shape;291;p3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293" name="Google Shape;293;p37"/>
          <p:cNvSpPr txBox="1"/>
          <p:nvPr/>
        </p:nvSpPr>
        <p:spPr>
          <a:xfrm>
            <a:off x="576075" y="2103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If you build a dashboard with a sidebar and topbar — would you rewrite the sidebar &amp; topbar again for every page?</a:t>
            </a:r>
            <a:endParaRPr sz="19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94" name="Google Shape;294;p37" title="Questions-amic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27150" y="1261872"/>
            <a:ext cx="4489700" cy="3611880"/>
          </a:xfrm>
          <a:prstGeom prst="rect">
            <a:avLst/>
          </a:prstGeom>
          <a:noFill/>
          <a:ln>
            <a:noFill/>
          </a:ln>
          <a:effectLst>
            <a:outerShdw blurRad="142875" dist="95250" dir="738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8"/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2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sz="22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00" name="Google Shape;300;p3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302" name="Google Shape;302;p38"/>
          <p:cNvSpPr txBox="1"/>
          <p:nvPr/>
        </p:nvSpPr>
        <p:spPr>
          <a:xfrm>
            <a:off x="576075" y="2103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If you build a dashboard with a sidebar and topbar — would you rewrite the sidebar &amp; topbar again for every page?</a:t>
            </a:r>
            <a:endParaRPr sz="19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3" name="Google Shape;303;p38"/>
          <p:cNvSpPr txBox="1"/>
          <p:nvPr/>
        </p:nvSpPr>
        <p:spPr>
          <a:xfrm>
            <a:off x="311700" y="1605225"/>
            <a:ext cx="4840800" cy="15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No. With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Nested Routes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you keep the sidebar &amp; topbar in the parent route (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/dashboard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),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And only swap the child routes (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/dashboard/overview, /dashboard/reports, /dashboard/settings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) inside it using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 &lt;Outlet /&gt;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04" name="Google Shape;304;p38" title="20250822_2021_Modern Dashboard UI_simple_compose_01k39443m8f04byg29gyfkxzv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1600" y="1363775"/>
            <a:ext cx="3149924" cy="3576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9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Nested Routes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10" name="Google Shape;310;p3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312" name="Google Shape;312;p39"/>
          <p:cNvSpPr txBox="1"/>
          <p:nvPr/>
        </p:nvSpPr>
        <p:spPr>
          <a:xfrm>
            <a:off x="310900" y="1252250"/>
            <a:ext cx="7375800" cy="18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Nested routes let you build a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parent route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(like /dashboard) that has common UI (sidebar, header, etc.), 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And then load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child routes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(like /dashboard/overview, /dashboard/reports) inside it — without losing the parent layout.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Syntax : 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13" name="Google Shape;313;p39" title="carbon (36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2225" y="2672600"/>
            <a:ext cx="5932176" cy="199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0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Example : Nested Routes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19" name="Google Shape;319;p4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pic>
        <p:nvPicPr>
          <p:cNvPr id="321" name="Google Shape;321;p40" title="carbon (37).png"/>
          <p:cNvPicPr preferRelativeResize="0"/>
          <p:nvPr/>
        </p:nvPicPr>
        <p:blipFill rotWithShape="1">
          <a:blip r:embed="rId4">
            <a:alphaModFix/>
          </a:blip>
          <a:srcRect b="44414"/>
          <a:stretch/>
        </p:blipFill>
        <p:spPr>
          <a:xfrm>
            <a:off x="310900" y="1124225"/>
            <a:ext cx="7823401" cy="3648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1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Example : Nested Routes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7" name="Google Shape;327;p4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pic>
        <p:nvPicPr>
          <p:cNvPr id="329" name="Google Shape;329;p41" title="carbon (37).png"/>
          <p:cNvPicPr preferRelativeResize="0"/>
          <p:nvPr/>
        </p:nvPicPr>
        <p:blipFill rotWithShape="1">
          <a:blip r:embed="rId4">
            <a:alphaModFix/>
          </a:blip>
          <a:srcRect t="55187"/>
          <a:stretch/>
        </p:blipFill>
        <p:spPr>
          <a:xfrm>
            <a:off x="310900" y="1336325"/>
            <a:ext cx="8159575" cy="31684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2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35" name="Google Shape;335;p4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42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grpSp>
        <p:nvGrpSpPr>
          <p:cNvPr id="338" name="Google Shape;338;p42"/>
          <p:cNvGrpSpPr/>
          <p:nvPr/>
        </p:nvGrpSpPr>
        <p:grpSpPr>
          <a:xfrm>
            <a:off x="310894" y="1014975"/>
            <a:ext cx="6003496" cy="3776525"/>
            <a:chOff x="310900" y="1014975"/>
            <a:chExt cx="5656205" cy="3776525"/>
          </a:xfrm>
        </p:grpSpPr>
        <p:sp>
          <p:nvSpPr>
            <p:cNvPr id="339" name="Google Shape;339;p42"/>
            <p:cNvSpPr txBox="1"/>
            <p:nvPr/>
          </p:nvSpPr>
          <p:spPr>
            <a:xfrm>
              <a:off x="310900" y="1014975"/>
              <a:ext cx="5139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2.   </a:t>
              </a:r>
              <a:r>
                <a:rPr lang="en" sz="1100" b="1">
                  <a:solidFill>
                    <a:schemeClr val="dk1"/>
                  </a:solidFill>
                </a:rPr>
                <a:t> </a:t>
              </a: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 Accessing Route Parameters</a:t>
              </a:r>
              <a:endParaRPr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40" name="Google Shape;340;p42"/>
            <p:cNvSpPr txBox="1"/>
            <p:nvPr/>
          </p:nvSpPr>
          <p:spPr>
            <a:xfrm>
              <a:off x="310905" y="1725200"/>
              <a:ext cx="5656200" cy="306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Task :</a:t>
              </a:r>
              <a:endParaRPr sz="1100">
                <a:solidFill>
                  <a:schemeClr val="dk1"/>
                </a:solidFill>
              </a:endParaRPr>
            </a:p>
            <a:p>
              <a:pPr marL="914400" lvl="0" indent="-29845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en" sz="1100">
                  <a:solidFill>
                    <a:schemeClr val="dk1"/>
                  </a:solidFill>
                </a:rPr>
                <a:t>Create a UserProfile component that can display a user's ID from the URL.</a:t>
              </a:r>
              <a:endParaRPr sz="1100">
                <a:solidFill>
                  <a:schemeClr val="dk1"/>
                </a:solidFill>
              </a:endParaRPr>
            </a:p>
            <a:p>
              <a:pPr marL="1371600" lvl="1" indent="-298450" algn="l" rtl="0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lphaLcPeriod"/>
              </a:pPr>
              <a:r>
                <a:rPr lang="en" sz="1100">
                  <a:solidFill>
                    <a:schemeClr val="dk1"/>
                  </a:solidFill>
                </a:rPr>
                <a:t>Define a route with the path /users/:userId.</a:t>
              </a:r>
              <a:endParaRPr sz="1100">
                <a:solidFill>
                  <a:schemeClr val="dk1"/>
                </a:solidFill>
              </a:endParaRPr>
            </a:p>
            <a:p>
              <a:pPr marL="1371600" lvl="1" indent="-298450" algn="l" rtl="0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lphaLcPeriod"/>
              </a:pPr>
              <a:r>
                <a:rPr lang="en" sz="1100">
                  <a:solidFill>
                    <a:schemeClr val="dk1"/>
                  </a:solidFill>
                </a:rPr>
                <a:t>In the UserProfile component, use the useParams hook to access the userId from the URL.</a:t>
              </a:r>
              <a:endParaRPr sz="1100">
                <a:solidFill>
                  <a:schemeClr val="dk1"/>
                </a:solidFill>
              </a:endParaRPr>
            </a:p>
            <a:p>
              <a:pPr marL="1371600" lvl="1" indent="-29845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lphaLcPeriod"/>
              </a:pPr>
              <a:r>
                <a:rPr lang="en" sz="1100">
                  <a:solidFill>
                    <a:schemeClr val="dk1"/>
                  </a:solidFill>
                </a:rPr>
                <a:t>Display the user ID in a heading.</a:t>
              </a:r>
              <a:endParaRPr sz="1100">
                <a:solidFill>
                  <a:schemeClr val="dk1"/>
                </a:solidFill>
              </a:endParaRPr>
            </a:p>
            <a:p>
              <a:pPr marL="91440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dk1"/>
                </a:solidFill>
              </a:endParaRPr>
            </a:p>
            <a:p>
              <a:pPr marL="91440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dk1"/>
                </a:solidFill>
              </a:endParaRPr>
            </a:p>
            <a:p>
              <a:pPr marL="91440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endParaRPr sz="110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3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46" name="Google Shape;346;p4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43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42389" y="3055750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349" name="Google Shape;349;p43"/>
          <p:cNvSpPr txBox="1"/>
          <p:nvPr/>
        </p:nvSpPr>
        <p:spPr>
          <a:xfrm>
            <a:off x="92400" y="1014975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Solution :</a:t>
            </a:r>
            <a:endParaRPr sz="17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50" name="Google Shape;350;p43" title="carbon (4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4975" y="1507250"/>
            <a:ext cx="5837599" cy="319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4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56" name="Google Shape;356;p4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44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42389" y="3055750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359" name="Google Shape;359;p44"/>
          <p:cNvSpPr txBox="1"/>
          <p:nvPr/>
        </p:nvSpPr>
        <p:spPr>
          <a:xfrm>
            <a:off x="92400" y="1014975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Solution :</a:t>
            </a:r>
            <a:endParaRPr sz="17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60" name="Google Shape;360;p44" title="carbon (44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2575" y="922425"/>
            <a:ext cx="4987701" cy="3935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5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66" name="Google Shape;366;p4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45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sp>
        <p:nvSpPr>
          <p:cNvPr id="369" name="Google Shape;369;p45"/>
          <p:cNvSpPr txBox="1"/>
          <p:nvPr/>
        </p:nvSpPr>
        <p:spPr>
          <a:xfrm>
            <a:off x="310900" y="1086300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Output :</a:t>
            </a:r>
            <a:endParaRPr sz="17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70" name="Google Shape;370;p45" title="Screen Recording 2025-08-25 190517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0900" y="1486150"/>
            <a:ext cx="5799100" cy="339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6"/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76" name="Google Shape;376;p4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46"/>
          <p:cNvSpPr txBox="1"/>
          <p:nvPr/>
        </p:nvSpPr>
        <p:spPr>
          <a:xfrm>
            <a:off x="310900" y="1228825"/>
            <a:ext cx="8354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" sz="1100" b="1">
                <a:solidFill>
                  <a:srgbClr val="273239"/>
                </a:solidFill>
              </a:rPr>
              <a:t>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What is the main purpose of React Router in a single-page application (SPA)?</a:t>
            </a: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5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8" name="Google Shape;378;p46"/>
          <p:cNvSpPr txBox="1"/>
          <p:nvPr/>
        </p:nvSpPr>
        <p:spPr>
          <a:xfrm>
            <a:off x="310900" y="1748350"/>
            <a:ext cx="8084700" cy="14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a) To fetch data from a server.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b) To manage the component's state.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c) To enable navigation between different views or components without causing a full page reload.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d) To style the components.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79" name="Google Shape;379;p46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sp>
        <p:nvSpPr>
          <p:cNvPr id="381" name="Google Shape;381;p46"/>
          <p:cNvSpPr txBox="1"/>
          <p:nvPr/>
        </p:nvSpPr>
        <p:spPr>
          <a:xfrm>
            <a:off x="310950" y="3313725"/>
            <a:ext cx="62604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c) 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 enable navigation between different views or components without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 causing a full page reload.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82" name="Google Shape;382;p46"/>
          <p:cNvGrpSpPr/>
          <p:nvPr/>
        </p:nvGrpSpPr>
        <p:grpSpPr>
          <a:xfrm>
            <a:off x="310900" y="3959263"/>
            <a:ext cx="6005825" cy="743413"/>
            <a:chOff x="310900" y="3959263"/>
            <a:chExt cx="6005825" cy="743413"/>
          </a:xfrm>
        </p:grpSpPr>
        <p:sp>
          <p:nvSpPr>
            <p:cNvPr id="383" name="Google Shape;383;p46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384" name="Google Shape;384;p46"/>
            <p:cNvSpPr txBox="1"/>
            <p:nvPr/>
          </p:nvSpPr>
          <p:spPr>
            <a:xfrm>
              <a:off x="1607925" y="3959275"/>
              <a:ext cx="4708800" cy="7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React Router synchronizes the UI with the URL, allowing you to create a multi-page feel in an application that only ever loads its initial HTML page once.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7"/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90" name="Google Shape;390;p4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47"/>
          <p:cNvSpPr txBox="1"/>
          <p:nvPr/>
        </p:nvSpPr>
        <p:spPr>
          <a:xfrm>
            <a:off x="310900" y="1228825"/>
            <a:ext cx="83541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" sz="1100" b="1">
                <a:solidFill>
                  <a:srgbClr val="273239"/>
                </a:solidFill>
              </a:rPr>
              <a:t>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To enable routing in your application, which component from react-router-dom  </a:t>
            </a:r>
            <a:endParaRPr sz="13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 must you wrap around your root component (e.g., &lt;App /&gt;)?</a:t>
            </a: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5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2" name="Google Shape;392;p47"/>
          <p:cNvSpPr txBox="1"/>
          <p:nvPr/>
        </p:nvSpPr>
        <p:spPr>
          <a:xfrm>
            <a:off x="310900" y="1748350"/>
            <a:ext cx="8084700" cy="14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a) &lt;Link&gt;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       b) &lt;Routes&gt;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       c) &lt;BrowserRouter&gt;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       d) &lt;Route&gt;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93" name="Google Shape;393;p47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sp>
        <p:nvSpPr>
          <p:cNvPr id="395" name="Google Shape;395;p47"/>
          <p:cNvSpPr txBox="1"/>
          <p:nvPr/>
        </p:nvSpPr>
        <p:spPr>
          <a:xfrm>
            <a:off x="310950" y="3313725"/>
            <a:ext cx="6260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c) 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&lt;BrowserRouter&gt;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96" name="Google Shape;396;p47"/>
          <p:cNvGrpSpPr/>
          <p:nvPr/>
        </p:nvGrpSpPr>
        <p:grpSpPr>
          <a:xfrm>
            <a:off x="310900" y="3959263"/>
            <a:ext cx="6005825" cy="743413"/>
            <a:chOff x="310900" y="3959263"/>
            <a:chExt cx="6005825" cy="743413"/>
          </a:xfrm>
        </p:grpSpPr>
        <p:sp>
          <p:nvSpPr>
            <p:cNvPr id="397" name="Google Shape;397;p47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398" name="Google Shape;398;p47"/>
            <p:cNvSpPr txBox="1"/>
            <p:nvPr/>
          </p:nvSpPr>
          <p:spPr>
            <a:xfrm>
              <a:off x="1607925" y="3959275"/>
              <a:ext cx="4708800" cy="7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&lt;BrowserRouter&gt; is the top-level component that uses the browser's History API to create clean URLs and manage the routing context for your entire application.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8"/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04" name="Google Shape;404;p4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48"/>
          <p:cNvSpPr txBox="1"/>
          <p:nvPr/>
        </p:nvSpPr>
        <p:spPr>
          <a:xfrm>
            <a:off x="310900" y="1228825"/>
            <a:ext cx="83541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" sz="1100" b="1">
                <a:solidFill>
                  <a:srgbClr val="273239"/>
                </a:solidFill>
              </a:rPr>
              <a:t>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What is the key difference between a standard &lt;a&gt; tag and React Router's &lt;Link&gt; </a:t>
            </a:r>
            <a:endParaRPr sz="13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component?</a:t>
            </a: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5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6" name="Google Shape;406;p48"/>
          <p:cNvSpPr txBox="1"/>
          <p:nvPr/>
        </p:nvSpPr>
        <p:spPr>
          <a:xfrm>
            <a:off x="310900" y="1748350"/>
            <a:ext cx="8084700" cy="16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a) &lt;Link&gt; can be styled with CSS, but &lt;a&gt; cannot.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b) &lt;a&gt; causes a full page reload, while &lt;Link&gt; handles navigation on the client-side without a  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  reload.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c) &lt;Link&gt; is used for external URLs, while &lt;a&gt; is for internal paths.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d) There is no difference; &lt;Link&gt; is just a different name.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07" name="Google Shape;407;p48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sp>
        <p:nvSpPr>
          <p:cNvPr id="409" name="Google Shape;409;p48"/>
          <p:cNvSpPr txBox="1"/>
          <p:nvPr/>
        </p:nvSpPr>
        <p:spPr>
          <a:xfrm>
            <a:off x="310950" y="3313725"/>
            <a:ext cx="62604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b) 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&lt;a&gt; causes a full page reload, while &lt;Link&gt; handles navigation on the 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 client-side without a  reload.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10" name="Google Shape;410;p48"/>
          <p:cNvGrpSpPr/>
          <p:nvPr/>
        </p:nvGrpSpPr>
        <p:grpSpPr>
          <a:xfrm>
            <a:off x="310900" y="3959263"/>
            <a:ext cx="6005825" cy="938113"/>
            <a:chOff x="310900" y="3959263"/>
            <a:chExt cx="6005825" cy="938113"/>
          </a:xfrm>
        </p:grpSpPr>
        <p:sp>
          <p:nvSpPr>
            <p:cNvPr id="411" name="Google Shape;411;p48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412" name="Google Shape;412;p48"/>
            <p:cNvSpPr txBox="1"/>
            <p:nvPr/>
          </p:nvSpPr>
          <p:spPr>
            <a:xfrm>
              <a:off x="1607925" y="3959275"/>
              <a:ext cx="4708800" cy="93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Using &lt;Link&gt; is crucial for preserving the single-page application experience. It prevents the browser from making a new request to the server, instead letting React Router handle the view change.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9"/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18" name="Google Shape;418;p4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49"/>
          <p:cNvSpPr txBox="1"/>
          <p:nvPr/>
        </p:nvSpPr>
        <p:spPr>
          <a:xfrm>
            <a:off x="310900" y="1228825"/>
            <a:ext cx="8354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" sz="1100" b="1">
                <a:solidFill>
                  <a:srgbClr val="273239"/>
                </a:solidFill>
              </a:rPr>
              <a:t>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How do you define a route path that can match dynamic values, like a user ID?</a:t>
            </a: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7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0" name="Google Shape;420;p49"/>
          <p:cNvSpPr txBox="1"/>
          <p:nvPr/>
        </p:nvSpPr>
        <p:spPr>
          <a:xfrm>
            <a:off x="310900" y="1748350"/>
            <a:ext cx="8084700" cy="14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a) path="/users?id"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b) path="/users/*"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c) path="/users/:id"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d) path="/users/{id}"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21" name="Google Shape;421;p49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sp>
        <p:nvSpPr>
          <p:cNvPr id="423" name="Google Shape;423;p49"/>
          <p:cNvSpPr txBox="1"/>
          <p:nvPr/>
        </p:nvSpPr>
        <p:spPr>
          <a:xfrm>
            <a:off x="310950" y="3313725"/>
            <a:ext cx="6260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c) 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path="/users/:id"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24" name="Google Shape;424;p49"/>
          <p:cNvGrpSpPr/>
          <p:nvPr/>
        </p:nvGrpSpPr>
        <p:grpSpPr>
          <a:xfrm>
            <a:off x="310900" y="3959263"/>
            <a:ext cx="6005825" cy="938113"/>
            <a:chOff x="310900" y="3959263"/>
            <a:chExt cx="6005825" cy="938113"/>
          </a:xfrm>
        </p:grpSpPr>
        <p:sp>
          <p:nvSpPr>
            <p:cNvPr id="425" name="Google Shape;425;p49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426" name="Google Shape;426;p49"/>
            <p:cNvSpPr txBox="1"/>
            <p:nvPr/>
          </p:nvSpPr>
          <p:spPr>
            <a:xfrm>
              <a:off x="1607925" y="3959275"/>
              <a:ext cx="4708800" cy="93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The colon (:) syntax in a path string signifies a URL parameter. React Router will match any value in that segment of the URL (e.g., /users/123) and make 123 available as a parameter named id.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0"/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32" name="Google Shape;432;p5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50"/>
          <p:cNvSpPr txBox="1"/>
          <p:nvPr/>
        </p:nvSpPr>
        <p:spPr>
          <a:xfrm>
            <a:off x="310900" y="1228825"/>
            <a:ext cx="8354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" sz="1100" b="1">
                <a:solidFill>
                  <a:srgbClr val="273239"/>
                </a:solidFill>
              </a:rPr>
              <a:t>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What is the primary advantage of using the &lt;NavLink&gt; component over &lt;Link&gt;?</a:t>
            </a: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5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4" name="Google Shape;434;p50"/>
          <p:cNvSpPr txBox="1"/>
          <p:nvPr/>
        </p:nvSpPr>
        <p:spPr>
          <a:xfrm>
            <a:off x="310900" y="1748350"/>
            <a:ext cx="8084700" cy="14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a) It is faster.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b) It can navigate to external websites.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c) It can automatically apply a style or class (like .active) when its path matches the current URL.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d) It is required for creating nested routes.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35" name="Google Shape;435;p50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sp>
        <p:nvSpPr>
          <p:cNvPr id="437" name="Google Shape;437;p50"/>
          <p:cNvSpPr txBox="1"/>
          <p:nvPr/>
        </p:nvSpPr>
        <p:spPr>
          <a:xfrm>
            <a:off x="310950" y="3313725"/>
            <a:ext cx="62604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c) 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It can automatically apply a style or class (like .active) when its path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matches the current URL.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38" name="Google Shape;438;p50"/>
          <p:cNvGrpSpPr/>
          <p:nvPr/>
        </p:nvGrpSpPr>
        <p:grpSpPr>
          <a:xfrm>
            <a:off x="310900" y="3959263"/>
            <a:ext cx="6005825" cy="743413"/>
            <a:chOff x="310900" y="3959263"/>
            <a:chExt cx="6005825" cy="743413"/>
          </a:xfrm>
        </p:grpSpPr>
        <p:sp>
          <p:nvSpPr>
            <p:cNvPr id="439" name="Google Shape;439;p50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440" name="Google Shape;440;p50"/>
            <p:cNvSpPr txBox="1"/>
            <p:nvPr/>
          </p:nvSpPr>
          <p:spPr>
            <a:xfrm>
              <a:off x="1607925" y="3959275"/>
              <a:ext cx="4708800" cy="7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&lt;NavLink&gt; is specifically designed for navigation menus where you want to visually highlight the link corresponding to the currently active page, improving user experience.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1"/>
          <p:cNvSpPr txBox="1">
            <a:spLocks noGrp="1"/>
          </p:cNvSpPr>
          <p:nvPr>
            <p:ph type="title"/>
          </p:nvPr>
        </p:nvSpPr>
        <p:spPr>
          <a:xfrm>
            <a:off x="310896" y="21031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46" name="Google Shape;446;p5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51"/>
          <p:cNvSpPr txBox="1"/>
          <p:nvPr/>
        </p:nvSpPr>
        <p:spPr>
          <a:xfrm>
            <a:off x="358850" y="1181200"/>
            <a:ext cx="8520600" cy="3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MDN Web Docs</a:t>
            </a:r>
            <a:r>
              <a:rPr lang="en" sz="1100" b="1">
                <a:solidFill>
                  <a:schemeClr val="dk1"/>
                </a:solidFill>
              </a:rPr>
              <a:t> : </a:t>
            </a:r>
            <a:r>
              <a:rPr lang="en" sz="1100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Comprehensive and official documentation for JS.</a:t>
            </a:r>
            <a:br>
              <a:rPr lang="en" sz="1100" i="1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https://developer.mozilla.org/en-US/docs/Web/JavaScript</a:t>
            </a:r>
            <a:endParaRPr sz="1100" u="sng">
              <a:solidFill>
                <a:schemeClr val="hlink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u="sng">
              <a:solidFill>
                <a:schemeClr val="hlink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u="sng">
              <a:solidFill>
                <a:schemeClr val="hlink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u="sng">
              <a:solidFill>
                <a:schemeClr val="hlink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W3Schools – JS Tutorial : </a:t>
            </a:r>
            <a:r>
              <a:rPr lang="en" sz="1100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Beginner-friendly JS tutorials with examples and interactive editors.</a:t>
            </a:r>
            <a:br>
              <a:rPr lang="en" sz="1100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5"/>
              </a:rPr>
              <a:t> https://www.w3schools.com/js/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react.dev -</a:t>
            </a:r>
            <a:r>
              <a:rPr lang="en" sz="1100" b="1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100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comprehensive, tutorial-style website that deeply explores core React concepts, including components, state, effects, and hooks, through interactive examples and in-depth explanations.</a:t>
            </a:r>
            <a:endParaRPr sz="1100" i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🔗</a:t>
            </a:r>
            <a:r>
              <a:rPr lang="en" sz="1100" u="sng">
                <a:solidFill>
                  <a:schemeClr val="hlink"/>
                </a:solidFill>
                <a:hlinkClick r:id="rId6"/>
              </a:rPr>
              <a:t>https://react.dev/</a:t>
            </a:r>
            <a:endParaRPr sz="1100" i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8" name="Google Shape;448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52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454" name="Google Shape;454;p52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52"/>
          <p:cNvSpPr txBox="1"/>
          <p:nvPr/>
        </p:nvSpPr>
        <p:spPr>
          <a:xfrm>
            <a:off x="4407400" y="2020825"/>
            <a:ext cx="4636200" cy="5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173034"/>
                </a:solidFill>
              </a:rPr>
              <a:t>Course - Web Development - II</a:t>
            </a:r>
            <a:endParaRPr sz="2400" b="1">
              <a:solidFill>
                <a:srgbClr val="173034"/>
              </a:solidFill>
            </a:endParaRPr>
          </a:p>
        </p:txBody>
      </p:sp>
      <p:grpSp>
        <p:nvGrpSpPr>
          <p:cNvPr id="456" name="Google Shape;456;p52"/>
          <p:cNvGrpSpPr/>
          <p:nvPr/>
        </p:nvGrpSpPr>
        <p:grpSpPr>
          <a:xfrm>
            <a:off x="4572000" y="4881413"/>
            <a:ext cx="1607600" cy="292500"/>
            <a:chOff x="5060775" y="4881413"/>
            <a:chExt cx="1607600" cy="292500"/>
          </a:xfrm>
        </p:grpSpPr>
        <p:sp>
          <p:nvSpPr>
            <p:cNvPr id="457" name="Google Shape;457;p52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458" name="Google Shape;458;p52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9" name="Google Shape;459;p52"/>
          <p:cNvSpPr txBox="1"/>
          <p:nvPr/>
        </p:nvSpPr>
        <p:spPr>
          <a:xfrm>
            <a:off x="7326500" y="4881425"/>
            <a:ext cx="2340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accent2"/>
                </a:solidFill>
              </a:rPr>
              <a:t>Sohna Road,Gurugram,Haryana 122103</a:t>
            </a:r>
            <a:endParaRPr sz="700">
              <a:solidFill>
                <a:schemeClr val="accent2"/>
              </a:solidFill>
            </a:endParaRPr>
          </a:p>
        </p:txBody>
      </p:sp>
      <p:pic>
        <p:nvPicPr>
          <p:cNvPr id="460" name="Google Shape;460;p52" title="loca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29300" y="4959088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52"/>
          <p:cNvSpPr txBox="1">
            <a:spLocks noGrp="1"/>
          </p:cNvSpPr>
          <p:nvPr>
            <p:ph type="sldNum" idx="12"/>
          </p:nvPr>
        </p:nvSpPr>
        <p:spPr>
          <a:xfrm>
            <a:off x="8494883" y="46482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sp>
        <p:nvSpPr>
          <p:cNvPr id="462" name="Google Shape;462;p52"/>
          <p:cNvSpPr txBox="1"/>
          <p:nvPr/>
        </p:nvSpPr>
        <p:spPr>
          <a:xfrm>
            <a:off x="1033275" y="1691650"/>
            <a:ext cx="23130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Thanks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For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Watching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63" name="Google Shape;463;p52" title="Untitled (2)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38344" y="2660904"/>
            <a:ext cx="3309826" cy="2000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1263</Words>
  <Application>Microsoft Office PowerPoint</Application>
  <PresentationFormat>On-screen Show (16:9)</PresentationFormat>
  <Paragraphs>144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Roboto Slab</vt:lpstr>
      <vt:lpstr>Poppins</vt:lpstr>
      <vt:lpstr>Arial</vt:lpstr>
      <vt:lpstr>Simple Light</vt:lpstr>
      <vt:lpstr>PowerPoint Presentation</vt:lpstr>
      <vt:lpstr>|  Table of Contents</vt:lpstr>
      <vt:lpstr>|  </vt:lpstr>
      <vt:lpstr>|  </vt:lpstr>
      <vt:lpstr>| Route Parameters</vt:lpstr>
      <vt:lpstr>|  Setting :username using Link</vt:lpstr>
      <vt:lpstr>|  Accessing the Parameter with useParams</vt:lpstr>
      <vt:lpstr>|  </vt:lpstr>
      <vt:lpstr>|  </vt:lpstr>
      <vt:lpstr>| Nested Routes</vt:lpstr>
      <vt:lpstr>| Example : Nested Routes</vt:lpstr>
      <vt:lpstr>| Example : Nested Routes</vt:lpstr>
      <vt:lpstr>| Coding Questions</vt:lpstr>
      <vt:lpstr>| Coding Questions</vt:lpstr>
      <vt:lpstr>| Coding Questions</vt:lpstr>
      <vt:lpstr>| Coding Questions</vt:lpstr>
      <vt:lpstr>| Check Your Understanding</vt:lpstr>
      <vt:lpstr>| Check Your Understanding</vt:lpstr>
      <vt:lpstr>| Check Your Understanding</vt:lpstr>
      <vt:lpstr>| Check Your Understanding</vt:lpstr>
      <vt:lpstr>| Check Your Understanding</vt:lpstr>
      <vt:lpstr>| 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Love Porwal</cp:lastModifiedBy>
  <cp:revision>2</cp:revision>
  <dcterms:modified xsi:type="dcterms:W3CDTF">2026-03-17T14:39:05Z</dcterms:modified>
</cp:coreProperties>
</file>