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93" r:id="rId16"/>
    <p:sldId id="294" r:id="rId17"/>
    <p:sldId id="296" r:id="rId18"/>
    <p:sldId id="297" r:id="rId19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Roboto Slab" pitchFamily="2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2099DB-EE65-4545-B3C6-3ED0EA317869}">
  <a:tblStyle styleId="{402099DB-EE65-4545-B3C6-3ED0EA3178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101a37e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101a37e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101a37ef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101a37ef7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101a37ef7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7101a37ef7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14baf38f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714baf38f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714baf38f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714baf38f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14baf38fd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714baf38fd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14baf38f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14baf38f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14baf38fd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14baf38fd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14baf38fd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714baf38fd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14baf38f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714baf38f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714baf38f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714baf38f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714baf38f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714baf38f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714baf38fd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714baf38fd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714baf38fd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714baf38fd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14baf38fd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14baf38fd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714baf38fd_0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714baf38fd_0_2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7101a37ef7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7101a37ef7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7178f2511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7178f2511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.dev/" TargetMode="External"/><Relationship Id="rId5" Type="http://schemas.openxmlformats.org/officeDocument/2006/relationships/hyperlink" Target="https://www.w3schools.com/js/" TargetMode="External"/><Relationship Id="rId4" Type="http://schemas.openxmlformats.org/officeDocument/2006/relationships/hyperlink" Target="https://developer.mozilla.org/en-US/docs/Web/JavaScrip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 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accent2"/>
                  </a:solidFill>
                </a:rPr>
                <a:t>Sohna Road,Gurugram,Haryana 122103</a:t>
              </a:r>
              <a:endParaRPr sz="700">
                <a:solidFill>
                  <a:schemeClr val="accent2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2"/>
            <a:chOff x="788865" y="1515488"/>
            <a:chExt cx="4594407" cy="2387862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 b="1" dirty="0">
                  <a:solidFill>
                    <a:schemeClr val="lt1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38</a:t>
              </a:r>
              <a:r>
                <a:rPr lang="en" sz="2700" dirty="0">
                  <a:solidFill>
                    <a:schemeClr val="lt1"/>
                  </a:solidFill>
                </a:rPr>
                <a:t>:</a:t>
              </a:r>
              <a:endParaRPr sz="2200" dirty="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1292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>
                <a:buClr>
                  <a:schemeClr val="dk1"/>
                </a:buClr>
                <a:buSzPts val="1100"/>
              </a:pPr>
              <a:r>
                <a:rPr lang="en-I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Build Tools - babel</a:t>
              </a:r>
              <a:r>
                <a:rPr lang="en" sz="2400" dirty="0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 &amp; Webpack</a:t>
              </a: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400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747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347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Setting up Webpack &amp; Babel.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References.</a:t>
            </a:r>
            <a:endParaRPr dirty="0">
              <a:solidFill>
                <a:srgbClr val="273239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dirty="0">
                <a:solidFill>
                  <a:srgbClr val="273239"/>
                </a:solidFill>
              </a:rPr>
              <a:t>The End.</a:t>
            </a:r>
            <a:endParaRPr dirty="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Bundler (WebPack)?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6" name="Google Shape;246;p3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48" name="Google Shape;248;p31"/>
          <p:cNvSpPr txBox="1"/>
          <p:nvPr/>
        </p:nvSpPr>
        <p:spPr>
          <a:xfrm>
            <a:off x="456150" y="1171825"/>
            <a:ext cx="73254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bundler is a tool that takes all your JavaScript modules and their dependencies and intelligently combines them into a single, optimized file (a "bundle") that the browser can load efficiently.</a:t>
            </a:r>
            <a:endParaRPr sz="16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456150" y="2280750"/>
            <a:ext cx="914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 : </a:t>
            </a:r>
            <a:endParaRPr sz="16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31"/>
          <p:cNvSpPr txBox="1"/>
          <p:nvPr/>
        </p:nvSpPr>
        <p:spPr>
          <a:xfrm>
            <a:off x="1285875" y="2280750"/>
            <a:ext cx="6569100" cy="22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Modern apps are built using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many separate modules/files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keep code organized. But: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Browsers are slow when loading </a:t>
            </a:r>
            <a: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hundreds of separate files.</a:t>
            </a:r>
            <a:br>
              <a:rPr lang="en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all code is written in plain JS (some use JSX, TypeScript, SCSS, etc.)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Assets like images or fonts need to be loaded intelligently.</a:t>
            </a:r>
            <a:endParaRPr sz="21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6" name="Google Shape;256;p3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58" name="Google Shape;258;p32"/>
          <p:cNvSpPr txBox="1"/>
          <p:nvPr/>
        </p:nvSpPr>
        <p:spPr>
          <a:xfrm>
            <a:off x="456150" y="1171825"/>
            <a:ext cx="73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1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Initialize your project (if not already)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9" name="Google Shape;259;p32" title="carbon - 2025-07-24T110027.9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550" y="1653650"/>
            <a:ext cx="5001950" cy="10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2"/>
          <p:cNvSpPr txBox="1"/>
          <p:nvPr/>
        </p:nvSpPr>
        <p:spPr>
          <a:xfrm>
            <a:off x="456150" y="2967950"/>
            <a:ext cx="73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2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Install Webpack and Webpack CLI: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1" name="Google Shape;261;p32" title="carbon - 2025-07-24T110229.49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7550" y="3368150"/>
            <a:ext cx="6354674" cy="8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2"/>
          <p:cNvSpPr txBox="1"/>
          <p:nvPr/>
        </p:nvSpPr>
        <p:spPr>
          <a:xfrm>
            <a:off x="1187550" y="4364125"/>
            <a:ext cx="60480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webpack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– the core bundler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webpack-cli 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– lets you run webpack from the command line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68" name="Google Shape;268;p3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310900" y="1344875"/>
            <a:ext cx="663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3 :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Create a </a:t>
            </a:r>
            <a:r>
              <a:rPr lang="en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webpack.config.js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file to configure it.</a:t>
            </a:r>
            <a:endParaRPr sz="17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310900" y="1803975"/>
            <a:ext cx="663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4 :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Set up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entry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points.</a:t>
            </a:r>
            <a:endParaRPr sz="20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2" name="Google Shape;272;p33" title="carbon - 2025-07-24T112702.3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600" y="2204175"/>
            <a:ext cx="5570076" cy="193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3"/>
          <p:cNvSpPr txBox="1"/>
          <p:nvPr/>
        </p:nvSpPr>
        <p:spPr>
          <a:xfrm>
            <a:off x="1119600" y="4254025"/>
            <a:ext cx="56046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entry: </a:t>
            </a: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Where Webpack starts bundling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your main index.js)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Where the final bundled file goes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(like dist/bundle.js)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6960250" y="2445925"/>
            <a:ext cx="1934700" cy="440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61C00"/>
                </a:solidFill>
              </a:rPr>
              <a:t>webpack.config.js </a:t>
            </a:r>
            <a:r>
              <a:rPr lang="en"/>
              <a:t>file</a:t>
            </a:r>
            <a:endParaRPr/>
          </a:p>
        </p:txBody>
      </p:sp>
      <p:cxnSp>
        <p:nvCxnSpPr>
          <p:cNvPr id="275" name="Google Shape;275;p33"/>
          <p:cNvCxnSpPr>
            <a:stCxn id="274" idx="1"/>
          </p:cNvCxnSpPr>
          <p:nvPr/>
        </p:nvCxnSpPr>
        <p:spPr>
          <a:xfrm flipH="1">
            <a:off x="6315250" y="2666125"/>
            <a:ext cx="645000" cy="70800"/>
          </a:xfrm>
          <a:prstGeom prst="straightConnector1">
            <a:avLst/>
          </a:prstGeom>
          <a:noFill/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Working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1" name="Google Shape;281;p3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3" name="Google Shape;283;p34"/>
          <p:cNvSpPr txBox="1"/>
          <p:nvPr/>
        </p:nvSpPr>
        <p:spPr>
          <a:xfrm>
            <a:off x="310900" y="1344875"/>
            <a:ext cx="663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Step 1: 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write modern JavaScript code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4" name="Google Shape;284;p34" title="carbon - 2025-07-24T114853.28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5950" y="1745075"/>
            <a:ext cx="4710326" cy="156594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4"/>
          <p:cNvSpPr txBox="1"/>
          <p:nvPr/>
        </p:nvSpPr>
        <p:spPr>
          <a:xfrm>
            <a:off x="310900" y="3376925"/>
            <a:ext cx="663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Step 2: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run Webpack in the terminal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86" name="Google Shape;286;p34" title="carbon - 2025-07-24T115129.47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5950" y="3777125"/>
            <a:ext cx="4615949" cy="116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Working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2" name="Google Shape;292;p3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94" name="Google Shape;294;p35"/>
          <p:cNvSpPr txBox="1"/>
          <p:nvPr/>
        </p:nvSpPr>
        <p:spPr>
          <a:xfrm>
            <a:off x="310900" y="1344875"/>
            <a:ext cx="6633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Step 3:  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use the final </a:t>
            </a: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bundle.js 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 your HTML</a:t>
            </a:r>
            <a:endParaRPr sz="20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95" name="Google Shape;295;p35" title="carbon - 2025-07-24T115326.76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0375" y="1897475"/>
            <a:ext cx="4160424" cy="13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Transpiler (Babel)?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01" name="Google Shape;301;p3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03" name="Google Shape;303;p36"/>
          <p:cNvSpPr txBox="1"/>
          <p:nvPr/>
        </p:nvSpPr>
        <p:spPr>
          <a:xfrm>
            <a:off x="456150" y="1171825"/>
            <a:ext cx="73254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 transpiler is a tool that converts modern JavaScript code (ES2020, JSX, etc.) into older, more widely-supported JavaScript (ES5) that can run in almost any browser.</a:t>
            </a:r>
            <a:endParaRPr sz="19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36"/>
          <p:cNvSpPr txBox="1"/>
          <p:nvPr/>
        </p:nvSpPr>
        <p:spPr>
          <a:xfrm>
            <a:off x="456150" y="2280750"/>
            <a:ext cx="829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Uses :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1234650" y="2280750"/>
            <a:ext cx="6620100" cy="23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Modern JS features like: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let, const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arrow functions () =&gt; {}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template strings `Hello ${name}`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classes, spread/rest, optional chaining, JSX (React)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...are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not supported in older browsers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What is Transpiler (Babel)?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1" name="Google Shape;311;p3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13" name="Google Shape;313;p37"/>
          <p:cNvSpPr txBox="1"/>
          <p:nvPr/>
        </p:nvSpPr>
        <p:spPr>
          <a:xfrm>
            <a:off x="456150" y="1171825"/>
            <a:ext cx="73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 Write : 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4" name="Google Shape;314;p37" title="carbon - 2025-07-24T120557.6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150" y="1572025"/>
            <a:ext cx="6016475" cy="10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7"/>
          <p:cNvSpPr txBox="1"/>
          <p:nvPr/>
        </p:nvSpPr>
        <p:spPr>
          <a:xfrm>
            <a:off x="456150" y="2639150"/>
            <a:ext cx="4530000" cy="7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Old browsers might throw errors.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Babel turns it into this: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6" name="Google Shape;316;p37" title="carbon - 2025-07-24T120807.54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150" y="3412150"/>
            <a:ext cx="4317700" cy="15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8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2" name="Google Shape;322;p3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324" name="Google Shape;324;p38"/>
          <p:cNvSpPr txBox="1"/>
          <p:nvPr/>
        </p:nvSpPr>
        <p:spPr>
          <a:xfrm>
            <a:off x="456150" y="1171825"/>
            <a:ext cx="73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1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Initialize your project (if not already)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5" name="Google Shape;325;p38" title="carbon - 2025-07-24T110027.9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7550" y="1653650"/>
            <a:ext cx="5001950" cy="10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8"/>
          <p:cNvSpPr txBox="1"/>
          <p:nvPr/>
        </p:nvSpPr>
        <p:spPr>
          <a:xfrm>
            <a:off x="456150" y="2705450"/>
            <a:ext cx="7325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2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Install Babel &amp; Its Core Packages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27" name="Google Shape;327;p38" title="carbon - 2025-07-24T121550.33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7550" y="3150388"/>
            <a:ext cx="7101823" cy="87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8"/>
          <p:cNvSpPr txBox="1"/>
          <p:nvPr/>
        </p:nvSpPr>
        <p:spPr>
          <a:xfrm>
            <a:off x="1187550" y="4066025"/>
            <a:ext cx="60480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@babel/core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Babel compiler core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@babel/preset-env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Translates modern JS into older JS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babel-loader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Connects Babel to Webpack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webpack, webpack-cli</a:t>
            </a: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– Bundler (optional but common)</a:t>
            </a:r>
            <a:endParaRPr sz="1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Installation &amp; Setup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4" name="Google Shape;334;p3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336" name="Google Shape;336;p39"/>
          <p:cNvSpPr txBox="1"/>
          <p:nvPr/>
        </p:nvSpPr>
        <p:spPr>
          <a:xfrm>
            <a:off x="310900" y="1126525"/>
            <a:ext cx="39045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3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a file called </a:t>
            </a: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.babelrc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root of your project</a:t>
            </a:r>
            <a:endParaRPr sz="17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7" name="Google Shape;337;p39" title="carbon - 2025-07-24T121948.43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0900" y="2199975"/>
            <a:ext cx="4101174" cy="108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9"/>
          <p:cNvSpPr txBox="1"/>
          <p:nvPr/>
        </p:nvSpPr>
        <p:spPr>
          <a:xfrm>
            <a:off x="5196700" y="1126525"/>
            <a:ext cx="357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Step 4 :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Setup Webpack to Use Babel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9" name="Google Shape;339;p39" title="carbon - 2025-07-24T122240.19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36400" y="1638275"/>
            <a:ext cx="3832702" cy="33243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0" name="Google Shape;340;p39"/>
          <p:cNvCxnSpPr/>
          <p:nvPr/>
        </p:nvCxnSpPr>
        <p:spPr>
          <a:xfrm>
            <a:off x="4658488" y="857125"/>
            <a:ext cx="31500" cy="419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"/>
          <p:cNvSpPr txBox="1">
            <a:spLocks noGrp="1"/>
          </p:cNvSpPr>
          <p:nvPr>
            <p:ph type="title"/>
          </p:nvPr>
        </p:nvSpPr>
        <p:spPr>
          <a:xfrm>
            <a:off x="310900" y="197325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Bundler (WebPack) Working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6" name="Google Shape;346;p4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348" name="Google Shape;348;p40"/>
          <p:cNvSpPr txBox="1"/>
          <p:nvPr/>
        </p:nvSpPr>
        <p:spPr>
          <a:xfrm>
            <a:off x="310900" y="1297650"/>
            <a:ext cx="6216900" cy="31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write modern JS (or JSX).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Babel reads your code.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 uses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presets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(rules) to decide how to convert it.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1000"/>
              </a:spcBef>
              <a:spcAft>
                <a:spcPts val="1000"/>
              </a:spcAft>
              <a:buClr>
                <a:srgbClr val="273239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Outputs older JavaScript code.</a:t>
            </a:r>
            <a:endParaRPr sz="21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9" name="Google Shape;349;p40" title="carbon - 2025-07-24T121948.4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000" y="2571750"/>
            <a:ext cx="5546201" cy="132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1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5" name="Google Shape;355;p4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357" name="Google Shape;357;p41"/>
          <p:cNvSpPr txBox="1"/>
          <p:nvPr/>
        </p:nvSpPr>
        <p:spPr>
          <a:xfrm>
            <a:off x="576075" y="210300"/>
            <a:ext cx="7223700" cy="7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really need Webpack and Babel just to say 'Hello World' in React?</a:t>
            </a:r>
            <a:endParaRPr sz="23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8" name="Google Shape;358;p41" title="Anxiety-pan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31720" y="1261872"/>
            <a:ext cx="4489700" cy="3611880"/>
          </a:xfrm>
          <a:prstGeom prst="rect">
            <a:avLst/>
          </a:prstGeom>
          <a:noFill/>
          <a:ln>
            <a:noFill/>
          </a:ln>
          <a:effectLst>
            <a:outerShdw blurRad="85725" dist="95250" dir="738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2"/>
          <p:cNvSpPr txBox="1">
            <a:spLocks noGrp="1"/>
          </p:cNvSpPr>
          <p:nvPr>
            <p:ph type="title"/>
          </p:nvPr>
        </p:nvSpPr>
        <p:spPr>
          <a:xfrm>
            <a:off x="311700" y="213250"/>
            <a:ext cx="26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200" b="1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endParaRPr sz="22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64" name="Google Shape;364;p4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366" name="Google Shape;366;p42"/>
          <p:cNvSpPr txBox="1"/>
          <p:nvPr/>
        </p:nvSpPr>
        <p:spPr>
          <a:xfrm>
            <a:off x="576075" y="210300"/>
            <a:ext cx="7223700" cy="7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Do you really need Webpack and Babel just to say 'Hello World' in React?</a:t>
            </a:r>
            <a:endParaRPr sz="2300"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7" name="Google Shape;367;p42"/>
          <p:cNvSpPr txBox="1"/>
          <p:nvPr/>
        </p:nvSpPr>
        <p:spPr>
          <a:xfrm>
            <a:off x="311700" y="1234440"/>
            <a:ext cx="7545600" cy="3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No, not at all!</a:t>
            </a:r>
            <a:endParaRPr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If you're just getting started, experimenting, or building a quick demo — you </a:t>
            </a: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don’t need to go through the complex setup of Webpack and Babel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you can use React with just a single HTML file and a few &lt;script&gt; tags from a </a:t>
            </a:r>
            <a:r>
              <a:rPr lang="en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CDN</a:t>
            </a: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. No installation, no setup, no configuration.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Setting up Webpack and Babel means:</a:t>
            </a:r>
            <a:endParaRPr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Installing multiple npm packages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Creating config files (</a:t>
            </a: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webpack.config.js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en" sz="1200">
                <a:solidFill>
                  <a:srgbClr val="A61C00"/>
                </a:solidFill>
                <a:latin typeface="Poppins"/>
                <a:ea typeface="Poppins"/>
                <a:cs typeface="Poppins"/>
                <a:sym typeface="Poppins"/>
              </a:rPr>
              <a:t>.babelrc</a:t>
            </a: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200"/>
              <a:buFont typeface="Poppins"/>
              <a:buChar char="●"/>
            </a:pPr>
            <a:r>
              <a:rPr lang="en" sz="12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Running CLI commands just to compile and bundle your code</a:t>
            </a:r>
            <a:endParaRPr sz="12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It’s like building a factory to make a sandwich. Way too much for something simple.</a:t>
            </a:r>
            <a:endParaRPr sz="15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0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48" name="Google Shape;448;p5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0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b="1">
                <a:solidFill>
                  <a:schemeClr val="dk1"/>
                </a:solidFill>
              </a:rPr>
              <a:t> 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role of a module bundler like Webpack?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310900" y="1748350"/>
            <a:ext cx="8084700" cy="145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a) To check your JavaScript code for errors.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To run your JavaScript code on a server.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To take all your module files and combine them into a single file that the browser can execute.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To write your JavaScript code for you.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1" name="Google Shape;451;p5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453" name="Google Shape;453;p50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To take all your module files and combine them into a single file that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the browser can execute.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54" name="Google Shape;454;p50"/>
          <p:cNvGrpSpPr/>
          <p:nvPr/>
        </p:nvGrpSpPr>
        <p:grpSpPr>
          <a:xfrm>
            <a:off x="310900" y="3959263"/>
            <a:ext cx="6005825" cy="938113"/>
            <a:chOff x="310900" y="3959263"/>
            <a:chExt cx="6005825" cy="938113"/>
          </a:xfrm>
        </p:grpSpPr>
        <p:sp>
          <p:nvSpPr>
            <p:cNvPr id="455" name="Google Shape;455;p5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56" name="Google Shape;456;p50"/>
            <p:cNvSpPr txBox="1"/>
            <p:nvPr/>
          </p:nvSpPr>
          <p:spPr>
            <a:xfrm>
              <a:off x="1607925" y="3959275"/>
              <a:ext cx="4708800" cy="93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Browsers can be inefficient at loading many small files. A bundler like Webpack processes your application, follows the</a:t>
              </a:r>
              <a:r>
                <a:rPr lang="en" sz="1100" b="1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import/export</a:t>
              </a: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 chain, and bundles everything into an optimized, single file for production.</a:t>
              </a:r>
              <a:endParaRPr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1"/>
          <p:cNvSpPr txBox="1">
            <a:spLocks noGrp="1"/>
          </p:cNvSpPr>
          <p:nvPr>
            <p:ph type="title"/>
          </p:nvPr>
        </p:nvSpPr>
        <p:spPr>
          <a:xfrm>
            <a:off x="310900" y="210300"/>
            <a:ext cx="747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2" name="Google Shape;462;p5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51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 b="1">
                <a:solidFill>
                  <a:schemeClr val="dk1"/>
                </a:solidFill>
              </a:rPr>
              <a:t>  </a:t>
            </a:r>
            <a:r>
              <a:rPr lang="en" sz="1300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What is the primary function of a transpiler like Babel?</a:t>
            </a:r>
            <a:r>
              <a:rPr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300" b="1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4" name="Google Shape;464;p51"/>
          <p:cNvSpPr txBox="1"/>
          <p:nvPr/>
        </p:nvSpPr>
        <p:spPr>
          <a:xfrm>
            <a:off x="310900" y="1748350"/>
            <a:ext cx="8084700" cy="16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a) To bundle all JavaScript files into one.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b) To convert modern JavaScript (ES6+) code into an older version (like ES5) that is compatible 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with more browsers.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c) To add a CDN link to your HTML file.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d) To automatically test your code.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5" name="Google Shape;465;p5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467" name="Google Shape;467;p51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chemeClr val="dk2"/>
                </a:solidFill>
              </a:rPr>
              <a:t>  </a:t>
            </a: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c) To convert modern JavaScript (ES6+) code into an older version (like 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ES5) that is compatible with more browsers.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468" name="Google Shape;468;p51"/>
          <p:cNvGrpSpPr/>
          <p:nvPr/>
        </p:nvGrpSpPr>
        <p:grpSpPr>
          <a:xfrm>
            <a:off x="310900" y="3959263"/>
            <a:ext cx="6005825" cy="743413"/>
            <a:chOff x="310900" y="3959263"/>
            <a:chExt cx="6005825" cy="743413"/>
          </a:xfrm>
        </p:grpSpPr>
        <p:sp>
          <p:nvSpPr>
            <p:cNvPr id="469" name="Google Shape;469;p5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b="1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70" name="Google Shape;470;p51"/>
            <p:cNvSpPr txBox="1"/>
            <p:nvPr/>
          </p:nvSpPr>
          <p:spPr>
            <a:xfrm>
              <a:off x="1607925" y="39592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Babel acts as a translator, allowing developers to use the latest JavaScript features without worrying about whether older browsers will understand them.</a:t>
              </a:r>
              <a:endParaRPr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3"/>
          <p:cNvSpPr txBox="1">
            <a:spLocks noGrp="1"/>
          </p:cNvSpPr>
          <p:nvPr>
            <p:ph type="title"/>
          </p:nvPr>
        </p:nvSpPr>
        <p:spPr>
          <a:xfrm>
            <a:off x="310896" y="21031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/>
              <a:t>  </a:t>
            </a:r>
            <a:r>
              <a:rPr lang="en" b="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0" name="Google Shape;490;p5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3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lang="en" sz="1100" b="1">
                <a:solidFill>
                  <a:schemeClr val="dk1"/>
                </a:solidFill>
              </a:rPr>
              <a:t>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lang="en" sz="1100" i="1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https://developer.mozilla.org/en-US/docs/Web/JavaScript</a:t>
            </a: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</a:rPr>
              <a:t> 🔗</a:t>
            </a:r>
            <a:r>
              <a:rPr lang="en" sz="1100" u="sng">
                <a:solidFill>
                  <a:schemeClr val="hlink"/>
                </a:solidFill>
                <a:hlinkClick r:id="rId5"/>
              </a:rPr>
              <a:t> https://www.w3schools.com/js/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lang="en" sz="1100" b="1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 i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🔗</a:t>
            </a:r>
            <a:r>
              <a:rPr lang="en" sz="1100" u="sng">
                <a:solidFill>
                  <a:schemeClr val="hlink"/>
                </a:solidFill>
                <a:hlinkClick r:id="rId6"/>
              </a:rPr>
              <a:t>https://react.dev/</a:t>
            </a:r>
            <a:endParaRPr sz="1100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2" name="Google Shape;492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54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498" name="Google Shape;498;p54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4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73034"/>
                </a:solidFill>
              </a:rPr>
              <a:t>Course - Web Development - II</a:t>
            </a:r>
            <a:endParaRPr sz="2400" b="1">
              <a:solidFill>
                <a:srgbClr val="173034"/>
              </a:solidFill>
            </a:endParaRPr>
          </a:p>
        </p:txBody>
      </p:sp>
      <p:grpSp>
        <p:nvGrpSpPr>
          <p:cNvPr id="500" name="Google Shape;500;p54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501" name="Google Shape;501;p54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1"/>
                  </a:solidFill>
                </a:rPr>
                <a:t>welcome@krmangalam.edu.in</a:t>
              </a:r>
              <a:endParaRPr sz="900">
                <a:solidFill>
                  <a:schemeClr val="dk1"/>
                </a:solidFill>
              </a:endParaRPr>
            </a:p>
          </p:txBody>
        </p:sp>
        <p:pic>
          <p:nvPicPr>
            <p:cNvPr id="502" name="Google Shape;502;p54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3" name="Google Shape;503;p54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accent2"/>
                </a:solidFill>
              </a:rPr>
              <a:t>Sohna Road,Gurugram,Haryana 122103</a:t>
            </a:r>
            <a:endParaRPr sz="700">
              <a:solidFill>
                <a:schemeClr val="accent2"/>
              </a:solidFill>
            </a:endParaRPr>
          </a:p>
        </p:txBody>
      </p:sp>
      <p:pic>
        <p:nvPicPr>
          <p:cNvPr id="504" name="Google Shape;504;p54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54"/>
          <p:cNvSpPr txBox="1">
            <a:spLocks noGrp="1"/>
          </p:cNvSpPr>
          <p:nvPr>
            <p:ph type="sldNum" idx="12"/>
          </p:nvPr>
        </p:nvSpPr>
        <p:spPr>
          <a:xfrm>
            <a:off x="8494883" y="464826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sp>
        <p:nvSpPr>
          <p:cNvPr id="506" name="Google Shape;506;p54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7" name="Google Shape;507;p54" title="Untitled (2)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PresentationFormat>On-screen Show (16:9)</PresentationFormat>
  <Paragraphs>135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Poppins</vt:lpstr>
      <vt:lpstr>Roboto Slab</vt:lpstr>
      <vt:lpstr>Arial</vt:lpstr>
      <vt:lpstr>Simple Light</vt:lpstr>
      <vt:lpstr>PowerPoint Presentation</vt:lpstr>
      <vt:lpstr>|  Table of Contents</vt:lpstr>
      <vt:lpstr>| What is Bundler (WebPack)?</vt:lpstr>
      <vt:lpstr>|  Bundler (WebPack) Installation &amp; Setup</vt:lpstr>
      <vt:lpstr>|  Bundler (WebPack) Installation &amp; Setup</vt:lpstr>
      <vt:lpstr>|  Bundler (WebPack) Working</vt:lpstr>
      <vt:lpstr>|  Bundler (WebPack) Working</vt:lpstr>
      <vt:lpstr>| What is Transpiler (Babel)?</vt:lpstr>
      <vt:lpstr>| What is Transpiler (Babel)?</vt:lpstr>
      <vt:lpstr>|  Bundler (WebPack) Installation &amp; Setup</vt:lpstr>
      <vt:lpstr>|  Bundler (WebPack) Installation &amp; Setup</vt:lpstr>
      <vt:lpstr>|  Bundler (WebPack) Working</vt:lpstr>
      <vt:lpstr>|  </vt:lpstr>
      <vt:lpstr>|  </vt:lpstr>
      <vt:lpstr>| Check Your Understanding</vt:lpstr>
      <vt:lpstr>| Check Your Understanding</vt:lpstr>
      <vt:lpstr>|  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Love Porwal</cp:lastModifiedBy>
  <cp:revision>1</cp:revision>
  <dcterms:modified xsi:type="dcterms:W3CDTF">2026-03-17T15:05:44Z</dcterms:modified>
</cp:coreProperties>
</file>