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y="5143500" cx="9144000"/>
  <p:notesSz cx="6858000" cy="9144000"/>
  <p:embeddedFontLst>
    <p:embeddedFont>
      <p:font typeface="Roboto Slab"/>
      <p:regular r:id="rId60"/>
      <p:bold r:id="rId61"/>
    </p:embeddedFont>
    <p:embeddedFont>
      <p:font typeface="Poppins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E4FFFF-B693-4AF7-BC9A-82B4FF1A44FD}">
  <a:tblStyle styleId="{4EE4FFFF-B693-4AF7-BC9A-82B4FF1A44F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Poppins-regular.fntdata"/><Relationship Id="rId61" Type="http://schemas.openxmlformats.org/officeDocument/2006/relationships/font" Target="fonts/RobotoSlab-bold.fntdata"/><Relationship Id="rId20" Type="http://schemas.openxmlformats.org/officeDocument/2006/relationships/slide" Target="slides/slide14.xml"/><Relationship Id="rId64" Type="http://schemas.openxmlformats.org/officeDocument/2006/relationships/font" Target="fonts/Poppins-italic.fntdata"/><Relationship Id="rId63" Type="http://schemas.openxmlformats.org/officeDocument/2006/relationships/font" Target="fonts/Poppins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65" Type="http://schemas.openxmlformats.org/officeDocument/2006/relationships/font" Target="fonts/Poppins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obotoSlab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c74df00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c74df00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c74df004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c74df004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c74df004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c74df004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c74df004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c74df004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c74df004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c74df004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c74df004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c74df004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c74df004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c74df004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c74df004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c74df004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c74df004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c74df004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c74df004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c74df004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c74df0049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c74df004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c74df0049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c74df004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c74df0049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c74df004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c74df0049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bc74df0049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c74df0049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bc74df0049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c74df0049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bc74df0049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c74df0049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c74df0049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c74df0049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bc74df0049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c74df0049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bc74df004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c74df0049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bc74df0049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c74df0049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bc74df0049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bc74df0049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bc74df0049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c74df0049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bc74df0049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c74df0049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bc74df0049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c74df0049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bc74df0049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bc74df0049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bc74df0049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c74df0049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bc74df0049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bc74df0049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bc74df0049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bc74df0049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bc74df0049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bc74df0049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bc74df0049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bc74df0049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bc74df0049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bc74df0049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bc74df0049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bc74df0049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bc74df0049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c74df0049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bc74df0049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c74df0049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bc74df0049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bc74df0049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bc74df0049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bc74df0049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bc74df0049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bc74df0049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bc74df0049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c74df0049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bc74df0049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bc74df0049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bc74df0049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c74df0049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bc74df0049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bc74df0049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bc74df0049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bc74df0049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bc74df0049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c74df0049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bc74df0049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bc74df0049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bc74df0049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bc74df0049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bc74df0049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bc74df0049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bc74df0049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bc74df0049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bc74df0049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bc74df0049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bc74df0049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bc74df0049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bc74df0049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bc74df0049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bc74df0049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bc74df0049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bc74df0049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c74df0049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bc74df0049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46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4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Relationship Id="rId4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3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Relationship Id="rId4" Type="http://schemas.openxmlformats.org/officeDocument/2006/relationships/image" Target="../media/image3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4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Relationship Id="rId4" Type="http://schemas.openxmlformats.org/officeDocument/2006/relationships/image" Target="../media/image3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image" Target="../media/image4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Relationship Id="rId4" Type="http://schemas.openxmlformats.org/officeDocument/2006/relationships/image" Target="../media/image3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Relationship Id="rId4" Type="http://schemas.openxmlformats.org/officeDocument/2006/relationships/image" Target="../media/image4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Relationship Id="rId4" Type="http://schemas.openxmlformats.org/officeDocument/2006/relationships/image" Target="../media/image4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Relationship Id="rId4" Type="http://schemas.openxmlformats.org/officeDocument/2006/relationships/hyperlink" Target="https://developer.mozilla.org/en-US/docs/Web/JavaScript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react.dev/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Untitled (2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2538" y="2662400"/>
            <a:ext cx="3309826" cy="2000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387863"/>
            <a:chOff x="788865" y="1515488"/>
            <a:chExt cx="4594407" cy="2387863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26</a:t>
              </a:r>
              <a:r>
                <a:rPr lang="en" sz="2700">
                  <a:solidFill>
                    <a:schemeClr val="lt1"/>
                  </a:solidFill>
                </a:rPr>
                <a:t>:</a:t>
              </a:r>
              <a:endParaRPr sz="2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90272" y="2145213"/>
              <a:ext cx="45930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Styling in React</a:t>
              </a:r>
              <a:endPara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Instructor Name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70" name="Google Shape;70;p13" title="png-transparent-js-react-js-logo-react-react-native-logos-icon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3272" y="3666744"/>
            <a:ext cx="521207" cy="52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Inline Styling vs. CSS Modules.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Styled Components &amp; Emotion Library.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Tailwind CSS in React.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Theming &amp; Global Styles.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References.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The End.</a:t>
            </a:r>
            <a:endParaRPr>
              <a:solidFill>
                <a:srgbClr val="273239"/>
              </a:solidFill>
            </a:endParaRPr>
          </a:p>
        </p:txBody>
      </p:sp>
      <p:pic>
        <p:nvPicPr>
          <p:cNvPr id="77" name="Google Shape;77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Now that we know how to build components, how do we style them to look modern, clean, and user-friendly?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" name="Google Shape;87;p15" title="Thinking face-rafiki (3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172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" name="Google Shape;93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Now that we know how to build components, how do we style them to look modern, clean, and user-friendly?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11700" y="1399925"/>
            <a:ext cx="7545600" cy="28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Now that we’ve built the structure of our components, it’s time to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give them a visual identity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just like decorating a house after it's built.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React, there are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multiple ways to style components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each with its own use case and benefits.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Inline Styles.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CSS Stylesheets.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CSS Modules.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Styled Components.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Inline Styles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2" name="Google Shape;102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310900" y="1226875"/>
            <a:ext cx="6594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Apply styles directly to elements using the style prop.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Great for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quick, one-off changes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5" name="Google Shape;105;p17" title="carbon - 2025-08-01T161124.2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1000" y="2993825"/>
            <a:ext cx="7098826" cy="169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CSS Stylesheets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1" name="Google Shape;111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310900" y="1226875"/>
            <a:ext cx="6594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 standard </a:t>
            </a:r>
            <a:r>
              <a:rPr lang="en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.css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files and className in JSX.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Clean and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separates logic from design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18" title="carbon - 2025-08-01T160859.25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1725" y="2178150"/>
            <a:ext cx="3661974" cy="2485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CSS Modules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0" name="Google Shape;120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 txBox="1"/>
          <p:nvPr/>
        </p:nvSpPr>
        <p:spPr>
          <a:xfrm>
            <a:off x="315300" y="1132500"/>
            <a:ext cx="8513400" cy="16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CSS Modules are a way to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scope your CSS to individual components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so that styles don’t leak out or clash with styles from other components.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Instead of using global .css files where class names might collide,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CSS Modules create locally scoped class names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automatically.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3" name="Google Shape;123;p19" title="carbon - 2025-08-01T162219.5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0650" y="2469500"/>
            <a:ext cx="6109449" cy="2296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19"/>
          <p:cNvCxnSpPr/>
          <p:nvPr/>
        </p:nvCxnSpPr>
        <p:spPr>
          <a:xfrm flipH="1">
            <a:off x="5355775" y="3051500"/>
            <a:ext cx="2508900" cy="7473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" name="Google Shape;125;p19"/>
          <p:cNvSpPr txBox="1"/>
          <p:nvPr/>
        </p:nvSpPr>
        <p:spPr>
          <a:xfrm>
            <a:off x="7781500" y="2831700"/>
            <a:ext cx="114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ClassName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Inline Styles vs CSS Modules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1" name="Google Shape;131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33" name="Google Shape;133;p20"/>
          <p:cNvGraphicFramePr/>
          <p:nvPr/>
        </p:nvGraphicFramePr>
        <p:xfrm>
          <a:off x="310900" y="101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{4EE4FFFF-B693-4AF7-BC9A-82B4FF1A44FD}</a:tableStyleId>
              </a:tblPr>
              <a:tblGrid>
                <a:gridCol w="2049600"/>
                <a:gridCol w="3127850"/>
                <a:gridCol w="3280725"/>
              </a:tblGrid>
              <a:tr h="418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 b="1" sz="11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Inline Styles</a:t>
                      </a:r>
                      <a:endParaRPr b="1" sz="11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CSS Modules</a:t>
                      </a:r>
                      <a:endParaRPr b="1" sz="11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42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Where?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Inside component (style={{}})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Separate .module.css file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</a:tr>
              <a:tr h="39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Syntax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JS object (camelCase)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Normal CSS (kebab-case)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</a:tr>
              <a:tr h="48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Scoped?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Yes (element-level)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Yes (auto-generated class names)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</a:tr>
              <a:tr h="43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Reusable?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Yes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</a:tr>
              <a:tr h="48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Dynamic Styles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Easy with props/state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Needs logic with clsx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</a:tr>
              <a:tr h="43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Hover/Focus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Not supported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Supported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</a:tr>
              <a:tr h="43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Media Queries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Not supported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Supported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</a:tr>
              <a:tr h="43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Theming</a:t>
                      </a:r>
                      <a:endParaRPr b="1"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Easy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Needs setup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9" name="Google Shape;139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1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2" name="Google Shape;142;p21"/>
          <p:cNvGrpSpPr/>
          <p:nvPr/>
        </p:nvGrpSpPr>
        <p:grpSpPr>
          <a:xfrm>
            <a:off x="310894" y="1014975"/>
            <a:ext cx="6716433" cy="2557325"/>
            <a:chOff x="310900" y="1014975"/>
            <a:chExt cx="6327900" cy="2557325"/>
          </a:xfrm>
        </p:grpSpPr>
        <p:sp>
          <p:nvSpPr>
            <p:cNvPr id="143" name="Google Shape;143;p21"/>
            <p:cNvSpPr txBox="1"/>
            <p:nvPr/>
          </p:nvSpPr>
          <p:spPr>
            <a:xfrm>
              <a:off x="310900" y="1014975"/>
              <a:ext cx="5139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1.   Inline Styling</a:t>
              </a:r>
              <a:endParaRPr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" name="Google Shape;144;p21"/>
            <p:cNvSpPr txBox="1"/>
            <p:nvPr/>
          </p:nvSpPr>
          <p:spPr>
            <a:xfrm>
              <a:off x="310900" y="1725200"/>
              <a:ext cx="6327900" cy="18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914400" rtl="0" algn="l">
                <a:lnSpc>
                  <a:spcPct val="2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Create a React component named </a:t>
              </a:r>
              <a:r>
                <a:rPr b="1" lang="en" sz="1100">
                  <a:solidFill>
                    <a:schemeClr val="dk1"/>
                  </a:solidFill>
                </a:rPr>
                <a:t>AlertBox</a:t>
              </a:r>
              <a:r>
                <a:rPr lang="en" sz="1100">
                  <a:solidFill>
                    <a:schemeClr val="dk1"/>
                  </a:solidFill>
                </a:rPr>
                <a:t>. Inside the component, create a JavaScript object named </a:t>
              </a:r>
              <a:r>
                <a:rPr b="1" lang="en" sz="1100">
                  <a:solidFill>
                    <a:schemeClr val="dk1"/>
                  </a:solidFill>
                </a:rPr>
                <a:t>alertStyle</a:t>
              </a:r>
              <a:r>
                <a:rPr lang="en" sz="1100">
                  <a:solidFill>
                    <a:schemeClr val="dk1"/>
                  </a:solidFill>
                </a:rPr>
                <a:t>. This object should define a </a:t>
              </a:r>
              <a:r>
                <a:rPr b="1" lang="en" sz="1100">
                  <a:solidFill>
                    <a:schemeClr val="dk1"/>
                  </a:solidFill>
                </a:rPr>
                <a:t>backgroundColor </a:t>
              </a:r>
              <a:r>
                <a:rPr lang="en" sz="1100">
                  <a:solidFill>
                    <a:schemeClr val="dk1"/>
                  </a:solidFill>
                </a:rPr>
                <a:t>of </a:t>
              </a:r>
              <a:r>
                <a:rPr b="1" lang="en" sz="1100">
                  <a:solidFill>
                    <a:schemeClr val="dk1"/>
                  </a:solidFill>
                </a:rPr>
                <a:t>lightcoral</a:t>
              </a:r>
              <a:r>
                <a:rPr lang="en" sz="1100">
                  <a:solidFill>
                    <a:schemeClr val="dk1"/>
                  </a:solidFill>
                </a:rPr>
                <a:t>, a </a:t>
              </a:r>
              <a:r>
                <a:rPr b="1" lang="en" sz="1100">
                  <a:solidFill>
                    <a:schemeClr val="dk1"/>
                  </a:solidFill>
                </a:rPr>
                <a:t>color</a:t>
              </a:r>
              <a:r>
                <a:rPr lang="en" sz="1100">
                  <a:solidFill>
                    <a:schemeClr val="dk1"/>
                  </a:solidFill>
                </a:rPr>
                <a:t> of </a:t>
              </a:r>
              <a:r>
                <a:rPr b="1" lang="en" sz="1100">
                  <a:solidFill>
                    <a:schemeClr val="dk1"/>
                  </a:solidFill>
                </a:rPr>
                <a:t>white</a:t>
              </a:r>
              <a:r>
                <a:rPr lang="en" sz="1100">
                  <a:solidFill>
                    <a:schemeClr val="dk1"/>
                  </a:solidFill>
                </a:rPr>
                <a:t>, and </a:t>
              </a:r>
              <a:r>
                <a:rPr b="1" lang="en" sz="1100">
                  <a:solidFill>
                    <a:schemeClr val="dk1"/>
                  </a:solidFill>
                </a:rPr>
                <a:t>padding</a:t>
              </a:r>
              <a:r>
                <a:rPr lang="en" sz="1100">
                  <a:solidFill>
                    <a:schemeClr val="dk1"/>
                  </a:solidFill>
                </a:rPr>
                <a:t> of </a:t>
              </a:r>
              <a:r>
                <a:rPr b="1" lang="en" sz="1100">
                  <a:solidFill>
                    <a:schemeClr val="dk1"/>
                  </a:solidFill>
                </a:rPr>
                <a:t>'16px'</a:t>
              </a:r>
              <a:r>
                <a:rPr lang="en" sz="1100">
                  <a:solidFill>
                    <a:schemeClr val="dk1"/>
                  </a:solidFill>
                </a:rPr>
                <a:t>. Apply this style object to a </a:t>
              </a:r>
              <a:r>
                <a:rPr b="1" lang="en" sz="1100">
                  <a:solidFill>
                    <a:schemeClr val="dk1"/>
                  </a:solidFill>
                </a:rPr>
                <a:t>&lt;div&gt;</a:t>
              </a:r>
              <a:r>
                <a:rPr lang="en" sz="1100">
                  <a:solidFill>
                    <a:schemeClr val="dk1"/>
                  </a:solidFill>
                </a:rPr>
                <a:t> that contains the text "This is an alert!".</a:t>
              </a: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0" name="Google Shape;150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2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4" name="Google Shape;154;p22" title="carbon - 2025-08-04T101243.820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9525" y="968325"/>
            <a:ext cx="4555600" cy="397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0" name="Google Shape;160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23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4" name="Google Shape;164;p23" title="Screenshot 2025-08-04 102137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0900" y="1911150"/>
            <a:ext cx="5641001" cy="1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0" name="Google Shape;170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73" name="Google Shape;173;p24"/>
          <p:cNvGrpSpPr/>
          <p:nvPr/>
        </p:nvGrpSpPr>
        <p:grpSpPr>
          <a:xfrm>
            <a:off x="310894" y="1014975"/>
            <a:ext cx="6716433" cy="2730725"/>
            <a:chOff x="310900" y="1014975"/>
            <a:chExt cx="6327900" cy="2730725"/>
          </a:xfrm>
        </p:grpSpPr>
        <p:sp>
          <p:nvSpPr>
            <p:cNvPr id="174" name="Google Shape;174;p24"/>
            <p:cNvSpPr txBox="1"/>
            <p:nvPr/>
          </p:nvSpPr>
          <p:spPr>
            <a:xfrm>
              <a:off x="310900" y="1014975"/>
              <a:ext cx="5139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2.   Basic CSS Modules</a:t>
              </a:r>
              <a:endParaRPr b="1" sz="17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5" name="Google Shape;175;p24"/>
            <p:cNvSpPr txBox="1"/>
            <p:nvPr/>
          </p:nvSpPr>
          <p:spPr>
            <a:xfrm>
              <a:off x="310900" y="1725200"/>
              <a:ext cx="6327900" cy="20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9144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Create a CSS file named</a:t>
              </a:r>
              <a:r>
                <a:rPr b="1" lang="en" sz="1100">
                  <a:solidFill>
                    <a:schemeClr val="dk1"/>
                  </a:solidFill>
                </a:rPr>
                <a:t> Button.module.css</a:t>
              </a:r>
              <a:r>
                <a:rPr lang="en" sz="1100">
                  <a:solidFill>
                    <a:schemeClr val="dk1"/>
                  </a:solidFill>
                </a:rPr>
                <a:t>. Inside it, define a class </a:t>
              </a:r>
              <a:r>
                <a:rPr b="1" lang="en" sz="1100">
                  <a:solidFill>
                    <a:schemeClr val="dk1"/>
                  </a:solidFill>
                </a:rPr>
                <a:t>.primaryButton</a:t>
              </a:r>
              <a:r>
                <a:rPr lang="en" sz="1100">
                  <a:solidFill>
                    <a:schemeClr val="dk1"/>
                  </a:solidFill>
                </a:rPr>
                <a:t> with some styles (e.g., background color, padding, border).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91440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Create a Button component in </a:t>
              </a:r>
              <a:r>
                <a:rPr b="1" lang="en" sz="1100">
                  <a:solidFill>
                    <a:schemeClr val="dk1"/>
                  </a:solidFill>
                </a:rPr>
                <a:t>Button.jsx</a:t>
              </a:r>
              <a:r>
                <a:rPr lang="en" sz="1100">
                  <a:solidFill>
                    <a:schemeClr val="dk1"/>
                  </a:solidFill>
                </a:rPr>
                <a:t>.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91440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Import the styles from</a:t>
              </a:r>
              <a:r>
                <a:rPr b="1" lang="en" sz="1100">
                  <a:solidFill>
                    <a:schemeClr val="dk1"/>
                  </a:solidFill>
                </a:rPr>
                <a:t> Button.module.css</a:t>
              </a:r>
              <a:r>
                <a:rPr lang="en" sz="1100">
                  <a:solidFill>
                    <a:schemeClr val="dk1"/>
                  </a:solidFill>
                </a:rPr>
                <a:t>.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914400" rtl="0" algn="l">
                <a:lnSpc>
                  <a:spcPct val="115000"/>
                </a:lnSpc>
                <a:spcBef>
                  <a:spcPts val="120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Apply the imported class to a </a:t>
              </a:r>
              <a:r>
                <a:rPr b="1" lang="en" sz="1100">
                  <a:solidFill>
                    <a:schemeClr val="dk1"/>
                  </a:solidFill>
                </a:rPr>
                <a:t>&lt;button&gt;</a:t>
              </a:r>
              <a:r>
                <a:rPr lang="en" sz="1100">
                  <a:solidFill>
                    <a:schemeClr val="dk1"/>
                  </a:solidFill>
                </a:rPr>
                <a:t> element.</a:t>
              </a: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1" name="Google Shape;181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5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5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5" name="Google Shape;185;p25" title="carbon - 2025-08-04T102616.57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9750" y="798000"/>
            <a:ext cx="4512349" cy="425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1" name="Google Shape;191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6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26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5" name="Google Shape;195;p26" title="Screenshot 2025-08-04 10300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2550" y="1996525"/>
            <a:ext cx="2529450" cy="14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1" name="Google Shape;201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27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Why switch between CSS and JS files when you could write CSS right where your component lives?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4" name="Google Shape;204;p27" title="Man thinking-amico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715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0" name="Google Shape;210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8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Why switch between CSS and JS files when you could write CSS right where your component lives?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p28"/>
          <p:cNvSpPr txBox="1"/>
          <p:nvPr/>
        </p:nvSpPr>
        <p:spPr>
          <a:xfrm>
            <a:off x="311700" y="1321250"/>
            <a:ext cx="4564500" cy="27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Because writing CSS directly in your component — like with </a:t>
            </a:r>
            <a:r>
              <a:rPr b="1" lang="en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Styled Components</a:t>
            </a:r>
            <a:r>
              <a:rPr lang="en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 or </a:t>
            </a:r>
            <a:r>
              <a:rPr b="1" lang="en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Emotion</a:t>
            </a:r>
            <a:r>
              <a:rPr lang="en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 — keeps your styles </a:t>
            </a:r>
            <a:r>
              <a:rPr b="1" lang="en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scoped</a:t>
            </a:r>
            <a:r>
              <a:rPr lang="en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reusable</a:t>
            </a:r>
            <a:r>
              <a:rPr lang="en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b="1" lang="en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easier to maintain</a:t>
            </a:r>
            <a:r>
              <a:rPr lang="en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, all in one place.</a:t>
            </a:r>
            <a:endParaRPr>
              <a:solidFill>
                <a:srgbClr val="252B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52B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52B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No more file switching, class name clashes, or scattered styles — just clean, component-driven styling where it belongs.</a:t>
            </a:r>
            <a:endParaRPr sz="2100">
              <a:solidFill>
                <a:srgbClr val="252B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4" name="Google Shape;214;p28" title="20250804_1221_Styled Button Card_simple_compose_01k1sxevref5h8e0hp1phg64f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8025" y="1179700"/>
            <a:ext cx="3459300" cy="3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8" title="20250804_1221_Styled Button Card_simple_compose_01k1sxevref5h8e0hp1phg64f3.png"/>
          <p:cNvPicPr preferRelativeResize="0"/>
          <p:nvPr/>
        </p:nvPicPr>
        <p:blipFill rotWithShape="1">
          <a:blip r:embed="rId4">
            <a:alphaModFix/>
          </a:blip>
          <a:srcRect b="30238" l="25051" r="58947" t="65787"/>
          <a:stretch/>
        </p:blipFill>
        <p:spPr>
          <a:xfrm>
            <a:off x="5908200" y="3940225"/>
            <a:ext cx="548700" cy="20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8" title="20250804_1221_Styled Button Card_simple_compose_01k1sxevref5h8e0hp1phg64f3.png"/>
          <p:cNvPicPr preferRelativeResize="0"/>
          <p:nvPr/>
        </p:nvPicPr>
        <p:blipFill rotWithShape="1">
          <a:blip r:embed="rId4">
            <a:alphaModFix/>
          </a:blip>
          <a:srcRect b="30238" l="25051" r="58947" t="65787"/>
          <a:stretch/>
        </p:blipFill>
        <p:spPr>
          <a:xfrm>
            <a:off x="5824650" y="3605025"/>
            <a:ext cx="548700" cy="20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8" title="20250804_1221_Styled Button Card_simple_compose_01k1sxevref5h8e0hp1phg64f3.png"/>
          <p:cNvPicPr preferRelativeResize="0"/>
          <p:nvPr/>
        </p:nvPicPr>
        <p:blipFill rotWithShape="1">
          <a:blip r:embed="rId4">
            <a:alphaModFix/>
          </a:blip>
          <a:srcRect b="24248" l="68619" r="7987" t="69577"/>
          <a:stretch/>
        </p:blipFill>
        <p:spPr>
          <a:xfrm>
            <a:off x="5781450" y="3775075"/>
            <a:ext cx="802199" cy="20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Styled Components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3" name="Google Shape;223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9"/>
          <p:cNvSpPr txBox="1"/>
          <p:nvPr/>
        </p:nvSpPr>
        <p:spPr>
          <a:xfrm>
            <a:off x="315300" y="1132500"/>
            <a:ext cx="8513400" cy="1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Uses JavaScript to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create styled components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Combines styling + logic in one file — great for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theming and reusable UI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Installation :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npm install styled-components</a:t>
            </a:r>
            <a:endParaRPr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6" name="Google Shape;226;p29" title="carbon - 2025-08-01T162748.3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8125" y="2433875"/>
            <a:ext cx="4015900" cy="2560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What is Emotion in React 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2" name="Google Shape;232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4" name="Google Shape;234;p30"/>
          <p:cNvSpPr txBox="1"/>
          <p:nvPr/>
        </p:nvSpPr>
        <p:spPr>
          <a:xfrm>
            <a:off x="315300" y="1132500"/>
            <a:ext cx="85134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Emotion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popular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CSS-in-JS library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for styling React components.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lets you write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CSS directly in your JavaScript or TypeScript files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just like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Styled Components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but with more flexibility and control.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Think of Emotion as a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styling toolbox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that combines the power of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JavaScript logic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with the ease of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writing regular CSS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Installation :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5" name="Google Shape;235;p30" title="carbon - 2025-08-01T170618.2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413" y="3271225"/>
            <a:ext cx="7941181" cy="1278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Why use Emotion in React 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1" name="Google Shape;241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31"/>
          <p:cNvSpPr txBox="1"/>
          <p:nvPr/>
        </p:nvSpPr>
        <p:spPr>
          <a:xfrm>
            <a:off x="310900" y="1392050"/>
            <a:ext cx="7543800" cy="22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Style your components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inline or with styled components.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Scoped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styles (no conflicts).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Supports themes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(dark mode, custom colors).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Full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dynamic styling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using props, state, conditions.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Extremely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fast and lightweight.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Why use Emotion in React 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9" name="Google Shape;249;p3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32"/>
          <p:cNvSpPr txBox="1"/>
          <p:nvPr/>
        </p:nvSpPr>
        <p:spPr>
          <a:xfrm>
            <a:off x="310900" y="1392050"/>
            <a:ext cx="75438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Emotion Has Two Ways to Write Styles: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styled API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(like Styled Components).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css Prop or Function.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Styled API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7" name="Google Shape;257;p3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33"/>
          <p:cNvSpPr txBox="1"/>
          <p:nvPr/>
        </p:nvSpPr>
        <p:spPr>
          <a:xfrm>
            <a:off x="310900" y="1171850"/>
            <a:ext cx="8497500" cy="3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styled API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way to create custom, styled HTML or React components using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template literal CSS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directly in your JavaScript files.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It’s used by both: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styled-components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@emotion/styled (from Emotion library)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That’s why we say: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"styled API (like Styled Components)"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because Emotion and Styled  Components both use the same styled syntax and idea.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Styled API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5" name="Google Shape;265;p3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7" name="Google Shape;267;p34" title="carbon - 2025-08-01T172329.09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5188" y="809350"/>
            <a:ext cx="5053627" cy="406867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4"/>
          <p:cNvSpPr txBox="1"/>
          <p:nvPr/>
        </p:nvSpPr>
        <p:spPr>
          <a:xfrm>
            <a:off x="310900" y="951625"/>
            <a:ext cx="14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Styled API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4" name="Google Shape;274;p3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35"/>
          <p:cNvSpPr txBox="1"/>
          <p:nvPr/>
        </p:nvSpPr>
        <p:spPr>
          <a:xfrm>
            <a:off x="310900" y="951625"/>
            <a:ext cx="410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Dynamic Styling with Props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7" name="Google Shape;277;p35" title="carbon - 2025-08-01T172459.6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6850" y="1533425"/>
            <a:ext cx="6250302" cy="323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 sz="276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css Prop / css Function</a:t>
            </a:r>
            <a:endParaRPr b="1" sz="276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3" name="Google Shape;283;p3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" name="Google Shape;285;p36"/>
          <p:cNvSpPr txBox="1"/>
          <p:nvPr/>
        </p:nvSpPr>
        <p:spPr>
          <a:xfrm>
            <a:off x="310900" y="1136400"/>
            <a:ext cx="7543800" cy="24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prop and the </a:t>
            </a:r>
            <a:r>
              <a:rPr lang="en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css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function are two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powerful and flexible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ways to style React components using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Emotion’s CSS-in-JS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approach.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These are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more dynamic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less tightly coupled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than styled, and are useful when you want: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Conditional styles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Inline dynamic styles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Reusable style blocks without creating new components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7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 sz="275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Two Ways to Use css in Emotion</a:t>
            </a:r>
            <a:endParaRPr b="1" sz="275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1" name="Google Shape;291;p3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37"/>
          <p:cNvSpPr txBox="1"/>
          <p:nvPr/>
        </p:nvSpPr>
        <p:spPr>
          <a:xfrm>
            <a:off x="329538" y="900475"/>
            <a:ext cx="75438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1.      css Prop (Directly on Elements)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Think of it like applying style={{}}, but with full CSS power — including pseudo-classes, media queries, etc.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4" name="Google Shape;294;p37" title="carbon - 2025-08-01T173812.66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9200" y="1856075"/>
            <a:ext cx="3924476" cy="3240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 sz="275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Two Ways to Use css in Emotion</a:t>
            </a:r>
            <a:endParaRPr b="1" sz="275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0" name="Google Shape;300;p3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38"/>
          <p:cNvSpPr txBox="1"/>
          <p:nvPr/>
        </p:nvSpPr>
        <p:spPr>
          <a:xfrm>
            <a:off x="329538" y="900475"/>
            <a:ext cx="75438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2.      css Function (Reusable Style Block)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 this when you want to define a CSS block separately and apply it via the css prop.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3" name="Google Shape;303;p38" title="carbon - 2025-08-01T174831.4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7175" y="1761700"/>
            <a:ext cx="4199724" cy="329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9" name="Google Shape;309;p3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39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CSS Modules separate styles. Styled Components bring them into JS. But what if there’s a third way — faster, cleaner, and used by GitHub and Notion?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2" name="Google Shape;312;p39" title="Thinking face-bro (5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1720" y="1261800"/>
            <a:ext cx="4489705" cy="361188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40" title="tailwind-css-logo-vect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7498" y="3295275"/>
            <a:ext cx="4600850" cy="16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0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9" name="Google Shape;319;p40" title="KRMU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40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CSS Modules separate styles. Styled Components bring them into JS. But what if there’s a third way — faster, cleaner, and used by GitHub and Notion?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2" name="Google Shape;322;p40"/>
          <p:cNvSpPr txBox="1"/>
          <p:nvPr/>
        </p:nvSpPr>
        <p:spPr>
          <a:xfrm>
            <a:off x="311700" y="1470700"/>
            <a:ext cx="75456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That third way is Utility-First CSS — and the most popular library for it is Tailwind CSS.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With Tailwind, you style your components using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predefined utility classes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directly in your JSX.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 separate CSS files. No styled wrappers. Just fast, consistent, maintainable styling — all in one place.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1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Tailwind CSS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8" name="Google Shape;328;p4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0" name="Google Shape;330;p41"/>
          <p:cNvSpPr txBox="1"/>
          <p:nvPr/>
        </p:nvSpPr>
        <p:spPr>
          <a:xfrm>
            <a:off x="310900" y="1211175"/>
            <a:ext cx="7543800" cy="32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Tailwind CSS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utility-first CSS framework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that lets you build modern, responsive UIs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directly in your HTML or JSX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using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predefined class names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no need to write custom CSS.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Key Features: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 custom class names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needed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Perfectly suited for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and component-based frameworks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Fast development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you style while you build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Predictable and consistent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design system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Built-in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responsive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dark mode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hover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animation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utilities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Tailwind CSS Installation &amp; Setup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6" name="Google Shape;336;p4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8" name="Google Shape;338;p42"/>
          <p:cNvSpPr txBox="1"/>
          <p:nvPr/>
        </p:nvSpPr>
        <p:spPr>
          <a:xfrm>
            <a:off x="310900" y="1211175"/>
            <a:ext cx="20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 1 : Installation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9" name="Google Shape;339;p42" title="carbon - 2025-08-02T170319.19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9600" y="1793150"/>
            <a:ext cx="6055800" cy="15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2"/>
          <p:cNvSpPr txBox="1"/>
          <p:nvPr/>
        </p:nvSpPr>
        <p:spPr>
          <a:xfrm>
            <a:off x="310900" y="3613525"/>
            <a:ext cx="2819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This creates: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tailwind.config.js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postcss.config.js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3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Tailwind CSS Installation &amp; Setup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6" name="Google Shape;346;p4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43"/>
          <p:cNvSpPr txBox="1"/>
          <p:nvPr/>
        </p:nvSpPr>
        <p:spPr>
          <a:xfrm>
            <a:off x="310900" y="1211175"/>
            <a:ext cx="535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 2 :  Configure Tailwind to Remove Unused CSS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9" name="Google Shape;349;p43" title="carbon - 2025-08-02T170809.3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4625" y="1905075"/>
            <a:ext cx="5414750" cy="3049676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3"/>
          <p:cNvSpPr txBox="1"/>
          <p:nvPr/>
        </p:nvSpPr>
        <p:spPr>
          <a:xfrm>
            <a:off x="1053925" y="1480725"/>
            <a:ext cx="45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tailwind.config.js, update the content array:</a:t>
            </a:r>
            <a:endParaRPr sz="19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4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Tailwind CSS Installation &amp; Setup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6" name="Google Shape;356;p4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44"/>
          <p:cNvSpPr txBox="1"/>
          <p:nvPr/>
        </p:nvSpPr>
        <p:spPr>
          <a:xfrm>
            <a:off x="310900" y="1211175"/>
            <a:ext cx="535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 3 :  Add Tailwind Directives to Your CSS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9" name="Google Shape;359;p44"/>
          <p:cNvSpPr txBox="1"/>
          <p:nvPr/>
        </p:nvSpPr>
        <p:spPr>
          <a:xfrm>
            <a:off x="1022400" y="1501250"/>
            <a:ext cx="45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src/index.css (or App.css), </a:t>
            </a:r>
            <a:r>
              <a:rPr b="1"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replace everything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with:</a:t>
            </a:r>
            <a:endParaRPr sz="19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0" name="Google Shape;360;p44" title="carbon - 2025-08-02T171116.73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3175" y="1941325"/>
            <a:ext cx="4377649" cy="283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5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Tailwind CSS Installation &amp; Setup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6" name="Google Shape;366;p4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8" name="Google Shape;368;p45"/>
          <p:cNvSpPr txBox="1"/>
          <p:nvPr/>
        </p:nvSpPr>
        <p:spPr>
          <a:xfrm>
            <a:off x="310900" y="1211175"/>
            <a:ext cx="535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 4 :  Use Tailwind Classes in Your JSX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9" name="Google Shape;369;p45"/>
          <p:cNvSpPr txBox="1"/>
          <p:nvPr/>
        </p:nvSpPr>
        <p:spPr>
          <a:xfrm>
            <a:off x="1022400" y="1501250"/>
            <a:ext cx="589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Now you can write Tailwind classes directly in your components:</a:t>
            </a:r>
            <a:endParaRPr sz="19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0" name="Google Shape;370;p45" title="carbon - 2025-08-02T171317.1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0201" y="1870550"/>
            <a:ext cx="5163599" cy="30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6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Tailwind CSS Most Common Classes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6" name="Google Shape;376;p4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46"/>
          <p:cNvSpPr txBox="1"/>
          <p:nvPr/>
        </p:nvSpPr>
        <p:spPr>
          <a:xfrm>
            <a:off x="310900" y="1053875"/>
            <a:ext cx="75438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Colors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980000"/>
                </a:solidFill>
                <a:latin typeface="Poppins"/>
                <a:ea typeface="Poppins"/>
                <a:cs typeface="Poppins"/>
                <a:sym typeface="Poppins"/>
              </a:rPr>
              <a:t>bg-blue-500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background color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980000"/>
                </a:solidFill>
                <a:latin typeface="Poppins"/>
                <a:ea typeface="Poppins"/>
                <a:cs typeface="Poppins"/>
                <a:sym typeface="Poppins"/>
              </a:rPr>
              <a:t>text-red-600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text color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980000"/>
                </a:solidFill>
                <a:latin typeface="Poppins"/>
                <a:ea typeface="Poppins"/>
                <a:cs typeface="Poppins"/>
                <a:sym typeface="Poppins"/>
              </a:rPr>
              <a:t>border-green-400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border color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980000"/>
                </a:solidFill>
                <a:latin typeface="Poppins"/>
                <a:ea typeface="Poppins"/>
                <a:cs typeface="Poppins"/>
                <a:sym typeface="Poppins"/>
              </a:rPr>
              <a:t>hover:bg-blue-700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hover background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Spacing (Margin &amp; Padding)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p-4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padding on all sides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px-6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horizontal padding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py-2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vertical padding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m-4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margin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mt-2, mb-2, ml-4, mr-4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– margin top, bottom, left, right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7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Tailwind CSS Most Common Classes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84" name="Google Shape;384;p4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6" name="Google Shape;386;p47"/>
          <p:cNvSpPr txBox="1"/>
          <p:nvPr/>
        </p:nvSpPr>
        <p:spPr>
          <a:xfrm>
            <a:off x="310900" y="1014975"/>
            <a:ext cx="7543800" cy="4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Typography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text-lg, text-xl, text-2xl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font sizes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font-bold, font-semibold, font-light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font weight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text-center, text-left, text-right 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– alignment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uppercase, lowercase, capitalize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text transform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Layout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flex, flex-row, flex-col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Flexbox layout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justify-center, justify-between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horizontal alignment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items-center, items-start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vertical alignment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grid, grid-cols-2, grid-cols-3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grid layout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gap-4, gap-x-2, gap-y-6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spacing in grids/flex</a:t>
            </a:r>
            <a:endParaRPr b="1"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8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Tailwind CSS Most Common Classes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2" name="Google Shape;392;p4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4" name="Google Shape;394;p48"/>
          <p:cNvSpPr txBox="1"/>
          <p:nvPr/>
        </p:nvSpPr>
        <p:spPr>
          <a:xfrm>
            <a:off x="310900" y="1053875"/>
            <a:ext cx="7543800" cy="3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Sizing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w-full, w-1/2, w-64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width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h-screen, h-16, h-auto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height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max-w-md, min-w-full 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– width constraints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Borders &amp; Radius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border, border-2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adds border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border-gray-300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sets color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rounded, rounded-lg, rounded-full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border-radius</a:t>
            </a:r>
            <a:endParaRPr b="1"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9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Tailwind CSS Most Common Classes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0" name="Google Shape;400;p4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2" name="Google Shape;402;p49"/>
          <p:cNvSpPr txBox="1"/>
          <p:nvPr/>
        </p:nvSpPr>
        <p:spPr>
          <a:xfrm>
            <a:off x="310900" y="1053875"/>
            <a:ext cx="7543800" cy="3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Shadows &amp; Effects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shadow, shadow-md, shadow-lg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box shadow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hover:shadow-xl 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– hover effect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opacity-75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transparency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Background &amp; Gradient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bg-gray-100, bg-white, bg-black 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– solid backgrounds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bg-gradient-to-r from-purple-500 to-pink-500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gradient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Responsive Utilities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sm:text-sm, md:text-lg, lg:text-xl, xl:text-2xl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responsive font sizes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hidden md:block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hide on small, show on medium+</a:t>
            </a:r>
            <a:endParaRPr b="1"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0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8" name="Google Shape;408;p5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50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Would you rather define your brand’s colors and fonts once, or rewrite them every time you style a button?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1" name="Google Shape;411;p50" title="Questions-bro (3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3704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1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7" name="Google Shape;417;p5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9" name="Google Shape;419;p51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Would you rather define your brand’s colors and fonts once, or rewrite them every time you style a button?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0" name="Google Shape;420;p51"/>
          <p:cNvSpPr txBox="1"/>
          <p:nvPr/>
        </p:nvSpPr>
        <p:spPr>
          <a:xfrm>
            <a:off x="311700" y="1620125"/>
            <a:ext cx="4260300" cy="29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Of course, you'd define them once!</a:t>
            </a:r>
            <a:b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Why waste time rewriting colors, fonts, and spacing every time you style a button?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That’s the power of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Theming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 Tailwind CSS — you define your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brand's look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(like fonts, colors, and breakpoints) once in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tailwind.config.js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and reuse those styles anywhere with simple utility classes.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21" name="Google Shape;421;p51" title="20250804_1056_Efficient Tailwind Styling_simple_compose_01k1srm65neb5vec0qsbg4ry69.png"/>
          <p:cNvPicPr preferRelativeResize="0"/>
          <p:nvPr/>
        </p:nvPicPr>
        <p:blipFill rotWithShape="1">
          <a:blip r:embed="rId4">
            <a:alphaModFix/>
          </a:blip>
          <a:srcRect b="0" l="0" r="0" t="30825"/>
          <a:stretch/>
        </p:blipFill>
        <p:spPr>
          <a:xfrm>
            <a:off x="4742400" y="1140375"/>
            <a:ext cx="3491924" cy="375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2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Theming in React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27" name="Google Shape;427;p5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9" name="Google Shape;429;p52"/>
          <p:cNvSpPr txBox="1"/>
          <p:nvPr/>
        </p:nvSpPr>
        <p:spPr>
          <a:xfrm>
            <a:off x="310900" y="1053875"/>
            <a:ext cx="75438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Theming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means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defining a consistent visual style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(like colors, fonts, spacing, etc.) across your entire app.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Tailwind, you customize themes using the </a:t>
            </a:r>
            <a:r>
              <a:rPr lang="en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tailwind.config.js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file.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0" name="Google Shape;430;p52" title="carbon - 2025-08-04T110236.8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2050" y="2103575"/>
            <a:ext cx="4710800" cy="28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2"/>
          <p:cNvSpPr txBox="1"/>
          <p:nvPr/>
        </p:nvSpPr>
        <p:spPr>
          <a:xfrm>
            <a:off x="310900" y="2225700"/>
            <a:ext cx="132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3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Theming in React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7" name="Google Shape;437;p5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9" name="Google Shape;439;p53"/>
          <p:cNvSpPr txBox="1"/>
          <p:nvPr/>
        </p:nvSpPr>
        <p:spPr>
          <a:xfrm>
            <a:off x="310900" y="1329150"/>
            <a:ext cx="16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 case :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0" name="Google Shape;440;p53" title="carbon - 2025-08-04T110424.19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2625" y="1894500"/>
            <a:ext cx="5847151" cy="1204175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53"/>
          <p:cNvSpPr txBox="1"/>
          <p:nvPr/>
        </p:nvSpPr>
        <p:spPr>
          <a:xfrm>
            <a:off x="310900" y="3554850"/>
            <a:ext cx="72807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This helps you build a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branded, consistent UI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instead of mixing styles randomly.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4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7" name="Google Shape;447;p5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9" name="Google Shape;449;p54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Would you give every student different uniforms — or enforce one dress code for all?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50" name="Google Shape;450;p54" title="Questions-rafiki (2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715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5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56" name="Google Shape;456;p5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8" name="Google Shape;458;p55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Would you give every student different uniforms — or enforce one dress code for all?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9" name="Google Shape;459;p55"/>
          <p:cNvSpPr txBox="1"/>
          <p:nvPr/>
        </p:nvSpPr>
        <p:spPr>
          <a:xfrm>
            <a:off x="311700" y="1229125"/>
            <a:ext cx="50835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Of course, you’d enforce one dress code for all!</a:t>
            </a:r>
            <a:b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ensures consistency, clarity, and a sense of unity — no confusion, no clashes.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That’s exactly what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Global Styles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do in Tailwind CSS.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They apply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base-level styling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(like default fonts, background colors, heading sizes, etc.)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across your entire app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so every page and element starts from the same consistent foundation — just like everyone wearing the same dress code, no matter which classroom they’re in.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0" name="Google Shape;460;p55" title="20250804_1131_From Chaos to Uniformity_simple_compose_01k1stjtf2eb39wynh3vmpyfb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4950" y="1116800"/>
            <a:ext cx="3539126" cy="3680652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55"/>
          <p:cNvSpPr txBox="1"/>
          <p:nvPr/>
        </p:nvSpPr>
        <p:spPr>
          <a:xfrm flipH="1">
            <a:off x="7180475" y="3672825"/>
            <a:ext cx="39300" cy="219300"/>
          </a:xfrm>
          <a:prstGeom prst="rect">
            <a:avLst/>
          </a:prstGeom>
          <a:solidFill>
            <a:srgbClr val="252B2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6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Global Styles - Base Layer Styling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7" name="Google Shape;467;p5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9" name="Google Shape;469;p56"/>
          <p:cNvSpPr txBox="1"/>
          <p:nvPr/>
        </p:nvSpPr>
        <p:spPr>
          <a:xfrm>
            <a:off x="310900" y="1211175"/>
            <a:ext cx="7543800" cy="10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Global styles</a:t>
            </a:r>
            <a:r>
              <a:rPr lang="en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 are default base styles applied across all elements, like resetting margins, body font, or button behavior.</a:t>
            </a:r>
            <a:endParaRPr>
              <a:solidFill>
                <a:srgbClr val="252B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In Tailwind, global styles are handled via:</a:t>
            </a:r>
            <a:endParaRPr>
              <a:solidFill>
                <a:srgbClr val="252B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0" name="Google Shape;470;p56" title="carbon - 2025-08-04T113758.8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9000" y="2229600"/>
            <a:ext cx="4766000" cy="243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7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Global Styles - Base Layer Styling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6" name="Google Shape;476;p5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8" name="Google Shape;478;p57"/>
          <p:cNvSpPr txBox="1"/>
          <p:nvPr/>
        </p:nvSpPr>
        <p:spPr>
          <a:xfrm>
            <a:off x="310900" y="1211175"/>
            <a:ext cx="754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You can also add </a:t>
            </a:r>
            <a:r>
              <a:rPr b="1" lang="en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custom global styles</a:t>
            </a:r>
            <a:r>
              <a:rPr lang="en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 inside your main CSS file:</a:t>
            </a:r>
            <a:endParaRPr sz="1700">
              <a:solidFill>
                <a:srgbClr val="252B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9" name="Google Shape;479;p57" title="carbon - 2025-08-04T113935.47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3525" y="1651350"/>
            <a:ext cx="4315151" cy="2540525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57"/>
          <p:cNvSpPr txBox="1"/>
          <p:nvPr/>
        </p:nvSpPr>
        <p:spPr>
          <a:xfrm>
            <a:off x="310900" y="4309850"/>
            <a:ext cx="823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All </a:t>
            </a: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&lt;body&gt;</a:t>
            </a:r>
            <a:r>
              <a:rPr lang="en" sz="1200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 elements will use </a:t>
            </a: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bg-gray-100</a:t>
            </a:r>
            <a:r>
              <a:rPr lang="en" sz="1200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font-sans</a:t>
            </a:r>
            <a:r>
              <a:rPr lang="en" sz="1200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text-gray-900</a:t>
            </a:r>
            <a:r>
              <a:rPr lang="en" sz="1200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 by default, </a:t>
            </a:r>
            <a:endParaRPr sz="1200">
              <a:solidFill>
                <a:srgbClr val="252B2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and all </a:t>
            </a: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&lt;h1&gt;</a:t>
            </a:r>
            <a:r>
              <a:rPr lang="en" sz="1200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 tags will have </a:t>
            </a: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text-3xl</a:t>
            </a:r>
            <a:r>
              <a:rPr lang="en" sz="1200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font-bold</a:t>
            </a:r>
            <a:r>
              <a:rPr lang="en" sz="1200">
                <a:solidFill>
                  <a:srgbClr val="252B2E"/>
                </a:solidFill>
                <a:latin typeface="Poppins"/>
                <a:ea typeface="Poppins"/>
                <a:cs typeface="Poppins"/>
                <a:sym typeface="Poppins"/>
              </a:rPr>
              <a:t> — unless overridden with custom utility classes.</a:t>
            </a:r>
            <a:endParaRPr sz="1900">
              <a:solidFill>
                <a:srgbClr val="252B2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5" name="Google Shape;485;p58"/>
          <p:cNvGraphicFramePr/>
          <p:nvPr/>
        </p:nvGraphicFramePr>
        <p:xfrm>
          <a:off x="310263" y="101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{4EE4FFFF-B693-4AF7-BC9A-82B4FF1A44FD}</a:tableStyleId>
              </a:tblPr>
              <a:tblGrid>
                <a:gridCol w="1947325"/>
                <a:gridCol w="3135075"/>
                <a:gridCol w="3441075"/>
              </a:tblGrid>
              <a:tr h="358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           Feature</a:t>
                      </a:r>
                      <a:endParaRPr b="1">
                        <a:solidFill>
                          <a:srgbClr val="252B2E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                  Global Styles</a:t>
                      </a:r>
                      <a:endParaRPr b="1">
                        <a:solidFill>
                          <a:srgbClr val="252B2E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                         Theming</a:t>
                      </a:r>
                      <a:endParaRPr b="1">
                        <a:solidFill>
                          <a:srgbClr val="252B2E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Purpose</a:t>
                      </a:r>
                      <a:endParaRPr b="1" sz="1200">
                        <a:solidFill>
                          <a:srgbClr val="252B2E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Sets </a:t>
                      </a:r>
                      <a:r>
                        <a:rPr b="1"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base/default styles</a:t>
                      </a:r>
                      <a:r>
                        <a:rPr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across your entire app (e.g., fonts, background)</a:t>
                      </a:r>
                      <a:endParaRPr sz="1200">
                        <a:solidFill>
                          <a:srgbClr val="252B2E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Defines </a:t>
                      </a:r>
                      <a:r>
                        <a:rPr b="1"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design tokens</a:t>
                      </a:r>
                      <a:r>
                        <a:rPr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like colors, spacing, and typography for reuse</a:t>
                      </a:r>
                      <a:endParaRPr sz="1200">
                        <a:solidFill>
                          <a:srgbClr val="252B2E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Scope</a:t>
                      </a:r>
                      <a:endParaRPr b="1" sz="1200">
                        <a:solidFill>
                          <a:srgbClr val="252B2E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Applies universally to all elements unless overridden</a:t>
                      </a:r>
                      <a:endParaRPr sz="1200">
                        <a:solidFill>
                          <a:srgbClr val="252B2E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Applied through context or config (e.g., theme provider or Tailwind config)</a:t>
                      </a:r>
                      <a:endParaRPr sz="1200">
                        <a:solidFill>
                          <a:srgbClr val="252B2E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Example Use</a:t>
                      </a:r>
                      <a:endParaRPr b="1" sz="1200">
                        <a:solidFill>
                          <a:srgbClr val="252B2E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Setting a body font or default heading size</a:t>
                      </a:r>
                      <a:endParaRPr sz="1200">
                        <a:solidFill>
                          <a:srgbClr val="252B2E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Defining a primary color or font family to use consistently across components</a:t>
                      </a:r>
                      <a:endParaRPr sz="1200">
                        <a:solidFill>
                          <a:srgbClr val="252B2E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Goal</a:t>
                      </a:r>
                      <a:endParaRPr b="1" sz="1200">
                        <a:solidFill>
                          <a:srgbClr val="252B2E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Provide a </a:t>
                      </a:r>
                      <a:r>
                        <a:rPr b="1"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consistent base</a:t>
                      </a:r>
                      <a:r>
                        <a:rPr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or reset for the app</a:t>
                      </a:r>
                      <a:endParaRPr sz="1200">
                        <a:solidFill>
                          <a:srgbClr val="252B2E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Provide a </a:t>
                      </a:r>
                      <a:r>
                        <a:rPr b="1"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customizable design system</a:t>
                      </a:r>
                      <a:endParaRPr b="1" sz="1200">
                        <a:solidFill>
                          <a:srgbClr val="252B2E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How It’s Used</a:t>
                      </a:r>
                      <a:endParaRPr b="1" sz="1200">
                        <a:solidFill>
                          <a:srgbClr val="252B2E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Tailwind’s @layer base or CSS resets</a:t>
                      </a:r>
                      <a:endParaRPr sz="1200">
                        <a:solidFill>
                          <a:srgbClr val="252B2E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Tailwind’s theme.extend or styled-components’ ThemeProvider</a:t>
                      </a:r>
                      <a:endParaRPr sz="1200">
                        <a:solidFill>
                          <a:srgbClr val="252B2E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</a:tr>
              <a:tr h="57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Override Style?</a:t>
                      </a:r>
                      <a:endParaRPr b="1" sz="1200">
                        <a:solidFill>
                          <a:srgbClr val="252B2E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You override styles at component level</a:t>
                      </a:r>
                      <a:endParaRPr sz="1200">
                        <a:solidFill>
                          <a:srgbClr val="252B2E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52B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You reference theme tokens for consistent values</a:t>
                      </a:r>
                      <a:endParaRPr sz="1200">
                        <a:solidFill>
                          <a:srgbClr val="252B2E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</a:tr>
            </a:tbl>
          </a:graphicData>
        </a:graphic>
      </p:graphicFrame>
      <p:sp>
        <p:nvSpPr>
          <p:cNvPr id="486" name="Google Shape;486;p58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Global Styles vs Theming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7" name="Google Shape;487;p5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9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94" name="Google Shape;494;p5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59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How do you apply inline styles to a React element?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b="1" sz="25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6" name="Google Shape;496;p59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style="color: 'blue';"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b) style={{ color: 'blue' }}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c) style="color: blue"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d) style={ color: blue }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97" name="Google Shape;497;p59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9" name="Google Shape;499;p59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b)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style={{ color: 'blue' }}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00" name="Google Shape;500;p59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501" name="Google Shape;501;p59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02" name="Google Shape;502;p59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Inline styles in React are passed as a JavaScript object. The outer curly braces </a:t>
              </a:r>
              <a:r>
                <a:rPr b="1"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{}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enter JSX into JavaScript mode, and the inner curly braces {} define the style object itself.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0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8" name="Google Shape;508;p6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60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the main benefit of using CSS Modules?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b="1" sz="25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0" name="Google Shape;510;p60"/>
          <p:cNvSpPr txBox="1"/>
          <p:nvPr/>
        </p:nvSpPr>
        <p:spPr>
          <a:xfrm>
            <a:off x="310900" y="1748350"/>
            <a:ext cx="80847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a) It allows you to write CSS directly inside your JavaScript files.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b) It automatically scopes your CSS class names locally to the component, preventing naming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conflicts.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c) It is the only way to use animations in React.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d) It combines all your CSS into a single global file.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11" name="Google Shape;511;p60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3" name="Google Shape;513;p60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b)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 automatically scopes your CSS class names locally to the  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component, preventing naming conflicts. 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14" name="Google Shape;514;p60"/>
          <p:cNvGrpSpPr/>
          <p:nvPr/>
        </p:nvGrpSpPr>
        <p:grpSpPr>
          <a:xfrm>
            <a:off x="310900" y="3959263"/>
            <a:ext cx="6005825" cy="938113"/>
            <a:chOff x="310900" y="3959263"/>
            <a:chExt cx="6005825" cy="938113"/>
          </a:xfrm>
        </p:grpSpPr>
        <p:sp>
          <p:nvSpPr>
            <p:cNvPr id="515" name="Google Shape;515;p60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16" name="Google Shape;516;p60"/>
            <p:cNvSpPr txBox="1"/>
            <p:nvPr/>
          </p:nvSpPr>
          <p:spPr>
            <a:xfrm>
              <a:off x="1607925" y="3959275"/>
              <a:ext cx="4708800" cy="93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CSS Modules solves the global scope problem of traditional CSS by generating unique class names for each component (e.g., </a:t>
              </a:r>
              <a:r>
                <a:rPr b="1"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Component_className_1a2b3c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), ensuring styles don't leak out and affect other components.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1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2" name="Google Shape;522;p6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61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Tailwind CSS?</a:t>
            </a:r>
            <a:r>
              <a:rPr lang="en" sz="1100">
                <a:solidFill>
                  <a:schemeClr val="dk1"/>
                </a:solidFill>
              </a:rPr>
              <a:t>  </a:t>
            </a:r>
            <a:endParaRPr b="1" sz="25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4" name="Google Shape;524;p61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a) A JavaScript library for creating animations.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b) A component library like Material-UI.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c) A utility-first CSS framework for rapidly building custom designs directly in your markup.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d) A library for creating styled-components.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5" name="Google Shape;525;p61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7" name="Google Shape;527;p61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c) A utility-first CSS framework for rapidly building custom designs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directly in your markup.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28" name="Google Shape;528;p61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529" name="Google Shape;529;p61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30" name="Google Shape;530;p61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Tailwind provides low-level utility classes (like </a:t>
              </a:r>
              <a:r>
                <a:rPr b="1"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p-4, flex, text-lg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) that you compose together in your JSX to build designs without writing custom CSS.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2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36" name="Google Shape;536;p6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62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When using inline styles in React, how would you write the CSS property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font-size?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b="1" sz="25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8" name="Google Shape;538;p62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a) font-size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b) 'font-size'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c) fontSize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d) font.size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39" name="Google Shape;539;p62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1" name="Google Shape;541;p62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c) fontSize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42" name="Google Shape;542;p62"/>
          <p:cNvGrpSpPr/>
          <p:nvPr/>
        </p:nvGrpSpPr>
        <p:grpSpPr>
          <a:xfrm>
            <a:off x="310900" y="3959263"/>
            <a:ext cx="6005825" cy="548713"/>
            <a:chOff x="310900" y="3959263"/>
            <a:chExt cx="6005825" cy="548713"/>
          </a:xfrm>
        </p:grpSpPr>
        <p:sp>
          <p:nvSpPr>
            <p:cNvPr id="543" name="Google Shape;543;p62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44" name="Google Shape;544;p62"/>
            <p:cNvSpPr txBox="1"/>
            <p:nvPr/>
          </p:nvSpPr>
          <p:spPr>
            <a:xfrm>
              <a:off x="1607925" y="3959275"/>
              <a:ext cx="47088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CSS properties that contain a hyphen (kebab-case) must be converted to camelCase when used in JavaScript style objects.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3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50" name="Google Shape;550;p6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63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What is the core concept of CSS-in-JS libraries like Styled Components or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Emotion?</a:t>
            </a:r>
            <a:r>
              <a:rPr lang="en" sz="1100">
                <a:solidFill>
                  <a:schemeClr val="dk1"/>
                </a:solidFill>
              </a:rPr>
              <a:t>  </a:t>
            </a:r>
            <a:endParaRPr b="1" sz="25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2" name="Google Shape;552;p63"/>
          <p:cNvSpPr txBox="1"/>
          <p:nvPr/>
        </p:nvSpPr>
        <p:spPr>
          <a:xfrm>
            <a:off x="310900" y="1748350"/>
            <a:ext cx="80847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a) They link external </a:t>
            </a: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.css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files to your components.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b) They allow you to write actual CSS code within your JavaScript files to create React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components with styles attached.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c) They convert all your CSS into inline styles.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d) They only work with class components.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53" name="Google Shape;553;p6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5" name="Google Shape;555;p63"/>
          <p:cNvSpPr txBox="1"/>
          <p:nvPr/>
        </p:nvSpPr>
        <p:spPr>
          <a:xfrm>
            <a:off x="310900" y="3328063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b) They allow you to write actual CSS code within your JavaScript files to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create React components with styles attached.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56" name="Google Shape;556;p63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557" name="Google Shape;557;p63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58" name="Google Shape;558;p63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CSS-in-JS libraries let you define components with their styles encapsulated together, often using tagged template literals. This colocates the component's logic and styling.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4"/>
          <p:cNvSpPr txBox="1"/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64" name="Google Shape;564;p6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64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chemeClr val="dk1"/>
                </a:solidFill>
              </a:rPr>
              <a:t>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https://developer.mozilla.org/en-US/docs/Web/JavaScript</a:t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https://www.w3schools.com/js/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react.dev -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comprehensive, tutorial-style website that deeply explores core React concepts, including components, state, effects, and hooks, through interactive examples and in-depth explanations.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https://react.dev/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6" name="Google Shape;566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65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72" name="Google Shape;572;p65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65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4" name="Google Shape;574;p65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575" name="Google Shape;575;p65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76" name="Google Shape;576;p65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7" name="Google Shape;577;p65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578" name="Google Shape;578;p65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65"/>
          <p:cNvSpPr txBox="1"/>
          <p:nvPr>
            <p:ph idx="12" type="sldNum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0" name="Google Shape;580;p65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81" name="Google Shape;581;p65" title="Untitled (2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