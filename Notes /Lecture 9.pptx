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Slab"/>
      <p:regular r:id="rId30"/>
      <p:bold r:id="rId31"/>
    </p:embeddedFont>
    <p:embeddedFont>
      <p:font typeface="Poppi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lab-bold.fntdata"/><Relationship Id="rId30" Type="http://schemas.openxmlformats.org/officeDocument/2006/relationships/font" Target="fonts/RobotoSlab-regular.fntdata"/><Relationship Id="rId11" Type="http://schemas.openxmlformats.org/officeDocument/2006/relationships/slide" Target="slides/slide6.xml"/><Relationship Id="rId33" Type="http://schemas.openxmlformats.org/officeDocument/2006/relationships/font" Target="fonts/Poppins-bold.fntdata"/><Relationship Id="rId10" Type="http://schemas.openxmlformats.org/officeDocument/2006/relationships/slide" Target="slides/slide5.xml"/><Relationship Id="rId32" Type="http://schemas.openxmlformats.org/officeDocument/2006/relationships/font" Target="fonts/Poppins-regular.fntdata"/><Relationship Id="rId13" Type="http://schemas.openxmlformats.org/officeDocument/2006/relationships/slide" Target="slides/slide8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6bfb1d31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6bfb1d31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6bfb1d31_4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6bfb1d31_4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56bfb1d31_4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56bfb1d31_4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6bfb1d31_4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6bfb1d31_4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56bfb1d31_4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56bfb1d31_4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56bfb1d31_4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56bfb1d31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6bfb1d31_4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6bfb1d31_4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56bfb1d31_4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56bfb1d31_4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56bfb1d31_4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56bfb1d31_4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56bfb1d31_4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56bfb1d31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56bfb1d31_4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56bfb1d31_4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56bfb1d31_4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56bfb1d31_4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56bfb1d31_4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56bfb1d31_4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56bfb1d31_4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56bfb1d31_4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56bfb1d31_4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56bfb1d31_4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56bfb1d31_4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56bfb1d31_4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56bfb1d31_4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b56bfb1d31_4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56bfb1d31_4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56bfb1d31_4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56bfb1d31_4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56bfb1d31_4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56bfb1d31_4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56bfb1d31_4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56bfb1d31_4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56bfb1d31_4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56bfb1d31_4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56bfb1d31_4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56bfb1d31_4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56bfb1d31_4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56bfb1d31_4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56bfb1d31_4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30.jpg"/><Relationship Id="rId8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hyperlink" Target="http://drive.google.com/file/d/19MTGO1XAKlMfGeg0AeeaXWKiRtLwdhmA/view" TargetMode="External"/><Relationship Id="rId6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hyperlink" Target="http://drive.google.com/file/d/1EtoHh8UYrlx3rKdyrS5Clx2LE6U2IZ6b/view" TargetMode="External"/><Relationship Id="rId6" Type="http://schemas.openxmlformats.org/officeDocument/2006/relationships/image" Target="../media/image1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954584"/>
            <a:chOff x="309849" y="1233369"/>
            <a:chExt cx="3415942" cy="2954584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rgbClr val="FFFFFF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9</a:t>
                </a:r>
                <a:r>
                  <a:rPr lang="en" sz="2700">
                    <a:solidFill>
                      <a:srgbClr val="FFFFFF"/>
                    </a:solidFill>
                  </a:rPr>
                  <a:t>:</a:t>
                </a:r>
                <a:endParaRPr sz="22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Need for Asynchronous JS</a:t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33272" y="3666744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Synchronous Programming in JavaScript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Asynchronous Programming in JavaScript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References.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End.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576075" y="210300"/>
            <a:ext cx="74082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made Maggi by yourself?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on, let's make Maggi today and understand synchronous programming.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2599" y="1553550"/>
            <a:ext cx="4218822" cy="320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76075" y="210300"/>
            <a:ext cx="74082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made Maggi by yourself?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on, let's make Maggi today and understand synchronous programming.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311700" y="1902475"/>
            <a:ext cx="3811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Step 1 – Boil the Water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must heat water before doing anything else.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 we add noodles now?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No!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85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must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wait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until the water is fully boiled.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902475"/>
            <a:ext cx="3716732" cy="212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4" name="Google Shape;104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76075" y="210300"/>
            <a:ext cx="74082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made Maggi by yourself?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on, let's make Maggi today and understand synchronous programming.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11700" y="1877025"/>
            <a:ext cx="3730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2: Add Noodles 🍝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that the water is hot, we can add Maggi noodles.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couldn’t do this earlier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remember?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77025"/>
            <a:ext cx="3659350" cy="21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576075" y="210300"/>
            <a:ext cx="74082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made Maggi by yourself?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on, let's make Maggi today and understand synchronous programming.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11700" y="2017725"/>
            <a:ext cx="3853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3: Stir and Cook 👨‍🍳⏳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we stir and let it cook for 2–3 minutes.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We must wait for it to get soft and ready.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947375"/>
            <a:ext cx="3555499" cy="20493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576075" y="210300"/>
            <a:ext cx="74082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made Maggi by yourself?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on, let's make Maggi today and understand synchronous programming.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11700" y="2038000"/>
            <a:ext cx="3853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4: Add Masala 🧂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we sprinkle the tasty masala If we did this earlier, it would float in water!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038000"/>
            <a:ext cx="3694200" cy="195665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7380000" dist="95250">
              <a:srgbClr val="000000">
                <a:alpha val="54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576075" y="210300"/>
            <a:ext cx="74082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Have you ever made Maggi by yourself?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Come on, let's make Maggi today and understand synchronous programming.</a:t>
            </a:r>
            <a:endParaRPr b="1" sz="19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311700" y="2131250"/>
            <a:ext cx="4115700" cy="2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 5: Serve and Eat! 😋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Now the Maggi is ready.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followed the steps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order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now we get the reward!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That’s how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Synchronous Programming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6286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825" y="2195150"/>
            <a:ext cx="3785150" cy="192625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Synchronous Programming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4" name="Google Shape;144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311700" y="1576550"/>
            <a:ext cx="49992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Now imagine — in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Synchronous Programming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each step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waits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the previous one to finish.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we write code, it doesn’t jump around. It starts from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top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completes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first line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then moves to the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next one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just like we couldn’t add noodles before boiling the water.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is by default a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synchronous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language.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9150" y="1868362"/>
            <a:ext cx="3682561" cy="2414875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7380000" dist="95250">
              <a:srgbClr val="000000">
                <a:alpha val="56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Synchronous Programming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3" name="Google Shape;153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cxnSp>
        <p:nvCxnSpPr>
          <p:cNvPr id="155" name="Google Shape;155;p22"/>
          <p:cNvCxnSpPr>
            <a:stCxn id="156" idx="3"/>
          </p:cNvCxnSpPr>
          <p:nvPr/>
        </p:nvCxnSpPr>
        <p:spPr>
          <a:xfrm>
            <a:off x="3921825" y="3059725"/>
            <a:ext cx="9135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15375"/>
            <a:ext cx="3610125" cy="188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 title="chrome_u2VLuqcxYq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5325" y="1474325"/>
            <a:ext cx="3466551" cy="29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576075" y="210300"/>
            <a:ext cx="72813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know why JavaScript code always runs step-by-step, one line after another? What’s happening behind the scenes that makes it behave like that?</a:t>
            </a:r>
            <a:endParaRPr b="1" sz="1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419375" y="1757675"/>
            <a:ext cx="4260300" cy="21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It’s Because of the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Single Thread!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thread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like a worker that performs tasks in a program.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Since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JavaScript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 only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thread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it can do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one task at a time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3450" y="1395875"/>
            <a:ext cx="2841600" cy="28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3" name="Google Shape;173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5" name="Google Shape;175;p24"/>
          <p:cNvSpPr txBox="1"/>
          <p:nvPr/>
        </p:nvSpPr>
        <p:spPr>
          <a:xfrm>
            <a:off x="576075" y="210300"/>
            <a:ext cx="72813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you have to make Maggi, watch your favorite cartoon, and talk to your best friend on the phone — all at the same time — what will you do?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11700" y="1663700"/>
            <a:ext cx="5789700" cy="3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you first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make Maggi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then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watch your cartoon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only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after that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talk to your friend — by the time you're done,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your cartoon is over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your friend has already hung up!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 Then does any smart way ?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 YES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there is a smart way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do all of them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without waiting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/>
        </p:nvSpPr>
        <p:spPr>
          <a:xfrm>
            <a:off x="311700" y="213250"/>
            <a:ext cx="26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2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22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576075" y="210300"/>
            <a:ext cx="72813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If you have to make Maggi, watch your favorite cartoon, and talk to your best friend on the phone — all at the same time — what will you do?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245375" y="1347450"/>
            <a:ext cx="6253800" cy="2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can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 the Maggi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give it to your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mom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finish boiling.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Then, while she is doing that: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You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turn on your favorite cartoon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enjoy it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at the same time, you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talk to your friend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on the phone 📞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 the Maggi is ready, your mom calls you: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"Beta, Maggi is ready!"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4875" y="2437025"/>
            <a:ext cx="1796825" cy="1008550"/>
          </a:xfrm>
          <a:prstGeom prst="rect">
            <a:avLst/>
          </a:prstGeom>
          <a:noFill/>
          <a:ln>
            <a:noFill/>
          </a:ln>
          <a:effectLst>
            <a:outerShdw blurRad="100013" rotWithShape="0" algn="bl" dir="7380000" dist="76200">
              <a:srgbClr val="000000">
                <a:alpha val="50000"/>
              </a:srgbClr>
            </a:outerShdw>
          </a:effectLst>
        </p:spPr>
      </p:pic>
      <p:pic>
        <p:nvPicPr>
          <p:cNvPr id="187" name="Google Shape;18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4875" y="3793125"/>
            <a:ext cx="1796825" cy="914400"/>
          </a:xfrm>
          <a:prstGeom prst="rect">
            <a:avLst/>
          </a:prstGeom>
          <a:noFill/>
          <a:ln>
            <a:noFill/>
          </a:ln>
          <a:effectLst>
            <a:outerShdw blurRad="128588" rotWithShape="0" algn="bl" dir="7500000" dist="76200">
              <a:srgbClr val="000000">
                <a:alpha val="50000"/>
              </a:srgbClr>
            </a:outerShdw>
          </a:effectLst>
        </p:spPr>
      </p:pic>
      <p:pic>
        <p:nvPicPr>
          <p:cNvPr id="188" name="Google Shape;18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4875" y="1175075"/>
            <a:ext cx="1796825" cy="914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7380000" dist="95250">
              <a:srgbClr val="000000">
                <a:alpha val="50000"/>
              </a:srgbClr>
            </a:outerShdw>
          </a:effectLst>
        </p:spPr>
      </p:pic>
      <p:sp>
        <p:nvSpPr>
          <p:cNvPr id="189" name="Google Shape;189;p25"/>
          <p:cNvSpPr txBox="1"/>
          <p:nvPr/>
        </p:nvSpPr>
        <p:spPr>
          <a:xfrm>
            <a:off x="122225" y="3445575"/>
            <a:ext cx="453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   That’s how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Asynchronous JavaScript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works</a:t>
            </a: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1024075" y="4048725"/>
            <a:ext cx="4363800" cy="658800"/>
          </a:xfrm>
          <a:prstGeom prst="rect">
            <a:avLst/>
          </a:prstGeom>
          <a:solidFill>
            <a:srgbClr val="F8E0E0">
              <a:alpha val="58859"/>
            </a:srgbClr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Asynchronous work means tasks run independently without waiting for each other.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91" name="Google Shape;191;p25"/>
          <p:cNvCxnSpPr>
            <a:stCxn id="190" idx="3"/>
            <a:endCxn id="188" idx="1"/>
          </p:cNvCxnSpPr>
          <p:nvPr/>
        </p:nvCxnSpPr>
        <p:spPr>
          <a:xfrm flipH="1" rot="10800000">
            <a:off x="5387875" y="1632225"/>
            <a:ext cx="1587000" cy="274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5"/>
          <p:cNvCxnSpPr>
            <a:stCxn id="190" idx="3"/>
            <a:endCxn id="186" idx="1"/>
          </p:cNvCxnSpPr>
          <p:nvPr/>
        </p:nvCxnSpPr>
        <p:spPr>
          <a:xfrm flipH="1" rot="10800000">
            <a:off x="5387875" y="2941425"/>
            <a:ext cx="1587000" cy="143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5"/>
          <p:cNvCxnSpPr>
            <a:stCxn id="190" idx="3"/>
            <a:endCxn id="187" idx="1"/>
          </p:cNvCxnSpPr>
          <p:nvPr/>
        </p:nvCxnSpPr>
        <p:spPr>
          <a:xfrm flipH="1" rot="10800000">
            <a:off x="5387875" y="4250325"/>
            <a:ext cx="1587000" cy="1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Asynchronous Programming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400" y="1636275"/>
            <a:ext cx="3585300" cy="248395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7380000" dist="95250">
              <a:srgbClr val="000000">
                <a:alpha val="50000"/>
              </a:srgbClr>
            </a:outerShdw>
          </a:effectLst>
        </p:spPr>
      </p:pic>
      <p:sp>
        <p:nvSpPr>
          <p:cNvPr id="202" name="Google Shape;202;p26"/>
          <p:cNvSpPr txBox="1"/>
          <p:nvPr/>
        </p:nvSpPr>
        <p:spPr>
          <a:xfrm>
            <a:off x="311700" y="1385150"/>
            <a:ext cx="4582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Asynchronous programming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is a programming technique where certain operations — especially time-consuming ones — are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executed in the background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allowing the rest of the code to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continue running without waiting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those operations to finish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JavaScript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doesn’t wait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for one task to finish — it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starts it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moves on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to the next task.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When the first task is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done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it comes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finishes it.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Asynchronous Programming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8" name="Google Shape;208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639700"/>
            <a:ext cx="3551800" cy="23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7" title="TabTip_Cn6gAcUqWa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6075" y="1512500"/>
            <a:ext cx="3424226" cy="264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27"/>
          <p:cNvCxnSpPr>
            <a:stCxn id="210" idx="3"/>
          </p:cNvCxnSpPr>
          <p:nvPr/>
        </p:nvCxnSpPr>
        <p:spPr>
          <a:xfrm flipH="1" rot="10800000">
            <a:off x="3863500" y="2832900"/>
            <a:ext cx="12876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Asynchronicity  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8" name="Google Shape;218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311700" y="1186500"/>
            <a:ext cx="5949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that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asynchronous code runs independently,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it doesn’t wait for anything. But what if... one task depends on another?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if you want one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asynchronous task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start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only after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previous one finishes?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 real life, you can’t add Maggi before boiling water, right?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Similarly, sometimes in async programming,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order matters.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So even though code is asynchronous, we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need to force it to run step-by-step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like synchronous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Asynchronicity  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6" name="Google Shape;226;p2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311700" y="1164275"/>
            <a:ext cx="7429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can handle asynchronous code using the following paradigms: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Callback Hell: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callback is a function passed as an argument to another function, which is executed after the first one completes.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But when multiple async operations are nested within each other using callbacks, it creates a deeply nested structure called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"Callback Hell"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— making code difficult to read and maintain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Asynchronicity  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4" name="Google Shape;234;p3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311700" y="1011575"/>
            <a:ext cx="6894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can handle asynchronous code using the following paradigms: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Promise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Promise is an object that represents the eventual result of an asynchronous operation — it either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resolves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(success) or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rejects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(failure). Promises allow chaining operations using .then() and handling errors with .catch().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Handling Asynchronicity   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2" name="Google Shape;242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311700" y="1011575"/>
            <a:ext cx="68565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We can handle asynchronous code using the following paradigms: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Async/Await :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async/await is syntactic sugar built on top of Promises. It allows writing asynchronous code that looks and behaves like synchronous code.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143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The await keyword pauses the execution of the function until the Promise is resolved or rejected.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0" name="Google Shape;250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100">
                <a:solidFill>
                  <a:schemeClr val="dk1"/>
                </a:solidFill>
              </a:rPr>
              <a:t> What is synchronous JavaScript code?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32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Code that runs all at once.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Code that runs in the background.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Code that is executed line-by-line, one command at a time, in a blocking manner.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Code that uses the </a:t>
            </a:r>
            <a:r>
              <a:rPr b="1" lang="en" sz="1100">
                <a:solidFill>
                  <a:schemeClr val="dk1"/>
                </a:solidFill>
              </a:rPr>
              <a:t>async</a:t>
            </a:r>
            <a:r>
              <a:rPr lang="en" sz="1100">
                <a:solidFill>
                  <a:schemeClr val="dk1"/>
                </a:solidFill>
              </a:rPr>
              <a:t> keyword exclusively.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3" name="Google Shape;253;p32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5" name="Google Shape;255;p32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</a:rPr>
              <a:t>c) Code that is executed line-by-line, one command at a time, in a blocking manner.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6" name="Google Shape;256;p32"/>
          <p:cNvGrpSpPr/>
          <p:nvPr/>
        </p:nvGrpSpPr>
        <p:grpSpPr>
          <a:xfrm>
            <a:off x="310900" y="3959263"/>
            <a:ext cx="6005825" cy="897313"/>
            <a:chOff x="310900" y="3959263"/>
            <a:chExt cx="6005825" cy="897313"/>
          </a:xfrm>
        </p:grpSpPr>
        <p:sp>
          <p:nvSpPr>
            <p:cNvPr id="257" name="Google Shape;257;p32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58" name="Google Shape;258;p32"/>
            <p:cNvSpPr txBox="1"/>
            <p:nvPr/>
          </p:nvSpPr>
          <p:spPr>
            <a:xfrm>
              <a:off x="1607925" y="3959275"/>
              <a:ext cx="47088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Synchronous execution means only one operation can be in progress at a time. Each line of code must wait for the previous line to finish.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4" name="Google Shape;264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Which function schedules a callback to be executed </a:t>
            </a:r>
            <a:r>
              <a:rPr b="1" i="1" lang="en" sz="1100">
                <a:solidFill>
                  <a:schemeClr val="dk1"/>
                </a:solidFill>
              </a:rPr>
              <a:t>once</a:t>
            </a:r>
            <a:r>
              <a:rPr b="1" lang="en" sz="1100">
                <a:solidFill>
                  <a:schemeClr val="dk1"/>
                </a:solidFill>
              </a:rPr>
              <a:t> after a specified delay?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3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" sz="1100">
                <a:solidFill>
                  <a:schemeClr val="dk1"/>
                </a:solidFill>
              </a:rPr>
              <a:t>a) setInterval()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runAfter()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setTimeout()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delay()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p33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69" name="Google Shape;269;p33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c) setTimeout()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0" name="Google Shape;270;p33"/>
          <p:cNvGrpSpPr/>
          <p:nvPr/>
        </p:nvGrpSpPr>
        <p:grpSpPr>
          <a:xfrm>
            <a:off x="310900" y="3944925"/>
            <a:ext cx="6005825" cy="897300"/>
            <a:chOff x="310900" y="3944925"/>
            <a:chExt cx="6005825" cy="897300"/>
          </a:xfrm>
        </p:grpSpPr>
        <p:sp>
          <p:nvSpPr>
            <p:cNvPr id="271" name="Google Shape;271;p33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33"/>
            <p:cNvSpPr txBox="1"/>
            <p:nvPr/>
          </p:nvSpPr>
          <p:spPr>
            <a:xfrm>
              <a:off x="1607925" y="3944925"/>
              <a:ext cx="4708800" cy="89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</a:rPr>
                <a:t>setTimeout</a:t>
              </a:r>
              <a:r>
                <a:rPr lang="en" sz="1100">
                  <a:solidFill>
                    <a:schemeClr val="dk1"/>
                  </a:solidFill>
                </a:rPr>
                <a:t> is a built-in browser API that allows you to schedule a single execution of a function after a given time has elapsed.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8" name="Google Shape;278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4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 What is the primary benefit of using asynchronous code in JavaScript?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" name="Google Shape;280;p34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a) It makes the code easier to write.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It makes the code execute faster overall.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 c) It prevents long-running tasks (like network requests or timers) from freezing the user interface.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It uses less memory than synchronous code.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1" name="Google Shape;281;p34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310950" y="3313725"/>
            <a:ext cx="626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 c) It prevents long-running tasks (like network requests or timers) from freezing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 the user interface.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4" name="Google Shape;284;p34"/>
          <p:cNvGrpSpPr/>
          <p:nvPr/>
        </p:nvGrpSpPr>
        <p:grpSpPr>
          <a:xfrm>
            <a:off x="310900" y="3959263"/>
            <a:ext cx="6005825" cy="1092013"/>
            <a:chOff x="310900" y="3959263"/>
            <a:chExt cx="6005825" cy="1092013"/>
          </a:xfrm>
        </p:grpSpPr>
        <p:sp>
          <p:nvSpPr>
            <p:cNvPr id="285" name="Google Shape;285;p34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86" name="Google Shape;286;p34"/>
            <p:cNvSpPr txBox="1"/>
            <p:nvPr/>
          </p:nvSpPr>
          <p:spPr>
            <a:xfrm>
              <a:off x="1607925" y="3959275"/>
              <a:ext cx="4708800" cy="10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Asynchronous code is non-blocking. It allows the browser to remain responsive to user actions while waiting for a time-consuming operation to complete in the background.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2" name="Google Shape;292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https://javascript.info/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6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300" name="Google Shape;300;p36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6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302" name="Google Shape;302;p36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303" name="Google Shape;303;p36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304" name="Google Shape;304;p36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" name="Google Shape;305;p36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306" name="Google Shape;306;p36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6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6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