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Roboto Slab"/>
      <p:regular r:id="rId17"/>
      <p:bold r:id="rId18"/>
    </p:embeddedFont>
    <p:embeddedFont>
      <p:font typeface="Poppins"/>
      <p:regular r:id="rId19"/>
      <p:bold r:id="rId20"/>
      <p:italic r:id="rId21"/>
      <p:boldItalic r:id="rId22"/>
    </p:embeddedFont>
    <p:embeddedFont>
      <p:font typeface="Roboto Mono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22" Type="http://schemas.openxmlformats.org/officeDocument/2006/relationships/font" Target="fonts/Poppins-boldItalic.fntdata"/><Relationship Id="rId21" Type="http://schemas.openxmlformats.org/officeDocument/2006/relationships/font" Target="fonts/Poppins-italic.fntdata"/><Relationship Id="rId24" Type="http://schemas.openxmlformats.org/officeDocument/2006/relationships/font" Target="fonts/RobotoMono-bold.fntdata"/><Relationship Id="rId23" Type="http://schemas.openxmlformats.org/officeDocument/2006/relationships/font" Target="fonts/RobotoMon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obotoMono-boldItalic.fntdata"/><Relationship Id="rId25" Type="http://schemas.openxmlformats.org/officeDocument/2006/relationships/font" Target="fonts/RobotoMon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Slab-regular.fntdata"/><Relationship Id="rId16" Type="http://schemas.openxmlformats.org/officeDocument/2006/relationships/slide" Target="slides/slide11.xml"/><Relationship Id="rId19" Type="http://schemas.openxmlformats.org/officeDocument/2006/relationships/font" Target="fonts/Poppins-regular.fntdata"/><Relationship Id="rId18" Type="http://schemas.openxmlformats.org/officeDocument/2006/relationships/font" Target="fonts/RobotoSlab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b2bc4f3e8_0_3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b2bc4f3e8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b2bc4f3e8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b2bc4f3e8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b2bc4f3e8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b2bc4f3e8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bb2bc4f3e8_0_4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bb2bc4f3e8_0_4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bb2bc4f3e8_0_4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bb2bc4f3e8_0_4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bb2bc4f3e8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bb2bc4f3e8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b2bc4f3e8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b2bc4f3e8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bb2bc4f3e8_0_4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bb2bc4f3e8_0_4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bb2bc4f3e8_0_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bb2bc4f3e8_0_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b2bc4f3e8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bb2bc4f3e8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bb2bc4f3e8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bb2bc4f3e8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6.jpg"/><Relationship Id="rId8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hyperlink" Target="http://response.ok" TargetMode="External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hyperlink" Target="https://developer.mozilla.org/en-US/docs/Web/JavaScript" TargetMode="External"/><Relationship Id="rId5" Type="http://schemas.openxmlformats.org/officeDocument/2006/relationships/hyperlink" Target="https://www.w3schools.com/js/" TargetMode="External"/><Relationship Id="rId6" Type="http://schemas.openxmlformats.org/officeDocument/2006/relationships/hyperlink" Target="https://javascript.info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5.png"/><Relationship Id="rId7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55" name="Google Shape;55;p1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6373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4405600" y="2017650"/>
            <a:ext cx="45837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 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57" name="Google Shape;57;p13"/>
          <p:cNvGrpSpPr/>
          <p:nvPr/>
        </p:nvGrpSpPr>
        <p:grpSpPr>
          <a:xfrm>
            <a:off x="4572000" y="4882896"/>
            <a:ext cx="1607600" cy="292500"/>
            <a:chOff x="5060775" y="4881413"/>
            <a:chExt cx="1607600" cy="292500"/>
          </a:xfrm>
        </p:grpSpPr>
        <p:sp>
          <p:nvSpPr>
            <p:cNvPr id="58" name="Google Shape;58;p1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59" name="Google Shape;59;p1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0" name="Google Shape;60;p13"/>
          <p:cNvGrpSpPr/>
          <p:nvPr/>
        </p:nvGrpSpPr>
        <p:grpSpPr>
          <a:xfrm>
            <a:off x="7229300" y="4881425"/>
            <a:ext cx="1926000" cy="292500"/>
            <a:chOff x="7229300" y="4881425"/>
            <a:chExt cx="1926000" cy="292500"/>
          </a:xfrm>
        </p:grpSpPr>
        <p:sp>
          <p:nvSpPr>
            <p:cNvPr id="61" name="Google Shape;61;p13"/>
            <p:cNvSpPr txBox="1"/>
            <p:nvPr/>
          </p:nvSpPr>
          <p:spPr>
            <a:xfrm>
              <a:off x="7326500" y="4881425"/>
              <a:ext cx="18288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212121"/>
                  </a:solidFill>
                </a:rPr>
                <a:t>Sohna Road,Gurugram,Haryana 122103</a:t>
              </a:r>
              <a:endParaRPr sz="700">
                <a:solidFill>
                  <a:srgbClr val="212121"/>
                </a:solidFill>
              </a:endParaRPr>
            </a:p>
          </p:txBody>
        </p:sp>
        <p:pic>
          <p:nvPicPr>
            <p:cNvPr id="62" name="Google Shape;62;p13" title="location.png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7229300" y="4965192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3" name="Google Shape;63;p13" title="Wavy_Trv-02_Single-09.jp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450000" y="2536688"/>
            <a:ext cx="2463299" cy="222785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65" name="Google Shape;65;p13"/>
          <p:cNvGrpSpPr/>
          <p:nvPr/>
        </p:nvGrpSpPr>
        <p:grpSpPr>
          <a:xfrm>
            <a:off x="309849" y="1233369"/>
            <a:ext cx="3415942" cy="3210609"/>
            <a:chOff x="309849" y="1233369"/>
            <a:chExt cx="3415942" cy="3210609"/>
          </a:xfrm>
        </p:grpSpPr>
        <p:grpSp>
          <p:nvGrpSpPr>
            <p:cNvPr id="66" name="Google Shape;66;p13"/>
            <p:cNvGrpSpPr/>
            <p:nvPr/>
          </p:nvGrpSpPr>
          <p:grpSpPr>
            <a:xfrm>
              <a:off x="309849" y="1233369"/>
              <a:ext cx="3415942" cy="2387863"/>
              <a:chOff x="788865" y="1515488"/>
              <a:chExt cx="4594407" cy="2387863"/>
            </a:xfrm>
          </p:grpSpPr>
          <p:sp>
            <p:nvSpPr>
              <p:cNvPr id="67" name="Google Shape;67;p13"/>
              <p:cNvSpPr txBox="1"/>
              <p:nvPr/>
            </p:nvSpPr>
            <p:spPr>
              <a:xfrm>
                <a:off x="788865" y="1515488"/>
                <a:ext cx="3197700" cy="60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2700">
                    <a:solidFill>
                      <a:srgbClr val="FFFFFF"/>
                    </a:solidFill>
                    <a:latin typeface="Roboto Slab"/>
                    <a:ea typeface="Roboto Slab"/>
                    <a:cs typeface="Roboto Slab"/>
                    <a:sym typeface="Roboto Slab"/>
                  </a:rPr>
                  <a:t>Lecture 16</a:t>
                </a:r>
                <a:r>
                  <a:rPr lang="en" sz="2700">
                    <a:solidFill>
                      <a:srgbClr val="FFFFFF"/>
                    </a:solidFill>
                  </a:rPr>
                  <a:t>:</a:t>
                </a:r>
                <a:endParaRPr sz="2200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endParaRPr>
              </a:p>
            </p:txBody>
          </p:sp>
          <p:sp>
            <p:nvSpPr>
              <p:cNvPr id="68" name="Google Shape;68;p13"/>
              <p:cNvSpPr txBox="1"/>
              <p:nvPr/>
            </p:nvSpPr>
            <p:spPr>
              <a:xfrm>
                <a:off x="788875" y="3475300"/>
                <a:ext cx="699000" cy="415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5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-By</a:t>
                </a:r>
                <a:endParaRPr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69" name="Google Shape;69;p13"/>
              <p:cNvSpPr txBox="1"/>
              <p:nvPr/>
            </p:nvSpPr>
            <p:spPr>
              <a:xfrm>
                <a:off x="790272" y="2145213"/>
                <a:ext cx="4593000" cy="923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rPr lang="en" sz="2400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Error Handling</a:t>
                </a:r>
                <a:endParaRPr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100"/>
                  <a:buFont typeface="Arial"/>
                  <a:buNone/>
                </a:pPr>
                <a:r>
                  <a:t/>
                </a:r>
                <a:endParaRPr sz="2400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  <p:sp>
            <p:nvSpPr>
              <p:cNvPr id="70" name="Google Shape;70;p13"/>
              <p:cNvSpPr txBox="1"/>
              <p:nvPr/>
            </p:nvSpPr>
            <p:spPr>
              <a:xfrm>
                <a:off x="1330896" y="3491750"/>
                <a:ext cx="3313200" cy="411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>
                    <a:solidFill>
                      <a:srgbClr val="FFFFFF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Instructor Name</a:t>
                </a:r>
                <a:endParaRPr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r>
                  <a:rPr lang="en">
                    <a:solidFill>
                      <a:schemeClr val="lt1"/>
                    </a:solidFill>
                    <a:latin typeface="Poppins"/>
                    <a:ea typeface="Poppins"/>
                    <a:cs typeface="Poppins"/>
                    <a:sym typeface="Poppins"/>
                  </a:rPr>
                  <a:t>Pratik Raj verma</a:t>
                </a:r>
                <a:endParaRPr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endParaRPr>
              </a:p>
            </p:txBody>
          </p:sp>
        </p:grpSp>
        <p:pic>
          <p:nvPicPr>
            <p:cNvPr id="71" name="Google Shape;71;p13" title="javascript-logo-javascript-icon-transparent-free-png.png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1018647" y="3922769"/>
              <a:ext cx="521208" cy="52120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/>
        </p:nvSpPr>
        <p:spPr>
          <a:xfrm>
            <a:off x="311700" y="213250"/>
            <a:ext cx="7470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lang="en" sz="2800">
                <a:solidFill>
                  <a:srgbClr val="1C4587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Table of Contents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77" name="Google Shape;77;p14"/>
          <p:cNvSpPr txBox="1"/>
          <p:nvPr/>
        </p:nvSpPr>
        <p:spPr>
          <a:xfrm>
            <a:off x="311700" y="1234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73239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</a:rPr>
              <a:t>Error Handling</a:t>
            </a:r>
            <a:endParaRPr>
              <a:solidFill>
                <a:srgbClr val="273239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</a:rPr>
              <a:t>References.</a:t>
            </a:r>
            <a:endParaRPr sz="1300">
              <a:solidFill>
                <a:srgbClr val="273239"/>
              </a:solidFill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73239"/>
              </a:buClr>
              <a:buSzPts val="1400"/>
              <a:buChar char="●"/>
            </a:pPr>
            <a:r>
              <a:rPr lang="en">
                <a:solidFill>
                  <a:srgbClr val="273239"/>
                </a:solidFill>
              </a:rPr>
              <a:t>The End.</a:t>
            </a:r>
            <a:endParaRPr>
              <a:solidFill>
                <a:srgbClr val="273239"/>
              </a:solidFill>
            </a:endParaRPr>
          </a:p>
        </p:txBody>
      </p:sp>
      <p:pic>
        <p:nvPicPr>
          <p:cNvPr id="78" name="Google Shape;78;p14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300" y="97175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30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4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Error Handling</a:t>
            </a:r>
            <a:endParaRPr b="1" sz="24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85" name="Google Shape;85;p15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87" name="Google Shape;87;p15"/>
          <p:cNvSpPr txBox="1"/>
          <p:nvPr/>
        </p:nvSpPr>
        <p:spPr>
          <a:xfrm>
            <a:off x="310900" y="907075"/>
            <a:ext cx="5212200" cy="16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1. try...catch (Definition)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 </a:t>
            </a:r>
            <a:r>
              <a:rPr lang="en" sz="1100">
                <a:solidFill>
                  <a:schemeClr val="dk1"/>
                </a:solidFill>
              </a:rPr>
              <a:t>try...catch is a JavaScript statement used to </a:t>
            </a:r>
            <a:r>
              <a:rPr b="1" lang="en" sz="1100">
                <a:solidFill>
                  <a:schemeClr val="dk1"/>
                </a:solidFill>
              </a:rPr>
              <a:t>handle runtime errors</a:t>
            </a:r>
            <a:r>
              <a:rPr lang="en" sz="1100">
                <a:solidFill>
                  <a:schemeClr val="dk1"/>
                </a:solidFill>
              </a:rPr>
              <a:t>.</a:t>
            </a: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 The code that may cause an error is written inside the try block.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br>
              <a:rPr lang="en" sz="1100">
                <a:solidFill>
                  <a:schemeClr val="dk1"/>
                </a:solidFill>
              </a:rPr>
            </a:br>
            <a:r>
              <a:rPr lang="en" sz="1100">
                <a:solidFill>
                  <a:schemeClr val="dk1"/>
                </a:solidFill>
              </a:rPr>
              <a:t>If an error occurs, JavaScript </a:t>
            </a:r>
            <a:r>
              <a:rPr b="1" lang="en" sz="1100">
                <a:solidFill>
                  <a:schemeClr val="dk1"/>
                </a:solidFill>
              </a:rPr>
              <a:t>stops execution of the try block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moves to the catch block</a:t>
            </a:r>
            <a:r>
              <a:rPr lang="en" sz="1100">
                <a:solidFill>
                  <a:schemeClr val="dk1"/>
                </a:solidFill>
              </a:rPr>
              <a:t>, preventing the program from crashing.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88" name="Google Shape;8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3525" y="2870475"/>
            <a:ext cx="3543000" cy="16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30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4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Error Handling</a:t>
            </a:r>
            <a:endParaRPr b="1" sz="24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4" name="Google Shape;94;p16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96" name="Google Shape;96;p16"/>
          <p:cNvSpPr txBox="1"/>
          <p:nvPr/>
        </p:nvSpPr>
        <p:spPr>
          <a:xfrm>
            <a:off x="373075" y="1250900"/>
            <a:ext cx="3000000" cy="14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Key Points of try...catch</a:t>
            </a:r>
            <a:endParaRPr b="1" sz="12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200">
                <a:solidFill>
                  <a:schemeClr val="dk1"/>
                </a:solidFill>
              </a:rPr>
              <a:t>Used to handle </a:t>
            </a:r>
            <a:r>
              <a:rPr b="1" lang="en" sz="1200">
                <a:solidFill>
                  <a:schemeClr val="dk1"/>
                </a:solidFill>
              </a:rPr>
              <a:t>runtime errors</a:t>
            </a:r>
            <a:endParaRPr b="1" sz="12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200">
                <a:solidFill>
                  <a:schemeClr val="dk1"/>
                </a:solidFill>
              </a:rPr>
              <a:t>Prevents application crash</a:t>
            </a:r>
            <a:endParaRPr sz="12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200">
                <a:solidFill>
                  <a:schemeClr val="dk1"/>
                </a:solidFill>
              </a:rPr>
              <a:t>catch receives an Error object</a:t>
            </a:r>
            <a:endParaRPr sz="12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200">
                <a:solidFill>
                  <a:schemeClr val="dk1"/>
                </a:solidFill>
              </a:rPr>
              <a:t>Commonly used with async/await</a:t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30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4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Error Handling</a:t>
            </a:r>
            <a:endParaRPr b="1" sz="24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02" name="Google Shape;102;p17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310900" y="892450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2. Error Handling with fetch() </a:t>
            </a:r>
            <a:endParaRPr sz="1700"/>
          </a:p>
        </p:txBody>
      </p:sp>
      <p:sp>
        <p:nvSpPr>
          <p:cNvPr id="105" name="Google Shape;105;p17"/>
          <p:cNvSpPr txBox="1"/>
          <p:nvPr/>
        </p:nvSpPr>
        <p:spPr>
          <a:xfrm>
            <a:off x="416950" y="1353300"/>
            <a:ext cx="4038000" cy="20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fetch() is a Web API used to make HTTP requests.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The promise returned by fetch() </a:t>
            </a:r>
            <a:r>
              <a:rPr b="1" lang="en" sz="1000">
                <a:solidFill>
                  <a:schemeClr val="dk1"/>
                </a:solidFill>
              </a:rPr>
              <a:t>only rejects when there is a network error</a:t>
            </a:r>
            <a:r>
              <a:rPr lang="en" sz="1000">
                <a:solidFill>
                  <a:schemeClr val="dk1"/>
                </a:solidFill>
              </a:rPr>
              <a:t> (for example, no internet connection)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Important:</a:t>
            </a:r>
            <a:br>
              <a:rPr b="1"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fetch() does </a:t>
            </a:r>
            <a:r>
              <a:rPr b="1" lang="en" sz="1000">
                <a:solidFill>
                  <a:schemeClr val="dk1"/>
                </a:solidFill>
              </a:rPr>
              <a:t>not reject</a:t>
            </a:r>
            <a:r>
              <a:rPr lang="en" sz="1000">
                <a:solidFill>
                  <a:schemeClr val="dk1"/>
                </a:solidFill>
              </a:rPr>
              <a:t> the promise for HTTP error status codes like:</a:t>
            </a:r>
            <a:endParaRPr sz="1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000">
                <a:solidFill>
                  <a:schemeClr val="dk1"/>
                </a:solidFill>
              </a:rPr>
              <a:t>404 (Not Found)</a:t>
            </a:r>
            <a:endParaRPr sz="1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000">
                <a:solidFill>
                  <a:schemeClr val="dk1"/>
                </a:solidFill>
              </a:rPr>
              <a:t>500 (Internal Server Error)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416950" y="350195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HTTP Error Handling in fetch</a:t>
            </a:r>
            <a:endParaRPr b="1"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8"/>
          <p:cNvSpPr txBox="1"/>
          <p:nvPr/>
        </p:nvSpPr>
        <p:spPr>
          <a:xfrm>
            <a:off x="310900" y="197325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30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24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Error Handling</a:t>
            </a:r>
            <a:endParaRPr b="1" sz="24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12" name="Google Shape;112;p18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4" name="Google Shape;114;p18"/>
          <p:cNvSpPr txBox="1"/>
          <p:nvPr/>
        </p:nvSpPr>
        <p:spPr>
          <a:xfrm>
            <a:off x="387700" y="94365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HTTP Error Handling in fetch</a:t>
            </a:r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387700" y="1631300"/>
            <a:ext cx="3672300" cy="17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To detect HTTP errors, we must </a:t>
            </a:r>
            <a:r>
              <a:rPr b="1" lang="en" sz="1000">
                <a:solidFill>
                  <a:schemeClr val="dk1"/>
                </a:solidFill>
              </a:rPr>
              <a:t>manually check the response</a:t>
            </a:r>
            <a:r>
              <a:rPr lang="en" sz="1000">
                <a:solidFill>
                  <a:schemeClr val="dk1"/>
                </a:solidFill>
              </a:rPr>
              <a:t>.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</a:rPr>
              <a:t>response.ok (Definition)</a:t>
            </a:r>
            <a:endParaRPr b="1"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response.ok is a boolean value:</a:t>
            </a:r>
            <a:endParaRPr sz="1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000">
                <a:solidFill>
                  <a:schemeClr val="dk1"/>
                </a:solidFill>
              </a:rPr>
              <a:t>true → status code is between </a:t>
            </a:r>
            <a:r>
              <a:rPr b="1" lang="en" sz="1000">
                <a:solidFill>
                  <a:schemeClr val="dk1"/>
                </a:solidFill>
              </a:rPr>
              <a:t>200–299</a:t>
            </a:r>
            <a:endParaRPr b="1" sz="10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000">
                <a:solidFill>
                  <a:schemeClr val="dk1"/>
                </a:solidFill>
              </a:rPr>
              <a:t>false → request failed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116" name="Google Shape;11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0600" y="1631300"/>
            <a:ext cx="3197550" cy="2294725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8"/>
          <p:cNvSpPr txBox="1"/>
          <p:nvPr/>
        </p:nvSpPr>
        <p:spPr>
          <a:xfrm>
            <a:off x="387700" y="3543000"/>
            <a:ext cx="38736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Even if the server sends an error response (like 404), fetch() still resolves the promise.</a:t>
            </a:r>
            <a:br>
              <a:rPr lang="en" sz="1000">
                <a:solidFill>
                  <a:schemeClr val="dk1"/>
                </a:solidFill>
              </a:rPr>
            </a:br>
            <a:r>
              <a:rPr lang="en" sz="1000">
                <a:solidFill>
                  <a:schemeClr val="dk1"/>
                </a:solidFill>
              </a:rPr>
              <a:t> So we </a:t>
            </a:r>
            <a:r>
              <a:rPr b="1" lang="en" sz="1000">
                <a:solidFill>
                  <a:schemeClr val="dk1"/>
                </a:solidFill>
              </a:rPr>
              <a:t>manually throw an error</a:t>
            </a:r>
            <a:r>
              <a:rPr lang="en" sz="1000">
                <a:solidFill>
                  <a:schemeClr val="dk1"/>
                </a:solidFill>
              </a:rPr>
              <a:t> using: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throw new Error("message");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This forces control to move into the catch block.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9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3" name="Google Shape;123;p19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9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b="1" lang="en" sz="1100">
                <a:solidFill>
                  <a:srgbClr val="000000"/>
                </a:solidFill>
              </a:rPr>
              <a:t> </a:t>
            </a:r>
            <a:r>
              <a:rPr b="1" lang="en" sz="1300">
                <a:solidFill>
                  <a:schemeClr val="dk1"/>
                </a:solidFill>
              </a:rPr>
              <a:t>What is the main purpose of </a:t>
            </a:r>
            <a:r>
              <a:rPr b="1" lang="en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try...catch</a:t>
            </a:r>
            <a:r>
              <a:rPr b="1" lang="en" sz="1300">
                <a:solidFill>
                  <a:schemeClr val="dk1"/>
                </a:solidFill>
              </a:rPr>
              <a:t> in JavaScript?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310900" y="1748350"/>
            <a:ext cx="8084700" cy="200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chemeClr val="dk1"/>
                </a:solidFill>
              </a:rPr>
              <a:t>A. To stop program execution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B. To handle runtime errors and prevent app crash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C. To write asynchronous code</a:t>
            </a:r>
            <a:endParaRPr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D. To improve performance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26" name="Google Shape;126;p19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28" name="Google Shape;128;p19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chemeClr val="dk1"/>
                </a:solidFill>
              </a:rPr>
              <a:t>B. </a:t>
            </a:r>
            <a:r>
              <a:rPr lang="en">
                <a:solidFill>
                  <a:schemeClr val="dk1"/>
                </a:solidFill>
              </a:rPr>
              <a:t>To handle runtime errors and prevent app crash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29" name="Google Shape;129;p19"/>
          <p:cNvGrpSpPr/>
          <p:nvPr/>
        </p:nvGrpSpPr>
        <p:grpSpPr>
          <a:xfrm>
            <a:off x="310900" y="3959263"/>
            <a:ext cx="6005825" cy="943513"/>
            <a:chOff x="310900" y="3959263"/>
            <a:chExt cx="6005825" cy="943513"/>
          </a:xfrm>
        </p:grpSpPr>
        <p:sp>
          <p:nvSpPr>
            <p:cNvPr id="130" name="Google Shape;130;p19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31" name="Google Shape;131;p19"/>
            <p:cNvSpPr txBox="1"/>
            <p:nvPr/>
          </p:nvSpPr>
          <p:spPr>
            <a:xfrm>
              <a:off x="1607925" y="3959275"/>
              <a:ext cx="4708800" cy="94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try...catch</a:t>
              </a:r>
              <a:r>
                <a:rPr lang="en" sz="1100">
                  <a:solidFill>
                    <a:schemeClr val="dk1"/>
                  </a:solidFill>
                </a:rPr>
                <a:t> catches runtime errors and prevents the program from crashing.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37" name="Google Shape;137;p20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0"/>
          <p:cNvSpPr txBox="1"/>
          <p:nvPr/>
        </p:nvSpPr>
        <p:spPr>
          <a:xfrm>
            <a:off x="310900" y="1228825"/>
            <a:ext cx="8161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</a:t>
            </a:r>
            <a:r>
              <a:rPr b="1" lang="en" sz="15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" sz="1300">
                <a:solidFill>
                  <a:srgbClr val="000000"/>
                </a:solidFill>
              </a:rPr>
              <a:t> </a:t>
            </a:r>
            <a:r>
              <a:rPr b="1" lang="en" sz="1300">
                <a:solidFill>
                  <a:schemeClr val="dk1"/>
                </a:solidFill>
              </a:rPr>
              <a:t>When does the promise returned by </a:t>
            </a:r>
            <a:r>
              <a:rPr b="1" lang="en" sz="13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fetch()</a:t>
            </a:r>
            <a:r>
              <a:rPr b="1" lang="en" sz="1300">
                <a:solidFill>
                  <a:schemeClr val="dk1"/>
                </a:solidFill>
              </a:rPr>
              <a:t> reject?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9" name="Google Shape;139;p20"/>
          <p:cNvSpPr txBox="1"/>
          <p:nvPr/>
        </p:nvSpPr>
        <p:spPr>
          <a:xfrm>
            <a:off x="310900" y="1748350"/>
            <a:ext cx="8084700" cy="18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</a:rPr>
              <a:t>A. When the server returns 404</a:t>
            </a:r>
            <a:endParaRPr sz="11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B. When the server returns 500</a:t>
            </a:r>
            <a:endParaRPr sz="11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C. When there is a network error</a:t>
            </a:r>
            <a:endParaRPr sz="1100">
              <a:solidFill>
                <a:schemeClr val="dk1"/>
              </a:solidFill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D. When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response.ok</a:t>
            </a:r>
            <a:r>
              <a:rPr lang="en" sz="1100">
                <a:solidFill>
                  <a:schemeClr val="dk1"/>
                </a:solidFill>
              </a:rPr>
              <a:t> is false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40" name="Google Shape;140;p20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>
                <a:solidFill>
                  <a:schemeClr val="dk1"/>
                </a:solidFill>
              </a:rPr>
              <a:t>C. When there is a network error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43" name="Google Shape;143;p20"/>
          <p:cNvGrpSpPr/>
          <p:nvPr/>
        </p:nvGrpSpPr>
        <p:grpSpPr>
          <a:xfrm>
            <a:off x="310900" y="3959263"/>
            <a:ext cx="6005825" cy="748813"/>
            <a:chOff x="310900" y="3959263"/>
            <a:chExt cx="6005825" cy="748813"/>
          </a:xfrm>
        </p:grpSpPr>
        <p:sp>
          <p:nvSpPr>
            <p:cNvPr id="144" name="Google Shape;144;p20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45" name="Google Shape;145;p20"/>
            <p:cNvSpPr txBox="1"/>
            <p:nvPr/>
          </p:nvSpPr>
          <p:spPr>
            <a:xfrm>
              <a:off x="1607925" y="3959275"/>
              <a:ext cx="4708800" cy="74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fetch()</a:t>
              </a:r>
              <a:r>
                <a:rPr lang="en" sz="1100">
                  <a:solidFill>
                    <a:schemeClr val="dk1"/>
                  </a:solidFill>
                </a:rPr>
                <a:t> rejects only on network failures, not on HTTP status errors.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/>
        </p:nvSpPr>
        <p:spPr>
          <a:xfrm>
            <a:off x="310900" y="210300"/>
            <a:ext cx="747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Check Your Understanding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1" name="Google Shape;151;p21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1"/>
          <p:cNvSpPr txBox="1"/>
          <p:nvPr/>
        </p:nvSpPr>
        <p:spPr>
          <a:xfrm>
            <a:off x="310900" y="1228825"/>
            <a:ext cx="81615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Question : </a:t>
            </a:r>
            <a:r>
              <a:rPr b="1" lang="en" sz="1300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   </a:t>
            </a:r>
            <a:r>
              <a:rPr b="1" lang="en" sz="1100">
                <a:solidFill>
                  <a:srgbClr val="000000"/>
                </a:solidFill>
              </a:rPr>
              <a:t> </a:t>
            </a:r>
            <a:r>
              <a:rPr b="1" lang="en" sz="1200">
                <a:solidFill>
                  <a:schemeClr val="dk1"/>
                </a:solidFill>
              </a:rPr>
              <a:t>Which property should be checked to handle HTTP errors in </a:t>
            </a:r>
            <a:r>
              <a:rPr b="1"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fetch()</a:t>
            </a:r>
            <a:r>
              <a:rPr b="1" lang="en" sz="1200">
                <a:solidFill>
                  <a:schemeClr val="dk1"/>
                </a:solidFill>
              </a:rPr>
              <a:t>?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300">
              <a:solidFill>
                <a:srgbClr val="273239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3" name="Google Shape;153;p21"/>
          <p:cNvSpPr txBox="1"/>
          <p:nvPr/>
        </p:nvSpPr>
        <p:spPr>
          <a:xfrm>
            <a:off x="310900" y="1748350"/>
            <a:ext cx="8084700" cy="18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Options    :</a:t>
            </a:r>
            <a:r>
              <a:rPr lang="en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100">
                <a:solidFill>
                  <a:schemeClr val="dk1"/>
                </a:solidFill>
              </a:rPr>
              <a:t>A.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response.error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B.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response.statusText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C. </a:t>
            </a:r>
            <a:r>
              <a:rPr lang="en" sz="1100">
                <a:solidFill>
                  <a:schemeClr val="dk1"/>
                </a:solidFill>
                <a:uFill>
                  <a:noFill/>
                </a:uFill>
                <a:latin typeface="Roboto Mono"/>
                <a:ea typeface="Roboto Mono"/>
                <a:cs typeface="Roboto Mono"/>
                <a:sym typeface="Roboto Mon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response.ok</a:t>
            </a:r>
            <a:endParaRPr sz="1100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D. </a:t>
            </a:r>
            <a:r>
              <a:rPr lang="en" sz="11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response.fail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4" name="Google Shape;154;p21" title="question-and-answer-illustration-download-in-svg-png-gif-file-formats--answers-faq-comments-chatting-business-pack-people-illustrations-425705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51839" y="3027775"/>
            <a:ext cx="3001612" cy="20010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56" name="Google Shape;156;p21"/>
          <p:cNvSpPr txBox="1"/>
          <p:nvPr/>
        </p:nvSpPr>
        <p:spPr>
          <a:xfrm>
            <a:off x="310950" y="3313725"/>
            <a:ext cx="62604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273239"/>
                </a:solidFill>
                <a:latin typeface="Poppins"/>
                <a:ea typeface="Poppins"/>
                <a:cs typeface="Poppins"/>
                <a:sym typeface="Poppins"/>
              </a:rPr>
              <a:t>Answer :</a:t>
            </a:r>
            <a:r>
              <a:rPr lang="en" sz="1800">
                <a:solidFill>
                  <a:srgbClr val="595959"/>
                </a:solidFill>
              </a:rPr>
              <a:t>  </a:t>
            </a:r>
            <a:r>
              <a:rPr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" sz="1200">
                <a:solidFill>
                  <a:schemeClr val="dk1"/>
                </a:solidFill>
              </a:rPr>
              <a:t>C. </a:t>
            </a:r>
            <a:r>
              <a:rPr lang="en" sz="12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response.ok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latin typeface="Poppins"/>
              <a:ea typeface="Poppins"/>
              <a:cs typeface="Poppins"/>
              <a:sym typeface="Poppins"/>
            </a:endParaRPr>
          </a:p>
        </p:txBody>
      </p:sp>
      <p:grpSp>
        <p:nvGrpSpPr>
          <p:cNvPr id="157" name="Google Shape;157;p21"/>
          <p:cNvGrpSpPr/>
          <p:nvPr/>
        </p:nvGrpSpPr>
        <p:grpSpPr>
          <a:xfrm>
            <a:off x="310900" y="3959263"/>
            <a:ext cx="6005825" cy="943513"/>
            <a:chOff x="310900" y="3959263"/>
            <a:chExt cx="6005825" cy="943513"/>
          </a:xfrm>
        </p:grpSpPr>
        <p:sp>
          <p:nvSpPr>
            <p:cNvPr id="158" name="Google Shape;158;p21"/>
            <p:cNvSpPr txBox="1"/>
            <p:nvPr/>
          </p:nvSpPr>
          <p:spPr>
            <a:xfrm>
              <a:off x="310900" y="3959263"/>
              <a:ext cx="1335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Clr>
                  <a:srgbClr val="000000"/>
                </a:buClr>
                <a:buSzPts val="1100"/>
                <a:buFont typeface="Arial"/>
                <a:buNone/>
              </a:pPr>
              <a:r>
                <a:rPr b="1" lang="en">
                  <a:solidFill>
                    <a:srgbClr val="273239"/>
                  </a:solidFill>
                  <a:latin typeface="Poppins"/>
                  <a:ea typeface="Poppins"/>
                  <a:cs typeface="Poppins"/>
                  <a:sym typeface="Poppins"/>
                </a:rPr>
                <a:t>Explanation:</a:t>
              </a:r>
              <a:endParaRPr sz="1800">
                <a:solidFill>
                  <a:srgbClr val="595959"/>
                </a:solidFill>
              </a:endParaRPr>
            </a:p>
          </p:txBody>
        </p:sp>
        <p:sp>
          <p:nvSpPr>
            <p:cNvPr id="159" name="Google Shape;159;p21"/>
            <p:cNvSpPr txBox="1"/>
            <p:nvPr/>
          </p:nvSpPr>
          <p:spPr>
            <a:xfrm>
              <a:off x="1607925" y="3959275"/>
              <a:ext cx="4708800" cy="94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dk1"/>
                  </a:solidFill>
                  <a:latin typeface="Roboto Mono"/>
                  <a:ea typeface="Roboto Mono"/>
                  <a:cs typeface="Roboto Mono"/>
                  <a:sym typeface="Roboto Mono"/>
                </a:rPr>
                <a:t>response.ok</a:t>
              </a:r>
              <a:r>
                <a:rPr lang="en" sz="1100">
                  <a:solidFill>
                    <a:schemeClr val="dk1"/>
                  </a:solidFill>
                </a:rPr>
                <a:t> tells whether the HTTP status code is successful (200–299).</a:t>
              </a:r>
              <a:endParaRPr>
                <a:solidFill>
                  <a:schemeClr val="dk1"/>
                </a:solidFill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1200"/>
                </a:spcBef>
                <a:spcAft>
                  <a:spcPts val="1200"/>
                </a:spcAft>
                <a:buNone/>
              </a:pPr>
              <a:r>
                <a:t/>
              </a:r>
              <a:endParaRPr>
                <a:latin typeface="Poppins"/>
                <a:ea typeface="Poppins"/>
                <a:cs typeface="Poppins"/>
                <a:sym typeface="Poppin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 txBox="1"/>
          <p:nvPr/>
        </p:nvSpPr>
        <p:spPr>
          <a:xfrm>
            <a:off x="310896" y="21031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lang="en" sz="2800">
                <a:solidFill>
                  <a:srgbClr val="000000"/>
                </a:solidFill>
              </a:rPr>
              <a:t>  </a:t>
            </a:r>
            <a:r>
              <a:rPr b="1" lang="en" sz="2800">
                <a:solidFill>
                  <a:srgbClr val="073763"/>
                </a:solidFill>
                <a:latin typeface="Poppins"/>
                <a:ea typeface="Poppins"/>
                <a:cs typeface="Poppins"/>
                <a:sym typeface="Poppins"/>
              </a:rPr>
              <a:t>References</a:t>
            </a:r>
            <a:endParaRPr b="1" sz="2800">
              <a:solidFill>
                <a:srgbClr val="073763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65" name="Google Shape;165;p22" title="KRMU LOG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4696" y="100584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2"/>
          <p:cNvSpPr txBox="1"/>
          <p:nvPr/>
        </p:nvSpPr>
        <p:spPr>
          <a:xfrm>
            <a:off x="358850" y="1181200"/>
            <a:ext cx="8520600" cy="34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MDN Web Docs</a:t>
            </a:r>
            <a:r>
              <a:rPr b="1" lang="en" sz="1100">
                <a:solidFill>
                  <a:srgbClr val="000000"/>
                </a:solidFill>
              </a:rPr>
              <a:t> :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Comprehensive and official documentation for JS.</a:t>
            </a:r>
            <a:br>
              <a:rPr i="1" lang="en" sz="1100">
                <a:solidFill>
                  <a:srgbClr val="000000"/>
                </a:solidFill>
              </a:rPr>
            </a:br>
            <a:r>
              <a:rPr lang="en" sz="1100">
                <a:solidFill>
                  <a:srgbClr val="000000"/>
                </a:solidFill>
              </a:rPr>
              <a:t> 🔗</a:t>
            </a:r>
            <a:r>
              <a:rPr lang="en" sz="1100" u="sng">
                <a:solidFill>
                  <a:srgbClr val="0097A7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https://developer.mozilla.org/en-US/docs/Web/JavaScript</a:t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097A7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W3Schools – JS Tutorial :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Beginner-friendly JS tutorials with examples and interactive editors.</a:t>
            </a:r>
            <a:b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</a:br>
            <a:r>
              <a:rPr lang="en" sz="1100">
                <a:solidFill>
                  <a:srgbClr val="000000"/>
                </a:solidFill>
              </a:rPr>
              <a:t> 🔗</a:t>
            </a:r>
            <a:r>
              <a:rPr lang="en" sz="1100" u="sng">
                <a:solidFill>
                  <a:srgbClr val="0097A7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https://www.w3schools.com/js/</a:t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JavaScript.info -</a:t>
            </a:r>
            <a:r>
              <a:rPr b="1"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 </a:t>
            </a:r>
            <a:r>
              <a:rPr b="1"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comprehensive tutorial-style website</a:t>
            </a:r>
            <a:r>
              <a:rPr i="1" lang="en" sz="11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that covers core JavaScript concepts in depth.</a:t>
            </a:r>
            <a:endParaRPr i="1"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</a:rPr>
              <a:t>🔗</a:t>
            </a:r>
            <a:r>
              <a:rPr lang="en" sz="1100" u="sng">
                <a:solidFill>
                  <a:srgbClr val="0097A7"/>
                </a:solidFill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https://javascript.info/</a:t>
            </a:r>
            <a:endParaRPr i="1" sz="110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67" name="Google Shape;167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23" title="subtle-prism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400050">
            <a:off x="-395563" y="395600"/>
            <a:ext cx="5157175" cy="4365975"/>
          </a:xfrm>
          <a:prstGeom prst="flowChartManualInput">
            <a:avLst/>
          </a:prstGeom>
          <a:noFill/>
          <a:ln>
            <a:noFill/>
          </a:ln>
        </p:spPr>
      </p:pic>
      <p:pic>
        <p:nvPicPr>
          <p:cNvPr id="173" name="Google Shape;173;p23" title="KRMU_Full_heading_Logo-removebg-previe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6125" y="452500"/>
            <a:ext cx="5337876" cy="1363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3"/>
          <p:cNvSpPr txBox="1"/>
          <p:nvPr/>
        </p:nvSpPr>
        <p:spPr>
          <a:xfrm>
            <a:off x="4407400" y="2020825"/>
            <a:ext cx="4636200" cy="5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173034"/>
                </a:solidFill>
              </a:rPr>
              <a:t>Course - Web Development - II</a:t>
            </a:r>
            <a:endParaRPr b="1" sz="2400">
              <a:solidFill>
                <a:srgbClr val="173034"/>
              </a:solidFill>
            </a:endParaRPr>
          </a:p>
        </p:txBody>
      </p:sp>
      <p:grpSp>
        <p:nvGrpSpPr>
          <p:cNvPr id="175" name="Google Shape;175;p23"/>
          <p:cNvGrpSpPr/>
          <p:nvPr/>
        </p:nvGrpSpPr>
        <p:grpSpPr>
          <a:xfrm>
            <a:off x="4572000" y="4881413"/>
            <a:ext cx="1607600" cy="292500"/>
            <a:chOff x="5060775" y="4881413"/>
            <a:chExt cx="1607600" cy="292500"/>
          </a:xfrm>
        </p:grpSpPr>
        <p:sp>
          <p:nvSpPr>
            <p:cNvPr id="176" name="Google Shape;176;p23"/>
            <p:cNvSpPr txBox="1"/>
            <p:nvPr/>
          </p:nvSpPr>
          <p:spPr>
            <a:xfrm>
              <a:off x="5165675" y="4881413"/>
              <a:ext cx="1502700" cy="29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rgbClr val="000000"/>
                  </a:solidFill>
                </a:rPr>
                <a:t>welcome@krmangalam.edu.in</a:t>
              </a:r>
              <a:endParaRPr sz="900">
                <a:solidFill>
                  <a:srgbClr val="000000"/>
                </a:solidFill>
              </a:endParaRPr>
            </a:p>
          </p:txBody>
        </p:sp>
        <p:pic>
          <p:nvPicPr>
            <p:cNvPr id="177" name="Google Shape;177;p23" title="email.png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060775" y="4966738"/>
              <a:ext cx="137160" cy="1371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78" name="Google Shape;178;p23"/>
          <p:cNvSpPr txBox="1"/>
          <p:nvPr/>
        </p:nvSpPr>
        <p:spPr>
          <a:xfrm>
            <a:off x="7326500" y="4881425"/>
            <a:ext cx="2340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>
                <a:solidFill>
                  <a:srgbClr val="212121"/>
                </a:solidFill>
              </a:rPr>
              <a:t>Sohna Road,Gurugram,Haryana 122103</a:t>
            </a:r>
            <a:endParaRPr sz="700">
              <a:solidFill>
                <a:srgbClr val="212121"/>
              </a:solidFill>
            </a:endParaRPr>
          </a:p>
        </p:txBody>
      </p:sp>
      <p:pic>
        <p:nvPicPr>
          <p:cNvPr id="179" name="Google Shape;179;p23" title="location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29300" y="4959088"/>
            <a:ext cx="137160" cy="13716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3"/>
          <p:cNvSpPr txBox="1"/>
          <p:nvPr/>
        </p:nvSpPr>
        <p:spPr>
          <a:xfrm>
            <a:off x="8494883" y="464826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1033275" y="1691650"/>
            <a:ext cx="23130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Thanks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Watching</a:t>
            </a:r>
            <a:endParaRPr sz="340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82" name="Google Shape;182;p23" title="Untitled (2).pn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38344" y="2660904"/>
            <a:ext cx="3309826" cy="2000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