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Slab"/>
      <p:regular r:id="rId25"/>
      <p:bold r:id="rId26"/>
    </p:embeddedFont>
    <p:embeddedFont>
      <p:font typeface="Poppi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Poppi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56c1e3f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56c1e3f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56c1e3f8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b56c1e3f8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56c1e3f83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56c1e3f83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56c1e3f8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56c1e3f8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b56c1e3f83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b56c1e3f83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56c1e3f83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b56c1e3f83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56c1e3f83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56c1e3f83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56c1e3f83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56c1e3f83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56c1e3f83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56c1e3f83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56c1e3f8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56c1e3f8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56c1e3f83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56c1e3f83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56c1e3f83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56c1e3f83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56c1e3f83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56c1e3f83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56c1e3f8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56c1e3f8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56c1e3f83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56c1e3f83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56c1e3f83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56c1e3f83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56c1e3f83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b56c1e3f83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56c1e3f83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b56c1e3f83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56c1e3f83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56c1e3f83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7.jpg"/><Relationship Id="rId8"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hyperlink" Target="https://developer.mozilla.org/en-US/docs/Web/JavaScript" TargetMode="External"/><Relationship Id="rId5" Type="http://schemas.openxmlformats.org/officeDocument/2006/relationships/hyperlink" Target="https://www.w3schools.com/js/" TargetMode="External"/><Relationship Id="rId6" Type="http://schemas.openxmlformats.org/officeDocument/2006/relationships/hyperlink" Target="https://javascript.inf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55" name="Google Shape;55;p13"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56" name="Google Shape;56;p13"/>
          <p:cNvSpPr txBox="1"/>
          <p:nvPr/>
        </p:nvSpPr>
        <p:spPr>
          <a:xfrm>
            <a:off x="4405600" y="2017650"/>
            <a:ext cx="4583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173034"/>
                </a:solidFill>
              </a:rPr>
              <a:t>Course - Web Development - II </a:t>
            </a:r>
            <a:endParaRPr b="1" sz="2400">
              <a:solidFill>
                <a:srgbClr val="173034"/>
              </a:solidFill>
            </a:endParaRPr>
          </a:p>
        </p:txBody>
      </p:sp>
      <p:grpSp>
        <p:nvGrpSpPr>
          <p:cNvPr id="57" name="Google Shape;57;p13"/>
          <p:cNvGrpSpPr/>
          <p:nvPr/>
        </p:nvGrpSpPr>
        <p:grpSpPr>
          <a:xfrm>
            <a:off x="4572000" y="4882896"/>
            <a:ext cx="1607600" cy="292500"/>
            <a:chOff x="5060775" y="4881413"/>
            <a:chExt cx="1607600" cy="292500"/>
          </a:xfrm>
        </p:grpSpPr>
        <p:sp>
          <p:nvSpPr>
            <p:cNvPr id="58" name="Google Shape;58;p13"/>
            <p:cNvSpPr txBox="1"/>
            <p:nvPr/>
          </p:nvSpPr>
          <p:spPr>
            <a:xfrm>
              <a:off x="5165675" y="4881413"/>
              <a:ext cx="1502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rPr>
                <a:t>welcome@krmangalam.edu.in</a:t>
              </a:r>
              <a:endParaRPr sz="900">
                <a:solidFill>
                  <a:srgbClr val="000000"/>
                </a:solidFill>
              </a:endParaRPr>
            </a:p>
          </p:txBody>
        </p:sp>
        <p:pic>
          <p:nvPicPr>
            <p:cNvPr id="59" name="Google Shape;59;p13"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grpSp>
        <p:nvGrpSpPr>
          <p:cNvPr id="60" name="Google Shape;60;p13"/>
          <p:cNvGrpSpPr/>
          <p:nvPr/>
        </p:nvGrpSpPr>
        <p:grpSpPr>
          <a:xfrm>
            <a:off x="7229300" y="4881425"/>
            <a:ext cx="1926000" cy="292500"/>
            <a:chOff x="7229300" y="4881425"/>
            <a:chExt cx="1926000" cy="292500"/>
          </a:xfrm>
        </p:grpSpPr>
        <p:sp>
          <p:nvSpPr>
            <p:cNvPr id="61" name="Google Shape;61;p13"/>
            <p:cNvSpPr txBox="1"/>
            <p:nvPr/>
          </p:nvSpPr>
          <p:spPr>
            <a:xfrm>
              <a:off x="7326500" y="4881425"/>
              <a:ext cx="1828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62" name="Google Shape;62;p13" title="location.png"/>
            <p:cNvPicPr preferRelativeResize="0"/>
            <p:nvPr/>
          </p:nvPicPr>
          <p:blipFill>
            <a:blip r:embed="rId6">
              <a:alphaModFix/>
            </a:blip>
            <a:stretch>
              <a:fillRect/>
            </a:stretch>
          </p:blipFill>
          <p:spPr>
            <a:xfrm>
              <a:off x="7229300" y="4965192"/>
              <a:ext cx="137160" cy="137160"/>
            </a:xfrm>
            <a:prstGeom prst="rect">
              <a:avLst/>
            </a:prstGeom>
            <a:noFill/>
            <a:ln>
              <a:noFill/>
            </a:ln>
          </p:spPr>
        </p:pic>
      </p:grpSp>
      <p:pic>
        <p:nvPicPr>
          <p:cNvPr id="63" name="Google Shape;63;p13" title="Wavy_Trv-02_Single-09.jpg"/>
          <p:cNvPicPr preferRelativeResize="0"/>
          <p:nvPr/>
        </p:nvPicPr>
        <p:blipFill>
          <a:blip r:embed="rId7">
            <a:alphaModFix/>
          </a:blip>
          <a:stretch>
            <a:fillRect/>
          </a:stretch>
        </p:blipFill>
        <p:spPr>
          <a:xfrm>
            <a:off x="5450000" y="2536688"/>
            <a:ext cx="2463299" cy="2227850"/>
          </a:xfrm>
          <a:prstGeom prst="rect">
            <a:avLst/>
          </a:prstGeom>
          <a:noFill/>
          <a:ln>
            <a:noFill/>
          </a:ln>
        </p:spPr>
      </p:pic>
      <p:sp>
        <p:nvSpPr>
          <p:cNvPr id="64" name="Google Shape;64;p1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65" name="Google Shape;65;p13"/>
          <p:cNvGrpSpPr/>
          <p:nvPr/>
        </p:nvGrpSpPr>
        <p:grpSpPr>
          <a:xfrm>
            <a:off x="309849" y="1233369"/>
            <a:ext cx="3415942" cy="2954584"/>
            <a:chOff x="309849" y="1233369"/>
            <a:chExt cx="3415942" cy="2954584"/>
          </a:xfrm>
        </p:grpSpPr>
        <p:grpSp>
          <p:nvGrpSpPr>
            <p:cNvPr id="66" name="Google Shape;66;p13"/>
            <p:cNvGrpSpPr/>
            <p:nvPr/>
          </p:nvGrpSpPr>
          <p:grpSpPr>
            <a:xfrm>
              <a:off x="309849" y="1233369"/>
              <a:ext cx="3415942" cy="2387863"/>
              <a:chOff x="788865" y="1515488"/>
              <a:chExt cx="4594407" cy="2387863"/>
            </a:xfrm>
          </p:grpSpPr>
          <p:sp>
            <p:nvSpPr>
              <p:cNvPr id="67" name="Google Shape;67;p13"/>
              <p:cNvSpPr txBox="1"/>
              <p:nvPr/>
            </p:nvSpPr>
            <p:spPr>
              <a:xfrm>
                <a:off x="788865" y="1515488"/>
                <a:ext cx="31977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solidFill>
                      <a:srgbClr val="FFFFFF"/>
                    </a:solidFill>
                    <a:latin typeface="Roboto Slab"/>
                    <a:ea typeface="Roboto Slab"/>
                    <a:cs typeface="Roboto Slab"/>
                    <a:sym typeface="Roboto Slab"/>
                  </a:rPr>
                  <a:t>Lecture 10</a:t>
                </a:r>
                <a:r>
                  <a:rPr lang="en" sz="2700">
                    <a:solidFill>
                      <a:srgbClr val="FFFFFF"/>
                    </a:solidFill>
                  </a:rPr>
                  <a:t>:</a:t>
                </a:r>
                <a:endParaRPr sz="2200">
                  <a:solidFill>
                    <a:srgbClr val="FFFFFF"/>
                  </a:solidFill>
                  <a:latin typeface="Roboto Slab"/>
                  <a:ea typeface="Roboto Slab"/>
                  <a:cs typeface="Roboto Slab"/>
                  <a:sym typeface="Roboto Slab"/>
                </a:endParaRPr>
              </a:p>
            </p:txBody>
          </p:sp>
          <p:sp>
            <p:nvSpPr>
              <p:cNvPr id="68" name="Google Shape;68;p13"/>
              <p:cNvSpPr txBox="1"/>
              <p:nvPr/>
            </p:nvSpPr>
            <p:spPr>
              <a:xfrm>
                <a:off x="788875" y="3475300"/>
                <a:ext cx="69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FFFFFF"/>
                    </a:solidFill>
                    <a:latin typeface="Poppins"/>
                    <a:ea typeface="Poppins"/>
                    <a:cs typeface="Poppins"/>
                    <a:sym typeface="Poppins"/>
                  </a:rPr>
                  <a:t>-By</a:t>
                </a:r>
                <a:endParaRPr>
                  <a:solidFill>
                    <a:srgbClr val="FFFFFF"/>
                  </a:solidFill>
                  <a:latin typeface="Poppins"/>
                  <a:ea typeface="Poppins"/>
                  <a:cs typeface="Poppins"/>
                  <a:sym typeface="Poppins"/>
                </a:endParaRPr>
              </a:p>
            </p:txBody>
          </p:sp>
          <p:sp>
            <p:nvSpPr>
              <p:cNvPr id="69" name="Google Shape;69;p13"/>
              <p:cNvSpPr txBox="1"/>
              <p:nvPr/>
            </p:nvSpPr>
            <p:spPr>
              <a:xfrm>
                <a:off x="790272" y="2145213"/>
                <a:ext cx="4593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100"/>
                  <a:buFont typeface="Arial"/>
                  <a:buNone/>
                </a:pPr>
                <a:r>
                  <a:rPr lang="en" sz="2400">
                    <a:solidFill>
                      <a:srgbClr val="FFFFFF"/>
                    </a:solidFill>
                    <a:latin typeface="Poppins"/>
                    <a:ea typeface="Poppins"/>
                    <a:cs typeface="Poppins"/>
                    <a:sym typeface="Poppins"/>
                  </a:rPr>
                  <a:t>Timers in JavaScript</a:t>
                </a:r>
                <a:endParaRPr sz="2400">
                  <a:solidFill>
                    <a:srgbClr val="FFFFFF"/>
                  </a:solidFill>
                  <a:latin typeface="Poppins"/>
                  <a:ea typeface="Poppins"/>
                  <a:cs typeface="Poppins"/>
                  <a:sym typeface="Poppins"/>
                </a:endParaRPr>
              </a:p>
            </p:txBody>
          </p:sp>
          <p:sp>
            <p:nvSpPr>
              <p:cNvPr id="70" name="Google Shape;70;p13"/>
              <p:cNvSpPr txBox="1"/>
              <p:nvPr/>
            </p:nvSpPr>
            <p:spPr>
              <a:xfrm>
                <a:off x="1330896" y="3491750"/>
                <a:ext cx="3313200" cy="41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a:ea typeface="Poppins"/>
                    <a:cs typeface="Poppins"/>
                    <a:sym typeface="Poppins"/>
                  </a:rPr>
                  <a:t>Instructor Name</a:t>
                </a:r>
                <a:endParaRPr>
                  <a:solidFill>
                    <a:srgbClr val="FFFFFF"/>
                  </a:solidFill>
                  <a:latin typeface="Poppins"/>
                  <a:ea typeface="Poppins"/>
                  <a:cs typeface="Poppins"/>
                  <a:sym typeface="Poppins"/>
                </a:endParaRPr>
              </a:p>
            </p:txBody>
          </p:sp>
        </p:grpSp>
        <p:pic>
          <p:nvPicPr>
            <p:cNvPr id="71" name="Google Shape;71;p13" title="javascript-logo-javascript-icon-transparent-free-png.png"/>
            <p:cNvPicPr preferRelativeResize="0"/>
            <p:nvPr/>
          </p:nvPicPr>
          <p:blipFill>
            <a:blip r:embed="rId8">
              <a:alphaModFix/>
            </a:blip>
            <a:stretch>
              <a:fillRect/>
            </a:stretch>
          </p:blipFill>
          <p:spPr>
            <a:xfrm>
              <a:off x="1033272" y="3666744"/>
              <a:ext cx="521208" cy="52120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a:t>
            </a:r>
            <a:r>
              <a:rPr b="1" lang="en" sz="2800">
                <a:solidFill>
                  <a:srgbClr val="1C4587"/>
                </a:solidFill>
                <a:latin typeface="Poppins"/>
                <a:ea typeface="Poppins"/>
                <a:cs typeface="Poppins"/>
                <a:sym typeface="Poppins"/>
              </a:rPr>
              <a:t>  </a:t>
            </a:r>
            <a:r>
              <a:rPr b="1" lang="en" sz="2800">
                <a:solidFill>
                  <a:srgbClr val="073763"/>
                </a:solidFill>
                <a:latin typeface="Poppins"/>
                <a:ea typeface="Poppins"/>
                <a:cs typeface="Poppins"/>
                <a:sym typeface="Poppins"/>
              </a:rPr>
              <a:t>Table of Contents</a:t>
            </a:r>
            <a:endParaRPr b="1" sz="2800">
              <a:solidFill>
                <a:srgbClr val="073763"/>
              </a:solidFill>
              <a:latin typeface="Poppins"/>
              <a:ea typeface="Poppins"/>
              <a:cs typeface="Poppins"/>
              <a:sym typeface="Poppins"/>
            </a:endParaRPr>
          </a:p>
        </p:txBody>
      </p:sp>
      <p:sp>
        <p:nvSpPr>
          <p:cNvPr id="77" name="Google Shape;77;p14"/>
          <p:cNvSpPr txBox="1"/>
          <p:nvPr/>
        </p:nvSpPr>
        <p:spPr>
          <a:xfrm>
            <a:off x="311700" y="1234700"/>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50000"/>
              </a:lnSpc>
              <a:spcBef>
                <a:spcPts val="0"/>
              </a:spcBef>
              <a:spcAft>
                <a:spcPts val="0"/>
              </a:spcAft>
              <a:buNone/>
            </a:pPr>
            <a:r>
              <a:t/>
            </a:r>
            <a:endParaRPr sz="1800">
              <a:solidFill>
                <a:srgbClr val="273239"/>
              </a:solidFill>
            </a:endParaRPr>
          </a:p>
          <a:p>
            <a:pPr indent="-342900" lvl="0" marL="457200" rtl="0" algn="l">
              <a:lnSpc>
                <a:spcPct val="150000"/>
              </a:lnSpc>
              <a:spcBef>
                <a:spcPts val="1200"/>
              </a:spcBef>
              <a:spcAft>
                <a:spcPts val="0"/>
              </a:spcAft>
              <a:buClr>
                <a:srgbClr val="273239"/>
              </a:buClr>
              <a:buSzPts val="1800"/>
              <a:buChar char="●"/>
            </a:pPr>
            <a:r>
              <a:rPr lang="en" sz="1800">
                <a:solidFill>
                  <a:srgbClr val="273239"/>
                </a:solidFill>
              </a:rPr>
              <a:t>setTimeOut() and setTimeInterval()</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References.</a:t>
            </a:r>
            <a:endParaRPr sz="1800">
              <a:solidFill>
                <a:srgbClr val="273239"/>
              </a:solidFill>
            </a:endParaRPr>
          </a:p>
          <a:p>
            <a:pPr indent="-342900" lvl="0" marL="457200" rtl="0" algn="l">
              <a:lnSpc>
                <a:spcPct val="150000"/>
              </a:lnSpc>
              <a:spcBef>
                <a:spcPts val="0"/>
              </a:spcBef>
              <a:spcAft>
                <a:spcPts val="0"/>
              </a:spcAft>
              <a:buClr>
                <a:srgbClr val="273239"/>
              </a:buClr>
              <a:buSzPts val="1800"/>
              <a:buChar char="●"/>
            </a:pPr>
            <a:r>
              <a:rPr lang="en" sz="1800">
                <a:solidFill>
                  <a:srgbClr val="273239"/>
                </a:solidFill>
              </a:rPr>
              <a:t>The End.</a:t>
            </a:r>
            <a:endParaRPr sz="1800">
              <a:solidFill>
                <a:srgbClr val="273239"/>
              </a:solidFill>
            </a:endParaRPr>
          </a:p>
        </p:txBody>
      </p:sp>
      <p:pic>
        <p:nvPicPr>
          <p:cNvPr id="78" name="Google Shape;78;p1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79" name="Google Shape;79;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nvSpPr>
        <p:spPr>
          <a:xfrm>
            <a:off x="311700" y="213250"/>
            <a:ext cx="7470900" cy="572700"/>
          </a:xfrm>
          <a:prstGeom prst="rect">
            <a:avLst/>
          </a:prstGeom>
          <a:noFill/>
          <a:ln>
            <a:noFill/>
          </a:ln>
        </p:spPr>
        <p:txBody>
          <a:bodyPr anchorCtr="0" anchor="t" bIns="91425" lIns="91425" spcFirstLastPara="1" rIns="91425" wrap="square" tIns="91425">
            <a:normAutofit fontScale="55000"/>
          </a:bodyPr>
          <a:lstStyle/>
          <a:p>
            <a:pPr indent="0" lvl="0" marL="0" rtl="0" algn="l">
              <a:spcBef>
                <a:spcPts val="0"/>
              </a:spcBef>
              <a:spcAft>
                <a:spcPts val="0"/>
              </a:spcAft>
              <a:buNone/>
            </a:pPr>
            <a:r>
              <a:rPr b="1" lang="en" sz="2800">
                <a:latin typeface="Poppins"/>
                <a:ea typeface="Poppins"/>
                <a:cs typeface="Poppins"/>
                <a:sym typeface="Poppins"/>
              </a:rPr>
              <a:t>| </a:t>
            </a:r>
            <a:r>
              <a:rPr b="1" lang="en" sz="2400">
                <a:latin typeface="Poppins"/>
                <a:ea typeface="Poppins"/>
                <a:cs typeface="Poppins"/>
                <a:sym typeface="Poppins"/>
              </a:rPr>
              <a:t> </a:t>
            </a:r>
            <a:r>
              <a:rPr b="1" lang="en" sz="3769">
                <a:solidFill>
                  <a:srgbClr val="073763"/>
                </a:solidFill>
                <a:latin typeface="Poppins"/>
                <a:ea typeface="Poppins"/>
                <a:cs typeface="Poppins"/>
                <a:sym typeface="Poppins"/>
              </a:rPr>
              <a:t>Have you ever wondered how an alarm clock works?  </a:t>
            </a:r>
            <a:r>
              <a:rPr b="1" lang="en" sz="2800">
                <a:solidFill>
                  <a:srgbClr val="073763"/>
                </a:solidFill>
                <a:latin typeface="Poppins"/>
                <a:ea typeface="Poppins"/>
                <a:cs typeface="Poppins"/>
                <a:sym typeface="Poppins"/>
              </a:rPr>
              <a:t> </a:t>
            </a:r>
            <a:endParaRPr b="1" sz="2800">
              <a:solidFill>
                <a:srgbClr val="073763"/>
              </a:solidFill>
              <a:latin typeface="Poppins"/>
              <a:ea typeface="Poppins"/>
              <a:cs typeface="Poppins"/>
              <a:sym typeface="Poppins"/>
            </a:endParaRPr>
          </a:p>
        </p:txBody>
      </p:sp>
      <p:pic>
        <p:nvPicPr>
          <p:cNvPr id="85" name="Google Shape;85;p1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86" name="Google Shape;86;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 name="Google Shape;87;p15"/>
          <p:cNvSpPr txBox="1"/>
          <p:nvPr/>
        </p:nvSpPr>
        <p:spPr>
          <a:xfrm>
            <a:off x="311700" y="1204100"/>
            <a:ext cx="50529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You set an alarm for 6:00 AM.</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How does the alarm </a:t>
            </a:r>
            <a:r>
              <a:rPr b="1" lang="en">
                <a:solidFill>
                  <a:srgbClr val="273239"/>
                </a:solidFill>
                <a:latin typeface="Poppins"/>
                <a:ea typeface="Poppins"/>
                <a:cs typeface="Poppins"/>
                <a:sym typeface="Poppins"/>
              </a:rPr>
              <a:t>know</a:t>
            </a:r>
            <a:r>
              <a:rPr lang="en">
                <a:solidFill>
                  <a:srgbClr val="273239"/>
                </a:solidFill>
                <a:latin typeface="Poppins"/>
                <a:ea typeface="Poppins"/>
                <a:cs typeface="Poppins"/>
                <a:sym typeface="Poppins"/>
              </a:rPr>
              <a:t> when to ring exactly at 6?</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
                <a:solidFill>
                  <a:srgbClr val="273239"/>
                </a:solidFill>
                <a:latin typeface="Poppins"/>
                <a:ea typeface="Poppins"/>
                <a:cs typeface="Poppins"/>
                <a:sym typeface="Poppins"/>
              </a:rPr>
              <a:t>An alarm doesn’t do anything </a:t>
            </a:r>
            <a:r>
              <a:rPr b="1" lang="en">
                <a:solidFill>
                  <a:srgbClr val="273239"/>
                </a:solidFill>
                <a:latin typeface="Poppins"/>
                <a:ea typeface="Poppins"/>
                <a:cs typeface="Poppins"/>
                <a:sym typeface="Poppins"/>
              </a:rPr>
              <a:t>right now</a:t>
            </a:r>
            <a:r>
              <a:rPr lang="en">
                <a:solidFill>
                  <a:srgbClr val="273239"/>
                </a:solidFill>
                <a:latin typeface="Poppins"/>
                <a:ea typeface="Poppins"/>
                <a:cs typeface="Poppins"/>
                <a:sym typeface="Poppins"/>
              </a:rPr>
              <a:t>.</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It just </a:t>
            </a:r>
            <a:r>
              <a:rPr b="1" lang="en">
                <a:solidFill>
                  <a:srgbClr val="273239"/>
                </a:solidFill>
                <a:latin typeface="Poppins"/>
                <a:ea typeface="Poppins"/>
                <a:cs typeface="Poppins"/>
                <a:sym typeface="Poppins"/>
              </a:rPr>
              <a:t>waits quietly</a:t>
            </a:r>
            <a:r>
              <a:rPr lang="en">
                <a:solidFill>
                  <a:srgbClr val="273239"/>
                </a:solidFill>
                <a:latin typeface="Poppins"/>
                <a:ea typeface="Poppins"/>
                <a:cs typeface="Poppins"/>
                <a:sym typeface="Poppins"/>
              </a:rPr>
              <a:t> in the background.</a:t>
            </a:r>
            <a:endParaRPr>
              <a:solidFill>
                <a:srgbClr val="273239"/>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When the time is up — </a:t>
            </a:r>
            <a:r>
              <a:rPr b="1" lang="en">
                <a:solidFill>
                  <a:srgbClr val="273239"/>
                </a:solidFill>
                <a:latin typeface="Poppins"/>
                <a:ea typeface="Poppins"/>
                <a:cs typeface="Poppins"/>
                <a:sym typeface="Poppins"/>
              </a:rPr>
              <a:t>RINGGG!</a:t>
            </a:r>
            <a:r>
              <a:rPr lang="en">
                <a:solidFill>
                  <a:srgbClr val="273239"/>
                </a:solidFill>
                <a:latin typeface="Poppins"/>
                <a:ea typeface="Poppins"/>
                <a:cs typeface="Poppins"/>
                <a:sym typeface="Poppins"/>
              </a:rPr>
              <a:t> — it does its job!</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That’s exactly what </a:t>
            </a:r>
            <a:r>
              <a:rPr b="1" lang="en">
                <a:solidFill>
                  <a:srgbClr val="273239"/>
                </a:solidFill>
                <a:latin typeface="Poppins"/>
                <a:ea typeface="Poppins"/>
                <a:cs typeface="Poppins"/>
                <a:sym typeface="Poppins"/>
              </a:rPr>
              <a:t>setTimeout()</a:t>
            </a:r>
            <a:r>
              <a:rPr lang="en">
                <a:solidFill>
                  <a:srgbClr val="273239"/>
                </a:solidFill>
                <a:latin typeface="Poppins"/>
                <a:ea typeface="Poppins"/>
                <a:cs typeface="Poppins"/>
                <a:sym typeface="Poppins"/>
              </a:rPr>
              <a:t> does in JavaScript.</a:t>
            </a:r>
            <a:endParaRPr>
              <a:solidFill>
                <a:srgbClr val="273239"/>
              </a:solidFill>
              <a:latin typeface="Poppins"/>
              <a:ea typeface="Poppins"/>
              <a:cs typeface="Poppins"/>
              <a:sym typeface="Poppins"/>
            </a:endParaRPr>
          </a:p>
        </p:txBody>
      </p:sp>
      <p:pic>
        <p:nvPicPr>
          <p:cNvPr id="88" name="Google Shape;88;p15"/>
          <p:cNvPicPr preferRelativeResize="0"/>
          <p:nvPr/>
        </p:nvPicPr>
        <p:blipFill>
          <a:blip r:embed="rId4">
            <a:alphaModFix/>
          </a:blip>
          <a:stretch>
            <a:fillRect/>
          </a:stretch>
        </p:blipFill>
        <p:spPr>
          <a:xfrm>
            <a:off x="5663275" y="1528450"/>
            <a:ext cx="2575050" cy="2595600"/>
          </a:xfrm>
          <a:prstGeom prst="rect">
            <a:avLst/>
          </a:prstGeom>
          <a:noFill/>
          <a:ln>
            <a:noFill/>
          </a:ln>
          <a:effectLst>
            <a:outerShdw blurRad="142875" rotWithShape="0" algn="bl" dir="7560000" dist="104775">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400">
                <a:latin typeface="Poppins"/>
                <a:ea typeface="Poppins"/>
                <a:cs typeface="Poppins"/>
                <a:sym typeface="Poppins"/>
              </a:rPr>
              <a:t> </a:t>
            </a:r>
            <a:r>
              <a:rPr b="1" lang="en" sz="2500">
                <a:solidFill>
                  <a:srgbClr val="073763"/>
                </a:solidFill>
                <a:latin typeface="Poppins"/>
                <a:ea typeface="Poppins"/>
                <a:cs typeface="Poppins"/>
                <a:sym typeface="Poppins"/>
              </a:rPr>
              <a:t>setTimeout  </a:t>
            </a:r>
            <a:r>
              <a:rPr b="1" lang="en" sz="2800">
                <a:solidFill>
                  <a:srgbClr val="073763"/>
                </a:solidFill>
                <a:latin typeface="Poppins"/>
                <a:ea typeface="Poppins"/>
                <a:cs typeface="Poppins"/>
                <a:sym typeface="Poppins"/>
              </a:rPr>
              <a:t> </a:t>
            </a:r>
            <a:endParaRPr b="1" sz="2800">
              <a:solidFill>
                <a:srgbClr val="073763"/>
              </a:solidFill>
              <a:latin typeface="Poppins"/>
              <a:ea typeface="Poppins"/>
              <a:cs typeface="Poppins"/>
              <a:sym typeface="Poppins"/>
            </a:endParaRPr>
          </a:p>
        </p:txBody>
      </p:sp>
      <p:pic>
        <p:nvPicPr>
          <p:cNvPr id="94" name="Google Shape;94;p16"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95" name="Google Shape;95;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6" name="Google Shape;96;p16"/>
          <p:cNvSpPr txBox="1"/>
          <p:nvPr/>
        </p:nvSpPr>
        <p:spPr>
          <a:xfrm>
            <a:off x="311700" y="866300"/>
            <a:ext cx="5994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73239"/>
                </a:solidFill>
                <a:latin typeface="Poppins"/>
                <a:ea typeface="Poppins"/>
                <a:cs typeface="Poppins"/>
                <a:sym typeface="Poppins"/>
              </a:rPr>
              <a:t> setTimeout() is a</a:t>
            </a:r>
            <a:r>
              <a:rPr b="1" lang="en">
                <a:solidFill>
                  <a:srgbClr val="273239"/>
                </a:solidFill>
                <a:latin typeface="Poppins"/>
                <a:ea typeface="Poppins"/>
                <a:cs typeface="Poppins"/>
                <a:sym typeface="Poppins"/>
              </a:rPr>
              <a:t> JavaScript function</a:t>
            </a:r>
            <a:r>
              <a:rPr lang="en">
                <a:solidFill>
                  <a:srgbClr val="273239"/>
                </a:solidFill>
                <a:latin typeface="Poppins"/>
                <a:ea typeface="Poppins"/>
                <a:cs typeface="Poppins"/>
                <a:sym typeface="Poppins"/>
              </a:rPr>
              <a:t> that waits for a certain amount of time and then runs a task.</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It’s like telling JavaScript: </a:t>
            </a:r>
            <a:endParaRPr>
              <a:solidFill>
                <a:srgbClr val="273239"/>
              </a:solidFill>
              <a:latin typeface="Poppins"/>
              <a:ea typeface="Poppins"/>
              <a:cs typeface="Poppins"/>
              <a:sym typeface="Poppins"/>
            </a:endParaRPr>
          </a:p>
          <a:p>
            <a:pPr indent="0" lvl="0" marL="0" rtl="0" algn="l">
              <a:spcBef>
                <a:spcPts val="0"/>
              </a:spcBef>
              <a:spcAft>
                <a:spcPts val="0"/>
              </a:spcAft>
              <a:buNone/>
            </a:pPr>
            <a:br>
              <a:rPr lang="en">
                <a:solidFill>
                  <a:srgbClr val="273239"/>
                </a:solidFill>
                <a:latin typeface="Poppins"/>
                <a:ea typeface="Poppins"/>
                <a:cs typeface="Poppins"/>
                <a:sym typeface="Poppins"/>
              </a:rPr>
            </a:br>
            <a:r>
              <a:rPr lang="en">
                <a:solidFill>
                  <a:srgbClr val="273239"/>
                </a:solidFill>
                <a:latin typeface="Poppins"/>
                <a:ea typeface="Poppins"/>
                <a:cs typeface="Poppins"/>
                <a:sym typeface="Poppins"/>
              </a:rPr>
              <a:t>Wait for some time… then do this.</a:t>
            </a:r>
            <a:endParaRPr>
              <a:solidFill>
                <a:srgbClr val="273239"/>
              </a:solidFill>
              <a:latin typeface="Poppins"/>
              <a:ea typeface="Poppins"/>
              <a:cs typeface="Poppins"/>
              <a:sym typeface="Poppins"/>
            </a:endParaRPr>
          </a:p>
          <a:p>
            <a:pPr indent="0" lvl="0" marL="0" rtl="0" algn="l">
              <a:spcBef>
                <a:spcPts val="0"/>
              </a:spcBef>
              <a:spcAft>
                <a:spcPts val="0"/>
              </a:spcAft>
              <a:buNone/>
            </a:pPr>
            <a:r>
              <a:t/>
            </a:r>
            <a:endParaRPr>
              <a:solidFill>
                <a:srgbClr val="273239"/>
              </a:solidFill>
              <a:latin typeface="Poppins"/>
              <a:ea typeface="Poppins"/>
              <a:cs typeface="Poppins"/>
              <a:sym typeface="Poppins"/>
            </a:endParaRPr>
          </a:p>
          <a:p>
            <a:pPr indent="0" lvl="0" marL="0" rtl="0" algn="l">
              <a:spcBef>
                <a:spcPts val="0"/>
              </a:spcBef>
              <a:spcAft>
                <a:spcPts val="0"/>
              </a:spcAft>
              <a:buNone/>
            </a:pPr>
            <a:r>
              <a:rPr lang="en">
                <a:solidFill>
                  <a:srgbClr val="273239"/>
                </a:solidFill>
                <a:latin typeface="Poppins"/>
                <a:ea typeface="Poppins"/>
                <a:cs typeface="Poppins"/>
                <a:sym typeface="Poppins"/>
              </a:rPr>
              <a:t>Just like setting an alarm — it doesn’t ring now, it rings </a:t>
            </a:r>
            <a:r>
              <a:rPr b="1" lang="en">
                <a:solidFill>
                  <a:srgbClr val="273239"/>
                </a:solidFill>
                <a:latin typeface="Poppins"/>
                <a:ea typeface="Poppins"/>
                <a:cs typeface="Poppins"/>
                <a:sym typeface="Poppins"/>
              </a:rPr>
              <a:t>after a delay</a:t>
            </a:r>
            <a:r>
              <a:rPr lang="en">
                <a:solidFill>
                  <a:srgbClr val="273239"/>
                </a:solidFill>
                <a:latin typeface="Poppins"/>
                <a:ea typeface="Poppins"/>
                <a:cs typeface="Poppins"/>
                <a:sym typeface="Poppins"/>
              </a:rPr>
              <a:t>.</a:t>
            </a:r>
            <a:endParaRPr>
              <a:solidFill>
                <a:srgbClr val="273239"/>
              </a:solidFill>
              <a:latin typeface="Poppins"/>
              <a:ea typeface="Poppins"/>
              <a:cs typeface="Poppins"/>
              <a:sym typeface="Poppins"/>
            </a:endParaRPr>
          </a:p>
        </p:txBody>
      </p:sp>
      <p:pic>
        <p:nvPicPr>
          <p:cNvPr id="97" name="Google Shape;97;p16"/>
          <p:cNvPicPr preferRelativeResize="0"/>
          <p:nvPr/>
        </p:nvPicPr>
        <p:blipFill>
          <a:blip r:embed="rId4">
            <a:alphaModFix/>
          </a:blip>
          <a:stretch>
            <a:fillRect/>
          </a:stretch>
        </p:blipFill>
        <p:spPr>
          <a:xfrm>
            <a:off x="359825" y="3525400"/>
            <a:ext cx="3121675" cy="1059550"/>
          </a:xfrm>
          <a:prstGeom prst="rect">
            <a:avLst/>
          </a:prstGeom>
          <a:noFill/>
          <a:ln>
            <a:noFill/>
          </a:ln>
        </p:spPr>
      </p:pic>
      <p:sp>
        <p:nvSpPr>
          <p:cNvPr id="98" name="Google Shape;98;p16"/>
          <p:cNvSpPr txBox="1"/>
          <p:nvPr/>
        </p:nvSpPr>
        <p:spPr>
          <a:xfrm>
            <a:off x="4700325" y="3747175"/>
            <a:ext cx="3927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function</a:t>
            </a:r>
            <a:r>
              <a:rPr lang="en">
                <a:solidFill>
                  <a:schemeClr val="dk1"/>
                </a:solidFill>
                <a:latin typeface="Poppins"/>
                <a:ea typeface="Poppins"/>
                <a:cs typeface="Poppins"/>
                <a:sym typeface="Poppins"/>
              </a:rPr>
              <a:t> – The code you want to run later</a:t>
            </a:r>
            <a:br>
              <a:rPr lang="en">
                <a:solidFill>
                  <a:schemeClr val="dk1"/>
                </a:solidFill>
                <a:latin typeface="Poppins"/>
                <a:ea typeface="Poppins"/>
                <a:cs typeface="Poppins"/>
                <a:sym typeface="Poppins"/>
              </a:rPr>
            </a:b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delay</a:t>
            </a:r>
            <a:r>
              <a:rPr lang="en">
                <a:solidFill>
                  <a:schemeClr val="dk1"/>
                </a:solidFill>
                <a:latin typeface="Poppins"/>
                <a:ea typeface="Poppins"/>
                <a:cs typeface="Poppins"/>
                <a:sym typeface="Poppins"/>
              </a:rPr>
              <a:t> – Time to wait </a:t>
            </a:r>
            <a:r>
              <a:rPr b="1" lang="en">
                <a:solidFill>
                  <a:schemeClr val="dk1"/>
                </a:solidFill>
                <a:latin typeface="Poppins"/>
                <a:ea typeface="Poppins"/>
                <a:cs typeface="Poppins"/>
                <a:sym typeface="Poppins"/>
              </a:rPr>
              <a:t>in milliseconds</a:t>
            </a:r>
            <a:r>
              <a:rPr lang="en">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p:txBody>
      </p:sp>
      <p:cxnSp>
        <p:nvCxnSpPr>
          <p:cNvPr id="99" name="Google Shape;99;p16"/>
          <p:cNvCxnSpPr/>
          <p:nvPr/>
        </p:nvCxnSpPr>
        <p:spPr>
          <a:xfrm flipH="1">
            <a:off x="2119300" y="3930450"/>
            <a:ext cx="2541000" cy="192600"/>
          </a:xfrm>
          <a:prstGeom prst="straightConnector1">
            <a:avLst/>
          </a:prstGeom>
          <a:noFill/>
          <a:ln cap="flat" cmpd="sng" w="9525">
            <a:solidFill>
              <a:srgbClr val="CC4125"/>
            </a:solidFill>
            <a:prstDash val="solid"/>
            <a:round/>
            <a:headEnd len="med" w="med" type="none"/>
            <a:tailEnd len="med" w="med" type="triangle"/>
          </a:ln>
        </p:spPr>
      </p:cxnSp>
      <p:cxnSp>
        <p:nvCxnSpPr>
          <p:cNvPr id="100" name="Google Shape;100;p16"/>
          <p:cNvCxnSpPr/>
          <p:nvPr/>
        </p:nvCxnSpPr>
        <p:spPr>
          <a:xfrm rot="10800000">
            <a:off x="2889325" y="4325150"/>
            <a:ext cx="1857600" cy="2598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400">
                <a:latin typeface="Poppins"/>
                <a:ea typeface="Poppins"/>
                <a:cs typeface="Poppins"/>
                <a:sym typeface="Poppins"/>
              </a:rPr>
              <a:t> </a:t>
            </a:r>
            <a:r>
              <a:rPr b="1" lang="en" sz="2500">
                <a:solidFill>
                  <a:srgbClr val="073763"/>
                </a:solidFill>
                <a:latin typeface="Poppins"/>
                <a:ea typeface="Poppins"/>
                <a:cs typeface="Poppins"/>
                <a:sym typeface="Poppins"/>
              </a:rPr>
              <a:t>setTimeout  </a:t>
            </a:r>
            <a:r>
              <a:rPr b="1" lang="en" sz="2800">
                <a:solidFill>
                  <a:srgbClr val="073763"/>
                </a:solidFill>
                <a:latin typeface="Poppins"/>
                <a:ea typeface="Poppins"/>
                <a:cs typeface="Poppins"/>
                <a:sym typeface="Poppins"/>
              </a:rPr>
              <a:t> </a:t>
            </a:r>
            <a:endParaRPr b="1" sz="2800">
              <a:solidFill>
                <a:srgbClr val="073763"/>
              </a:solidFill>
              <a:latin typeface="Poppins"/>
              <a:ea typeface="Poppins"/>
              <a:cs typeface="Poppins"/>
              <a:sym typeface="Poppins"/>
            </a:endParaRPr>
          </a:p>
        </p:txBody>
      </p:sp>
      <p:pic>
        <p:nvPicPr>
          <p:cNvPr id="106" name="Google Shape;106;p17"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07" name="Google Shape;107;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08" name="Google Shape;108;p17"/>
          <p:cNvPicPr preferRelativeResize="0"/>
          <p:nvPr/>
        </p:nvPicPr>
        <p:blipFill>
          <a:blip r:embed="rId4">
            <a:alphaModFix/>
          </a:blip>
          <a:stretch>
            <a:fillRect/>
          </a:stretch>
        </p:blipFill>
        <p:spPr>
          <a:xfrm>
            <a:off x="407975" y="2171679"/>
            <a:ext cx="3320726" cy="1627350"/>
          </a:xfrm>
          <a:prstGeom prst="rect">
            <a:avLst/>
          </a:prstGeom>
          <a:noFill/>
          <a:ln>
            <a:noFill/>
          </a:ln>
        </p:spPr>
      </p:pic>
      <p:pic>
        <p:nvPicPr>
          <p:cNvPr id="109" name="Google Shape;109;p17"/>
          <p:cNvPicPr preferRelativeResize="0"/>
          <p:nvPr/>
        </p:nvPicPr>
        <p:blipFill>
          <a:blip r:embed="rId5">
            <a:alphaModFix/>
          </a:blip>
          <a:stretch>
            <a:fillRect/>
          </a:stretch>
        </p:blipFill>
        <p:spPr>
          <a:xfrm>
            <a:off x="5137693" y="2171677"/>
            <a:ext cx="3238507" cy="1627350"/>
          </a:xfrm>
          <a:prstGeom prst="rect">
            <a:avLst/>
          </a:prstGeom>
          <a:noFill/>
          <a:ln>
            <a:noFill/>
          </a:ln>
        </p:spPr>
      </p:pic>
      <p:cxnSp>
        <p:nvCxnSpPr>
          <p:cNvPr id="110" name="Google Shape;110;p17"/>
          <p:cNvCxnSpPr/>
          <p:nvPr/>
        </p:nvCxnSpPr>
        <p:spPr>
          <a:xfrm>
            <a:off x="3728701" y="2985354"/>
            <a:ext cx="1249200" cy="1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16" name="Google Shape;116;p18"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17" name="Google Shape;117;p18"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18" name="Google Shape;118;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9" name="Google Shape;119;p18"/>
          <p:cNvGrpSpPr/>
          <p:nvPr/>
        </p:nvGrpSpPr>
        <p:grpSpPr>
          <a:xfrm>
            <a:off x="310894" y="1014975"/>
            <a:ext cx="6716433" cy="1641425"/>
            <a:chOff x="310900" y="1014975"/>
            <a:chExt cx="6327900" cy="1641425"/>
          </a:xfrm>
        </p:grpSpPr>
        <p:sp>
          <p:nvSpPr>
            <p:cNvPr id="120" name="Google Shape;120;p18"/>
            <p:cNvSpPr txBox="1"/>
            <p:nvPr/>
          </p:nvSpPr>
          <p:spPr>
            <a:xfrm>
              <a:off x="310900" y="1014975"/>
              <a:ext cx="513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1.   </a:t>
              </a:r>
              <a:r>
                <a:rPr b="1" lang="en" sz="1100">
                  <a:solidFill>
                    <a:srgbClr val="000000"/>
                  </a:solidFill>
                </a:rPr>
                <a:t> </a:t>
              </a:r>
              <a:r>
                <a:rPr b="1" lang="en">
                  <a:solidFill>
                    <a:srgbClr val="000000"/>
                  </a:solidFill>
                  <a:latin typeface="Poppins"/>
                  <a:ea typeface="Poppins"/>
                  <a:cs typeface="Poppins"/>
                  <a:sym typeface="Poppins"/>
                </a:rPr>
                <a:t> </a:t>
              </a:r>
              <a:r>
                <a:rPr b="1" lang="en">
                  <a:solidFill>
                    <a:schemeClr val="dk1"/>
                  </a:solidFill>
                  <a:latin typeface="Poppins"/>
                  <a:ea typeface="Poppins"/>
                  <a:cs typeface="Poppins"/>
                  <a:sym typeface="Poppins"/>
                </a:rPr>
                <a:t>Simple setTimeout</a:t>
              </a:r>
              <a:endParaRPr b="1">
                <a:solidFill>
                  <a:schemeClr val="dk1"/>
                </a:solidFill>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121" name="Google Shape;121;p18"/>
            <p:cNvSpPr txBox="1"/>
            <p:nvPr/>
          </p:nvSpPr>
          <p:spPr>
            <a:xfrm>
              <a:off x="310900" y="1725200"/>
              <a:ext cx="6327900" cy="931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a:solidFill>
                    <a:srgbClr val="273239"/>
                  </a:solidFill>
                  <a:latin typeface="Poppins"/>
                  <a:ea typeface="Poppins"/>
                  <a:cs typeface="Poppins"/>
                  <a:sym typeface="Poppins"/>
                </a:rPr>
                <a:t>Task :</a:t>
              </a:r>
              <a:r>
                <a:rPr lang="en" sz="1100"/>
                <a:t> </a:t>
              </a:r>
              <a:r>
                <a:rPr lang="en" sz="1100">
                  <a:solidFill>
                    <a:schemeClr val="dk1"/>
                  </a:solidFill>
                </a:rPr>
                <a:t>Write a script that first logs the message "First message" to the console. Then, use </a:t>
              </a:r>
              <a:r>
                <a:rPr b="1" lang="en" sz="1100">
                  <a:solidFill>
                    <a:schemeClr val="dk1"/>
                  </a:solidFill>
                </a:rPr>
                <a:t>setTimeout</a:t>
              </a:r>
              <a:r>
                <a:rPr lang="en" sz="1100">
                  <a:solidFill>
                    <a:schemeClr val="dk1"/>
                  </a:solidFill>
                </a:rPr>
                <a:t>   </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               to log the message "Second message (after 2 seconds)" to the console after a 2-second delay.   </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               Finally, log "Third message" to the console immediately after setting the timeout.</a:t>
              </a:r>
              <a:endParaRPr sz="1100">
                <a:solidFill>
                  <a:srgbClr val="000000"/>
                </a:solidFill>
                <a:latin typeface="Poppins"/>
                <a:ea typeface="Poppins"/>
                <a:cs typeface="Poppins"/>
                <a:sym typeface="Poppi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27" name="Google Shape;127;p19"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28" name="Google Shape;128;p19"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29" name="Google Shape;129;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0" name="Google Shape;130;p19"/>
          <p:cNvSpPr txBox="1"/>
          <p:nvPr/>
        </p:nvSpPr>
        <p:spPr>
          <a:xfrm>
            <a:off x="310900" y="1086300"/>
            <a:ext cx="1049700" cy="3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273239"/>
                </a:solidFill>
                <a:latin typeface="Poppins"/>
                <a:ea typeface="Poppins"/>
                <a:cs typeface="Poppins"/>
                <a:sym typeface="Poppins"/>
              </a:rPr>
              <a:t>Solution :</a:t>
            </a:r>
            <a:endParaRPr b="1" sz="1700">
              <a:solidFill>
                <a:srgbClr val="273239"/>
              </a:solidFill>
              <a:latin typeface="Poppins"/>
              <a:ea typeface="Poppins"/>
              <a:cs typeface="Poppins"/>
              <a:sym typeface="Poppins"/>
            </a:endParaRPr>
          </a:p>
        </p:txBody>
      </p:sp>
      <p:pic>
        <p:nvPicPr>
          <p:cNvPr id="131" name="Google Shape;131;p19"/>
          <p:cNvPicPr preferRelativeResize="0"/>
          <p:nvPr/>
        </p:nvPicPr>
        <p:blipFill>
          <a:blip r:embed="rId5">
            <a:alphaModFix/>
          </a:blip>
          <a:stretch>
            <a:fillRect/>
          </a:stretch>
        </p:blipFill>
        <p:spPr>
          <a:xfrm>
            <a:off x="1708525" y="1086300"/>
            <a:ext cx="4343325" cy="21055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37" name="Google Shape;137;p20"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38" name="Google Shape;138;p20"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39" name="Google Shape;139;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0" name="Google Shape;140;p20"/>
          <p:cNvSpPr txBox="1"/>
          <p:nvPr/>
        </p:nvSpPr>
        <p:spPr>
          <a:xfrm>
            <a:off x="310900" y="1086300"/>
            <a:ext cx="1049700" cy="3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273239"/>
                </a:solidFill>
                <a:latin typeface="Poppins"/>
                <a:ea typeface="Poppins"/>
                <a:cs typeface="Poppins"/>
                <a:sym typeface="Poppins"/>
              </a:rPr>
              <a:t>Output :</a:t>
            </a:r>
            <a:endParaRPr b="1" sz="1700">
              <a:solidFill>
                <a:srgbClr val="273239"/>
              </a:solidFill>
              <a:latin typeface="Poppins"/>
              <a:ea typeface="Poppins"/>
              <a:cs typeface="Poppins"/>
              <a:sym typeface="Poppins"/>
            </a:endParaRPr>
          </a:p>
        </p:txBody>
      </p:sp>
      <p:pic>
        <p:nvPicPr>
          <p:cNvPr id="141" name="Google Shape;141;p20"/>
          <p:cNvPicPr preferRelativeResize="0"/>
          <p:nvPr/>
        </p:nvPicPr>
        <p:blipFill>
          <a:blip r:embed="rId5">
            <a:alphaModFix/>
          </a:blip>
          <a:stretch>
            <a:fillRect/>
          </a:stretch>
        </p:blipFill>
        <p:spPr>
          <a:xfrm>
            <a:off x="1566625" y="1086300"/>
            <a:ext cx="4615624" cy="2447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nvSpPr>
        <p:spPr>
          <a:xfrm>
            <a:off x="311700" y="213250"/>
            <a:ext cx="7470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Poppins"/>
                <a:ea typeface="Poppins"/>
                <a:cs typeface="Poppins"/>
                <a:sym typeface="Poppins"/>
              </a:rPr>
              <a:t>| </a:t>
            </a:r>
            <a:r>
              <a:rPr b="1" lang="en" sz="2100">
                <a:solidFill>
                  <a:srgbClr val="073763"/>
                </a:solidFill>
                <a:latin typeface="Poppins"/>
                <a:ea typeface="Poppins"/>
                <a:cs typeface="Poppins"/>
                <a:sym typeface="Poppins"/>
              </a:rPr>
              <a:t> Have you ever wondered how we make code repeat again and again after some time?  </a:t>
            </a:r>
            <a:endParaRPr b="1" sz="2100">
              <a:solidFill>
                <a:srgbClr val="073763"/>
              </a:solidFill>
              <a:latin typeface="Poppins"/>
              <a:ea typeface="Poppins"/>
              <a:cs typeface="Poppins"/>
              <a:sym typeface="Poppins"/>
            </a:endParaRPr>
          </a:p>
        </p:txBody>
      </p:sp>
      <p:pic>
        <p:nvPicPr>
          <p:cNvPr id="147" name="Google Shape;147;p21"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48" name="Google Shape;148;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9" name="Google Shape;149;p21"/>
          <p:cNvSpPr txBox="1"/>
          <p:nvPr/>
        </p:nvSpPr>
        <p:spPr>
          <a:xfrm>
            <a:off x="311700" y="1309650"/>
            <a:ext cx="5931000" cy="31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Poppins"/>
                <a:ea typeface="Poppins"/>
                <a:cs typeface="Poppins"/>
                <a:sym typeface="Poppins"/>
              </a:rPr>
              <a:t>Imagine a clock on your wall. Every second, the time changes.</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But no one is pressing a button. It updates by itself — again and again!</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oppins"/>
                <a:ea typeface="Poppins"/>
                <a:cs typeface="Poppins"/>
                <a:sym typeface="Poppins"/>
              </a:rPr>
              <a:t>That’s what we want in code!</a:t>
            </a:r>
            <a:endParaRPr b="1">
              <a:solidFill>
                <a:schemeClr val="dk1"/>
              </a:solidFill>
              <a:latin typeface="Poppins"/>
              <a:ea typeface="Poppins"/>
              <a:cs typeface="Poppins"/>
              <a:sym typeface="Poppins"/>
            </a:endParaRPr>
          </a:p>
          <a:p>
            <a:pPr indent="0" lvl="0" marL="381000" marR="381000" rtl="0" algn="l">
              <a:lnSpc>
                <a:spcPct val="115000"/>
              </a:lnSpc>
              <a:spcBef>
                <a:spcPts val="1200"/>
              </a:spcBef>
              <a:spcAft>
                <a:spcPts val="0"/>
              </a:spcAft>
              <a:buNone/>
            </a:pPr>
            <a:r>
              <a:rPr lang="en">
                <a:solidFill>
                  <a:schemeClr val="dk1"/>
                </a:solidFill>
                <a:latin typeface="Poppins"/>
                <a:ea typeface="Poppins"/>
                <a:cs typeface="Poppins"/>
                <a:sym typeface="Poppins"/>
              </a:rPr>
              <a:t>So how do we tell JavaScript:</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 Repeat this code every 1 second… again… and again… and again…’?</a:t>
            </a:r>
            <a:endParaRPr>
              <a:solidFill>
                <a:schemeClr val="dk1"/>
              </a:solidFill>
              <a:latin typeface="Poppins"/>
              <a:ea typeface="Poppins"/>
              <a:cs typeface="Poppins"/>
              <a:sym typeface="Poppins"/>
            </a:endParaRPr>
          </a:p>
          <a:p>
            <a:pPr indent="0" lvl="0" marL="381000" marR="381000" rtl="0" algn="l">
              <a:lnSpc>
                <a:spcPct val="115000"/>
              </a:lnSpc>
              <a:spcBef>
                <a:spcPts val="1200"/>
              </a:spcBef>
              <a:spcAft>
                <a:spcPts val="0"/>
              </a:spcAft>
              <a:buClr>
                <a:schemeClr val="dk1"/>
              </a:buClr>
              <a:buSzPts val="1100"/>
              <a:buFont typeface="Arial"/>
              <a:buNone/>
            </a:pPr>
            <a:r>
              <a:rPr b="1" lang="en">
                <a:solidFill>
                  <a:srgbClr val="212121"/>
                </a:solidFill>
                <a:latin typeface="Poppins"/>
                <a:ea typeface="Poppins"/>
                <a:cs typeface="Poppins"/>
                <a:sym typeface="Poppins"/>
              </a:rPr>
              <a:t>The answer is: setInterval()</a:t>
            </a:r>
            <a:endParaRPr b="1">
              <a:solidFill>
                <a:srgbClr val="212121"/>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pic>
        <p:nvPicPr>
          <p:cNvPr id="150" name="Google Shape;150;p21"/>
          <p:cNvPicPr preferRelativeResize="0"/>
          <p:nvPr/>
        </p:nvPicPr>
        <p:blipFill>
          <a:blip r:embed="rId4">
            <a:alphaModFix/>
          </a:blip>
          <a:stretch>
            <a:fillRect/>
          </a:stretch>
        </p:blipFill>
        <p:spPr>
          <a:xfrm>
            <a:off x="6174150" y="2183850"/>
            <a:ext cx="2225050" cy="2242800"/>
          </a:xfrm>
          <a:prstGeom prst="rect">
            <a:avLst/>
          </a:prstGeom>
          <a:noFill/>
          <a:ln>
            <a:noFill/>
          </a:ln>
          <a:effectLst>
            <a:outerShdw blurRad="142875" rotWithShape="0" algn="bl" dir="7560000" dist="104775">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400">
                <a:latin typeface="Poppins"/>
                <a:ea typeface="Poppins"/>
                <a:cs typeface="Poppins"/>
                <a:sym typeface="Poppins"/>
              </a:rPr>
              <a:t> </a:t>
            </a:r>
            <a:r>
              <a:rPr b="1" lang="en" sz="2500">
                <a:solidFill>
                  <a:schemeClr val="accent2"/>
                </a:solidFill>
                <a:latin typeface="Poppins"/>
                <a:ea typeface="Poppins"/>
                <a:cs typeface="Poppins"/>
                <a:sym typeface="Poppins"/>
              </a:rPr>
              <a:t>setInterval</a:t>
            </a:r>
            <a:endParaRPr b="1" sz="3900">
              <a:solidFill>
                <a:srgbClr val="073763"/>
              </a:solidFill>
              <a:latin typeface="Poppins"/>
              <a:ea typeface="Poppins"/>
              <a:cs typeface="Poppins"/>
              <a:sym typeface="Poppins"/>
            </a:endParaRPr>
          </a:p>
        </p:txBody>
      </p:sp>
      <p:pic>
        <p:nvPicPr>
          <p:cNvPr id="156" name="Google Shape;156;p22"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57" name="Google Shape;157;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8" name="Google Shape;158;p22"/>
          <p:cNvSpPr txBox="1"/>
          <p:nvPr/>
        </p:nvSpPr>
        <p:spPr>
          <a:xfrm>
            <a:off x="311700" y="1357175"/>
            <a:ext cx="5272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setInterval()</a:t>
            </a:r>
            <a:r>
              <a:rPr lang="en">
                <a:solidFill>
                  <a:srgbClr val="273239"/>
                </a:solidFill>
                <a:latin typeface="Poppins"/>
                <a:ea typeface="Poppins"/>
                <a:cs typeface="Poppins"/>
                <a:sym typeface="Poppins"/>
              </a:rPr>
              <a:t> is a built-in JavaScript function used to repeatedly execute a specified function or block of code </a:t>
            </a:r>
            <a:r>
              <a:rPr b="1" lang="en">
                <a:solidFill>
                  <a:srgbClr val="273239"/>
                </a:solidFill>
                <a:latin typeface="Poppins"/>
                <a:ea typeface="Poppins"/>
                <a:cs typeface="Poppins"/>
                <a:sym typeface="Poppins"/>
              </a:rPr>
              <a:t>at fixed time intervals</a:t>
            </a:r>
            <a:r>
              <a:rPr lang="en">
                <a:solidFill>
                  <a:srgbClr val="273239"/>
                </a:solidFill>
                <a:latin typeface="Poppins"/>
                <a:ea typeface="Poppins"/>
                <a:cs typeface="Poppins"/>
                <a:sym typeface="Poppins"/>
              </a:rPr>
              <a:t> (in milliseconds).</a:t>
            </a:r>
            <a:endParaRPr>
              <a:solidFill>
                <a:srgbClr val="273239"/>
              </a:solidFill>
              <a:latin typeface="Poppins"/>
              <a:ea typeface="Poppins"/>
              <a:cs typeface="Poppins"/>
              <a:sym typeface="Poppins"/>
            </a:endParaRPr>
          </a:p>
        </p:txBody>
      </p:sp>
      <p:pic>
        <p:nvPicPr>
          <p:cNvPr id="159" name="Google Shape;159;p22"/>
          <p:cNvPicPr preferRelativeResize="0"/>
          <p:nvPr/>
        </p:nvPicPr>
        <p:blipFill>
          <a:blip r:embed="rId4">
            <a:alphaModFix/>
          </a:blip>
          <a:stretch>
            <a:fillRect/>
          </a:stretch>
        </p:blipFill>
        <p:spPr>
          <a:xfrm>
            <a:off x="377075" y="3202475"/>
            <a:ext cx="2887576" cy="1027425"/>
          </a:xfrm>
          <a:prstGeom prst="rect">
            <a:avLst/>
          </a:prstGeom>
          <a:noFill/>
          <a:ln>
            <a:noFill/>
          </a:ln>
        </p:spPr>
      </p:pic>
      <p:sp>
        <p:nvSpPr>
          <p:cNvPr id="160" name="Google Shape;160;p22"/>
          <p:cNvSpPr txBox="1"/>
          <p:nvPr/>
        </p:nvSpPr>
        <p:spPr>
          <a:xfrm>
            <a:off x="4391275" y="3200500"/>
            <a:ext cx="3798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callback</a:t>
            </a:r>
            <a:r>
              <a:rPr lang="en">
                <a:solidFill>
                  <a:srgbClr val="273239"/>
                </a:solidFill>
                <a:latin typeface="Poppins"/>
                <a:ea typeface="Poppins"/>
                <a:cs typeface="Poppins"/>
                <a:sym typeface="Poppins"/>
              </a:rPr>
              <a:t> → The function to execute repeatedly</a:t>
            </a:r>
            <a:br>
              <a:rPr lang="en">
                <a:solidFill>
                  <a:srgbClr val="273239"/>
                </a:solidFill>
                <a:latin typeface="Poppins"/>
                <a:ea typeface="Poppins"/>
                <a:cs typeface="Poppins"/>
                <a:sym typeface="Poppins"/>
              </a:rPr>
            </a:br>
            <a:endParaRPr>
              <a:solidFill>
                <a:srgbClr val="273239"/>
              </a:solidFill>
              <a:latin typeface="Poppins"/>
              <a:ea typeface="Poppins"/>
              <a:cs typeface="Poppins"/>
              <a:sym typeface="Poppins"/>
            </a:endParaRPr>
          </a:p>
          <a:p>
            <a:pPr indent="0" lvl="0" marL="0" rtl="0" algn="l">
              <a:spcBef>
                <a:spcPts val="0"/>
              </a:spcBef>
              <a:spcAft>
                <a:spcPts val="0"/>
              </a:spcAft>
              <a:buNone/>
            </a:pPr>
            <a:r>
              <a:rPr b="1" lang="en">
                <a:solidFill>
                  <a:srgbClr val="273239"/>
                </a:solidFill>
                <a:latin typeface="Poppins"/>
                <a:ea typeface="Poppins"/>
                <a:cs typeface="Poppins"/>
                <a:sym typeface="Poppins"/>
              </a:rPr>
              <a:t>delay</a:t>
            </a:r>
            <a:r>
              <a:rPr lang="en">
                <a:solidFill>
                  <a:srgbClr val="273239"/>
                </a:solidFill>
                <a:latin typeface="Poppins"/>
                <a:ea typeface="Poppins"/>
                <a:cs typeface="Poppins"/>
                <a:sym typeface="Poppins"/>
              </a:rPr>
              <a:t> → Time between each execution</a:t>
            </a:r>
            <a:endParaRPr>
              <a:solidFill>
                <a:srgbClr val="273239"/>
              </a:solidFill>
              <a:latin typeface="Poppins"/>
              <a:ea typeface="Poppins"/>
              <a:cs typeface="Poppins"/>
              <a:sym typeface="Poppins"/>
            </a:endParaRPr>
          </a:p>
        </p:txBody>
      </p:sp>
      <p:cxnSp>
        <p:nvCxnSpPr>
          <p:cNvPr id="161" name="Google Shape;161;p22"/>
          <p:cNvCxnSpPr/>
          <p:nvPr/>
        </p:nvCxnSpPr>
        <p:spPr>
          <a:xfrm flipH="1">
            <a:off x="2167875" y="3410100"/>
            <a:ext cx="2290200" cy="353100"/>
          </a:xfrm>
          <a:prstGeom prst="straightConnector1">
            <a:avLst/>
          </a:prstGeom>
          <a:noFill/>
          <a:ln cap="flat" cmpd="sng" w="9525">
            <a:solidFill>
              <a:srgbClr val="FF0000"/>
            </a:solidFill>
            <a:prstDash val="solid"/>
            <a:round/>
            <a:headEnd len="med" w="med" type="none"/>
            <a:tailEnd len="med" w="med" type="triangle"/>
          </a:ln>
        </p:spPr>
      </p:cxnSp>
      <p:cxnSp>
        <p:nvCxnSpPr>
          <p:cNvPr id="162" name="Google Shape;162;p22"/>
          <p:cNvCxnSpPr/>
          <p:nvPr/>
        </p:nvCxnSpPr>
        <p:spPr>
          <a:xfrm rot="10800000">
            <a:off x="2959850" y="3973125"/>
            <a:ext cx="1450500" cy="954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nvSpPr>
        <p:spPr>
          <a:xfrm>
            <a:off x="311700" y="213250"/>
            <a:ext cx="74709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latin typeface="Poppins"/>
                <a:ea typeface="Poppins"/>
                <a:cs typeface="Poppins"/>
                <a:sym typeface="Poppins"/>
              </a:rPr>
              <a:t>| </a:t>
            </a:r>
            <a:r>
              <a:rPr b="1" lang="en" sz="2400">
                <a:latin typeface="Poppins"/>
                <a:ea typeface="Poppins"/>
                <a:cs typeface="Poppins"/>
                <a:sym typeface="Poppins"/>
              </a:rPr>
              <a:t> </a:t>
            </a:r>
            <a:r>
              <a:rPr b="1" lang="en" sz="2500">
                <a:solidFill>
                  <a:schemeClr val="accent2"/>
                </a:solidFill>
                <a:latin typeface="Poppins"/>
                <a:ea typeface="Poppins"/>
                <a:cs typeface="Poppins"/>
                <a:sym typeface="Poppins"/>
              </a:rPr>
              <a:t>setInterval</a:t>
            </a:r>
            <a:endParaRPr b="1" sz="3900">
              <a:solidFill>
                <a:srgbClr val="073763"/>
              </a:solidFill>
              <a:latin typeface="Poppins"/>
              <a:ea typeface="Poppins"/>
              <a:cs typeface="Poppins"/>
              <a:sym typeface="Poppins"/>
            </a:endParaRPr>
          </a:p>
        </p:txBody>
      </p:sp>
      <p:pic>
        <p:nvPicPr>
          <p:cNvPr id="168" name="Google Shape;168;p23"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69" name="Google Shape;169;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70" name="Google Shape;170;p23"/>
          <p:cNvPicPr preferRelativeResize="0"/>
          <p:nvPr/>
        </p:nvPicPr>
        <p:blipFill>
          <a:blip r:embed="rId4">
            <a:alphaModFix/>
          </a:blip>
          <a:stretch>
            <a:fillRect/>
          </a:stretch>
        </p:blipFill>
        <p:spPr>
          <a:xfrm>
            <a:off x="311700" y="2618662"/>
            <a:ext cx="3376449" cy="1483200"/>
          </a:xfrm>
          <a:prstGeom prst="rect">
            <a:avLst/>
          </a:prstGeom>
          <a:noFill/>
          <a:ln>
            <a:noFill/>
          </a:ln>
        </p:spPr>
      </p:pic>
      <p:pic>
        <p:nvPicPr>
          <p:cNvPr id="171" name="Google Shape;171;p23"/>
          <p:cNvPicPr preferRelativeResize="0"/>
          <p:nvPr/>
        </p:nvPicPr>
        <p:blipFill>
          <a:blip r:embed="rId5">
            <a:alphaModFix/>
          </a:blip>
          <a:stretch>
            <a:fillRect/>
          </a:stretch>
        </p:blipFill>
        <p:spPr>
          <a:xfrm>
            <a:off x="5638075" y="2571750"/>
            <a:ext cx="3133625" cy="1577025"/>
          </a:xfrm>
          <a:prstGeom prst="rect">
            <a:avLst/>
          </a:prstGeom>
          <a:noFill/>
          <a:ln>
            <a:noFill/>
          </a:ln>
        </p:spPr>
      </p:pic>
      <p:cxnSp>
        <p:nvCxnSpPr>
          <p:cNvPr id="172" name="Google Shape;172;p23"/>
          <p:cNvCxnSpPr/>
          <p:nvPr/>
        </p:nvCxnSpPr>
        <p:spPr>
          <a:xfrm>
            <a:off x="3688151" y="3359354"/>
            <a:ext cx="1732500" cy="12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78" name="Google Shape;178;p24"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79" name="Google Shape;179;p24"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80" name="Google Shape;180;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81" name="Google Shape;181;p24"/>
          <p:cNvGrpSpPr/>
          <p:nvPr/>
        </p:nvGrpSpPr>
        <p:grpSpPr>
          <a:xfrm>
            <a:off x="310894" y="1014975"/>
            <a:ext cx="6716433" cy="1649225"/>
            <a:chOff x="310900" y="1014975"/>
            <a:chExt cx="6327900" cy="1649225"/>
          </a:xfrm>
        </p:grpSpPr>
        <p:sp>
          <p:nvSpPr>
            <p:cNvPr id="182" name="Google Shape;182;p24"/>
            <p:cNvSpPr txBox="1"/>
            <p:nvPr/>
          </p:nvSpPr>
          <p:spPr>
            <a:xfrm>
              <a:off x="310900" y="1014975"/>
              <a:ext cx="51390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2.   </a:t>
              </a:r>
              <a:r>
                <a:rPr b="1" lang="en" sz="1100">
                  <a:solidFill>
                    <a:srgbClr val="000000"/>
                  </a:solidFill>
                </a:rPr>
                <a:t> </a:t>
              </a:r>
              <a:r>
                <a:rPr b="1" lang="en">
                  <a:solidFill>
                    <a:srgbClr val="000000"/>
                  </a:solidFill>
                  <a:latin typeface="Poppins"/>
                  <a:ea typeface="Poppins"/>
                  <a:cs typeface="Poppins"/>
                  <a:sym typeface="Poppins"/>
                </a:rPr>
                <a:t> </a:t>
              </a:r>
              <a:r>
                <a:rPr b="1" lang="en">
                  <a:solidFill>
                    <a:schemeClr val="dk1"/>
                  </a:solidFill>
                  <a:latin typeface="Poppins"/>
                  <a:ea typeface="Poppins"/>
                  <a:cs typeface="Poppins"/>
                  <a:sym typeface="Poppins"/>
                </a:rPr>
                <a:t>Simple </a:t>
              </a:r>
              <a:r>
                <a:rPr b="1" i="1" lang="en">
                  <a:solidFill>
                    <a:schemeClr val="dk1"/>
                  </a:solidFill>
                  <a:latin typeface="Poppins"/>
                  <a:ea typeface="Poppins"/>
                  <a:cs typeface="Poppins"/>
                  <a:sym typeface="Poppins"/>
                </a:rPr>
                <a:t>setInterval</a:t>
              </a:r>
              <a:endParaRPr b="1" i="1">
                <a:solidFill>
                  <a:schemeClr val="dk1"/>
                </a:solidFill>
                <a:latin typeface="Poppins"/>
                <a:ea typeface="Poppins"/>
                <a:cs typeface="Poppins"/>
                <a:sym typeface="Poppins"/>
              </a:endParaRPr>
            </a:p>
            <a:p>
              <a:pPr indent="0" lvl="0" marL="0" rtl="0" algn="l">
                <a:spcBef>
                  <a:spcPts val="0"/>
                </a:spcBef>
                <a:spcAft>
                  <a:spcPts val="0"/>
                </a:spcAft>
                <a:buNone/>
              </a:pPr>
              <a:r>
                <a:t/>
              </a:r>
              <a:endParaRPr b="1" sz="1100">
                <a:solidFill>
                  <a:schemeClr val="dk1"/>
                </a:solidFill>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183" name="Google Shape;183;p24"/>
            <p:cNvSpPr txBox="1"/>
            <p:nvPr/>
          </p:nvSpPr>
          <p:spPr>
            <a:xfrm>
              <a:off x="310900" y="1725200"/>
              <a:ext cx="6327900" cy="939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a:solidFill>
                    <a:srgbClr val="273239"/>
                  </a:solidFill>
                  <a:latin typeface="Poppins"/>
                  <a:ea typeface="Poppins"/>
                  <a:cs typeface="Poppins"/>
                  <a:sym typeface="Poppins"/>
                </a:rPr>
                <a:t>Task :</a:t>
              </a:r>
              <a:r>
                <a:rPr lang="en" sz="1100"/>
                <a:t> </a:t>
              </a:r>
              <a:r>
                <a:rPr lang="en" sz="1200">
                  <a:solidFill>
                    <a:schemeClr val="dk1"/>
                  </a:solidFill>
                  <a:latin typeface="Poppins"/>
                  <a:ea typeface="Poppins"/>
                  <a:cs typeface="Poppins"/>
                  <a:sym typeface="Poppins"/>
                </a:rPr>
                <a:t>Write a script that uses </a:t>
              </a:r>
              <a:r>
                <a:rPr i="1" lang="en" sz="1200">
                  <a:solidFill>
                    <a:schemeClr val="dk1"/>
                  </a:solidFill>
                  <a:latin typeface="Poppins"/>
                  <a:ea typeface="Poppins"/>
                  <a:cs typeface="Poppins"/>
                  <a:sym typeface="Poppins"/>
                </a:rPr>
                <a:t>setInterval</a:t>
              </a:r>
              <a:r>
                <a:rPr lang="en" sz="1200">
                  <a:solidFill>
                    <a:schemeClr val="dk1"/>
                  </a:solidFill>
                  <a:latin typeface="Poppins"/>
                  <a:ea typeface="Poppins"/>
                  <a:cs typeface="Poppins"/>
                  <a:sym typeface="Poppins"/>
                </a:rPr>
                <a:t> to log the message "Repeating message" to    </a:t>
              </a:r>
              <a:endParaRPr sz="1200">
                <a:solidFill>
                  <a:schemeClr val="dk1"/>
                </a:solidFill>
                <a:latin typeface="Poppins"/>
                <a:ea typeface="Poppins"/>
                <a:cs typeface="Poppins"/>
                <a:sym typeface="Poppins"/>
              </a:endParaRPr>
            </a:p>
            <a:p>
              <a:pPr indent="0" lvl="0" marL="0" rtl="0" algn="l">
                <a:lnSpc>
                  <a:spcPct val="100000"/>
                </a:lnSpc>
                <a:spcBef>
                  <a:spcPts val="0"/>
                </a:spcBef>
                <a:spcAft>
                  <a:spcPts val="0"/>
                </a:spcAft>
                <a:buNone/>
              </a:pPr>
              <a:r>
                <a:rPr lang="en" sz="1200">
                  <a:solidFill>
                    <a:schemeClr val="dk1"/>
                  </a:solidFill>
                  <a:latin typeface="Poppins"/>
                  <a:ea typeface="Poppins"/>
                  <a:cs typeface="Poppins"/>
                  <a:sym typeface="Poppins"/>
                </a:rPr>
                <a:t>              the console every 2 seconds. Let it run a few times before you manually stop   </a:t>
              </a:r>
              <a:endParaRPr sz="1200">
                <a:solidFill>
                  <a:schemeClr val="dk1"/>
                </a:solidFill>
                <a:latin typeface="Poppins"/>
                <a:ea typeface="Poppins"/>
                <a:cs typeface="Poppins"/>
                <a:sym typeface="Poppins"/>
              </a:endParaRPr>
            </a:p>
            <a:p>
              <a:pPr indent="0" lvl="0" marL="0" rtl="0" algn="l">
                <a:lnSpc>
                  <a:spcPct val="100000"/>
                </a:lnSpc>
                <a:spcBef>
                  <a:spcPts val="0"/>
                </a:spcBef>
                <a:spcAft>
                  <a:spcPts val="0"/>
                </a:spcAft>
                <a:buNone/>
              </a:pPr>
              <a:r>
                <a:rPr lang="en" sz="1200">
                  <a:solidFill>
                    <a:schemeClr val="dk1"/>
                  </a:solidFill>
                  <a:latin typeface="Poppins"/>
                  <a:ea typeface="Poppins"/>
                  <a:cs typeface="Poppins"/>
                  <a:sym typeface="Poppins"/>
                </a:rPr>
                <a:t>              the script execution.</a:t>
              </a:r>
              <a:endParaRPr sz="12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1100">
                <a:solidFill>
                  <a:schemeClr val="dk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89" name="Google Shape;189;p25"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190" name="Google Shape;190;p25"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191" name="Google Shape;191;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2" name="Google Shape;192;p25"/>
          <p:cNvSpPr txBox="1"/>
          <p:nvPr/>
        </p:nvSpPr>
        <p:spPr>
          <a:xfrm>
            <a:off x="310900" y="1086300"/>
            <a:ext cx="1049700" cy="3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273239"/>
                </a:solidFill>
                <a:latin typeface="Poppins"/>
                <a:ea typeface="Poppins"/>
                <a:cs typeface="Poppins"/>
                <a:sym typeface="Poppins"/>
              </a:rPr>
              <a:t>Solution :</a:t>
            </a:r>
            <a:endParaRPr b="1" sz="1700">
              <a:solidFill>
                <a:srgbClr val="273239"/>
              </a:solidFill>
              <a:latin typeface="Poppins"/>
              <a:ea typeface="Poppins"/>
              <a:cs typeface="Poppins"/>
              <a:sym typeface="Poppins"/>
            </a:endParaRPr>
          </a:p>
        </p:txBody>
      </p:sp>
      <p:pic>
        <p:nvPicPr>
          <p:cNvPr id="193" name="Google Shape;193;p25"/>
          <p:cNvPicPr preferRelativeResize="0"/>
          <p:nvPr/>
        </p:nvPicPr>
        <p:blipFill>
          <a:blip r:embed="rId5">
            <a:alphaModFix/>
          </a:blip>
          <a:stretch>
            <a:fillRect/>
          </a:stretch>
        </p:blipFill>
        <p:spPr>
          <a:xfrm>
            <a:off x="1671600" y="1174450"/>
            <a:ext cx="4248324" cy="241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nvSpPr>
        <p:spPr>
          <a:xfrm>
            <a:off x="310900" y="197325"/>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Coding Questions</a:t>
            </a:r>
            <a:endParaRPr b="1" sz="2800">
              <a:solidFill>
                <a:srgbClr val="073763"/>
              </a:solidFill>
              <a:latin typeface="Poppins"/>
              <a:ea typeface="Poppins"/>
              <a:cs typeface="Poppins"/>
              <a:sym typeface="Poppins"/>
            </a:endParaRPr>
          </a:p>
        </p:txBody>
      </p:sp>
      <p:pic>
        <p:nvPicPr>
          <p:cNvPr id="199" name="Google Shape;199;p26"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200" name="Google Shape;200;p26"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01" name="Google Shape;201;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2" name="Google Shape;202;p26"/>
          <p:cNvSpPr txBox="1"/>
          <p:nvPr/>
        </p:nvSpPr>
        <p:spPr>
          <a:xfrm>
            <a:off x="310900" y="1086300"/>
            <a:ext cx="1049700" cy="3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273239"/>
                </a:solidFill>
                <a:latin typeface="Poppins"/>
                <a:ea typeface="Poppins"/>
                <a:cs typeface="Poppins"/>
                <a:sym typeface="Poppins"/>
              </a:rPr>
              <a:t>Output :</a:t>
            </a:r>
            <a:endParaRPr b="1" sz="1700">
              <a:solidFill>
                <a:srgbClr val="273239"/>
              </a:solidFill>
              <a:latin typeface="Poppins"/>
              <a:ea typeface="Poppins"/>
              <a:cs typeface="Poppins"/>
              <a:sym typeface="Poppins"/>
            </a:endParaRPr>
          </a:p>
        </p:txBody>
      </p:sp>
      <p:pic>
        <p:nvPicPr>
          <p:cNvPr id="203" name="Google Shape;203;p26"/>
          <p:cNvPicPr preferRelativeResize="0"/>
          <p:nvPr/>
        </p:nvPicPr>
        <p:blipFill>
          <a:blip r:embed="rId5">
            <a:alphaModFix/>
          </a:blip>
          <a:stretch>
            <a:fillRect/>
          </a:stretch>
        </p:blipFill>
        <p:spPr>
          <a:xfrm>
            <a:off x="1474525" y="1138950"/>
            <a:ext cx="4938150" cy="2423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7"/>
          <p:cNvSpPr txBox="1"/>
          <p:nvPr/>
        </p:nvSpPr>
        <p:spPr>
          <a:xfrm>
            <a:off x="310900" y="210300"/>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Check Your Understanding</a:t>
            </a:r>
            <a:endParaRPr b="1" sz="2800">
              <a:solidFill>
                <a:srgbClr val="073763"/>
              </a:solidFill>
              <a:latin typeface="Poppins"/>
              <a:ea typeface="Poppins"/>
              <a:cs typeface="Poppins"/>
              <a:sym typeface="Poppins"/>
            </a:endParaRPr>
          </a:p>
        </p:txBody>
      </p:sp>
      <p:pic>
        <p:nvPicPr>
          <p:cNvPr id="209" name="Google Shape;209;p27"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10" name="Google Shape;210;p27"/>
          <p:cNvSpPr txBox="1"/>
          <p:nvPr/>
        </p:nvSpPr>
        <p:spPr>
          <a:xfrm>
            <a:off x="310900" y="1228825"/>
            <a:ext cx="8161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Question : </a:t>
            </a:r>
            <a:r>
              <a:rPr b="1" lang="en" sz="1300">
                <a:solidFill>
                  <a:srgbClr val="273239"/>
                </a:solidFill>
                <a:latin typeface="Poppins"/>
                <a:ea typeface="Poppins"/>
                <a:cs typeface="Poppins"/>
                <a:sym typeface="Poppins"/>
              </a:rPr>
              <a:t> </a:t>
            </a:r>
            <a:r>
              <a:rPr b="1" lang="en" sz="1100">
                <a:solidFill>
                  <a:schemeClr val="dk1"/>
                </a:solidFill>
              </a:rPr>
              <a:t>Which function schedules a callback to be executed </a:t>
            </a:r>
            <a:r>
              <a:rPr b="1" i="1" lang="en" sz="1100">
                <a:solidFill>
                  <a:schemeClr val="dk1"/>
                </a:solidFill>
              </a:rPr>
              <a:t>once</a:t>
            </a:r>
            <a:r>
              <a:rPr b="1" lang="en" sz="1100">
                <a:solidFill>
                  <a:schemeClr val="dk1"/>
                </a:solidFill>
              </a:rPr>
              <a:t> after a specified delay?</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b="1" sz="1300">
              <a:solidFill>
                <a:srgbClr val="273239"/>
              </a:solidFill>
              <a:latin typeface="Poppins"/>
              <a:ea typeface="Poppins"/>
              <a:cs typeface="Poppins"/>
              <a:sym typeface="Poppins"/>
            </a:endParaRPr>
          </a:p>
        </p:txBody>
      </p:sp>
      <p:sp>
        <p:nvSpPr>
          <p:cNvPr id="211" name="Google Shape;211;p27"/>
          <p:cNvSpPr txBox="1"/>
          <p:nvPr/>
        </p:nvSpPr>
        <p:spPr>
          <a:xfrm>
            <a:off x="310900" y="1748350"/>
            <a:ext cx="8084700" cy="16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b="1" lang="en">
                <a:solidFill>
                  <a:srgbClr val="273239"/>
                </a:solidFill>
                <a:latin typeface="Poppins"/>
                <a:ea typeface="Poppins"/>
                <a:cs typeface="Poppins"/>
                <a:sym typeface="Poppins"/>
              </a:rPr>
              <a:t>Options    :</a:t>
            </a:r>
            <a:r>
              <a:rPr lang="en" sz="1100">
                <a:solidFill>
                  <a:srgbClr val="000000"/>
                </a:solidFill>
                <a:latin typeface="Poppins"/>
                <a:ea typeface="Poppins"/>
                <a:cs typeface="Poppins"/>
                <a:sym typeface="Poppins"/>
              </a:rPr>
              <a:t>   </a:t>
            </a:r>
            <a:r>
              <a:rPr lang="en" sz="1100">
                <a:solidFill>
                  <a:schemeClr val="dk1"/>
                </a:solidFill>
              </a:rPr>
              <a:t>a) setInterval()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b) runAfter()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c) setTimeout() </a:t>
            </a:r>
            <a:endParaRPr sz="1100">
              <a:solidFill>
                <a:schemeClr val="dk1"/>
              </a:solidFill>
            </a:endParaRPr>
          </a:p>
          <a:p>
            <a:pPr indent="0" lvl="0" marL="914400" rtl="0" algn="l">
              <a:lnSpc>
                <a:spcPct val="115000"/>
              </a:lnSpc>
              <a:spcBef>
                <a:spcPts val="1200"/>
              </a:spcBef>
              <a:spcAft>
                <a:spcPts val="1200"/>
              </a:spcAft>
              <a:buClr>
                <a:schemeClr val="dk1"/>
              </a:buClr>
              <a:buSzPts val="1100"/>
              <a:buFont typeface="Arial"/>
              <a:buNone/>
            </a:pPr>
            <a:r>
              <a:rPr lang="en" sz="1100">
                <a:solidFill>
                  <a:schemeClr val="dk1"/>
                </a:solidFill>
              </a:rPr>
              <a:t>d) delay()</a:t>
            </a:r>
            <a:br>
              <a:rPr lang="en" sz="1100">
                <a:solidFill>
                  <a:schemeClr val="dk1"/>
                </a:solidFill>
              </a:rPr>
            </a:br>
            <a:endParaRPr sz="1100">
              <a:latin typeface="Poppins"/>
              <a:ea typeface="Poppins"/>
              <a:cs typeface="Poppins"/>
              <a:sym typeface="Poppins"/>
            </a:endParaRPr>
          </a:p>
        </p:txBody>
      </p:sp>
      <p:pic>
        <p:nvPicPr>
          <p:cNvPr id="212" name="Google Shape;212;p27"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13" name="Google Shape;213;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4" name="Google Shape;214;p27"/>
          <p:cNvSpPr txBox="1"/>
          <p:nvPr/>
        </p:nvSpPr>
        <p:spPr>
          <a:xfrm>
            <a:off x="310950" y="3313725"/>
            <a:ext cx="6260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Answer :</a:t>
            </a:r>
            <a:r>
              <a:rPr lang="en" sz="1800">
                <a:solidFill>
                  <a:srgbClr val="595959"/>
                </a:solidFill>
              </a:rPr>
              <a:t>  </a:t>
            </a:r>
            <a:r>
              <a:rPr lang="en" sz="1100">
                <a:solidFill>
                  <a:srgbClr val="000000"/>
                </a:solidFill>
                <a:latin typeface="Poppins"/>
                <a:ea typeface="Poppins"/>
                <a:cs typeface="Poppins"/>
                <a:sym typeface="Poppins"/>
              </a:rPr>
              <a:t> </a:t>
            </a:r>
            <a:r>
              <a:rPr lang="en" sz="1100">
                <a:solidFill>
                  <a:schemeClr val="dk1"/>
                </a:solidFill>
              </a:rPr>
              <a:t>c) setTimeout() </a:t>
            </a:r>
            <a:endParaRPr sz="1100">
              <a:solidFill>
                <a:schemeClr val="dk1"/>
              </a:solidFill>
            </a:endParaRPr>
          </a:p>
          <a:p>
            <a:pPr indent="0" lvl="0" marL="0" rtl="0" algn="l">
              <a:spcBef>
                <a:spcPts val="0"/>
              </a:spcBef>
              <a:spcAft>
                <a:spcPts val="0"/>
              </a:spcAft>
              <a:buNone/>
            </a:pPr>
            <a:r>
              <a:t/>
            </a:r>
            <a:endParaRPr sz="1100">
              <a:latin typeface="Poppins"/>
              <a:ea typeface="Poppins"/>
              <a:cs typeface="Poppins"/>
              <a:sym typeface="Poppins"/>
            </a:endParaRPr>
          </a:p>
        </p:txBody>
      </p:sp>
      <p:grpSp>
        <p:nvGrpSpPr>
          <p:cNvPr id="215" name="Google Shape;215;p27"/>
          <p:cNvGrpSpPr/>
          <p:nvPr/>
        </p:nvGrpSpPr>
        <p:grpSpPr>
          <a:xfrm>
            <a:off x="310900" y="3944925"/>
            <a:ext cx="6005825" cy="897300"/>
            <a:chOff x="310900" y="3944925"/>
            <a:chExt cx="6005825" cy="897300"/>
          </a:xfrm>
        </p:grpSpPr>
        <p:sp>
          <p:nvSpPr>
            <p:cNvPr id="216" name="Google Shape;216;p27"/>
            <p:cNvSpPr txBox="1"/>
            <p:nvPr/>
          </p:nvSpPr>
          <p:spPr>
            <a:xfrm>
              <a:off x="310900" y="3959263"/>
              <a:ext cx="1335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rgbClr val="000000"/>
                </a:buClr>
                <a:buSzPts val="1100"/>
                <a:buFont typeface="Arial"/>
                <a:buNone/>
              </a:pPr>
              <a:r>
                <a:rPr b="1" lang="en">
                  <a:solidFill>
                    <a:srgbClr val="273239"/>
                  </a:solidFill>
                  <a:latin typeface="Poppins"/>
                  <a:ea typeface="Poppins"/>
                  <a:cs typeface="Poppins"/>
                  <a:sym typeface="Poppins"/>
                </a:rPr>
                <a:t>Explanation:</a:t>
              </a:r>
              <a:endParaRPr sz="1800">
                <a:solidFill>
                  <a:srgbClr val="595959"/>
                </a:solidFill>
              </a:endParaRPr>
            </a:p>
          </p:txBody>
        </p:sp>
        <p:sp>
          <p:nvSpPr>
            <p:cNvPr id="217" name="Google Shape;217;p27"/>
            <p:cNvSpPr txBox="1"/>
            <p:nvPr/>
          </p:nvSpPr>
          <p:spPr>
            <a:xfrm>
              <a:off x="1607925" y="3944925"/>
              <a:ext cx="4708800" cy="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setTimeout</a:t>
              </a:r>
              <a:r>
                <a:rPr lang="en" sz="1100">
                  <a:solidFill>
                    <a:schemeClr val="dk1"/>
                  </a:solidFill>
                </a:rPr>
                <a:t> is a built-in browser API that allows you to schedule a single execution of a function after a given time has elapsed.</a:t>
              </a:r>
              <a:endParaRPr sz="1100">
                <a:solidFill>
                  <a:schemeClr val="dk1"/>
                </a:solidFill>
              </a:endParaRPr>
            </a:p>
            <a:p>
              <a:pPr indent="0" lvl="0" marL="0" rtl="0" algn="l">
                <a:lnSpc>
                  <a:spcPct val="115000"/>
                </a:lnSpc>
                <a:spcBef>
                  <a:spcPts val="1200"/>
                </a:spcBef>
                <a:spcAft>
                  <a:spcPts val="1200"/>
                </a:spcAft>
                <a:buNone/>
              </a:pPr>
              <a:r>
                <a:t/>
              </a:r>
              <a:endParaRPr sz="1100">
                <a:latin typeface="Poppins"/>
                <a:ea typeface="Poppins"/>
                <a:cs typeface="Poppins"/>
                <a:sym typeface="Poppi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nvSpPr>
        <p:spPr>
          <a:xfrm>
            <a:off x="310900" y="210300"/>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Check Your Understanding</a:t>
            </a:r>
            <a:endParaRPr b="1" sz="2800">
              <a:solidFill>
                <a:srgbClr val="073763"/>
              </a:solidFill>
              <a:latin typeface="Poppins"/>
              <a:ea typeface="Poppins"/>
              <a:cs typeface="Poppins"/>
              <a:sym typeface="Poppins"/>
            </a:endParaRPr>
          </a:p>
        </p:txBody>
      </p:sp>
      <p:pic>
        <p:nvPicPr>
          <p:cNvPr id="223" name="Google Shape;223;p28"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24" name="Google Shape;224;p28"/>
          <p:cNvSpPr txBox="1"/>
          <p:nvPr/>
        </p:nvSpPr>
        <p:spPr>
          <a:xfrm>
            <a:off x="310900" y="1228825"/>
            <a:ext cx="816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Question : </a:t>
            </a:r>
            <a:r>
              <a:rPr b="1" lang="en" sz="1100">
                <a:solidFill>
                  <a:schemeClr val="dk1"/>
                </a:solidFill>
              </a:rPr>
              <a:t> In the code </a:t>
            </a:r>
            <a:r>
              <a:rPr b="1" i="1" lang="en" sz="1100">
                <a:solidFill>
                  <a:schemeClr val="dk1"/>
                </a:solidFill>
              </a:rPr>
              <a:t>setTimeout(myFunction, 3000);</a:t>
            </a:r>
            <a:r>
              <a:rPr b="1" lang="en" sz="1100">
                <a:solidFill>
                  <a:schemeClr val="dk1"/>
                </a:solidFill>
              </a:rPr>
              <a:t>, what does the number </a:t>
            </a:r>
            <a:r>
              <a:rPr b="1" i="1" lang="en" sz="1100">
                <a:solidFill>
                  <a:schemeClr val="dk1"/>
                </a:solidFill>
              </a:rPr>
              <a:t>3000</a:t>
            </a:r>
            <a:r>
              <a:rPr b="1" lang="en" sz="1100">
                <a:solidFill>
                  <a:schemeClr val="dk1"/>
                </a:solidFill>
              </a:rPr>
              <a:t> represent?</a:t>
            </a:r>
            <a:r>
              <a:rPr lang="en" sz="1100">
                <a:solidFill>
                  <a:schemeClr val="dk1"/>
                </a:solidFill>
              </a:rPr>
              <a:t> </a:t>
            </a:r>
            <a:r>
              <a:rPr lang="en" sz="1300">
                <a:solidFill>
                  <a:srgbClr val="273239"/>
                </a:solidFill>
                <a:latin typeface="Poppins"/>
                <a:ea typeface="Poppins"/>
                <a:cs typeface="Poppins"/>
                <a:sym typeface="Poppins"/>
              </a:rPr>
              <a:t> </a:t>
            </a:r>
            <a:endParaRPr b="1" sz="1300">
              <a:solidFill>
                <a:srgbClr val="273239"/>
              </a:solidFill>
              <a:latin typeface="Poppins"/>
              <a:ea typeface="Poppins"/>
              <a:cs typeface="Poppins"/>
              <a:sym typeface="Poppins"/>
            </a:endParaRPr>
          </a:p>
        </p:txBody>
      </p:sp>
      <p:sp>
        <p:nvSpPr>
          <p:cNvPr id="225" name="Google Shape;225;p28"/>
          <p:cNvSpPr txBox="1"/>
          <p:nvPr/>
        </p:nvSpPr>
        <p:spPr>
          <a:xfrm>
            <a:off x="310900" y="1748350"/>
            <a:ext cx="8084700" cy="16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b="1" lang="en">
                <a:solidFill>
                  <a:srgbClr val="273239"/>
                </a:solidFill>
                <a:latin typeface="Poppins"/>
                <a:ea typeface="Poppins"/>
                <a:cs typeface="Poppins"/>
                <a:sym typeface="Poppins"/>
              </a:rPr>
              <a:t>Options    :</a:t>
            </a:r>
            <a:r>
              <a:rPr lang="en" sz="1100">
                <a:solidFill>
                  <a:srgbClr val="000000"/>
                </a:solidFill>
                <a:latin typeface="Poppins"/>
                <a:ea typeface="Poppins"/>
                <a:cs typeface="Poppins"/>
                <a:sym typeface="Poppins"/>
              </a:rPr>
              <a:t>   </a:t>
            </a:r>
            <a:r>
              <a:rPr lang="en" sz="1100">
                <a:solidFill>
                  <a:schemeClr val="dk1"/>
                </a:solidFill>
              </a:rPr>
              <a:t>a) The number of times the function will run.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b) The priority of the task.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c) The delay in seconds (3000s). </a:t>
            </a:r>
            <a:endParaRPr sz="1100">
              <a:solidFill>
                <a:schemeClr val="dk1"/>
              </a:solidFill>
            </a:endParaRPr>
          </a:p>
          <a:p>
            <a:pPr indent="0" lvl="0" marL="914400" rtl="0" algn="l">
              <a:lnSpc>
                <a:spcPct val="115000"/>
              </a:lnSpc>
              <a:spcBef>
                <a:spcPts val="1200"/>
              </a:spcBef>
              <a:spcAft>
                <a:spcPts val="1200"/>
              </a:spcAft>
              <a:buClr>
                <a:schemeClr val="dk1"/>
              </a:buClr>
              <a:buSzPts val="1100"/>
              <a:buFont typeface="Arial"/>
              <a:buNone/>
            </a:pPr>
            <a:r>
              <a:rPr lang="en" sz="1100">
                <a:solidFill>
                  <a:schemeClr val="dk1"/>
                </a:solidFill>
              </a:rPr>
              <a:t>d) The delay in milliseconds (3s).</a:t>
            </a:r>
            <a:br>
              <a:rPr lang="en" sz="1100">
                <a:solidFill>
                  <a:schemeClr val="dk1"/>
                </a:solidFill>
              </a:rPr>
            </a:br>
            <a:endParaRPr sz="1100">
              <a:latin typeface="Poppins"/>
              <a:ea typeface="Poppins"/>
              <a:cs typeface="Poppins"/>
              <a:sym typeface="Poppins"/>
            </a:endParaRPr>
          </a:p>
        </p:txBody>
      </p:sp>
      <p:pic>
        <p:nvPicPr>
          <p:cNvPr id="226" name="Google Shape;226;p28"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27" name="Google Shape;227;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8" name="Google Shape;228;p28"/>
          <p:cNvSpPr txBox="1"/>
          <p:nvPr/>
        </p:nvSpPr>
        <p:spPr>
          <a:xfrm>
            <a:off x="310950" y="3313725"/>
            <a:ext cx="6260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Answer :</a:t>
            </a:r>
            <a:r>
              <a:rPr lang="en" sz="1800">
                <a:solidFill>
                  <a:srgbClr val="595959"/>
                </a:solidFill>
              </a:rPr>
              <a:t>  </a:t>
            </a:r>
            <a:r>
              <a:rPr lang="en" sz="1100">
                <a:solidFill>
                  <a:srgbClr val="000000"/>
                </a:solidFill>
                <a:latin typeface="Poppins"/>
                <a:ea typeface="Poppins"/>
                <a:cs typeface="Poppins"/>
                <a:sym typeface="Poppins"/>
              </a:rPr>
              <a:t> </a:t>
            </a:r>
            <a:r>
              <a:rPr lang="en" sz="1100">
                <a:solidFill>
                  <a:schemeClr val="dk1"/>
                </a:solidFill>
              </a:rPr>
              <a:t>d) The delay in milliseconds (3s).</a:t>
            </a:r>
            <a:br>
              <a:rPr lang="en" sz="1100">
                <a:solidFill>
                  <a:schemeClr val="dk1"/>
                </a:solidFill>
              </a:rPr>
            </a:br>
            <a:endParaRPr sz="1800">
              <a:solidFill>
                <a:srgbClr val="595959"/>
              </a:solidFill>
              <a:latin typeface="Poppins"/>
              <a:ea typeface="Poppins"/>
              <a:cs typeface="Poppins"/>
              <a:sym typeface="Poppins"/>
            </a:endParaRPr>
          </a:p>
        </p:txBody>
      </p:sp>
      <p:grpSp>
        <p:nvGrpSpPr>
          <p:cNvPr id="229" name="Google Shape;229;p28"/>
          <p:cNvGrpSpPr/>
          <p:nvPr/>
        </p:nvGrpSpPr>
        <p:grpSpPr>
          <a:xfrm>
            <a:off x="310900" y="3959263"/>
            <a:ext cx="6005825" cy="897313"/>
            <a:chOff x="310900" y="3959263"/>
            <a:chExt cx="6005825" cy="897313"/>
          </a:xfrm>
        </p:grpSpPr>
        <p:sp>
          <p:nvSpPr>
            <p:cNvPr id="230" name="Google Shape;230;p28"/>
            <p:cNvSpPr txBox="1"/>
            <p:nvPr/>
          </p:nvSpPr>
          <p:spPr>
            <a:xfrm>
              <a:off x="310900" y="3959263"/>
              <a:ext cx="1335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rgbClr val="000000"/>
                </a:buClr>
                <a:buSzPts val="1100"/>
                <a:buFont typeface="Arial"/>
                <a:buNone/>
              </a:pPr>
              <a:r>
                <a:rPr b="1" lang="en">
                  <a:solidFill>
                    <a:srgbClr val="273239"/>
                  </a:solidFill>
                  <a:latin typeface="Poppins"/>
                  <a:ea typeface="Poppins"/>
                  <a:cs typeface="Poppins"/>
                  <a:sym typeface="Poppins"/>
                </a:rPr>
                <a:t>Explanation:</a:t>
              </a:r>
              <a:endParaRPr sz="1800">
                <a:solidFill>
                  <a:srgbClr val="595959"/>
                </a:solidFill>
              </a:endParaRPr>
            </a:p>
          </p:txBody>
        </p:sp>
        <p:sp>
          <p:nvSpPr>
            <p:cNvPr id="231" name="Google Shape;231;p28"/>
            <p:cNvSpPr txBox="1"/>
            <p:nvPr/>
          </p:nvSpPr>
          <p:spPr>
            <a:xfrm>
              <a:off x="1607925" y="3959275"/>
              <a:ext cx="4708800" cy="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The second argument for </a:t>
              </a:r>
              <a:r>
                <a:rPr b="1" lang="en" sz="1100">
                  <a:solidFill>
                    <a:schemeClr val="dk1"/>
                  </a:solidFill>
                </a:rPr>
                <a:t>setTimeout</a:t>
              </a:r>
              <a:r>
                <a:rPr lang="en" sz="1100">
                  <a:solidFill>
                    <a:schemeClr val="dk1"/>
                  </a:solidFill>
                </a:rPr>
                <a:t> and </a:t>
              </a:r>
              <a:r>
                <a:rPr b="1" lang="en" sz="1100">
                  <a:solidFill>
                    <a:schemeClr val="dk1"/>
                  </a:solidFill>
                </a:rPr>
                <a:t>setInterval</a:t>
              </a:r>
              <a:r>
                <a:rPr lang="en" sz="1100">
                  <a:solidFill>
                    <a:schemeClr val="dk1"/>
                  </a:solidFill>
                </a:rPr>
                <a:t> is the delay time measured in milliseconds. 1000ms = 1 second.</a:t>
              </a:r>
              <a:endParaRPr sz="1100">
                <a:solidFill>
                  <a:schemeClr val="dk1"/>
                </a:solidFill>
              </a:endParaRPr>
            </a:p>
            <a:p>
              <a:pPr indent="0" lvl="0" marL="0" rtl="0" algn="l">
                <a:lnSpc>
                  <a:spcPct val="115000"/>
                </a:lnSpc>
                <a:spcBef>
                  <a:spcPts val="1200"/>
                </a:spcBef>
                <a:spcAft>
                  <a:spcPts val="1200"/>
                </a:spcAft>
                <a:buNone/>
              </a:pPr>
              <a:r>
                <a:t/>
              </a:r>
              <a:endParaRPr sz="1100">
                <a:latin typeface="Poppins"/>
                <a:ea typeface="Poppins"/>
                <a:cs typeface="Poppins"/>
                <a:sym typeface="Poppi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nvSpPr>
        <p:spPr>
          <a:xfrm>
            <a:off x="310900" y="210300"/>
            <a:ext cx="747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Check Your Understanding</a:t>
            </a:r>
            <a:endParaRPr b="1" sz="2800">
              <a:solidFill>
                <a:srgbClr val="073763"/>
              </a:solidFill>
              <a:latin typeface="Poppins"/>
              <a:ea typeface="Poppins"/>
              <a:cs typeface="Poppins"/>
              <a:sym typeface="Poppins"/>
            </a:endParaRPr>
          </a:p>
        </p:txBody>
      </p:sp>
      <p:pic>
        <p:nvPicPr>
          <p:cNvPr id="237" name="Google Shape;237;p29"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38" name="Google Shape;238;p29"/>
          <p:cNvSpPr txBox="1"/>
          <p:nvPr/>
        </p:nvSpPr>
        <p:spPr>
          <a:xfrm>
            <a:off x="310900" y="1228825"/>
            <a:ext cx="8161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Question : </a:t>
            </a:r>
            <a:r>
              <a:rPr b="1" lang="en" sz="1300">
                <a:solidFill>
                  <a:srgbClr val="273239"/>
                </a:solidFill>
                <a:latin typeface="Poppins"/>
                <a:ea typeface="Poppins"/>
                <a:cs typeface="Poppins"/>
                <a:sym typeface="Poppins"/>
              </a:rPr>
              <a:t> </a:t>
            </a:r>
            <a:r>
              <a:rPr b="1" lang="en" sz="1100">
                <a:solidFill>
                  <a:schemeClr val="dk1"/>
                </a:solidFill>
              </a:rPr>
              <a:t> If you schedule a </a:t>
            </a:r>
            <a:r>
              <a:rPr b="1" i="1" lang="en" sz="1100">
                <a:solidFill>
                  <a:schemeClr val="dk1"/>
                </a:solidFill>
              </a:rPr>
              <a:t>setTimeout</a:t>
            </a:r>
            <a:r>
              <a:rPr b="1" lang="en" sz="1100">
                <a:solidFill>
                  <a:schemeClr val="dk1"/>
                </a:solidFill>
              </a:rPr>
              <a:t> with a </a:t>
            </a:r>
            <a:r>
              <a:rPr b="1" i="1" lang="en" sz="1100">
                <a:solidFill>
                  <a:schemeClr val="dk1"/>
                </a:solidFill>
              </a:rPr>
              <a:t>0ms</a:t>
            </a:r>
            <a:r>
              <a:rPr b="1" lang="en" sz="1100">
                <a:solidFill>
                  <a:schemeClr val="dk1"/>
                </a:solidFill>
              </a:rPr>
              <a:t> delay, when will its callback function execute?</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b="1" sz="1300">
              <a:solidFill>
                <a:srgbClr val="273239"/>
              </a:solidFill>
              <a:latin typeface="Poppins"/>
              <a:ea typeface="Poppins"/>
              <a:cs typeface="Poppins"/>
              <a:sym typeface="Poppins"/>
            </a:endParaRPr>
          </a:p>
        </p:txBody>
      </p:sp>
      <p:sp>
        <p:nvSpPr>
          <p:cNvPr id="239" name="Google Shape;239;p29"/>
          <p:cNvSpPr txBox="1"/>
          <p:nvPr/>
        </p:nvSpPr>
        <p:spPr>
          <a:xfrm>
            <a:off x="310900" y="1748350"/>
            <a:ext cx="8084700" cy="16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100"/>
              <a:buFont typeface="Arial"/>
              <a:buNone/>
            </a:pPr>
            <a:r>
              <a:rPr b="1" lang="en">
                <a:solidFill>
                  <a:srgbClr val="273239"/>
                </a:solidFill>
                <a:latin typeface="Poppins"/>
                <a:ea typeface="Poppins"/>
                <a:cs typeface="Poppins"/>
                <a:sym typeface="Poppins"/>
              </a:rPr>
              <a:t>Options    :</a:t>
            </a:r>
            <a:r>
              <a:rPr lang="en" sz="1100">
                <a:solidFill>
                  <a:srgbClr val="000000"/>
                </a:solidFill>
                <a:latin typeface="Poppins"/>
                <a:ea typeface="Poppins"/>
                <a:cs typeface="Poppins"/>
                <a:sym typeface="Poppins"/>
              </a:rPr>
              <a:t>  </a:t>
            </a:r>
            <a:r>
              <a:rPr lang="en" sz="1100">
                <a:solidFill>
                  <a:schemeClr val="dk1"/>
                </a:solidFill>
              </a:rPr>
              <a:t>a) Immediately, before any other code.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b) It will never execute. </a:t>
            </a:r>
            <a:endParaRPr sz="1100">
              <a:solidFill>
                <a:schemeClr val="dk1"/>
              </a:solidFill>
            </a:endParaRPr>
          </a:p>
          <a:p>
            <a:pPr indent="0" lvl="0" marL="914400" rtl="0" algn="l">
              <a:lnSpc>
                <a:spcPct val="115000"/>
              </a:lnSpc>
              <a:spcBef>
                <a:spcPts val="1200"/>
              </a:spcBef>
              <a:spcAft>
                <a:spcPts val="0"/>
              </a:spcAft>
              <a:buClr>
                <a:schemeClr val="dk1"/>
              </a:buClr>
              <a:buSzPts val="1100"/>
              <a:buFont typeface="Arial"/>
              <a:buNone/>
            </a:pPr>
            <a:r>
              <a:rPr lang="en" sz="1100">
                <a:solidFill>
                  <a:schemeClr val="dk1"/>
                </a:solidFill>
              </a:rPr>
              <a:t>c) After the current synchronous code in the call stack has finished executing. </a:t>
            </a:r>
            <a:endParaRPr sz="1100">
              <a:solidFill>
                <a:schemeClr val="dk1"/>
              </a:solidFill>
            </a:endParaRPr>
          </a:p>
          <a:p>
            <a:pPr indent="0" lvl="0" marL="914400" rtl="0" algn="l">
              <a:lnSpc>
                <a:spcPct val="115000"/>
              </a:lnSpc>
              <a:spcBef>
                <a:spcPts val="1200"/>
              </a:spcBef>
              <a:spcAft>
                <a:spcPts val="1200"/>
              </a:spcAft>
              <a:buClr>
                <a:schemeClr val="dk1"/>
              </a:buClr>
              <a:buSzPts val="1100"/>
              <a:buFont typeface="Arial"/>
              <a:buNone/>
            </a:pPr>
            <a:r>
              <a:rPr lang="en" sz="1100">
                <a:solidFill>
                  <a:schemeClr val="dk1"/>
                </a:solidFill>
              </a:rPr>
              <a:t>d) Exactly at the same time as the next line of code.</a:t>
            </a:r>
            <a:br>
              <a:rPr lang="en" sz="1100">
                <a:solidFill>
                  <a:schemeClr val="dk1"/>
                </a:solidFill>
              </a:rPr>
            </a:br>
            <a:endParaRPr sz="1100">
              <a:latin typeface="Poppins"/>
              <a:ea typeface="Poppins"/>
              <a:cs typeface="Poppins"/>
              <a:sym typeface="Poppins"/>
            </a:endParaRPr>
          </a:p>
        </p:txBody>
      </p:sp>
      <p:pic>
        <p:nvPicPr>
          <p:cNvPr id="240" name="Google Shape;240;p29"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41" name="Google Shape;241;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42" name="Google Shape;242;p29"/>
          <p:cNvSpPr txBox="1"/>
          <p:nvPr/>
        </p:nvSpPr>
        <p:spPr>
          <a:xfrm>
            <a:off x="310950" y="3313725"/>
            <a:ext cx="6260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73239"/>
                </a:solidFill>
                <a:latin typeface="Poppins"/>
                <a:ea typeface="Poppins"/>
                <a:cs typeface="Poppins"/>
                <a:sym typeface="Poppins"/>
              </a:rPr>
              <a:t>Answer :</a:t>
            </a:r>
            <a:r>
              <a:rPr lang="en" sz="1800">
                <a:solidFill>
                  <a:srgbClr val="595959"/>
                </a:solidFill>
              </a:rPr>
              <a:t>  </a:t>
            </a:r>
            <a:r>
              <a:rPr lang="en" sz="1100">
                <a:solidFill>
                  <a:srgbClr val="000000"/>
                </a:solidFill>
                <a:latin typeface="Poppins"/>
                <a:ea typeface="Poppins"/>
                <a:cs typeface="Poppins"/>
                <a:sym typeface="Poppins"/>
              </a:rPr>
              <a:t> </a:t>
            </a:r>
            <a:r>
              <a:rPr lang="en" sz="1100">
                <a:solidFill>
                  <a:schemeClr val="dk1"/>
                </a:solidFill>
              </a:rPr>
              <a:t>c) After the current synchronous code in the call stack has finished executing. </a:t>
            </a:r>
            <a:endParaRPr sz="1100">
              <a:solidFill>
                <a:schemeClr val="dk1"/>
              </a:solidFill>
            </a:endParaRPr>
          </a:p>
          <a:p>
            <a:pPr indent="0" lvl="0" marL="0" rtl="0" algn="l">
              <a:spcBef>
                <a:spcPts val="0"/>
              </a:spcBef>
              <a:spcAft>
                <a:spcPts val="0"/>
              </a:spcAft>
              <a:buNone/>
            </a:pPr>
            <a:r>
              <a:t/>
            </a:r>
            <a:endParaRPr sz="1100">
              <a:latin typeface="Poppins"/>
              <a:ea typeface="Poppins"/>
              <a:cs typeface="Poppins"/>
              <a:sym typeface="Poppins"/>
            </a:endParaRPr>
          </a:p>
        </p:txBody>
      </p:sp>
      <p:grpSp>
        <p:nvGrpSpPr>
          <p:cNvPr id="243" name="Google Shape;243;p29"/>
          <p:cNvGrpSpPr/>
          <p:nvPr/>
        </p:nvGrpSpPr>
        <p:grpSpPr>
          <a:xfrm>
            <a:off x="310900" y="3959263"/>
            <a:ext cx="6005825" cy="1286713"/>
            <a:chOff x="310900" y="3959263"/>
            <a:chExt cx="6005825" cy="1286713"/>
          </a:xfrm>
        </p:grpSpPr>
        <p:sp>
          <p:nvSpPr>
            <p:cNvPr id="244" name="Google Shape;244;p29"/>
            <p:cNvSpPr txBox="1"/>
            <p:nvPr/>
          </p:nvSpPr>
          <p:spPr>
            <a:xfrm>
              <a:off x="310900" y="3959263"/>
              <a:ext cx="13359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rgbClr val="000000"/>
                </a:buClr>
                <a:buSzPts val="1100"/>
                <a:buFont typeface="Arial"/>
                <a:buNone/>
              </a:pPr>
              <a:r>
                <a:rPr b="1" lang="en">
                  <a:solidFill>
                    <a:srgbClr val="273239"/>
                  </a:solidFill>
                  <a:latin typeface="Poppins"/>
                  <a:ea typeface="Poppins"/>
                  <a:cs typeface="Poppins"/>
                  <a:sym typeface="Poppins"/>
                </a:rPr>
                <a:t>Explanation:</a:t>
              </a:r>
              <a:endParaRPr sz="1800">
                <a:solidFill>
                  <a:srgbClr val="595959"/>
                </a:solidFill>
              </a:endParaRPr>
            </a:p>
          </p:txBody>
        </p:sp>
        <p:sp>
          <p:nvSpPr>
            <p:cNvPr id="245" name="Google Shape;245;p29"/>
            <p:cNvSpPr txBox="1"/>
            <p:nvPr/>
          </p:nvSpPr>
          <p:spPr>
            <a:xfrm>
              <a:off x="1607925" y="3959275"/>
              <a:ext cx="4708800" cy="12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setTimeout(fn, 0)</a:t>
              </a:r>
              <a:r>
                <a:rPr lang="en" sz="1100">
                  <a:solidFill>
                    <a:schemeClr val="dk1"/>
                  </a:solidFill>
                </a:rPr>
                <a:t> doesn't execute the function immediately. Instead, it places the function in the callback queue to be run at the earliest opportunity, which is right after the currently executing synchronous code block is finished.</a:t>
              </a:r>
              <a:endParaRPr sz="1100">
                <a:solidFill>
                  <a:schemeClr val="dk1"/>
                </a:solidFill>
              </a:endParaRPr>
            </a:p>
            <a:p>
              <a:pPr indent="0" lvl="0" marL="0" rtl="0" algn="l">
                <a:lnSpc>
                  <a:spcPct val="115000"/>
                </a:lnSpc>
                <a:spcBef>
                  <a:spcPts val="1200"/>
                </a:spcBef>
                <a:spcAft>
                  <a:spcPts val="1200"/>
                </a:spcAft>
                <a:buNone/>
              </a:pPr>
              <a:r>
                <a:t/>
              </a:r>
              <a:endParaRPr sz="1100">
                <a:latin typeface="Poppins"/>
                <a:ea typeface="Poppins"/>
                <a:cs typeface="Poppins"/>
                <a:sym typeface="Poppi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0"/>
          <p:cNvSpPr txBox="1"/>
          <p:nvPr/>
        </p:nvSpPr>
        <p:spPr>
          <a:xfrm>
            <a:off x="310896" y="210312"/>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800">
                <a:solidFill>
                  <a:srgbClr val="000000"/>
                </a:solidFill>
                <a:latin typeface="Poppins"/>
                <a:ea typeface="Poppins"/>
                <a:cs typeface="Poppins"/>
                <a:sym typeface="Poppins"/>
              </a:rPr>
              <a:t>|</a:t>
            </a:r>
            <a:r>
              <a:rPr lang="en" sz="2800">
                <a:solidFill>
                  <a:srgbClr val="000000"/>
                </a:solidFill>
              </a:rPr>
              <a:t>  </a:t>
            </a:r>
            <a:r>
              <a:rPr b="1" lang="en" sz="2800">
                <a:solidFill>
                  <a:srgbClr val="073763"/>
                </a:solidFill>
                <a:latin typeface="Poppins"/>
                <a:ea typeface="Poppins"/>
                <a:cs typeface="Poppins"/>
                <a:sym typeface="Poppins"/>
              </a:rPr>
              <a:t>References</a:t>
            </a:r>
            <a:endParaRPr b="1" sz="2800">
              <a:solidFill>
                <a:srgbClr val="073763"/>
              </a:solidFill>
              <a:latin typeface="Poppins"/>
              <a:ea typeface="Poppins"/>
              <a:cs typeface="Poppins"/>
              <a:sym typeface="Poppins"/>
            </a:endParaRPr>
          </a:p>
        </p:txBody>
      </p:sp>
      <p:pic>
        <p:nvPicPr>
          <p:cNvPr id="251" name="Google Shape;251;p30"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252" name="Google Shape;252;p30"/>
          <p:cNvSpPr txBox="1"/>
          <p:nvPr/>
        </p:nvSpPr>
        <p:spPr>
          <a:xfrm>
            <a:off x="358850" y="1181200"/>
            <a:ext cx="8520600" cy="343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Char char="●"/>
            </a:pPr>
            <a:r>
              <a:rPr b="1" lang="en" sz="1100">
                <a:solidFill>
                  <a:srgbClr val="000000"/>
                </a:solidFill>
                <a:latin typeface="Poppins"/>
                <a:ea typeface="Poppins"/>
                <a:cs typeface="Poppins"/>
                <a:sym typeface="Poppins"/>
              </a:rPr>
              <a:t>MDN Web Docs</a:t>
            </a:r>
            <a:r>
              <a:rPr b="1" lang="en" sz="1100">
                <a:solidFill>
                  <a:srgbClr val="000000"/>
                </a:solidFill>
              </a:rPr>
              <a:t> : </a:t>
            </a:r>
            <a:r>
              <a:rPr i="1" lang="en" sz="1100">
                <a:solidFill>
                  <a:srgbClr val="000000"/>
                </a:solidFill>
                <a:latin typeface="Poppins"/>
                <a:ea typeface="Poppins"/>
                <a:cs typeface="Poppins"/>
                <a:sym typeface="Poppins"/>
              </a:rPr>
              <a:t>Comprehensive and official documentation for JS.</a:t>
            </a:r>
            <a:br>
              <a:rPr i="1" lang="en" sz="1100">
                <a:solidFill>
                  <a:srgbClr val="000000"/>
                </a:solidFill>
              </a:rPr>
            </a:br>
            <a:r>
              <a:rPr lang="en" sz="1100">
                <a:solidFill>
                  <a:srgbClr val="000000"/>
                </a:solidFill>
              </a:rPr>
              <a:t> 🔗</a:t>
            </a:r>
            <a:r>
              <a:rPr lang="en" sz="1100" u="sng">
                <a:solidFill>
                  <a:srgbClr val="0097A7"/>
                </a:solidFill>
                <a:hlinkClick r:id="rId4">
                  <a:extLst>
                    <a:ext uri="{A12FA001-AC4F-418D-AE19-62706E023703}">
                      <ahyp:hlinkClr val="tx"/>
                    </a:ext>
                  </a:extLst>
                </a:hlinkClick>
              </a:rPr>
              <a:t>https://developer.mozilla.org/en-US/docs/Web/JavaScript</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0" lvl="0" marL="457200" rtl="0" algn="l">
              <a:lnSpc>
                <a:spcPct val="115000"/>
              </a:lnSpc>
              <a:spcBef>
                <a:spcPts val="0"/>
              </a:spcBef>
              <a:spcAft>
                <a:spcPts val="0"/>
              </a:spcAft>
              <a:buNone/>
            </a:pPr>
            <a:r>
              <a:t/>
            </a:r>
            <a:endParaRPr sz="1100" u="sng">
              <a:solidFill>
                <a:srgbClr val="0097A7"/>
              </a:solidFill>
            </a:endParaRPr>
          </a:p>
          <a:p>
            <a:pPr indent="-298450" lvl="0" marL="457200" rtl="0" algn="l">
              <a:lnSpc>
                <a:spcPct val="115000"/>
              </a:lnSpc>
              <a:spcBef>
                <a:spcPts val="0"/>
              </a:spcBef>
              <a:spcAft>
                <a:spcPts val="0"/>
              </a:spcAft>
              <a:buClr>
                <a:srgbClr val="000000"/>
              </a:buClr>
              <a:buSzPts val="1100"/>
              <a:buChar char="●"/>
            </a:pPr>
            <a:r>
              <a:rPr b="1" lang="en" sz="1100">
                <a:solidFill>
                  <a:srgbClr val="000000"/>
                </a:solidFill>
                <a:latin typeface="Poppins"/>
                <a:ea typeface="Poppins"/>
                <a:cs typeface="Poppins"/>
                <a:sym typeface="Poppins"/>
              </a:rPr>
              <a:t>W3Schools – JS Tutorial : </a:t>
            </a:r>
            <a:r>
              <a:rPr i="1" lang="en" sz="1100">
                <a:solidFill>
                  <a:srgbClr val="000000"/>
                </a:solidFill>
                <a:latin typeface="Poppins"/>
                <a:ea typeface="Poppins"/>
                <a:cs typeface="Poppins"/>
                <a:sym typeface="Poppins"/>
              </a:rPr>
              <a:t>Beginner-friendly JS tutorials with examples and interactive editors.</a:t>
            </a:r>
            <a:br>
              <a:rPr i="1" lang="en" sz="1100">
                <a:solidFill>
                  <a:srgbClr val="000000"/>
                </a:solidFill>
                <a:latin typeface="Poppins"/>
                <a:ea typeface="Poppins"/>
                <a:cs typeface="Poppins"/>
                <a:sym typeface="Poppins"/>
              </a:rPr>
            </a:br>
            <a:r>
              <a:rPr lang="en" sz="1100">
                <a:solidFill>
                  <a:srgbClr val="000000"/>
                </a:solidFill>
              </a:rPr>
              <a:t> 🔗</a:t>
            </a:r>
            <a:r>
              <a:rPr lang="en" sz="1100" u="sng">
                <a:solidFill>
                  <a:srgbClr val="0097A7"/>
                </a:solidFill>
                <a:hlinkClick r:id="rId5">
                  <a:extLst>
                    <a:ext uri="{A12FA001-AC4F-418D-AE19-62706E023703}">
                      <ahyp:hlinkClr val="tx"/>
                    </a:ext>
                  </a:extLst>
                </a:hlinkClick>
              </a:rPr>
              <a:t> https://www.w3schools.com/js/</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b="1" lang="en" sz="1100">
                <a:solidFill>
                  <a:srgbClr val="000000"/>
                </a:solidFill>
                <a:latin typeface="Poppins"/>
                <a:ea typeface="Poppins"/>
                <a:cs typeface="Poppins"/>
                <a:sym typeface="Poppins"/>
              </a:rPr>
              <a:t>JavaScript.info -</a:t>
            </a:r>
            <a:r>
              <a:rPr b="1" i="1" lang="en" sz="1100">
                <a:solidFill>
                  <a:srgbClr val="000000"/>
                </a:solidFill>
                <a:latin typeface="Poppins"/>
                <a:ea typeface="Poppins"/>
                <a:cs typeface="Poppins"/>
                <a:sym typeface="Poppins"/>
              </a:rPr>
              <a:t> </a:t>
            </a:r>
            <a:r>
              <a:rPr i="1" lang="en" sz="1100">
                <a:solidFill>
                  <a:srgbClr val="000000"/>
                </a:solidFill>
                <a:latin typeface="Poppins"/>
                <a:ea typeface="Poppins"/>
                <a:cs typeface="Poppins"/>
                <a:sym typeface="Poppins"/>
              </a:rPr>
              <a:t>A </a:t>
            </a:r>
            <a:r>
              <a:rPr b="1" i="1" lang="en" sz="1100">
                <a:solidFill>
                  <a:srgbClr val="000000"/>
                </a:solidFill>
                <a:latin typeface="Poppins"/>
                <a:ea typeface="Poppins"/>
                <a:cs typeface="Poppins"/>
                <a:sym typeface="Poppins"/>
              </a:rPr>
              <a:t>comprehensive tutorial-style website</a:t>
            </a:r>
            <a:r>
              <a:rPr i="1" lang="en" sz="1100">
                <a:solidFill>
                  <a:srgbClr val="000000"/>
                </a:solidFill>
                <a:latin typeface="Poppins"/>
                <a:ea typeface="Poppins"/>
                <a:cs typeface="Poppins"/>
                <a:sym typeface="Poppins"/>
              </a:rPr>
              <a:t> that covers core JavaScript concepts in depth.</a:t>
            </a:r>
            <a:endParaRPr i="1" sz="1100">
              <a:solidFill>
                <a:srgbClr val="000000"/>
              </a:solidFill>
              <a:latin typeface="Poppins"/>
              <a:ea typeface="Poppins"/>
              <a:cs typeface="Poppins"/>
              <a:sym typeface="Poppins"/>
            </a:endParaRPr>
          </a:p>
          <a:p>
            <a:pPr indent="0" lvl="0" marL="457200" rtl="0" algn="l">
              <a:lnSpc>
                <a:spcPct val="115000"/>
              </a:lnSpc>
              <a:spcBef>
                <a:spcPts val="0"/>
              </a:spcBef>
              <a:spcAft>
                <a:spcPts val="0"/>
              </a:spcAft>
              <a:buNone/>
            </a:pPr>
            <a:r>
              <a:rPr lang="en" sz="1100">
                <a:solidFill>
                  <a:srgbClr val="000000"/>
                </a:solidFill>
              </a:rPr>
              <a:t>🔗</a:t>
            </a:r>
            <a:r>
              <a:rPr lang="en" sz="1100" u="sng">
                <a:solidFill>
                  <a:srgbClr val="0097A7"/>
                </a:solidFill>
                <a:hlinkClick r:id="rId6">
                  <a:extLst>
                    <a:ext uri="{A12FA001-AC4F-418D-AE19-62706E023703}">
                      <ahyp:hlinkClr val="tx"/>
                    </a:ext>
                  </a:extLst>
                </a:hlinkClick>
              </a:rPr>
              <a:t>https://javascript.info/</a:t>
            </a:r>
            <a:endParaRPr i="1" sz="1100">
              <a:solidFill>
                <a:srgbClr val="000000"/>
              </a:solidFill>
              <a:latin typeface="Poppins"/>
              <a:ea typeface="Poppins"/>
              <a:cs typeface="Poppins"/>
              <a:sym typeface="Poppins"/>
            </a:endParaRPr>
          </a:p>
        </p:txBody>
      </p:sp>
      <p:sp>
        <p:nvSpPr>
          <p:cNvPr id="253" name="Google Shape;253;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1"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259" name="Google Shape;259;p31"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260" name="Google Shape;260;p31"/>
          <p:cNvSpPr txBox="1"/>
          <p:nvPr/>
        </p:nvSpPr>
        <p:spPr>
          <a:xfrm>
            <a:off x="4407400" y="2020825"/>
            <a:ext cx="46362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rgbClr val="173034"/>
                </a:solidFill>
              </a:rPr>
              <a:t>Course - Web Development - II</a:t>
            </a:r>
            <a:endParaRPr b="1" sz="2400">
              <a:solidFill>
                <a:srgbClr val="173034"/>
              </a:solidFill>
            </a:endParaRPr>
          </a:p>
        </p:txBody>
      </p:sp>
      <p:grpSp>
        <p:nvGrpSpPr>
          <p:cNvPr id="261" name="Google Shape;261;p31"/>
          <p:cNvGrpSpPr/>
          <p:nvPr/>
        </p:nvGrpSpPr>
        <p:grpSpPr>
          <a:xfrm>
            <a:off x="4572000" y="4881413"/>
            <a:ext cx="1607600" cy="292500"/>
            <a:chOff x="5060775" y="4881413"/>
            <a:chExt cx="1607600" cy="292500"/>
          </a:xfrm>
        </p:grpSpPr>
        <p:sp>
          <p:nvSpPr>
            <p:cNvPr id="262" name="Google Shape;262;p31"/>
            <p:cNvSpPr txBox="1"/>
            <p:nvPr/>
          </p:nvSpPr>
          <p:spPr>
            <a:xfrm>
              <a:off x="5165675" y="4881413"/>
              <a:ext cx="15027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000000"/>
                  </a:solidFill>
                </a:rPr>
                <a:t>welcome@krmangalam.edu.in</a:t>
              </a:r>
              <a:endParaRPr sz="900">
                <a:solidFill>
                  <a:srgbClr val="000000"/>
                </a:solidFill>
              </a:endParaRPr>
            </a:p>
          </p:txBody>
        </p:sp>
        <p:pic>
          <p:nvPicPr>
            <p:cNvPr id="263" name="Google Shape;263;p31"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sp>
        <p:nvSpPr>
          <p:cNvPr id="264" name="Google Shape;264;p31"/>
          <p:cNvSpPr txBox="1"/>
          <p:nvPr/>
        </p:nvSpPr>
        <p:spPr>
          <a:xfrm>
            <a:off x="7326500" y="4881425"/>
            <a:ext cx="234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265" name="Google Shape;265;p31" title="location.png"/>
          <p:cNvPicPr preferRelativeResize="0"/>
          <p:nvPr/>
        </p:nvPicPr>
        <p:blipFill>
          <a:blip r:embed="rId6">
            <a:alphaModFix/>
          </a:blip>
          <a:stretch>
            <a:fillRect/>
          </a:stretch>
        </p:blipFill>
        <p:spPr>
          <a:xfrm>
            <a:off x="7229300" y="4959088"/>
            <a:ext cx="137160" cy="137160"/>
          </a:xfrm>
          <a:prstGeom prst="rect">
            <a:avLst/>
          </a:prstGeom>
          <a:noFill/>
          <a:ln>
            <a:noFill/>
          </a:ln>
        </p:spPr>
      </p:pic>
      <p:pic>
        <p:nvPicPr>
          <p:cNvPr id="266" name="Google Shape;266;p31" title="Wavy_Trv-02_Single-09.jpg"/>
          <p:cNvPicPr preferRelativeResize="0"/>
          <p:nvPr/>
        </p:nvPicPr>
        <p:blipFill>
          <a:blip r:embed="rId7">
            <a:alphaModFix/>
          </a:blip>
          <a:stretch>
            <a:fillRect/>
          </a:stretch>
        </p:blipFill>
        <p:spPr>
          <a:xfrm>
            <a:off x="5450000" y="2536688"/>
            <a:ext cx="2463299" cy="2227850"/>
          </a:xfrm>
          <a:prstGeom prst="rect">
            <a:avLst/>
          </a:prstGeom>
          <a:noFill/>
          <a:ln>
            <a:noFill/>
          </a:ln>
        </p:spPr>
      </p:pic>
      <p:sp>
        <p:nvSpPr>
          <p:cNvPr id="267" name="Google Shape;267;p31"/>
          <p:cNvSpPr txBox="1"/>
          <p:nvPr/>
        </p:nvSpPr>
        <p:spPr>
          <a:xfrm>
            <a:off x="8494883" y="46482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68" name="Google Shape;268;p31"/>
          <p:cNvSpPr txBox="1"/>
          <p:nvPr/>
        </p:nvSpPr>
        <p:spPr>
          <a:xfrm>
            <a:off x="1033275" y="1691650"/>
            <a:ext cx="23130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FFFFFF"/>
                </a:solidFill>
                <a:latin typeface="Poppins"/>
                <a:ea typeface="Poppins"/>
                <a:cs typeface="Poppins"/>
                <a:sym typeface="Poppins"/>
              </a:rPr>
              <a:t>Thanks</a:t>
            </a:r>
            <a:endParaRPr sz="3400">
              <a:solidFill>
                <a:srgbClr val="FFFFFF"/>
              </a:solidFill>
              <a:latin typeface="Poppins"/>
              <a:ea typeface="Poppins"/>
              <a:cs typeface="Poppins"/>
              <a:sym typeface="Poppins"/>
            </a:endParaRPr>
          </a:p>
          <a:p>
            <a:pPr indent="0" lvl="0" marL="0" rtl="0" algn="l">
              <a:spcBef>
                <a:spcPts val="0"/>
              </a:spcBef>
              <a:spcAft>
                <a:spcPts val="0"/>
              </a:spcAft>
              <a:buNone/>
            </a:pPr>
            <a:r>
              <a:rPr lang="en" sz="3400">
                <a:solidFill>
                  <a:srgbClr val="FFFFFF"/>
                </a:solidFill>
                <a:latin typeface="Poppins"/>
                <a:ea typeface="Poppins"/>
                <a:cs typeface="Poppins"/>
                <a:sym typeface="Poppins"/>
              </a:rPr>
              <a:t>For</a:t>
            </a:r>
            <a:endParaRPr sz="3400">
              <a:solidFill>
                <a:srgbClr val="FFFFFF"/>
              </a:solidFill>
              <a:latin typeface="Poppins"/>
              <a:ea typeface="Poppins"/>
              <a:cs typeface="Poppins"/>
              <a:sym typeface="Poppins"/>
            </a:endParaRPr>
          </a:p>
          <a:p>
            <a:pPr indent="0" lvl="0" marL="0" rtl="0" algn="l">
              <a:spcBef>
                <a:spcPts val="0"/>
              </a:spcBef>
              <a:spcAft>
                <a:spcPts val="0"/>
              </a:spcAft>
              <a:buNone/>
            </a:pPr>
            <a:r>
              <a:rPr lang="en" sz="3400">
                <a:solidFill>
                  <a:srgbClr val="FFFFFF"/>
                </a:solidFill>
                <a:latin typeface="Poppins"/>
                <a:ea typeface="Poppins"/>
                <a:cs typeface="Poppins"/>
                <a:sym typeface="Poppins"/>
              </a:rPr>
              <a:t>Watching</a:t>
            </a:r>
            <a:endParaRPr sz="340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