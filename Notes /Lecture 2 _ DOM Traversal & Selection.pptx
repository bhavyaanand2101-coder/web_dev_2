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oboto Slab"/>
      <p:regular r:id="rId23"/>
      <p:bold r:id="rId24"/>
    </p:embeddedFont>
    <p:embeddedFont>
      <p:font typeface="Poppi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A3A322-76E5-4CDF-921F-A573ACAD3A6B}">
  <a:tblStyle styleId="{8CA3A322-76E5-4CDF-921F-A573ACAD3A6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Slab-bold.fntdata"/><Relationship Id="rId23" Type="http://schemas.openxmlformats.org/officeDocument/2006/relationships/font" Target="fonts/RobotoSlab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e4d84cc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e4d84cc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e4d84cc1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e4d84cc1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e4d84cc1e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e4d84cc1e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e4d84cc1e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e4d84cc1e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e4d84cc1e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e4d84cc1e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568914ef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568914ef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568914ef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568914ef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e4d84cc1e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e4d84cc1e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e4d84cc1e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e4d84cc1e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e4d84cc1e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e4d84cc1e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e4d84cc1e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6e4d84cc1e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e4d84cc1e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6e4d84cc1e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568914ef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568914ef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dadd7b31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6dadd7b31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e4d84cc1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6e4d84cc1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e4d84cc1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6e4d84cc1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8.png"/><Relationship Id="rId7" Type="http://schemas.openxmlformats.org/officeDocument/2006/relationships/image" Target="../media/image24.jpg"/><Relationship Id="rId8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javascript.info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8.png"/><Relationship Id="rId7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954584"/>
            <a:chOff x="309849" y="1233369"/>
            <a:chExt cx="3415942" cy="2954584"/>
          </a:xfrm>
        </p:grpSpPr>
        <p:grpSp>
          <p:nvGrpSpPr>
            <p:cNvPr id="66" name="Google Shape;66;p13"/>
            <p:cNvGrpSpPr/>
            <p:nvPr/>
          </p:nvGrpSpPr>
          <p:grpSpPr>
            <a:xfrm>
              <a:off x="309849" y="1233369"/>
              <a:ext cx="3415942" cy="2387863"/>
              <a:chOff x="788865" y="1515488"/>
              <a:chExt cx="4594407" cy="2387863"/>
            </a:xfrm>
          </p:grpSpPr>
          <p:sp>
            <p:nvSpPr>
              <p:cNvPr id="67" name="Google Shape;67;p13"/>
              <p:cNvSpPr txBox="1"/>
              <p:nvPr/>
            </p:nvSpPr>
            <p:spPr>
              <a:xfrm>
                <a:off x="788865" y="1515488"/>
                <a:ext cx="3197700" cy="6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700">
                    <a:solidFill>
                      <a:schemeClr val="lt1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Lecture 2</a:t>
                </a:r>
                <a:r>
                  <a:rPr lang="en" sz="2700">
                    <a:solidFill>
                      <a:schemeClr val="lt1"/>
                    </a:solidFill>
                  </a:rPr>
                  <a:t>:</a:t>
                </a:r>
                <a:endParaRPr sz="22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endParaRPr>
              </a:p>
            </p:txBody>
          </p:sp>
          <p:sp>
            <p:nvSpPr>
              <p:cNvPr id="68" name="Google Shape;68;p13"/>
              <p:cNvSpPr txBox="1"/>
              <p:nvPr/>
            </p:nvSpPr>
            <p:spPr>
              <a:xfrm>
                <a:off x="788875" y="3475300"/>
                <a:ext cx="6990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-By</a:t>
                </a:r>
                <a:endParaRPr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9" name="Google Shape;69;p13"/>
              <p:cNvSpPr txBox="1"/>
              <p:nvPr/>
            </p:nvSpPr>
            <p:spPr>
              <a:xfrm>
                <a:off x="790272" y="2145213"/>
                <a:ext cx="4593000" cy="129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400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DOM Traversal &amp; Selection</a:t>
                </a:r>
                <a:endParaRPr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0" name="Google Shape;70;p13"/>
              <p:cNvSpPr txBox="1"/>
              <p:nvPr/>
            </p:nvSpPr>
            <p:spPr>
              <a:xfrm>
                <a:off x="1330896" y="3491750"/>
                <a:ext cx="3313200" cy="41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Instructor Name</a:t>
                </a:r>
                <a:endParaRPr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pic>
          <p:nvPicPr>
            <p:cNvPr id="71" name="Google Shape;71;p13" title="javascript-logo-javascript-icon-transparent-free-png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33272" y="3666744"/>
              <a:ext cx="521208" cy="5212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DOM traversal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getElementById()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getElementsByClassName()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References.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The End.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you're in a room full of people. If you want to say something to </a:t>
            </a:r>
            <a:r>
              <a:rPr b="1" i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one specific person</a:t>
            </a: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, what’s the first thing you do?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5" title="Wo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172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you're in a room full of people. If you want to say something to </a:t>
            </a:r>
            <a:r>
              <a:rPr b="1" i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one specific person</a:t>
            </a: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, what’s the first thing you do?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311700" y="1572950"/>
            <a:ext cx="75456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need 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identify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them — by name, by shirt color, or seat number.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the same way, JavaScript needs a way 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locate and select specific elements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on the page — like a button, heading, or paragraph — before it can interact with them.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That's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why we use some selecting Elements in JS.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6" title="Select-rafik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7650" y="3177325"/>
            <a:ext cx="2807675" cy="18795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Introduction to DOM Traversal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4" name="Google Shape;104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274350" y="952040"/>
            <a:ext cx="75456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DOM Traversal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refers to the process of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navigating through the DOM tree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access different nodes (elements, text nodes, or attributes) based on their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relationships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such as parent, child, and sibling.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Since an HTML document is represented as 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hierarchical tree structure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DOM traversal enables developers to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move up, down, and sideways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within this structure to locate and manipulate specific elements dynamically.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7950" y="2734400"/>
            <a:ext cx="3498400" cy="232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Introduction to DOM Traversal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3" name="Google Shape;113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274350" y="952040"/>
            <a:ext cx="75456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Traversal works based on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node relationships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Element-based traversal avoids unwanted text nodes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Widely used in frameworks and dynamic UI logic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0650" y="2529015"/>
            <a:ext cx="5724525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Selecting Elements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311700" y="1234440"/>
            <a:ext cx="75456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Selecting elements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means accessing or grabbing specific parts of an HTML page (like a heading, button, paragraph, etc.) using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JavaScript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so you can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read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change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or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interact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with them.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u="sng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Think of it like:</a:t>
            </a:r>
            <a:endParaRPr i="1" u="sng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“JavaScript is asking: Which part of the page do you want me to work with?”</a:t>
            </a:r>
            <a:endParaRPr b="1" i="1"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5" name="Google Shape;125;p19" title="Select-amic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3975" y="2867950"/>
            <a:ext cx="2556025" cy="211022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Selecting Elements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1" name="Google Shape;131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311700" y="1234440"/>
            <a:ext cx="7470900" cy="27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JavaScript gives us several built-in methods to select elements from the DOM. You choose which one to use based on </a:t>
            </a:r>
            <a:r>
              <a:rPr i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how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you want to target the element — by its ID, class, tag, or more advanced CSS-like selectors.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Some Common Built-in Methods :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getElementById()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getElementsByClassName()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querySelector()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querySelectorAll()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getElementById()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9" name="Google Shape;139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1"/>
          <p:cNvSpPr txBox="1"/>
          <p:nvPr/>
        </p:nvSpPr>
        <p:spPr>
          <a:xfrm>
            <a:off x="311700" y="1234440"/>
            <a:ext cx="747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311700" y="1234450"/>
            <a:ext cx="75456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Selects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 single element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based on its id attribute.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IDs are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unique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so this method always returns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one element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or null.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311700" y="2083150"/>
            <a:ext cx="9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4" name="Google Shape;144;p21" title="carbon - 2025-07-09T160706.8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9700" y="2138200"/>
            <a:ext cx="5945800" cy="9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/>
        </p:nvSpPr>
        <p:spPr>
          <a:xfrm>
            <a:off x="311700" y="3264575"/>
            <a:ext cx="71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Note :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1077375" y="3264575"/>
            <a:ext cx="7347900" cy="14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document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refers to the entire web page (DOM)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It’s the global object in the browser that represents your loaded HTML page.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It’s like JavaScript’s entry point to interact with the webpage.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Think of document as the gatekeeper to the whole DOM tree.</a:t>
            </a:r>
            <a:endParaRPr b="1" i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getElementById()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2" name="Google Shape;152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2"/>
          <p:cNvSpPr txBox="1"/>
          <p:nvPr/>
        </p:nvSpPr>
        <p:spPr>
          <a:xfrm>
            <a:off x="361775" y="1092865"/>
            <a:ext cx="12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5" name="Google Shape;155;p22" title="carbon - 2025-07-09T163037.2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775" y="1807813"/>
            <a:ext cx="3494800" cy="120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 title="carbon - 2025-07-09T162955.73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7875" y="1808375"/>
            <a:ext cx="4773826" cy="151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/>
          <p:nvPr/>
        </p:nvSpPr>
        <p:spPr>
          <a:xfrm>
            <a:off x="1572875" y="3240225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HTML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6033475" y="3326750"/>
            <a:ext cx="13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JavaScript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311700" y="3963800"/>
            <a:ext cx="7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Note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1027500" y="3963800"/>
            <a:ext cx="74709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.textContent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property that lets you </a:t>
            </a:r>
            <a:r>
              <a:rPr b="1"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get or change the text inside an element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we’ll study this in detail later in this lecture.</a:t>
            </a:r>
            <a:endParaRPr sz="19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getElementsByClassName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()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6" name="Google Shape;166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23"/>
          <p:cNvSpPr txBox="1"/>
          <p:nvPr/>
        </p:nvSpPr>
        <p:spPr>
          <a:xfrm>
            <a:off x="311700" y="1234440"/>
            <a:ext cx="747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311700" y="1234450"/>
            <a:ext cx="75456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Selects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all elements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that have a specific class name.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Returns an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HTMLCollection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(array-like, but not a real array).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311700" y="2371650"/>
            <a:ext cx="9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1" name="Google Shape;171;p23" title="carbon - 2025-07-09T165144.36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9700" y="2426950"/>
            <a:ext cx="5591899" cy="9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3"/>
          <p:cNvSpPr txBox="1"/>
          <p:nvPr/>
        </p:nvSpPr>
        <p:spPr>
          <a:xfrm>
            <a:off x="311700" y="3552800"/>
            <a:ext cx="70545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Returns 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live collection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of all matching elements.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 need to loop through it for multiple elements.</a:t>
            </a:r>
            <a:endParaRPr sz="21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getElementsByClassName()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8" name="Google Shape;178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4"/>
          <p:cNvSpPr txBox="1"/>
          <p:nvPr/>
        </p:nvSpPr>
        <p:spPr>
          <a:xfrm>
            <a:off x="361775" y="1092865"/>
            <a:ext cx="12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1" name="Google Shape;181;p24" title="carbon - 2025-07-09T173255.127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0600" y="1092875"/>
            <a:ext cx="6362000" cy="147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4" title="carbon - 2025-07-09T173143.619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0600" y="2963975"/>
            <a:ext cx="6361999" cy="164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2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22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getElementById()vs getElementsByClassName()</a:t>
            </a:r>
            <a:endParaRPr b="1" sz="222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8" name="Google Shape;188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90" name="Google Shape;190;p25"/>
          <p:cNvGraphicFramePr/>
          <p:nvPr/>
        </p:nvGraphicFramePr>
        <p:xfrm>
          <a:off x="1761350" y="109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{8CA3A322-76E5-4CDF-921F-A573ACAD3A6B}</a:tableStyleId>
              </a:tblPr>
              <a:tblGrid>
                <a:gridCol w="1225025"/>
                <a:gridCol w="1482025"/>
                <a:gridCol w="2559650"/>
              </a:tblGrid>
              <a:tr h="581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Aspect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getElementById()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getElementsByClassName()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6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Single element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Multiple elements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6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Based 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6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Return type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Element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HTMLCollection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6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Live update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40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Speed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Slightly slower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6" name="Google Shape;196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 txBox="1"/>
          <p:nvPr/>
        </p:nvSpPr>
        <p:spPr>
          <a:xfrm>
            <a:off x="310900" y="1228825"/>
            <a:ext cx="816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Which method is the most direct way to select a single HTML element that has a 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unique ID?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querySelector()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b) getElementsByClassName()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c) getElementById()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d) querySelectorAll()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9" name="Google Shape;199;p2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6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getElementById()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2" name="Google Shape;202;p26"/>
          <p:cNvGrpSpPr/>
          <p:nvPr/>
        </p:nvGrpSpPr>
        <p:grpSpPr>
          <a:xfrm>
            <a:off x="310900" y="3959263"/>
            <a:ext cx="6005825" cy="548713"/>
            <a:chOff x="310900" y="3959263"/>
            <a:chExt cx="6005825" cy="548713"/>
          </a:xfrm>
        </p:grpSpPr>
        <p:sp>
          <p:nvSpPr>
            <p:cNvPr id="203" name="Google Shape;203;p26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04" name="Google Shape;204;p26"/>
            <p:cNvSpPr txBox="1"/>
            <p:nvPr/>
          </p:nvSpPr>
          <p:spPr>
            <a:xfrm>
              <a:off x="1607925" y="3959275"/>
              <a:ext cx="4708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getElementById()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is specifically optimized to find a single element by its unique ID, making it very fast and direct.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0" name="Google Shape;210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JavaScript.info 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covers core JavaScript concepts in depth.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https://javascript.info/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8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218" name="Google Shape;218;p28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8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220" name="Google Shape;220;p28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221" name="Google Shape;221;p28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222" name="Google Shape;222;p28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3" name="Google Shape;223;p28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224" name="Google Shape;224;p28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8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8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28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