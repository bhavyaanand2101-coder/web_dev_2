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Roboto Slab"/>
      <p:regular r:id="rId17"/>
      <p:bold r:id="rId18"/>
    </p:embeddedFont>
    <p:embeddedFont>
      <p:font typeface="Poppins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bold.fntdata"/><Relationship Id="rId11" Type="http://schemas.openxmlformats.org/officeDocument/2006/relationships/slide" Target="slides/slide6.xml"/><Relationship Id="rId22" Type="http://schemas.openxmlformats.org/officeDocument/2006/relationships/font" Target="fonts/Poppins-boldItalic.fntdata"/><Relationship Id="rId10" Type="http://schemas.openxmlformats.org/officeDocument/2006/relationships/slide" Target="slides/slide5.xml"/><Relationship Id="rId21" Type="http://schemas.openxmlformats.org/officeDocument/2006/relationships/font" Target="fonts/Poppins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Slab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Poppins-regular.fntdata"/><Relationship Id="rId6" Type="http://schemas.openxmlformats.org/officeDocument/2006/relationships/slide" Target="slides/slide1.xml"/><Relationship Id="rId18" Type="http://schemas.openxmlformats.org/officeDocument/2006/relationships/font" Target="fonts/RobotoSlab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da1a6ed609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da1a6ed609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da1a6ed609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da1a6ed609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da1a6ed60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da1a6ed60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da1a6ed609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da1a6ed609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da1a6ed609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da1a6ed609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da1a6ed609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da1a6ed609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da1a6ed609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da1a6ed609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da1a6ed609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da1a6ed609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da1a6ed609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da1a6ed609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da1a6ed609_0_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da1a6ed609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da1a6ed609_0_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da1a6ed609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14.png"/><Relationship Id="rId6" Type="http://schemas.openxmlformats.org/officeDocument/2006/relationships/image" Target="../media/image5.png"/><Relationship Id="rId7" Type="http://schemas.openxmlformats.org/officeDocument/2006/relationships/image" Target="../media/image17.png"/><Relationship Id="rId8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hyperlink" Target="https://developer.mozilla.org/en-US/docs/Web/JavaScript" TargetMode="External"/><Relationship Id="rId5" Type="http://schemas.openxmlformats.org/officeDocument/2006/relationships/hyperlink" Target="https://www.w3schools.com/js/" TargetMode="External"/><Relationship Id="rId6" Type="http://schemas.openxmlformats.org/officeDocument/2006/relationships/hyperlink" Target="https://react.dev/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14.png"/><Relationship Id="rId6" Type="http://schemas.openxmlformats.org/officeDocument/2006/relationships/image" Target="../media/image5.png"/><Relationship Id="rId7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subtle-prism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50">
            <a:off x="-395563" y="395600"/>
            <a:ext cx="5157175" cy="4365975"/>
          </a:xfrm>
          <a:prstGeom prst="flowChartManualInput">
            <a:avLst/>
          </a:prstGeom>
          <a:noFill/>
          <a:ln>
            <a:noFill/>
          </a:ln>
        </p:spPr>
      </p:pic>
      <p:pic>
        <p:nvPicPr>
          <p:cNvPr id="55" name="Google Shape;55;p13" title="KRMU_Full_heading_Logo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06125" y="452500"/>
            <a:ext cx="5337876" cy="136305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4405600" y="2017650"/>
            <a:ext cx="4583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173034"/>
                </a:solidFill>
              </a:rPr>
              <a:t>Course - Web Development - II </a:t>
            </a:r>
            <a:endParaRPr b="1" sz="2400">
              <a:solidFill>
                <a:srgbClr val="173034"/>
              </a:solidFill>
            </a:endParaRPr>
          </a:p>
        </p:txBody>
      </p:sp>
      <p:grpSp>
        <p:nvGrpSpPr>
          <p:cNvPr id="57" name="Google Shape;57;p13"/>
          <p:cNvGrpSpPr/>
          <p:nvPr/>
        </p:nvGrpSpPr>
        <p:grpSpPr>
          <a:xfrm>
            <a:off x="4572000" y="4882896"/>
            <a:ext cx="1607600" cy="292500"/>
            <a:chOff x="5060775" y="4881413"/>
            <a:chExt cx="1607600" cy="292500"/>
          </a:xfrm>
        </p:grpSpPr>
        <p:sp>
          <p:nvSpPr>
            <p:cNvPr id="58" name="Google Shape;58;p13"/>
            <p:cNvSpPr txBox="1"/>
            <p:nvPr/>
          </p:nvSpPr>
          <p:spPr>
            <a:xfrm>
              <a:off x="5165675" y="4881413"/>
              <a:ext cx="15027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000000"/>
                  </a:solidFill>
                </a:rPr>
                <a:t>welcome@krmangalam.edu.in</a:t>
              </a:r>
              <a:endParaRPr sz="900">
                <a:solidFill>
                  <a:srgbClr val="000000"/>
                </a:solidFill>
              </a:endParaRPr>
            </a:p>
          </p:txBody>
        </p:sp>
        <p:pic>
          <p:nvPicPr>
            <p:cNvPr id="59" name="Google Shape;59;p13" title="email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060775" y="4966738"/>
              <a:ext cx="137160" cy="13716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0" name="Google Shape;60;p13"/>
          <p:cNvGrpSpPr/>
          <p:nvPr/>
        </p:nvGrpSpPr>
        <p:grpSpPr>
          <a:xfrm>
            <a:off x="7229300" y="4881425"/>
            <a:ext cx="1926000" cy="292500"/>
            <a:chOff x="7229300" y="4881425"/>
            <a:chExt cx="1926000" cy="292500"/>
          </a:xfrm>
        </p:grpSpPr>
        <p:sp>
          <p:nvSpPr>
            <p:cNvPr id="61" name="Google Shape;61;p13"/>
            <p:cNvSpPr txBox="1"/>
            <p:nvPr/>
          </p:nvSpPr>
          <p:spPr>
            <a:xfrm>
              <a:off x="7326500" y="4881425"/>
              <a:ext cx="18288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212121"/>
                  </a:solidFill>
                </a:rPr>
                <a:t>Sohna Road,Gurugram,Haryana 122103</a:t>
              </a:r>
              <a:endParaRPr sz="700">
                <a:solidFill>
                  <a:srgbClr val="212121"/>
                </a:solidFill>
              </a:endParaRPr>
            </a:p>
          </p:txBody>
        </p:sp>
        <p:pic>
          <p:nvPicPr>
            <p:cNvPr id="62" name="Google Shape;62;p13" title="location.png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7229300" y="4965192"/>
              <a:ext cx="137160" cy="13716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63" name="Google Shape;63;p13" title="Untitled (2).png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42538" y="2662400"/>
            <a:ext cx="3309826" cy="2000826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3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65" name="Google Shape;65;p13"/>
          <p:cNvGrpSpPr/>
          <p:nvPr/>
        </p:nvGrpSpPr>
        <p:grpSpPr>
          <a:xfrm>
            <a:off x="309849" y="1233369"/>
            <a:ext cx="3415942" cy="2387863"/>
            <a:chOff x="788865" y="1515488"/>
            <a:chExt cx="4594407" cy="2387863"/>
          </a:xfrm>
        </p:grpSpPr>
        <p:sp>
          <p:nvSpPr>
            <p:cNvPr id="66" name="Google Shape;66;p13"/>
            <p:cNvSpPr txBox="1"/>
            <p:nvPr/>
          </p:nvSpPr>
          <p:spPr>
            <a:xfrm>
              <a:off x="788865" y="1515488"/>
              <a:ext cx="3197700" cy="60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70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Lecture 25</a:t>
              </a:r>
              <a:r>
                <a:rPr lang="en" sz="2700">
                  <a:solidFill>
                    <a:srgbClr val="FFFFFF"/>
                  </a:solidFill>
                </a:rPr>
                <a:t>:</a:t>
              </a:r>
              <a:endParaRPr sz="22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67" name="Google Shape;67;p13"/>
            <p:cNvSpPr txBox="1"/>
            <p:nvPr/>
          </p:nvSpPr>
          <p:spPr>
            <a:xfrm>
              <a:off x="788875" y="3475300"/>
              <a:ext cx="6990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-By</a:t>
              </a:r>
              <a:endParaRPr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8" name="Google Shape;68;p13"/>
            <p:cNvSpPr txBox="1"/>
            <p:nvPr/>
          </p:nvSpPr>
          <p:spPr>
            <a:xfrm>
              <a:off x="790272" y="2145213"/>
              <a:ext cx="4593000" cy="92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24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Life Cycle Methods</a:t>
              </a:r>
              <a:endParaRPr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9" name="Google Shape;69;p13"/>
            <p:cNvSpPr txBox="1"/>
            <p:nvPr/>
          </p:nvSpPr>
          <p:spPr>
            <a:xfrm>
              <a:off x="1330896" y="3491750"/>
              <a:ext cx="3313200" cy="41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Instructor Name</a:t>
              </a:r>
              <a:endParaRPr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pic>
        <p:nvPicPr>
          <p:cNvPr id="70" name="Google Shape;70;p13" title="png-transparent-js-react-js-logo-react-react-native-logos-icon-removebg-preview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033272" y="3666744"/>
            <a:ext cx="521207" cy="5212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4"/>
          <p:cNvSpPr txBox="1"/>
          <p:nvPr/>
        </p:nvSpPr>
        <p:spPr>
          <a:xfrm>
            <a:off x="311700" y="213250"/>
            <a:ext cx="7470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8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 sz="28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Table of Contents</a:t>
            </a:r>
            <a:endParaRPr b="1" sz="28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6" name="Google Shape;76;p14"/>
          <p:cNvSpPr txBox="1"/>
          <p:nvPr/>
        </p:nvSpPr>
        <p:spPr>
          <a:xfrm>
            <a:off x="311700" y="86355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73239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 sz="1800">
                <a:solidFill>
                  <a:srgbClr val="273239"/>
                </a:solidFill>
              </a:rPr>
              <a:t>Life cycle methods</a:t>
            </a:r>
            <a:endParaRPr sz="1800">
              <a:solidFill>
                <a:srgbClr val="273239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 sz="1800">
                <a:solidFill>
                  <a:srgbClr val="273239"/>
                </a:solidFill>
              </a:rPr>
              <a:t>Mounting</a:t>
            </a:r>
            <a:endParaRPr sz="1800">
              <a:solidFill>
                <a:srgbClr val="273239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 sz="1800">
                <a:solidFill>
                  <a:srgbClr val="273239"/>
                </a:solidFill>
              </a:rPr>
              <a:t>Updating</a:t>
            </a:r>
            <a:endParaRPr sz="1800">
              <a:solidFill>
                <a:srgbClr val="273239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 sz="1800">
                <a:solidFill>
                  <a:srgbClr val="273239"/>
                </a:solidFill>
              </a:rPr>
              <a:t>Unmounting</a:t>
            </a:r>
            <a:endParaRPr sz="1800">
              <a:solidFill>
                <a:srgbClr val="273239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 sz="1800">
                <a:solidFill>
                  <a:srgbClr val="273239"/>
                </a:solidFill>
              </a:rPr>
              <a:t>References.</a:t>
            </a:r>
            <a:endParaRPr sz="1800">
              <a:solidFill>
                <a:srgbClr val="273239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 sz="1800">
                <a:solidFill>
                  <a:srgbClr val="273239"/>
                </a:solidFill>
              </a:rPr>
              <a:t>The End.</a:t>
            </a:r>
            <a:endParaRPr sz="1800">
              <a:solidFill>
                <a:srgbClr val="273239"/>
              </a:solidFill>
            </a:endParaRPr>
          </a:p>
        </p:txBody>
      </p:sp>
      <p:pic>
        <p:nvPicPr>
          <p:cNvPr id="77" name="Google Shape;77;p14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4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/>
        </p:nvSpPr>
        <p:spPr>
          <a:xfrm>
            <a:off x="311700" y="213250"/>
            <a:ext cx="7470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8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 sz="23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Life Cycle Methods - Class Components</a:t>
            </a:r>
            <a:endParaRPr b="1" sz="23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4" name="Google Shape;84;p15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5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86" name="Google Shape;86;p15"/>
          <p:cNvSpPr txBox="1"/>
          <p:nvPr/>
        </p:nvSpPr>
        <p:spPr>
          <a:xfrm>
            <a:off x="311700" y="1274075"/>
            <a:ext cx="7545600" cy="20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 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React Class Components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Lifecycle Methods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are functions that run at different stages of a component’s life.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React lifecycle has </a:t>
            </a:r>
            <a:r>
              <a:rPr b="1" lang="en" sz="1100">
                <a:solidFill>
                  <a:schemeClr val="dk1"/>
                </a:solidFill>
              </a:rPr>
              <a:t>three phases</a:t>
            </a:r>
            <a:r>
              <a:rPr lang="en" sz="1100">
                <a:solidFill>
                  <a:schemeClr val="dk1"/>
                </a:solidFill>
              </a:rPr>
              <a:t>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Mounting (Component is created and added to DOM)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Updating (When state or props change)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Unmounting (Component removed from DOM)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6"/>
          <p:cNvSpPr txBox="1"/>
          <p:nvPr/>
        </p:nvSpPr>
        <p:spPr>
          <a:xfrm>
            <a:off x="311700" y="213250"/>
            <a:ext cx="7470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8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 sz="23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Life Cycle Method - Mounting</a:t>
            </a:r>
            <a:endParaRPr b="1" sz="23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2" name="Google Shape;92;p16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6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94" name="Google Shape;94;p16"/>
          <p:cNvSpPr txBox="1"/>
          <p:nvPr/>
        </p:nvSpPr>
        <p:spPr>
          <a:xfrm>
            <a:off x="311700" y="1274075"/>
            <a:ext cx="75456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constructor()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→ used to initialize state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render()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→ returns JSX (UI)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componentDidMount()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→ runs after the component is displayed (used for API calls)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5" name="Google Shape;95;p16" title="carbon (27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78225" y="2135975"/>
            <a:ext cx="3578674" cy="278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7"/>
          <p:cNvSpPr txBox="1"/>
          <p:nvPr/>
        </p:nvSpPr>
        <p:spPr>
          <a:xfrm>
            <a:off x="311700" y="213250"/>
            <a:ext cx="7470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8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 sz="23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Life Cycle Method - Updating</a:t>
            </a:r>
            <a:endParaRPr b="1" sz="23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01" name="Google Shape;101;p17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7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03" name="Google Shape;103;p17"/>
          <p:cNvSpPr txBox="1"/>
          <p:nvPr/>
        </p:nvSpPr>
        <p:spPr>
          <a:xfrm>
            <a:off x="311700" y="1274075"/>
            <a:ext cx="7545600" cy="6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shouldComponentUpdate()</a:t>
            </a:r>
            <a:r>
              <a:rPr lang="en" sz="1100">
                <a:solidFill>
                  <a:schemeClr val="dk1"/>
                </a:solidFill>
              </a:rPr>
              <a:t> → decides whether to re-render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componentDidUpdate()</a:t>
            </a:r>
            <a:r>
              <a:rPr lang="en" sz="1100">
                <a:solidFill>
                  <a:schemeClr val="dk1"/>
                </a:solidFill>
              </a:rPr>
              <a:t> → runs after the update</a:t>
            </a:r>
            <a:endParaRPr b="1"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04" name="Google Shape;104;p17" title="carbon (28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4000" y="1929375"/>
            <a:ext cx="4014602" cy="2852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7" title="carbon (29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51000" y="1929375"/>
            <a:ext cx="4120698" cy="2852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8"/>
          <p:cNvSpPr txBox="1"/>
          <p:nvPr/>
        </p:nvSpPr>
        <p:spPr>
          <a:xfrm>
            <a:off x="311700" y="213250"/>
            <a:ext cx="7470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8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 sz="23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Life Cycle Method - Updating</a:t>
            </a:r>
            <a:endParaRPr b="1" sz="23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11" name="Google Shape;111;p18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8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13" name="Google Shape;113;p18"/>
          <p:cNvSpPr txBox="1"/>
          <p:nvPr/>
        </p:nvSpPr>
        <p:spPr>
          <a:xfrm>
            <a:off x="311700" y="1460075"/>
            <a:ext cx="7545600" cy="18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How it works</a:t>
            </a:r>
            <a:endParaRPr b="1" i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Click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Increase button</a:t>
            </a:r>
            <a:endParaRPr b="1"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" sz="1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setState()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changes the state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shouldComponentUpdate()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runs → decides if component should re-render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render()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runs again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componentDidUpdate()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runs after the UI updates</a:t>
            </a:r>
            <a:endParaRPr sz="12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9"/>
          <p:cNvSpPr txBox="1"/>
          <p:nvPr/>
        </p:nvSpPr>
        <p:spPr>
          <a:xfrm>
            <a:off x="311700" y="213250"/>
            <a:ext cx="7470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8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 sz="23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Life Cycle Method - Unmounting</a:t>
            </a:r>
            <a:endParaRPr b="1" sz="23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19" name="Google Shape;119;p19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9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21" name="Google Shape;121;p19"/>
          <p:cNvSpPr txBox="1"/>
          <p:nvPr/>
        </p:nvSpPr>
        <p:spPr>
          <a:xfrm>
            <a:off x="311700" y="1460075"/>
            <a:ext cx="75456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componentWillUnmount()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→ used to clear timers, remove events, etc. code example.</a:t>
            </a:r>
            <a:endParaRPr sz="12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22" name="Google Shape;122;p19" title="carbon (30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2183375"/>
            <a:ext cx="3898884" cy="2655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9" title="carbon (31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90725" y="2183375"/>
            <a:ext cx="3822250" cy="2655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0"/>
          <p:cNvSpPr txBox="1"/>
          <p:nvPr/>
        </p:nvSpPr>
        <p:spPr>
          <a:xfrm>
            <a:off x="311700" y="213250"/>
            <a:ext cx="7470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8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 sz="23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Life Cycle Method - Unmounting</a:t>
            </a:r>
            <a:endParaRPr b="1" sz="23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29" name="Google Shape;129;p20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0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31" name="Google Shape;131;p20"/>
          <p:cNvSpPr txBox="1"/>
          <p:nvPr/>
        </p:nvSpPr>
        <p:spPr>
          <a:xfrm>
            <a:off x="311700" y="1352725"/>
            <a:ext cx="5988000" cy="15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How it works</a:t>
            </a:r>
            <a:endParaRPr b="1" i="1"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componentDidMount() → starts a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timer</a:t>
            </a:r>
            <a:endParaRPr b="1"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Timer increases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count every second</a:t>
            </a:r>
            <a:endParaRPr b="1"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When the component is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removed from the DOM</a:t>
            </a:r>
            <a:endParaRPr b="1"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componentWillUnmount() runs →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clears the timer</a:t>
            </a:r>
            <a:endParaRPr sz="1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1"/>
          <p:cNvSpPr txBox="1"/>
          <p:nvPr/>
        </p:nvSpPr>
        <p:spPr>
          <a:xfrm>
            <a:off x="311700" y="213250"/>
            <a:ext cx="7470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8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 sz="23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Drawbacks of Class Components in React</a:t>
            </a:r>
            <a:endParaRPr b="1" sz="23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37" name="Google Shape;137;p21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1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39" name="Google Shape;139;p21"/>
          <p:cNvSpPr txBox="1"/>
          <p:nvPr/>
        </p:nvSpPr>
        <p:spPr>
          <a:xfrm>
            <a:off x="311700" y="1352725"/>
            <a:ext cx="8460000" cy="30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b="1" i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Complex Syntax</a:t>
            </a:r>
            <a:br>
              <a:rPr b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11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Class components use class, constructor, this, and render(), which makes them harder to read and write.</a:t>
            </a:r>
            <a:endParaRPr sz="11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b="1" i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Use of this Keyword</a:t>
            </a:r>
            <a:br>
              <a:rPr b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" sz="11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Developers must use this.state, this.props, and bind methods, which can be confusing.</a:t>
            </a:r>
            <a:endParaRPr sz="11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b="1" i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More Boilerplate Code</a:t>
            </a:r>
            <a:br>
              <a:rPr b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11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They require more code compared to functional components.</a:t>
            </a:r>
            <a:endParaRPr sz="11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b="1" i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Hard to Reuse Logic</a:t>
            </a:r>
            <a:br>
              <a:rPr b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11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Logic sharing between components is difficult compared to </a:t>
            </a:r>
            <a:r>
              <a:rPr b="1" lang="en" sz="11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Hooks</a:t>
            </a:r>
            <a:r>
              <a:rPr lang="en" sz="11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11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b="1" i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Lifecycle Methods Replaced by Hooks</a:t>
            </a:r>
            <a:br>
              <a:rPr b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11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In modern React, lifecycle methods like </a:t>
            </a:r>
            <a:r>
              <a:rPr b="1" lang="en" sz="11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componentDidMount</a:t>
            </a:r>
            <a:r>
              <a:rPr lang="en" sz="11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b="1" lang="en" sz="11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componentDidUpdate</a:t>
            </a:r>
            <a:r>
              <a:rPr lang="en" sz="11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, and </a:t>
            </a:r>
            <a:r>
              <a:rPr b="1" lang="en" sz="11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componentWillUnmount</a:t>
            </a:r>
            <a:r>
              <a:rPr lang="en" sz="11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can be handled using the </a:t>
            </a:r>
            <a:r>
              <a:rPr b="1" lang="en" sz="11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useEffect hook</a:t>
            </a:r>
            <a:r>
              <a:rPr lang="en" sz="11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in functional components.</a:t>
            </a:r>
            <a:endParaRPr b="1" i="1" sz="13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/>
          <p:nvPr/>
        </p:nvSpPr>
        <p:spPr>
          <a:xfrm>
            <a:off x="310896" y="210312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 sz="2800">
                <a:solidFill>
                  <a:srgbClr val="000000"/>
                </a:solidFill>
              </a:rPr>
              <a:t>  </a:t>
            </a:r>
            <a:r>
              <a:rPr b="1" lang="en" sz="28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References</a:t>
            </a:r>
            <a:endParaRPr b="1" sz="28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45" name="Google Shape;145;p22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2"/>
          <p:cNvSpPr txBox="1"/>
          <p:nvPr/>
        </p:nvSpPr>
        <p:spPr>
          <a:xfrm>
            <a:off x="358850" y="1181200"/>
            <a:ext cx="8520600" cy="34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MDN Web Docs</a:t>
            </a:r>
            <a:r>
              <a:rPr b="1" lang="en" sz="1100">
                <a:solidFill>
                  <a:srgbClr val="000000"/>
                </a:solidFill>
              </a:rPr>
              <a:t> : </a:t>
            </a:r>
            <a:r>
              <a:rPr i="1" lang="en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Comprehensive and official documentation for JS.</a:t>
            </a:r>
            <a:br>
              <a:rPr i="1" lang="en" sz="1100">
                <a:solidFill>
                  <a:srgbClr val="000000"/>
                </a:solidFill>
              </a:rPr>
            </a:br>
            <a:r>
              <a:rPr lang="en" sz="1100">
                <a:solidFill>
                  <a:srgbClr val="000000"/>
                </a:solidFill>
              </a:rPr>
              <a:t> 🔗</a:t>
            </a:r>
            <a:r>
              <a:rPr lang="en" sz="1100" u="sng">
                <a:solidFill>
                  <a:srgbClr val="0097A7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https://developer.mozilla.org/en-US/docs/Web/JavaScript</a:t>
            </a:r>
            <a:endParaRPr sz="1100" u="sng">
              <a:solidFill>
                <a:srgbClr val="0097A7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 u="sng">
              <a:solidFill>
                <a:srgbClr val="0097A7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 u="sng">
              <a:solidFill>
                <a:srgbClr val="0097A7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 u="sng">
              <a:solidFill>
                <a:srgbClr val="0097A7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1" lang="en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W3Schools – JS Tutorial : </a:t>
            </a:r>
            <a:r>
              <a:rPr i="1" lang="en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Beginner-friendly JS tutorials with examples and interactive editors.</a:t>
            </a:r>
            <a:br>
              <a:rPr i="1" lang="en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1100">
                <a:solidFill>
                  <a:srgbClr val="000000"/>
                </a:solidFill>
              </a:rPr>
              <a:t> 🔗</a:t>
            </a:r>
            <a:r>
              <a:rPr lang="en" sz="1100" u="sng">
                <a:solidFill>
                  <a:srgbClr val="0097A7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https://www.w3schools.com/js/</a:t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1" lang="en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react.dev -</a:t>
            </a:r>
            <a:r>
              <a:rPr b="1" i="1" lang="en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i="1" lang="en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 comprehensive, tutorial-style website that deeply explores core React concepts, including components, state, effects, and hooks, through interactive examples and in-depth explanations.</a:t>
            </a:r>
            <a:endParaRPr i="1" sz="11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</a:rPr>
              <a:t>🔗</a:t>
            </a:r>
            <a:r>
              <a:rPr lang="en" sz="1100" u="sng">
                <a:solidFill>
                  <a:srgbClr val="0097A7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https://react.dev/</a:t>
            </a:r>
            <a:endParaRPr i="1" sz="11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7" name="Google Shape;147;p22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23" title="subtle-prism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50">
            <a:off x="-395563" y="395600"/>
            <a:ext cx="5157175" cy="4365975"/>
          </a:xfrm>
          <a:prstGeom prst="flowChartManualInput">
            <a:avLst/>
          </a:prstGeom>
          <a:noFill/>
          <a:ln>
            <a:noFill/>
          </a:ln>
        </p:spPr>
      </p:pic>
      <p:pic>
        <p:nvPicPr>
          <p:cNvPr id="153" name="Google Shape;153;p23" title="KRMU_Full_heading_Logo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06125" y="452500"/>
            <a:ext cx="5337876" cy="136305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3"/>
          <p:cNvSpPr txBox="1"/>
          <p:nvPr/>
        </p:nvSpPr>
        <p:spPr>
          <a:xfrm>
            <a:off x="4407400" y="2020825"/>
            <a:ext cx="4636200" cy="5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173034"/>
                </a:solidFill>
              </a:rPr>
              <a:t>Course - Web Development - II</a:t>
            </a:r>
            <a:endParaRPr b="1" sz="2400">
              <a:solidFill>
                <a:srgbClr val="173034"/>
              </a:solidFill>
            </a:endParaRPr>
          </a:p>
        </p:txBody>
      </p:sp>
      <p:grpSp>
        <p:nvGrpSpPr>
          <p:cNvPr id="155" name="Google Shape;155;p23"/>
          <p:cNvGrpSpPr/>
          <p:nvPr/>
        </p:nvGrpSpPr>
        <p:grpSpPr>
          <a:xfrm>
            <a:off x="4572000" y="4881413"/>
            <a:ext cx="1607600" cy="292500"/>
            <a:chOff x="5060775" y="4881413"/>
            <a:chExt cx="1607600" cy="292500"/>
          </a:xfrm>
        </p:grpSpPr>
        <p:sp>
          <p:nvSpPr>
            <p:cNvPr id="156" name="Google Shape;156;p23"/>
            <p:cNvSpPr txBox="1"/>
            <p:nvPr/>
          </p:nvSpPr>
          <p:spPr>
            <a:xfrm>
              <a:off x="5165675" y="4881413"/>
              <a:ext cx="15027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000000"/>
                  </a:solidFill>
                </a:rPr>
                <a:t>welcome@krmangalam.edu.in</a:t>
              </a:r>
              <a:endParaRPr sz="900">
                <a:solidFill>
                  <a:srgbClr val="000000"/>
                </a:solidFill>
              </a:endParaRPr>
            </a:p>
          </p:txBody>
        </p:sp>
        <p:pic>
          <p:nvPicPr>
            <p:cNvPr id="157" name="Google Shape;157;p23" title="email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060775" y="4966738"/>
              <a:ext cx="137160" cy="13716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8" name="Google Shape;158;p23"/>
          <p:cNvSpPr txBox="1"/>
          <p:nvPr/>
        </p:nvSpPr>
        <p:spPr>
          <a:xfrm>
            <a:off x="7326500" y="4881425"/>
            <a:ext cx="2340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212121"/>
                </a:solidFill>
              </a:rPr>
              <a:t>Sohna Road,Gurugram,Haryana 122103</a:t>
            </a:r>
            <a:endParaRPr sz="700">
              <a:solidFill>
                <a:srgbClr val="212121"/>
              </a:solidFill>
            </a:endParaRPr>
          </a:p>
        </p:txBody>
      </p:sp>
      <p:pic>
        <p:nvPicPr>
          <p:cNvPr id="159" name="Google Shape;159;p23" title="location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29300" y="4959088"/>
            <a:ext cx="137160" cy="13716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3"/>
          <p:cNvSpPr txBox="1"/>
          <p:nvPr/>
        </p:nvSpPr>
        <p:spPr>
          <a:xfrm>
            <a:off x="8494883" y="464826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61" name="Google Shape;161;p23"/>
          <p:cNvSpPr txBox="1"/>
          <p:nvPr/>
        </p:nvSpPr>
        <p:spPr>
          <a:xfrm>
            <a:off x="1033275" y="1691650"/>
            <a:ext cx="23130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Thanks</a:t>
            </a:r>
            <a:endParaRPr sz="34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For</a:t>
            </a:r>
            <a:endParaRPr sz="34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Watching</a:t>
            </a:r>
            <a:endParaRPr sz="34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62" name="Google Shape;162;p23" title="Untitled (2).png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38344" y="2660904"/>
            <a:ext cx="3309826" cy="2000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