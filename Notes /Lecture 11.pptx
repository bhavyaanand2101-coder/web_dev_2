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Roboto Slab"/>
      <p:regular r:id="rId40"/>
      <p:bold r:id="rId41"/>
    </p:embeddedFont>
    <p:embeddedFont>
      <p:font typeface="Poppins"/>
      <p:regular r:id="rId42"/>
      <p:bold r:id="rId43"/>
      <p:italic r:id="rId44"/>
      <p:boldItalic r:id="rId45"/>
    </p:embeddedFont>
    <p:embeddedFont>
      <p:font typeface="Roboto Mon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lab-regular.fntdata"/><Relationship Id="rId42" Type="http://schemas.openxmlformats.org/officeDocument/2006/relationships/font" Target="fonts/Poppins-regular.fntdata"/><Relationship Id="rId41" Type="http://schemas.openxmlformats.org/officeDocument/2006/relationships/font" Target="fonts/RobotoSlab-bold.fntdata"/><Relationship Id="rId44" Type="http://schemas.openxmlformats.org/officeDocument/2006/relationships/font" Target="fonts/Poppins-italic.fntdata"/><Relationship Id="rId43" Type="http://schemas.openxmlformats.org/officeDocument/2006/relationships/font" Target="fonts/Poppins-bold.fntdata"/><Relationship Id="rId46" Type="http://schemas.openxmlformats.org/officeDocument/2006/relationships/font" Target="fonts/RobotoMono-regular.fntdata"/><Relationship Id="rId45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italic.fntdata"/><Relationship Id="rId47" Type="http://schemas.openxmlformats.org/officeDocument/2006/relationships/font" Target="fonts/RobotoMono-bold.fntdata"/><Relationship Id="rId49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56ac09f6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56ac09f6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56ac09f6a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56ac09f6a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56ac09f6a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56ac09f6a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56ac09f6a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56ac09f6a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56ac09f6a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56ac09f6a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56ac09f6a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56ac09f6a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56ac09f6a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56ac09f6a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56ac09f6a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56ac09f6a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56ac09f6a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56ac09f6a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56ac09f6a_2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56ac09f6a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56ac09f6a_2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56ac09f6a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56ac09f6a_2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56ac09f6a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56ac09f6a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56ac09f6a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56ac09f6a_2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56ac09f6a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56ac09f6a_2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56ac09f6a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56ac09f6a_2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56ac09f6a_2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56ac09f6a_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56ac09f6a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56ac09f6a_2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56ac09f6a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56ac09f6a_2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56ac09f6a_2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56ac09f6a_2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56ac09f6a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56ac09f6a_2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56ac09f6a_2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56ac09f6a_2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b56ac09f6a_2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56ac09f6a_2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b56ac09f6a_2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56ac09f6a_2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b56ac09f6a_2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56ac09f6a_2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b56ac09f6a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56ac09f6a_2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b56ac09f6a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56ac09f6a_2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56ac09f6a_2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56ac09f6a_2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b56ac09f6a_2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56ac09f6a_2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56ac09f6a_2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56ac09f6a_2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b56ac09f6a_2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56ac09f6a_2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b56ac09f6a_2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56ac09f6a_2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b56ac09f6a_2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56ac09f6a_2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b56ac09f6a_2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56ac09f6a_2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b56ac09f6a_2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34.jp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hyperlink" Target="http://drive.google.com/file/d/1dadx-X-bD60fZnO6aVebpKk2-cTZ3J0e/view" TargetMode="External"/><Relationship Id="rId7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hyperlink" Target="http://drive.google.com/file/d/1MbQMbPlep3O4nss7e3n-tWIBuGh_E51N/view" TargetMode="External"/><Relationship Id="rId6" Type="http://schemas.openxmlformats.org/officeDocument/2006/relationships/image" Target="../media/image2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4.png"/><Relationship Id="rId5" Type="http://schemas.openxmlformats.org/officeDocument/2006/relationships/hyperlink" Target="http://drive.google.com/file/d/1AStwArMIYoALs3kGolwmUkXu6Q8-9AXp/view" TargetMode="External"/><Relationship Id="rId6" Type="http://schemas.openxmlformats.org/officeDocument/2006/relationships/image" Target="../media/image2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8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hyperlink" Target="http://drive.google.com/file/d/1AStwArMIYoALs3kGolwmUkXu6Q8-9AXp/view" TargetMode="External"/><Relationship Id="rId6" Type="http://schemas.openxmlformats.org/officeDocument/2006/relationships/image" Target="../media/image2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5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025550" y="3229650"/>
            <a:ext cx="313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158450" y="3156475"/>
            <a:ext cx="313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By :</a:t>
            </a:r>
            <a:endParaRPr sz="18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276750" y="2017650"/>
            <a:ext cx="462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9" name="Google Shape;59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0" name="Google Shape;60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11</a:t>
              </a:r>
              <a:r>
                <a:rPr b="1" lang="en" sz="27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700">
                  <a:solidFill>
                    <a:srgbClr val="FFFFFF"/>
                  </a:solidFill>
                </a:rPr>
                <a:t>:</a:t>
              </a:r>
              <a:endParaRPr sz="2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1" name="Google Shape;61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790272" y="2145213"/>
              <a:ext cx="4593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Callbacks</a:t>
              </a:r>
              <a:endParaRPr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" name="Google Shape;63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4" name="Google Shape;64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65" name="Google Shape;65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66" name="Google Shape;66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" name="Google Shape;67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8" name="Google Shape;68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12121"/>
                  </a:solidFill>
                </a:rPr>
                <a:t>Sohna Road,Gurugram,Haryana 122103</a:t>
              </a:r>
              <a:endParaRPr sz="700">
                <a:solidFill>
                  <a:srgbClr val="212121"/>
                </a:solidFill>
              </a:endParaRPr>
            </a:p>
          </p:txBody>
        </p:sp>
        <p:pic>
          <p:nvPicPr>
            <p:cNvPr id="69" name="Google Shape;69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0" name="Google Shape;70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72" name="Google Shape;72;p13" title="javascript-logo-javascript-icon-transparent-free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8" cy="52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311700" y="1234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Call Stack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Callback 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Callback Hell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Handling Nested Callbacks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References.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The End.</a:t>
            </a:r>
            <a:endParaRPr sz="1800">
              <a:solidFill>
                <a:srgbClr val="273239"/>
              </a:solidFill>
            </a:endParaRPr>
          </a:p>
        </p:txBody>
      </p:sp>
      <p:pic>
        <p:nvPicPr>
          <p:cNvPr id="79" name="Google Shape;79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wondered how JavaScript knows which function to run first and which one to run later? when you call one function inside another?</a:t>
            </a:r>
            <a:endParaRPr b="1" sz="1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9" name="Google Shape;89;p15" title="Wo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1025" y="1586925"/>
            <a:ext cx="4061950" cy="32677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wondered how JavaScript knows which function to run first and which one to run later? when you call one function inside another?</a:t>
            </a:r>
            <a:endParaRPr b="1" sz="1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76075" y="1708150"/>
            <a:ext cx="4731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It’s all possible because of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Call Stack!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Call Stack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like JavaScript’s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memory notebook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📒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helps JavaScript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keep track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of what it’s doing right now and what to do next.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6000" y="1708151"/>
            <a:ext cx="2936450" cy="2683925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7320000" dist="571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 Stack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5" name="Google Shape;105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11700" y="1328300"/>
            <a:ext cx="4435200" cy="29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 Stack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mechanism in JavaScript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used to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keep track of function calls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—which function is currently being run, and which functions are waiting to run.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follows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LIFO (Last In, First Out)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—the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last function called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first one to finish.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750" y="1495438"/>
            <a:ext cx="2936450" cy="2683925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7320000" dist="571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 Stack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8547183" y="44635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311700" y="943275"/>
            <a:ext cx="442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Think of a Stack – Like a Stack of Plates 🍽️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311700" y="1655550"/>
            <a:ext cx="5137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Imagine this: 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You’re in a kitchen, and you're </a:t>
            </a:r>
            <a:r>
              <a:rPr b="1" lang="en">
                <a:latin typeface="Poppins"/>
                <a:ea typeface="Poppins"/>
                <a:cs typeface="Poppins"/>
                <a:sym typeface="Poppins"/>
              </a:rPr>
              <a:t>stacking plates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one on top of another.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2032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you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plate, you always put it on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top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32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you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take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plate, you also take it from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top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This is called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LIFO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Last In, First Out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last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plate you put is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first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one you take out.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3425" y="2295075"/>
            <a:ext cx="2513750" cy="207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 rot="3497129">
            <a:off x="6162301" y="1958887"/>
            <a:ext cx="789253" cy="47147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 rot="-828619">
            <a:off x="7360374" y="1817085"/>
            <a:ext cx="756572" cy="477314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 rot="-1356613">
            <a:off x="5793825" y="1804002"/>
            <a:ext cx="548562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18"/>
          <p:cNvSpPr txBox="1"/>
          <p:nvPr/>
        </p:nvSpPr>
        <p:spPr>
          <a:xfrm rot="-807237">
            <a:off x="8066772" y="1546867"/>
            <a:ext cx="816199" cy="2884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 Stack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" name="Google Shape;128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8328133" y="45285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311700" y="943275"/>
            <a:ext cx="442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Think of a Stack – Like a Stack of Plates 🍽️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311700" y="1886550"/>
            <a:ext cx="5051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Just like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 Stack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JavaScript: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function is called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it gets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pushed (added)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 top of the stack.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the function is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done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it gets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popped (removed)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from the top.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4446" y="2119550"/>
            <a:ext cx="2287430" cy="215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6263362" y="3293840"/>
            <a:ext cx="6183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975" lIns="112975" spcFirstLastPara="1" rIns="112975" wrap="square" tIns="11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2">
                <a:solidFill>
                  <a:schemeClr val="dk2"/>
                </a:solidFill>
              </a:rPr>
              <a:t>Fun 3</a:t>
            </a:r>
            <a:endParaRPr b="1" sz="1112">
              <a:solidFill>
                <a:schemeClr val="dk2"/>
              </a:solidFill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6263346" y="3543373"/>
            <a:ext cx="6183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975" lIns="112975" spcFirstLastPara="1" rIns="112975" wrap="square" tIns="11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2">
                <a:solidFill>
                  <a:schemeClr val="dk2"/>
                </a:solidFill>
              </a:rPr>
              <a:t>Fun 2</a:t>
            </a:r>
            <a:endParaRPr b="1" sz="1112">
              <a:solidFill>
                <a:schemeClr val="dk2"/>
              </a:solidFill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6263346" y="3772825"/>
            <a:ext cx="6183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975" lIns="112975" spcFirstLastPara="1" rIns="112975" wrap="square" tIns="11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2">
                <a:solidFill>
                  <a:schemeClr val="dk2"/>
                </a:solidFill>
              </a:rPr>
              <a:t>Fun 1</a:t>
            </a:r>
            <a:endParaRPr b="1" sz="1112">
              <a:solidFill>
                <a:schemeClr val="dk2"/>
              </a:solidFill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6263346" y="3051228"/>
            <a:ext cx="6183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975" lIns="112975" spcFirstLastPara="1" rIns="112975" wrap="square" tIns="11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2">
                <a:solidFill>
                  <a:schemeClr val="dk2"/>
                </a:solidFill>
              </a:rPr>
              <a:t>Fun 4</a:t>
            </a:r>
            <a:endParaRPr b="1" sz="1112">
              <a:solidFill>
                <a:schemeClr val="dk2"/>
              </a:solidFill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5075975" y="2270468"/>
            <a:ext cx="6183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975" lIns="112975" spcFirstLastPara="1" rIns="112975" wrap="square" tIns="11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2">
                <a:solidFill>
                  <a:schemeClr val="dk2"/>
                </a:solidFill>
              </a:rPr>
              <a:t>Fun 5</a:t>
            </a:r>
            <a:endParaRPr b="1" sz="1112">
              <a:solidFill>
                <a:schemeClr val="dk2"/>
              </a:solidFill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7585416" y="2386044"/>
            <a:ext cx="618192" cy="248724"/>
          </a:xfrm>
          <a:prstGeom prst="cloud">
            <a:avLst/>
          </a:prstGeom>
          <a:solidFill>
            <a:schemeClr val="lt2"/>
          </a:solidFill>
          <a:ln cap="flat" cmpd="sng" w="11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975" lIns="112975" spcFirstLastPara="1" rIns="112975" wrap="square" tIns="112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/>
          </a:p>
        </p:txBody>
      </p:sp>
      <p:sp>
        <p:nvSpPr>
          <p:cNvPr id="139" name="Google Shape;139;p19"/>
          <p:cNvSpPr txBox="1"/>
          <p:nvPr/>
        </p:nvSpPr>
        <p:spPr>
          <a:xfrm>
            <a:off x="7585385" y="2322803"/>
            <a:ext cx="6183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975" lIns="112975" spcFirstLastPara="1" rIns="112975" wrap="square" tIns="11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2">
                <a:solidFill>
                  <a:schemeClr val="dk2"/>
                </a:solidFill>
              </a:rPr>
              <a:t>Fun 5</a:t>
            </a:r>
            <a:endParaRPr b="1" sz="1112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 Stack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00" y="2062800"/>
            <a:ext cx="2307100" cy="233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7125" y="2795100"/>
            <a:ext cx="2106325" cy="160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20"/>
          <p:cNvCxnSpPr>
            <a:stCxn id="147" idx="3"/>
          </p:cNvCxnSpPr>
          <p:nvPr/>
        </p:nvCxnSpPr>
        <p:spPr>
          <a:xfrm>
            <a:off x="2753500" y="3230700"/>
            <a:ext cx="662100" cy="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0" name="Google Shape;150;p20" title="chrome_iScHMHrSww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61600" y="1861775"/>
            <a:ext cx="1965575" cy="25945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20"/>
          <p:cNvCxnSpPr/>
          <p:nvPr/>
        </p:nvCxnSpPr>
        <p:spPr>
          <a:xfrm>
            <a:off x="5427175" y="3230700"/>
            <a:ext cx="556200" cy="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60" name="Google Shape;160;p21"/>
          <p:cNvGrpSpPr/>
          <p:nvPr/>
        </p:nvGrpSpPr>
        <p:grpSpPr>
          <a:xfrm>
            <a:off x="310894" y="1014975"/>
            <a:ext cx="6185314" cy="2280125"/>
            <a:chOff x="310900" y="1014975"/>
            <a:chExt cx="5827505" cy="2280125"/>
          </a:xfrm>
        </p:grpSpPr>
        <p:sp>
          <p:nvSpPr>
            <p:cNvPr id="161" name="Google Shape;161;p21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</a:t>
              </a:r>
              <a:r>
                <a:rPr b="1" lang="en" sz="1100">
                  <a:solidFill>
                    <a:srgbClr val="000000"/>
                  </a:solidFill>
                </a:rPr>
                <a:t> </a:t>
              </a:r>
              <a:r>
                <a:rPr b="1" lang="en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Visualizing the Call Stack</a:t>
              </a:r>
              <a:endParaRPr b="1" i="1" sz="17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" name="Google Shape;162;p21"/>
            <p:cNvSpPr txBox="1"/>
            <p:nvPr/>
          </p:nvSpPr>
          <p:spPr>
            <a:xfrm>
              <a:off x="310905" y="1725200"/>
              <a:ext cx="5827500" cy="15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r>
                <a:rPr lang="en" sz="1100"/>
                <a:t>  </a:t>
              </a:r>
              <a:r>
                <a:rPr lang="en" sz="1100">
                  <a:solidFill>
                    <a:schemeClr val="dk1"/>
                  </a:solidFill>
                </a:rPr>
                <a:t>Write three functions: </a:t>
              </a:r>
              <a:r>
                <a:rPr b="1" lang="en" sz="1100">
                  <a:solidFill>
                    <a:schemeClr val="dk1"/>
                  </a:solidFill>
                </a:rPr>
                <a:t>first, second</a:t>
              </a:r>
              <a:r>
                <a:rPr lang="en" sz="1100">
                  <a:solidFill>
                    <a:schemeClr val="dk1"/>
                  </a:solidFill>
                </a:rPr>
                <a:t>, and </a:t>
              </a:r>
              <a:r>
                <a:rPr b="1" lang="en" sz="1100">
                  <a:solidFill>
                    <a:schemeClr val="dk1"/>
                  </a:solidFill>
                </a:rPr>
                <a:t>third</a:t>
              </a:r>
              <a:r>
                <a:rPr lang="en" sz="1100">
                  <a:solidFill>
                    <a:schemeClr val="dk1"/>
                  </a:solidFill>
                </a:rPr>
                <a:t>. The </a:t>
              </a:r>
              <a:r>
                <a:rPr b="1" lang="en" sz="1100">
                  <a:solidFill>
                    <a:schemeClr val="dk1"/>
                  </a:solidFill>
                </a:rPr>
                <a:t>first</a:t>
              </a:r>
              <a:r>
                <a:rPr lang="en" sz="1100">
                  <a:solidFill>
                    <a:schemeClr val="dk1"/>
                  </a:solidFill>
                </a:rPr>
                <a:t> function should call the  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</a:rPr>
                <a:t>               second</a:t>
              </a:r>
              <a:r>
                <a:rPr lang="en" sz="1100">
                  <a:solidFill>
                    <a:schemeClr val="dk1"/>
                  </a:solidFill>
                </a:rPr>
                <a:t> function, and the </a:t>
              </a:r>
              <a:r>
                <a:rPr b="1" lang="en" sz="1100">
                  <a:solidFill>
                    <a:schemeClr val="dk1"/>
                  </a:solidFill>
                </a:rPr>
                <a:t>second</a:t>
              </a:r>
              <a:r>
                <a:rPr lang="en" sz="1100">
                  <a:solidFill>
                    <a:schemeClr val="dk1"/>
                  </a:solidFill>
                </a:rPr>
                <a:t> function should call the </a:t>
              </a:r>
              <a:r>
                <a:rPr b="1" lang="en" sz="1100">
                  <a:solidFill>
                    <a:schemeClr val="dk1"/>
                  </a:solidFill>
                </a:rPr>
                <a:t>third</a:t>
              </a:r>
              <a:r>
                <a:rPr lang="en" sz="1100">
                  <a:solidFill>
                    <a:schemeClr val="dk1"/>
                  </a:solidFill>
                </a:rPr>
                <a:t> function. Inside each  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               function, log a message indicating which function is running. Finally, call the </a:t>
              </a:r>
              <a:r>
                <a:rPr b="1" lang="en" sz="1100">
                  <a:solidFill>
                    <a:schemeClr val="dk1"/>
                  </a:solidFill>
                </a:rPr>
                <a:t>first</a:t>
              </a:r>
              <a:r>
                <a:rPr lang="en" sz="1100">
                  <a:solidFill>
                    <a:schemeClr val="dk1"/>
                  </a:solidFill>
                </a:rPr>
                <a:t> 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               function to start the chain.</a:t>
              </a:r>
              <a:endParaRPr sz="11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8" name="Google Shape;168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8825" y="1086300"/>
            <a:ext cx="4662224" cy="324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8" name="Google Shape;178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600" y="1157200"/>
            <a:ext cx="4805601" cy="238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wondered When we write asynchronous code like setTimeout JavaScript does not wait and run the next line 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1" name="Google Shape;191;p24" title="Wo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1025" y="1586925"/>
            <a:ext cx="4061950" cy="32677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8" name="Google Shape;198;p2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wondered When we write asynchronous code like setTimeout JavaScript does not wait and run the next line 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0" name="Google Shape;20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425" y="1790704"/>
            <a:ext cx="3333792" cy="18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2600" y="2111561"/>
            <a:ext cx="3506800" cy="1377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5"/>
          <p:cNvCxnSpPr/>
          <p:nvPr/>
        </p:nvCxnSpPr>
        <p:spPr>
          <a:xfrm>
            <a:off x="3815225" y="2851188"/>
            <a:ext cx="1144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25"/>
          <p:cNvSpPr txBox="1"/>
          <p:nvPr/>
        </p:nvSpPr>
        <p:spPr>
          <a:xfrm>
            <a:off x="1999075" y="4448325"/>
            <a:ext cx="3333900" cy="393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This code did not wait for async code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204" name="Google Shape;204;p25"/>
          <p:cNvCxnSpPr>
            <a:stCxn id="203" idx="0"/>
          </p:cNvCxnSpPr>
          <p:nvPr/>
        </p:nvCxnSpPr>
        <p:spPr>
          <a:xfrm flipH="1" rot="10800000">
            <a:off x="3666025" y="2774325"/>
            <a:ext cx="1733100" cy="1674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25"/>
          <p:cNvSpPr txBox="1"/>
          <p:nvPr/>
        </p:nvSpPr>
        <p:spPr>
          <a:xfrm>
            <a:off x="6380575" y="4448325"/>
            <a:ext cx="1327800" cy="3744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Async code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206" name="Google Shape;206;p25"/>
          <p:cNvCxnSpPr>
            <a:stCxn id="205" idx="0"/>
          </p:cNvCxnSpPr>
          <p:nvPr/>
        </p:nvCxnSpPr>
        <p:spPr>
          <a:xfrm rot="10800000">
            <a:off x="6390175" y="3034125"/>
            <a:ext cx="654300" cy="141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But if we want JavaScript to wait until the asynchronous code is finished, and then run the next line — how do we do that?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5" name="Google Shape;215;p26" title="Wo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6950" y="1596550"/>
            <a:ext cx="4061950" cy="32677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But if we want JavaScript to wait until the asynchronous code is finished, and then run the next line — how do we do that?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311700" y="1440450"/>
            <a:ext cx="5241300" cy="25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That’s where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Callback Functions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come in!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callback function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function that you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give to another function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use later.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 when we do something that takes time (like waiting),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we use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callback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say: When you're done,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run this function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That’s how we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handle async (slow) code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Callback function()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0" name="Google Shape;230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 txBox="1"/>
          <p:nvPr/>
        </p:nvSpPr>
        <p:spPr>
          <a:xfrm>
            <a:off x="310900" y="11930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Analogy :</a:t>
            </a:r>
            <a:endParaRPr b="1"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376925" y="1608525"/>
            <a:ext cx="5156700" cy="28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come home from school.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Mom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says:  First,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finish your homework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 Then you can  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go to the playground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sit down and start working. 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Homework takes some time — about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2 minutes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you finally finish, you shout : "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Homework done!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Then, as promised — "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Now going to the playground!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3" name="Google Shape;23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7251" y="1244025"/>
            <a:ext cx="1987550" cy="1618425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4560000" dist="95250">
              <a:srgbClr val="000000">
                <a:alpha val="50000"/>
              </a:srgbClr>
            </a:outerShdw>
          </a:effectLst>
        </p:spPr>
      </p:pic>
      <p:pic>
        <p:nvPicPr>
          <p:cNvPr id="234" name="Google Shape;23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4725" y="3386025"/>
            <a:ext cx="2030075" cy="1483925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462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Callback function()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0" name="Google Shape;240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525" y="1266263"/>
            <a:ext cx="3139969" cy="272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9" title="chrome_QzdpNYlBiL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2532" y="1540172"/>
            <a:ext cx="3239942" cy="21785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29"/>
          <p:cNvCxnSpPr>
            <a:stCxn id="241" idx="3"/>
            <a:endCxn id="242" idx="1"/>
          </p:cNvCxnSpPr>
          <p:nvPr/>
        </p:nvCxnSpPr>
        <p:spPr>
          <a:xfrm>
            <a:off x="3881494" y="2629470"/>
            <a:ext cx="1281000" cy="0"/>
          </a:xfrm>
          <a:prstGeom prst="straightConnector1">
            <a:avLst/>
          </a:prstGeom>
          <a:noFill/>
          <a:ln cap="flat" cmpd="sng" w="86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" name="Google Shape;244;p29"/>
          <p:cNvSpPr txBox="1"/>
          <p:nvPr/>
        </p:nvSpPr>
        <p:spPr>
          <a:xfrm>
            <a:off x="1537013" y="4583025"/>
            <a:ext cx="2030100" cy="394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Callback Function</a:t>
            </a:r>
            <a:endParaRPr sz="1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45" name="Google Shape;245;p29"/>
          <p:cNvCxnSpPr>
            <a:stCxn id="244" idx="0"/>
          </p:cNvCxnSpPr>
          <p:nvPr/>
        </p:nvCxnSpPr>
        <p:spPr>
          <a:xfrm rot="10800000">
            <a:off x="2551463" y="3851925"/>
            <a:ext cx="600" cy="731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wondered… What happens when we have to do many asynchronous things — one after another, and each must wait for the previous one to finish?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4" name="Google Shape;254;p30" title="Wo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6950" y="1596550"/>
            <a:ext cx="4061950" cy="32677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wondered… What happens when we have to do many asynchronous things — one after another, and each must wait for the previous one to finish?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375225" y="1675200"/>
            <a:ext cx="52164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want to: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✅ Finish homework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🍽️ Eat dinner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⚽ Go to the playground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	All tasks take time and are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async code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— so each  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is written using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setTimeout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4" name="Google Shape;26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1325" y="3693925"/>
            <a:ext cx="1173800" cy="858025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4620000" dist="95250">
              <a:srgbClr val="000000">
                <a:alpha val="50000"/>
              </a:srgbClr>
            </a:outerShdw>
          </a:effectLst>
        </p:spPr>
      </p:pic>
      <p:pic>
        <p:nvPicPr>
          <p:cNvPr id="265" name="Google Shape;26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1325" y="1061225"/>
            <a:ext cx="1173800" cy="95581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4560000" dist="95250">
              <a:srgbClr val="000000">
                <a:alpha val="50000"/>
              </a:srgbClr>
            </a:outerShdw>
          </a:effectLst>
        </p:spPr>
      </p:pic>
      <p:pic>
        <p:nvPicPr>
          <p:cNvPr id="266" name="Google Shape;266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1325" y="2366400"/>
            <a:ext cx="1173800" cy="97816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540000" dist="381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650" y="1079363"/>
            <a:ext cx="3113899" cy="298478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2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Callback Hell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3" name="Google Shape;273;p32" title="KRMU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2"/>
          <p:cNvSpPr txBox="1"/>
          <p:nvPr/>
        </p:nvSpPr>
        <p:spPr>
          <a:xfrm>
            <a:off x="2305750" y="4519975"/>
            <a:ext cx="1372800" cy="3708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Callback Hell</a:t>
            </a:r>
            <a:r>
              <a:rPr lang="en" sz="1800">
                <a:solidFill>
                  <a:schemeClr val="dk2"/>
                </a:solidFill>
              </a:rPr>
              <a:t> 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75" name="Google Shape;275;p32"/>
          <p:cNvCxnSpPr>
            <a:stCxn id="274" idx="0"/>
          </p:cNvCxnSpPr>
          <p:nvPr/>
        </p:nvCxnSpPr>
        <p:spPr>
          <a:xfrm rot="10800000">
            <a:off x="1781650" y="3005275"/>
            <a:ext cx="1210500" cy="1514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32"/>
          <p:cNvCxnSpPr>
            <a:stCxn id="274" idx="0"/>
          </p:cNvCxnSpPr>
          <p:nvPr/>
        </p:nvCxnSpPr>
        <p:spPr>
          <a:xfrm rot="10800000">
            <a:off x="1627750" y="2418175"/>
            <a:ext cx="1364400" cy="2101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32"/>
          <p:cNvCxnSpPr>
            <a:stCxn id="274" idx="0"/>
          </p:cNvCxnSpPr>
          <p:nvPr/>
        </p:nvCxnSpPr>
        <p:spPr>
          <a:xfrm rot="10800000">
            <a:off x="1521850" y="1869775"/>
            <a:ext cx="1470300" cy="2650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78" name="Google Shape;278;p32" title="chrome_15AqGe93rf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3350" y="1413950"/>
            <a:ext cx="3415813" cy="26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Callback Hell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4" name="Google Shape;284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/>
          <p:nvPr/>
        </p:nvSpPr>
        <p:spPr>
          <a:xfrm>
            <a:off x="310900" y="1624750"/>
            <a:ext cx="43860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goes deeper and deeper →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Right side keeps growing!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looks like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pyramid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and we call this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Pyramid of Doom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6" name="Google Shape;28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9575" y="1510525"/>
            <a:ext cx="3157326" cy="302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Callback Hell Problems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2" name="Google Shape;292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4"/>
          <p:cNvSpPr txBox="1"/>
          <p:nvPr/>
        </p:nvSpPr>
        <p:spPr>
          <a:xfrm>
            <a:off x="407100" y="1409438"/>
            <a:ext cx="4206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Hard to read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code becomes confusing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Hard to fix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if something breaks, it’s tough to know where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Error handling is messy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we need try/catch or if (error) inside every level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One missing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} or ) — everything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crashes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0475" y="1549850"/>
            <a:ext cx="2770900" cy="277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5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0" name="Google Shape;300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03" name="Google Shape;303;p35"/>
          <p:cNvGrpSpPr/>
          <p:nvPr/>
        </p:nvGrpSpPr>
        <p:grpSpPr>
          <a:xfrm>
            <a:off x="310894" y="1014975"/>
            <a:ext cx="6185314" cy="2231825"/>
            <a:chOff x="310900" y="1014975"/>
            <a:chExt cx="5827505" cy="2231825"/>
          </a:xfrm>
        </p:grpSpPr>
        <p:sp>
          <p:nvSpPr>
            <p:cNvPr id="304" name="Google Shape;304;p35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</a:t>
              </a:r>
              <a:r>
                <a:rPr b="1" lang="en" sz="13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b="1"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Identifying Callback Hell</a:t>
              </a:r>
              <a:endParaRPr b="1" sz="13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5" name="Google Shape;305;p35"/>
            <p:cNvSpPr txBox="1"/>
            <p:nvPr/>
          </p:nvSpPr>
          <p:spPr>
            <a:xfrm>
              <a:off x="310905" y="1725200"/>
              <a:ext cx="5827500" cy="15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rgbClr val="000000"/>
                </a:solidFill>
              </a:endParaRPr>
            </a:p>
            <a:p>
              <a:pPr indent="0" lvl="0" marL="91440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Look at the code below, which simulates making a pizza. Describe why this code is an example of "Callback Hell" and difficult to manage. You do not need to run it, just analyze it.</a:t>
              </a:r>
              <a:br>
                <a:rPr lang="en" sz="1100">
                  <a:solidFill>
                    <a:schemeClr val="dk1"/>
                  </a:solidFill>
                </a:rPr>
              </a:b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1" name="Google Shape;311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5" name="Google Shape;31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8425" y="1172900"/>
            <a:ext cx="3396408" cy="34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1" name="Google Shape;321;p3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4" name="Google Shape;324;p37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5" name="Google Shape;32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2188" y="1086300"/>
            <a:ext cx="4128075" cy="276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Handling Callback Hell</a:t>
            </a:r>
            <a:endParaRPr b="1" sz="3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1" name="Google Shape;331;p3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8"/>
          <p:cNvSpPr txBox="1"/>
          <p:nvPr/>
        </p:nvSpPr>
        <p:spPr>
          <a:xfrm>
            <a:off x="310900" y="1308500"/>
            <a:ext cx="5338500" cy="25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Congratulations!</a:t>
            </a:r>
            <a:b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We can give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names to our callback functions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This makes our code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cleaner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more organized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and we don’t need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scroll to the right!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It’s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small trick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avoid the mess of callback hell —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But It’s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still not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perfect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but at least we can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breathe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while reading it!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3" name="Google Shape;33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3475" y="1718774"/>
            <a:ext cx="2700349" cy="189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9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Handling Callback Hell</a:t>
            </a:r>
            <a:endParaRPr b="1" sz="3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9" name="Google Shape;339;p3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1014986"/>
            <a:ext cx="2568450" cy="383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9" title="chrome_15AqGe93rf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2575" y="1605975"/>
            <a:ext cx="3415813" cy="265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39"/>
          <p:cNvCxnSpPr>
            <a:stCxn id="340" idx="3"/>
          </p:cNvCxnSpPr>
          <p:nvPr/>
        </p:nvCxnSpPr>
        <p:spPr>
          <a:xfrm flipH="1" rot="10800000">
            <a:off x="2879351" y="2928080"/>
            <a:ext cx="2048400" cy="3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0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8" name="Google Shape;348;p4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0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rgbClr val="000000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What is the main purpose of the Call Stack in JavaScript?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p40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a) To store variables.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b) To keep track of which function is currently being executed.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c) To schedule tasks to run in the future.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d) To store a list of all arrays in the code.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1" name="Google Shape;351;p4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3" name="Google Shape;353;p40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b) To keep track of which function is currently being executed.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54" name="Google Shape;354;p40"/>
          <p:cNvGrpSpPr/>
          <p:nvPr/>
        </p:nvGrpSpPr>
        <p:grpSpPr>
          <a:xfrm>
            <a:off x="310900" y="3959263"/>
            <a:ext cx="6005825" cy="1092013"/>
            <a:chOff x="310900" y="3959263"/>
            <a:chExt cx="6005825" cy="1092013"/>
          </a:xfrm>
        </p:grpSpPr>
        <p:sp>
          <p:nvSpPr>
            <p:cNvPr id="355" name="Google Shape;355;p40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356" name="Google Shape;356;p40"/>
            <p:cNvSpPr txBox="1"/>
            <p:nvPr/>
          </p:nvSpPr>
          <p:spPr>
            <a:xfrm>
              <a:off x="1607925" y="3959275"/>
              <a:ext cx="4708800" cy="10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The Call Stack is a data structure that records where the program is in its execution. When a function is called, it's pushed onto the stack. When it finishes, it's popped off.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2" name="Google Shape;362;p4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1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rgbClr val="000000"/>
                </a:solidFill>
              </a:rPr>
              <a:t>  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What is "Callback Hell"?  </a:t>
            </a:r>
            <a:endParaRPr b="1" sz="16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41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a) A function that calls itself infinitely.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b) A situation where callbacks are nested deeply within other callbacks, making the code hard to read.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c) A callback function that produces an error.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d) Using more than three callbacks in a single file.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5" name="Google Shape;365;p4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7" name="Google Shape;367;p41"/>
          <p:cNvSpPr txBox="1"/>
          <p:nvPr/>
        </p:nvSpPr>
        <p:spPr>
          <a:xfrm>
            <a:off x="310950" y="3313725"/>
            <a:ext cx="626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b) A situation where callbacks are nested deeply within other callbacks, making  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                   the code hard to read.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68" name="Google Shape;368;p41"/>
          <p:cNvGrpSpPr/>
          <p:nvPr/>
        </p:nvGrpSpPr>
        <p:grpSpPr>
          <a:xfrm>
            <a:off x="310900" y="3959263"/>
            <a:ext cx="6005825" cy="1092013"/>
            <a:chOff x="310900" y="3959263"/>
            <a:chExt cx="6005825" cy="1092013"/>
          </a:xfrm>
        </p:grpSpPr>
        <p:sp>
          <p:nvSpPr>
            <p:cNvPr id="369" name="Google Shape;369;p41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370" name="Google Shape;370;p41"/>
            <p:cNvSpPr txBox="1"/>
            <p:nvPr/>
          </p:nvSpPr>
          <p:spPr>
            <a:xfrm>
              <a:off x="1607925" y="3959275"/>
              <a:ext cx="4708800" cy="10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 Also known as the "Pyramid of Doom," it describes a code structure that is difficult to read and debug due to multiple levels of indentation from nested callbacks.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2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6" name="Google Shape;376;p4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2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rgbClr val="000000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When a function is called in your code, where is it placed in the Call Stack? </a:t>
            </a:r>
            <a:endParaRPr b="1"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42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At the bottom of the stack.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 b) In the middle of the stack.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 c) At the top of the stack.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 d) It is placed in the Callback Queue first.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9" name="Google Shape;379;p4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81" name="Google Shape;381;p42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c) At the top of the stack.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82" name="Google Shape;382;p42"/>
          <p:cNvGrpSpPr/>
          <p:nvPr/>
        </p:nvGrpSpPr>
        <p:grpSpPr>
          <a:xfrm>
            <a:off x="310900" y="3959263"/>
            <a:ext cx="6005825" cy="897313"/>
            <a:chOff x="310900" y="3959263"/>
            <a:chExt cx="6005825" cy="897313"/>
          </a:xfrm>
        </p:grpSpPr>
        <p:sp>
          <p:nvSpPr>
            <p:cNvPr id="383" name="Google Shape;383;p42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384" name="Google Shape;384;p42"/>
            <p:cNvSpPr txBox="1"/>
            <p:nvPr/>
          </p:nvSpPr>
          <p:spPr>
            <a:xfrm>
              <a:off x="1607925" y="3959275"/>
              <a:ext cx="4708800" cy="8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The Call Stack operates on a "Last-In, First-Out" (LIFO) principle. The most recently called function is always at the top.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3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0" name="Google Shape;390;p4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3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rgbClr val="000000"/>
                </a:solidFill>
              </a:rPr>
              <a:t>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Given the function call </a:t>
            </a:r>
            <a:r>
              <a:rPr b="1" i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process(calculate())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which function is pushed onto the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Call Stack first?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43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process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 b)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calculate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 c) They are pushed on at the same time.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 d) The global function.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3" name="Google Shape;393;p4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95" name="Google Shape;395;p43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b)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calculate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96" name="Google Shape;396;p43"/>
          <p:cNvGrpSpPr/>
          <p:nvPr/>
        </p:nvGrpSpPr>
        <p:grpSpPr>
          <a:xfrm>
            <a:off x="310900" y="3959263"/>
            <a:ext cx="6005825" cy="1286713"/>
            <a:chOff x="310900" y="3959263"/>
            <a:chExt cx="6005825" cy="1286713"/>
          </a:xfrm>
        </p:grpSpPr>
        <p:sp>
          <p:nvSpPr>
            <p:cNvPr id="397" name="Google Shape;397;p4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398" name="Google Shape;398;p43"/>
            <p:cNvSpPr txBox="1"/>
            <p:nvPr/>
          </p:nvSpPr>
          <p:spPr>
            <a:xfrm>
              <a:off x="1607925" y="3959275"/>
              <a:ext cx="4708800" cy="12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JavaScript must evaluate a function's arguments before it can call the function itself. Therefore, </a:t>
              </a:r>
              <a:r>
                <a:rPr b="1"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calculate()</a:t>
              </a:r>
              <a:r>
                <a:rPr lang="en" sz="1100">
                  <a:solidFill>
                    <a:schemeClr val="dk1"/>
                  </a:solidFill>
                </a:rPr>
                <a:t> must be executed and return a value first. It is pushed onto the stack, runs, is popped off, and then </a:t>
              </a:r>
              <a:r>
                <a:rPr b="1"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process()</a:t>
              </a:r>
              <a:r>
                <a:rPr lang="en" sz="1100">
                  <a:solidFill>
                    <a:schemeClr val="dk1"/>
                  </a:solidFill>
                </a:rPr>
                <a:t> is pushed onto the stack with the result from </a:t>
              </a:r>
              <a:r>
                <a:rPr b="1"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calculate()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4" name="Google Shape;404;p4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4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rgbClr val="000000"/>
                </a:solidFill>
              </a:rPr>
              <a:t>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What is a common and immediate strategy to make nested callback code more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readable and manageable?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6" name="Google Shape;406;p44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a) Using only arrow functions.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b) Putting all callbacks into a single, large function.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c) Converting the nested anonymous functions into separate, named functions.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d) Adding more comments.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7" name="Google Shape;407;p4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09" name="Google Shape;409;p44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c) Converting the nested anonymous functions into separate, named functions.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0" name="Google Shape;410;p44"/>
          <p:cNvGrpSpPr/>
          <p:nvPr/>
        </p:nvGrpSpPr>
        <p:grpSpPr>
          <a:xfrm>
            <a:off x="310900" y="3959263"/>
            <a:ext cx="6005825" cy="1092013"/>
            <a:chOff x="310900" y="3959263"/>
            <a:chExt cx="6005825" cy="1092013"/>
          </a:xfrm>
        </p:grpSpPr>
        <p:sp>
          <p:nvSpPr>
            <p:cNvPr id="411" name="Google Shape;411;p44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412" name="Google Shape;412;p44"/>
            <p:cNvSpPr txBox="1"/>
            <p:nvPr/>
          </p:nvSpPr>
          <p:spPr>
            <a:xfrm>
              <a:off x="1607925" y="3959275"/>
              <a:ext cx="4708800" cy="10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Extracting callbacks into named functions flattens the "pyramid" structure, making the code more modular, readable, and easier to debug. This is a direct way to handle Callback Hell.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5"/>
          <p:cNvSpPr txBox="1"/>
          <p:nvPr/>
        </p:nvSpPr>
        <p:spPr>
          <a:xfrm>
            <a:off x="310896" y="21031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8" name="Google Shape;418;p4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5"/>
          <p:cNvSpPr txBox="1"/>
          <p:nvPr/>
        </p:nvSpPr>
        <p:spPr>
          <a:xfrm>
            <a:off x="358850" y="1181200"/>
            <a:ext cx="85206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>
                <a:solidFill>
                  <a:srgbClr val="000000"/>
                </a:solidFill>
              </a:rPr>
              <a:t> : </a:t>
            </a:r>
            <a:r>
              <a:rPr i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 🔗</a:t>
            </a:r>
            <a:r>
              <a:rPr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https://developer.mozilla.org/en-US/docs/Web/JavaScript</a:t>
            </a:r>
            <a:endParaRPr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rgbClr val="0097A7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000000"/>
                </a:solidFill>
              </a:rPr>
              <a:t> 🔗</a:t>
            </a:r>
            <a:r>
              <a:rPr lang="en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https://www.w3schools.com/js/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🔗</a:t>
            </a:r>
            <a:r>
              <a:rPr lang="en" u="sng">
                <a:solidFill>
                  <a:srgbClr val="0097A7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https://javascript.info/</a:t>
            </a:r>
            <a:endParaRPr i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0" name="Google Shape;420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46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426" name="Google Shape;426;p46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6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428" name="Google Shape;428;p46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429" name="Google Shape;429;p46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430" name="Google Shape;430;p46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1" name="Google Shape;431;p46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12121"/>
                </a:solidFill>
              </a:rPr>
              <a:t>Sohna Road,Gurugram,Haryana 122103</a:t>
            </a:r>
            <a:endParaRPr sz="700">
              <a:solidFill>
                <a:srgbClr val="212121"/>
              </a:solidFill>
            </a:endParaRPr>
          </a:p>
        </p:txBody>
      </p:sp>
      <p:pic>
        <p:nvPicPr>
          <p:cNvPr id="432" name="Google Shape;432;p46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6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6"/>
          <p:cNvSpPr txBox="1"/>
          <p:nvPr/>
        </p:nvSpPr>
        <p:spPr>
          <a:xfrm>
            <a:off x="8494883" y="46482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5" name="Google Shape;435;p46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