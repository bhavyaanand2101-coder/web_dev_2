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57f51e4e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757f51e4e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757f51e4e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757f51e4e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757f51e4e_5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757f51e4e_5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57f51e4e_5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57f51e4e_5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757f51e4e_5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757f51e4e_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757f51e4e_5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757f51e4e_5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757f51e4e_5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757f51e4e_5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757f51e4e_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757f51e4e_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757f51e4e_5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757f51e4e_5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57f51e4e_5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757f51e4e_5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757f51e4e_5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757f51e4e_5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757f51e4e_5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757f51e4e_5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757f51e4e_5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757f51e4e_5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757f51e4e_5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757f51e4e_5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757f51e4e_5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757f51e4e_5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757f51e4e_5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757f51e4e_5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757f51e4e_5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757f51e4e_5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757f51e4e_5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757f51e4e_5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757f51e4e_5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757f51e4e_5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757f51e4e_5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757f51e4e_5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757f51e4e_5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757f51e4e_5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2.jpg"/><Relationship Id="rId8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10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rgbClr val="FFFFFF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12</a:t>
                </a:r>
                <a:r>
                  <a:rPr lang="en" sz="2700">
                    <a:solidFill>
                      <a:srgbClr val="FFFFFF"/>
                    </a:solidFill>
                  </a:rPr>
                  <a:t>:</a:t>
                </a:r>
                <a:endParaRPr sz="22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Introduction to Promises</a:t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Promises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References.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End.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Do you know that just like in real life we make promises to do something later… JavaScript can also make promises to do work later?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Thinking face-rafiki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15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Do you know that just like in real life we make promises to do something later… JavaScript can also make promises to do work later?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1700" y="1364600"/>
            <a:ext cx="5634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Can you think of something you’ve promised to do later but didn't do on time?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Imagine you 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promised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your teacher that you'll 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submit your homework tomorrow.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You're still doing the homework. It's not ready yet.   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Homework in progress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finished it and gave it to the teacher.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Homework submitted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didn’t do it at all or forgot to bring it.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Promise broken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6600" y="1926150"/>
            <a:ext cx="2892600" cy="2737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Do you know that just like in real life we make promises to do something later… JavaScript can also make promises to do work later?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11700" y="1326425"/>
            <a:ext cx="5148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also does the exact same thing!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Yes — it can also make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promises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!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Just like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promise to do something later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JavaScript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promises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complete a task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later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maybe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 seconds, 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downloading something, 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waiting for the user.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is behaving like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student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!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675" y="1564350"/>
            <a:ext cx="2297675" cy="30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Promises</a:t>
            </a:r>
            <a:r>
              <a:rPr lang="en" sz="1800">
                <a:solidFill>
                  <a:srgbClr val="273239"/>
                </a:solidFill>
              </a:rPr>
              <a:t>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125" y="2155038"/>
            <a:ext cx="2887576" cy="148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311700" y="1087850"/>
            <a:ext cx="4871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Promise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built-in JavaScript object that represents the eventual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failure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an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asynchronous operation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311700" y="2442925"/>
            <a:ext cx="42603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States of a Promise: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Pending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The initial state; the operation has not completed yet.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Fulfilled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The operation completed successfully.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Rejected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The operation failed with an error.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Promises</a:t>
            </a:r>
            <a:r>
              <a:rPr lang="en" sz="1800">
                <a:solidFill>
                  <a:srgbClr val="273239"/>
                </a:solidFill>
              </a:rPr>
              <a:t>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11700" y="1355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Real-Life Recap</a:t>
            </a:r>
            <a:endParaRPr b="1"/>
          </a:p>
        </p:txBody>
      </p:sp>
      <p:sp>
        <p:nvSpPr>
          <p:cNvPr id="127" name="Google Shape;127;p19"/>
          <p:cNvSpPr txBox="1"/>
          <p:nvPr/>
        </p:nvSpPr>
        <p:spPr>
          <a:xfrm>
            <a:off x="473925" y="1898400"/>
            <a:ext cx="470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Ma’am, I </a:t>
            </a:r>
            <a:r>
              <a:rPr b="1" lang="en"/>
              <a:t>promise </a:t>
            </a:r>
            <a:r>
              <a:rPr lang="en"/>
              <a:t>I’ll do my homework by tomorrow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368975" y="2599875"/>
            <a:ext cx="42603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States of a Promise: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Pending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You are still doing it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Fulfilled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–You submit it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Rejected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You forgot to do it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399" y="1355075"/>
            <a:ext cx="2206925" cy="331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00" y="2287483"/>
            <a:ext cx="2811215" cy="137816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Promises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0" title="KRMU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311700" y="884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Basic Promise Syntax: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37413" y="1477850"/>
            <a:ext cx="986700" cy="39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69450" lIns="69450" spcFirstLastPara="1" rIns="69450" wrap="square" tIns="69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5">
                <a:solidFill>
                  <a:schemeClr val="dk1"/>
                </a:solidFill>
              </a:rPr>
              <a:t>creating a </a:t>
            </a:r>
            <a:r>
              <a:rPr b="1" lang="en" sz="835">
                <a:solidFill>
                  <a:schemeClr val="dk1"/>
                </a:solidFill>
              </a:rPr>
              <a:t>new promise</a:t>
            </a:r>
            <a:endParaRPr sz="1063"/>
          </a:p>
        </p:txBody>
      </p:sp>
      <p:sp>
        <p:nvSpPr>
          <p:cNvPr id="140" name="Google Shape;140;p20"/>
          <p:cNvSpPr txBox="1"/>
          <p:nvPr/>
        </p:nvSpPr>
        <p:spPr>
          <a:xfrm>
            <a:off x="1909742" y="1477850"/>
            <a:ext cx="957600" cy="39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69450" lIns="69450" spcFirstLastPara="1" rIns="69450" wrap="square" tIns="69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5">
                <a:solidFill>
                  <a:schemeClr val="dk1"/>
                </a:solidFill>
              </a:rPr>
              <a:t>Call this when the job is </a:t>
            </a:r>
            <a:r>
              <a:rPr b="1" lang="en" sz="835">
                <a:solidFill>
                  <a:schemeClr val="dk1"/>
                </a:solidFill>
              </a:rPr>
              <a:t>done</a:t>
            </a:r>
            <a:endParaRPr sz="1063"/>
          </a:p>
        </p:txBody>
      </p:sp>
      <p:sp>
        <p:nvSpPr>
          <p:cNvPr id="141" name="Google Shape;141;p20"/>
          <p:cNvSpPr txBox="1"/>
          <p:nvPr/>
        </p:nvSpPr>
        <p:spPr>
          <a:xfrm>
            <a:off x="3153141" y="1477850"/>
            <a:ext cx="885000" cy="39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69450" lIns="69450" spcFirstLastPara="1" rIns="69450" wrap="square" tIns="69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5">
                <a:solidFill>
                  <a:schemeClr val="dk1"/>
                </a:solidFill>
              </a:rPr>
              <a:t> Call this when the job </a:t>
            </a:r>
            <a:r>
              <a:rPr b="1" lang="en" sz="835">
                <a:solidFill>
                  <a:schemeClr val="dk1"/>
                </a:solidFill>
              </a:rPr>
              <a:t>fails</a:t>
            </a:r>
            <a:endParaRPr sz="1063"/>
          </a:p>
        </p:txBody>
      </p:sp>
      <p:cxnSp>
        <p:nvCxnSpPr>
          <p:cNvPr id="142" name="Google Shape;142;p20"/>
          <p:cNvCxnSpPr>
            <a:stCxn id="139" idx="2"/>
          </p:cNvCxnSpPr>
          <p:nvPr/>
        </p:nvCxnSpPr>
        <p:spPr>
          <a:xfrm>
            <a:off x="1130763" y="1875350"/>
            <a:ext cx="683100" cy="708900"/>
          </a:xfrm>
          <a:prstGeom prst="straightConnector1">
            <a:avLst/>
          </a:prstGeom>
          <a:noFill/>
          <a:ln cap="flat" cmpd="sng" w="72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0"/>
          <p:cNvCxnSpPr>
            <a:stCxn id="140" idx="2"/>
          </p:cNvCxnSpPr>
          <p:nvPr/>
        </p:nvCxnSpPr>
        <p:spPr>
          <a:xfrm flipH="1">
            <a:off x="2367242" y="1875350"/>
            <a:ext cx="21300" cy="729900"/>
          </a:xfrm>
          <a:prstGeom prst="straightConnector1">
            <a:avLst/>
          </a:prstGeom>
          <a:noFill/>
          <a:ln cap="flat" cmpd="sng" w="72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0"/>
          <p:cNvCxnSpPr>
            <a:stCxn id="141" idx="2"/>
          </p:cNvCxnSpPr>
          <p:nvPr/>
        </p:nvCxnSpPr>
        <p:spPr>
          <a:xfrm flipH="1">
            <a:off x="2784741" y="1875350"/>
            <a:ext cx="810900" cy="715800"/>
          </a:xfrm>
          <a:prstGeom prst="straightConnector1">
            <a:avLst/>
          </a:prstGeom>
          <a:noFill/>
          <a:ln cap="flat" cmpd="sng" w="72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2450" y="2369625"/>
            <a:ext cx="2275100" cy="22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6939550" y="1925050"/>
            <a:ext cx="1393200" cy="8016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Promise you !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311700" y="3860875"/>
            <a:ext cx="560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resolve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reject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are two methods given by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Promise.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resolve(): 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 when the task is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completed successfully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reject():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 when the task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fails or doesn't complete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Promises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cxnSp>
        <p:nvCxnSpPr>
          <p:cNvPr id="155" name="Google Shape;155;p21"/>
          <p:cNvCxnSpPr>
            <a:stCxn id="156" idx="3"/>
          </p:cNvCxnSpPr>
          <p:nvPr/>
        </p:nvCxnSpPr>
        <p:spPr>
          <a:xfrm flipH="1" rot="10800000">
            <a:off x="4158925" y="3141137"/>
            <a:ext cx="1255200" cy="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1"/>
          <p:cNvSpPr txBox="1"/>
          <p:nvPr/>
        </p:nvSpPr>
        <p:spPr>
          <a:xfrm>
            <a:off x="6721438" y="1911850"/>
            <a:ext cx="9144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0475" y="2463525"/>
            <a:ext cx="3376326" cy="136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686738"/>
            <a:ext cx="3854126" cy="291357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6538138" y="4031050"/>
            <a:ext cx="12810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Promise fulfilled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Promises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cxnSp>
        <p:nvCxnSpPr>
          <p:cNvPr id="168" name="Google Shape;168;p22"/>
          <p:cNvCxnSpPr>
            <a:stCxn id="169" idx="3"/>
          </p:cNvCxnSpPr>
          <p:nvPr/>
        </p:nvCxnSpPr>
        <p:spPr>
          <a:xfrm flipH="1" rot="10800000">
            <a:off x="4158925" y="3141137"/>
            <a:ext cx="1255200" cy="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2"/>
          <p:cNvSpPr txBox="1"/>
          <p:nvPr/>
        </p:nvSpPr>
        <p:spPr>
          <a:xfrm>
            <a:off x="6721450" y="1969100"/>
            <a:ext cx="9144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644500"/>
            <a:ext cx="3854126" cy="2913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6999" y="2571750"/>
            <a:ext cx="3483326" cy="12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/>
        </p:nvSpPr>
        <p:spPr>
          <a:xfrm>
            <a:off x="6538163" y="4097875"/>
            <a:ext cx="12810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Promise failed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Have you ever made more than one promise in a row?</a:t>
            </a:r>
            <a:br>
              <a:rPr b="1" lang="en" sz="1600">
                <a:solidFill>
                  <a:schemeClr val="dk1"/>
                </a:solidFill>
              </a:rPr>
            </a:b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3" title="Thinking face-rafik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3076" y="1051341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Have you ever made more than one promise in a row?</a:t>
            </a:r>
            <a:br>
              <a:rPr b="1" lang="en" sz="1600">
                <a:solidFill>
                  <a:schemeClr val="dk1"/>
                </a:solidFill>
              </a:rPr>
            </a:b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311700" y="1145125"/>
            <a:ext cx="5682900" cy="3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Example: Conversation with 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mom and son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Son: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Mom, can I go to the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playground today?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Mom: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You can, but there’s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Promise 1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First,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finish your homework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Promise 2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If you finish homework,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then you can have Dinner.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Promise 3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If you eat dinner properly,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then you can go to the    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playground.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5033" y="1337075"/>
            <a:ext cx="2217416" cy="33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Did you notice how each Promise depends on the previous one</a:t>
            </a:r>
            <a:br>
              <a:rPr b="1" lang="en" sz="1800">
                <a:solidFill>
                  <a:schemeClr val="dk1"/>
                </a:solidFill>
              </a:rPr>
            </a:br>
            <a:r>
              <a:rPr b="1" lang="en" sz="1800">
                <a:solidFill>
                  <a:schemeClr val="dk1"/>
                </a:solidFill>
              </a:rPr>
              <a:t>Homework → Dinner → Playground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3999" y="1380550"/>
            <a:ext cx="2188449" cy="3282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 txBox="1"/>
          <p:nvPr/>
        </p:nvSpPr>
        <p:spPr>
          <a:xfrm>
            <a:off x="576075" y="1627175"/>
            <a:ext cx="53706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is Called Dependency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 means: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only eat dinner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if homework is done.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only go to the playground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if dinner is done.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Did you know that, just like in real life, we can make one promise depend on the result of a previous promise? JavaScript can do the same — it allows one promise to depend on the outcome of another!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7425" y="1430875"/>
            <a:ext cx="2841001" cy="328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7" name="Google Shape;217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20" name="Google Shape;220;p27"/>
          <p:cNvGrpSpPr/>
          <p:nvPr/>
        </p:nvGrpSpPr>
        <p:grpSpPr>
          <a:xfrm>
            <a:off x="310894" y="1014975"/>
            <a:ext cx="6185314" cy="1930925"/>
            <a:chOff x="310900" y="1014975"/>
            <a:chExt cx="5827505" cy="1930925"/>
          </a:xfrm>
        </p:grpSpPr>
        <p:sp>
          <p:nvSpPr>
            <p:cNvPr id="221" name="Google Shape;221;p27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rgbClr val="000000"/>
                  </a:solidFill>
                </a:rPr>
                <a:t> </a:t>
              </a:r>
              <a:r>
                <a:rPr b="1" lang="en" sz="1100">
                  <a:solidFill>
                    <a:schemeClr val="dk1"/>
                  </a:solidFill>
                </a:rPr>
                <a:t>Creating a Promise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27"/>
            <p:cNvSpPr txBox="1"/>
            <p:nvPr/>
          </p:nvSpPr>
          <p:spPr>
            <a:xfrm>
              <a:off x="310905" y="1725200"/>
              <a:ext cx="5827500" cy="12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000000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 Create a function </a:t>
              </a:r>
              <a:r>
                <a:rPr b="1" lang="en" sz="1100">
                  <a:solidFill>
                    <a:schemeClr val="dk1"/>
                  </a:solidFill>
                </a:rPr>
                <a:t>delay(ms)</a:t>
              </a:r>
              <a:r>
                <a:rPr lang="en" sz="1100">
                  <a:solidFill>
                    <a:schemeClr val="dk1"/>
                  </a:solidFill>
                </a:rPr>
                <a:t> that returns a new Promise. This Promise should use </a:t>
              </a:r>
              <a:r>
                <a:rPr b="1" lang="en" sz="1100">
                  <a:solidFill>
                    <a:schemeClr val="dk1"/>
                  </a:solidFill>
                </a:rPr>
                <a:t>setTimeout</a:t>
              </a:r>
              <a:r>
                <a:rPr lang="en" sz="1100">
                  <a:solidFill>
                    <a:schemeClr val="dk1"/>
                  </a:solidFill>
                </a:rPr>
                <a:t> to wait for the specified number of milliseconds (</a:t>
              </a:r>
              <a:r>
                <a:rPr b="1" lang="en" sz="1100">
                  <a:solidFill>
                    <a:schemeClr val="dk1"/>
                  </a:solidFill>
                </a:rPr>
                <a:t>ms</a:t>
              </a:r>
              <a:r>
                <a:rPr lang="en" sz="1100">
                  <a:solidFill>
                    <a:schemeClr val="dk1"/>
                  </a:solidFill>
                </a:rPr>
                <a:t>) and then </a:t>
              </a:r>
              <a:r>
                <a:rPr b="1" lang="en" sz="1100">
                  <a:solidFill>
                    <a:schemeClr val="dk1"/>
                  </a:solidFill>
                </a:rPr>
                <a:t>resolve</a:t>
              </a:r>
              <a:r>
                <a:rPr lang="en" sz="1100">
                  <a:solidFill>
                    <a:schemeClr val="dk1"/>
                  </a:solidFill>
                </a:rPr>
                <a:t> with the message </a:t>
              </a:r>
              <a:r>
                <a:rPr b="1" lang="en" sz="1100">
                  <a:solidFill>
                    <a:schemeClr val="dk1"/>
                  </a:solidFill>
                </a:rPr>
                <a:t>"Action completed after [ms] ms"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8" name="Google Shape;228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8200" y="1086300"/>
            <a:ext cx="4962526" cy="324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8" name="Google Shape;238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156700"/>
            <a:ext cx="5055921" cy="187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8" name="Google Shape;248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 </a:t>
            </a:r>
            <a:r>
              <a:rPr b="1" lang="en" sz="1100">
                <a:solidFill>
                  <a:schemeClr val="dk1"/>
                </a:solidFill>
              </a:rPr>
              <a:t>What is a JavaScript Promise?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A guarantee that a function will not have any errors.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A function that runs synchronously.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An object that represents the eventual completion (or failure) of an asynchronous operation.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A special type of variable for storing boolean values.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1" name="Google Shape;251;p3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310950" y="3313725"/>
            <a:ext cx="626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c) An object that represents the eventual completion (or failure) of an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 asynchronous operation.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4" name="Google Shape;254;p30"/>
          <p:cNvGrpSpPr/>
          <p:nvPr/>
        </p:nvGrpSpPr>
        <p:grpSpPr>
          <a:xfrm>
            <a:off x="310900" y="3959263"/>
            <a:ext cx="6005825" cy="897313"/>
            <a:chOff x="310900" y="3959263"/>
            <a:chExt cx="6005825" cy="897313"/>
          </a:xfrm>
        </p:grpSpPr>
        <p:sp>
          <p:nvSpPr>
            <p:cNvPr id="255" name="Google Shape;255;p3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56" name="Google Shape;256;p30"/>
            <p:cNvSpPr txBox="1"/>
            <p:nvPr/>
          </p:nvSpPr>
          <p:spPr>
            <a:xfrm>
              <a:off x="1607925" y="3959275"/>
              <a:ext cx="47088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A Promise is a placeholder for a future value. It allows you to write asynchronous code that is easier to manage than traditional callbacks.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2" name="Google Shape;262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 </a:t>
            </a:r>
            <a:r>
              <a:rPr b="1" lang="en" sz="1100">
                <a:solidFill>
                  <a:schemeClr val="dk1"/>
                </a:solidFill>
              </a:rPr>
              <a:t>What are the three states a Promise can be in?</a:t>
            </a:r>
            <a:r>
              <a:rPr lang="en" sz="1100">
                <a:solidFill>
                  <a:schemeClr val="dk1"/>
                </a:solidFill>
              </a:rPr>
              <a:t> </a:t>
            </a:r>
            <a:br>
              <a:rPr lang="en" sz="1100">
                <a:solidFill>
                  <a:schemeClr val="dk1"/>
                </a:solidFill>
              </a:rPr>
            </a:b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Start, Middle, End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Ready, Set, Go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Pending, Fulfilled, Rejected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Async, Await, Sync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5" name="Google Shape;265;p3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c) Pending, Fulfilled, Rejected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id="268" name="Google Shape;268;p31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269" name="Google Shape;269;p3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70" name="Google Shape;270;p31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A Promise starts as </a:t>
              </a:r>
              <a:r>
                <a:rPr b="1" lang="en" sz="1100">
                  <a:solidFill>
                    <a:schemeClr val="dk1"/>
                  </a:solidFill>
                </a:rPr>
                <a:t>pending</a:t>
              </a:r>
              <a:r>
                <a:rPr lang="en" sz="1100">
                  <a:solidFill>
                    <a:schemeClr val="dk1"/>
                  </a:solidFill>
                </a:rPr>
                <a:t>, and once the asynchronous operation is complete, it settles into either a </a:t>
              </a:r>
              <a:r>
                <a:rPr b="1" lang="en" sz="1100">
                  <a:solidFill>
                    <a:schemeClr val="dk1"/>
                  </a:solidFill>
                </a:rPr>
                <a:t>fulfilled</a:t>
              </a:r>
              <a:r>
                <a:rPr lang="en" sz="1100">
                  <a:solidFill>
                    <a:schemeClr val="dk1"/>
                  </a:solidFill>
                </a:rPr>
                <a:t> (successful) or </a:t>
              </a:r>
              <a:r>
                <a:rPr b="1" lang="en" sz="1100">
                  <a:solidFill>
                    <a:schemeClr val="dk1"/>
                  </a:solidFill>
                </a:rPr>
                <a:t>rejected</a:t>
              </a:r>
              <a:r>
                <a:rPr lang="en" sz="1100">
                  <a:solidFill>
                    <a:schemeClr val="dk1"/>
                  </a:solidFill>
                </a:rPr>
                <a:t> (failed) state.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6" name="Google Shape;276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https://javascript.info/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84" name="Google Shape;284;p3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86" name="Google Shape;286;p33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87" name="Google Shape;287;p3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288" name="Google Shape;288;p3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9" name="Google Shape;289;p33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290" name="Google Shape;290;p33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