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94" r:id="rId21"/>
    <p:sldId id="295" r:id="rId22"/>
  </p:sldIdLst>
  <p:sldSz cx="9144000" cy="5143500" type="screen16x9"/>
  <p:notesSz cx="6858000" cy="9144000"/>
  <p:embeddedFontLst>
    <p:embeddedFont>
      <p:font typeface="Poppins" panose="00000500000000000000" pitchFamily="2" charset="0"/>
      <p:regular r:id="rId24"/>
      <p:bold r:id="rId25"/>
      <p:italic r:id="rId26"/>
      <p:boldItalic r:id="rId27"/>
    </p:embeddedFont>
    <p:embeddedFont>
      <p:font typeface="Roboto Slab" pitchFamily="2" charset="0"/>
      <p:regular r:id="rId28"/>
      <p:bold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b76f676d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b76f676d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b76f676d5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b76f676d5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7b76f676d5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7b76f676d5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7b76f676d5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7b76f676d5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7b76f676d5_0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7b76f676d5_0_1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7b76f676d5_0_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7b76f676d5_0_2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b76f676d5_0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7b76f676d5_0_2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7b76f676d5_0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7b76f676d5_0_2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7b76f676d5_0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7b76f676d5_0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7b76f676d5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7b76f676d5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7b76f676d5_0_2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7b76f676d5_0_2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b76f676d5_0_2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7b76f676d5_0_2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7b76f676d5_0_3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7b76f676d5_0_3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7b76f676d5_0_2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7b76f676d5_0_2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7b76f676d5_0_3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7b76f676d5_0_3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77d080cf1a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77d080cf1a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77d080cf1a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77d080cf1a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77d080cf1a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77d080cf1a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77d080cf1a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77d080cf1a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7b76f676d5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37b76f676d5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7b76f676d5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7b76f676d5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jpg"/><Relationship Id="rId5" Type="http://schemas.openxmlformats.org/officeDocument/2006/relationships/hyperlink" Target="http://drive.google.com/file/d/1iTtOd3TLXBEqMRmLAA4GXmaFfSPT17-G/view" TargetMode="Externa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react.dev/" TargetMode="External"/><Relationship Id="rId5" Type="http://schemas.openxmlformats.org/officeDocument/2006/relationships/hyperlink" Target="https://www.w3schools.com/js/" TargetMode="External"/><Relationship Id="rId4" Type="http://schemas.openxmlformats.org/officeDocument/2006/relationships/hyperlink" Target="https://developer.mozilla.org/en-US/docs/Web/JavaScript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95600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55" name="Google Shape;55;p13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4405600" y="2017650"/>
            <a:ext cx="4583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173034"/>
                </a:solidFill>
              </a:rPr>
              <a:t>Course - Web Development - II </a:t>
            </a:r>
            <a:endParaRPr sz="2400" b="1">
              <a:solidFill>
                <a:srgbClr val="173034"/>
              </a:solidFill>
            </a:endParaRPr>
          </a:p>
        </p:txBody>
      </p:sp>
      <p:grpSp>
        <p:nvGrpSpPr>
          <p:cNvPr id="57" name="Google Shape;57;p13"/>
          <p:cNvGrpSpPr/>
          <p:nvPr/>
        </p:nvGrpSpPr>
        <p:grpSpPr>
          <a:xfrm>
            <a:off x="4572000" y="4882896"/>
            <a:ext cx="1607600" cy="292500"/>
            <a:chOff x="5060775" y="4881413"/>
            <a:chExt cx="1607600" cy="292500"/>
          </a:xfrm>
        </p:grpSpPr>
        <p:sp>
          <p:nvSpPr>
            <p:cNvPr id="58" name="Google Shape;58;p13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welcome@krmangalam.edu.in</a:t>
              </a:r>
              <a:endParaRPr sz="900">
                <a:solidFill>
                  <a:schemeClr val="dk1"/>
                </a:solidFill>
              </a:endParaRPr>
            </a:p>
          </p:txBody>
        </p:sp>
        <p:pic>
          <p:nvPicPr>
            <p:cNvPr id="59" name="Google Shape;59;p13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" name="Google Shape;60;p13"/>
          <p:cNvGrpSpPr/>
          <p:nvPr/>
        </p:nvGrpSpPr>
        <p:grpSpPr>
          <a:xfrm>
            <a:off x="7229300" y="4881425"/>
            <a:ext cx="1926000" cy="292500"/>
            <a:chOff x="7229300" y="4881425"/>
            <a:chExt cx="1926000" cy="292500"/>
          </a:xfrm>
        </p:grpSpPr>
        <p:sp>
          <p:nvSpPr>
            <p:cNvPr id="61" name="Google Shape;61;p13"/>
            <p:cNvSpPr txBox="1"/>
            <p:nvPr/>
          </p:nvSpPr>
          <p:spPr>
            <a:xfrm>
              <a:off x="7326500" y="4881425"/>
              <a:ext cx="18288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accent2"/>
                  </a:solidFill>
                </a:rPr>
                <a:t>Sohna Road,Gurugram,Haryana 122103</a:t>
              </a:r>
              <a:endParaRPr sz="700">
                <a:solidFill>
                  <a:schemeClr val="accent2"/>
                </a:solidFill>
              </a:endParaRPr>
            </a:p>
          </p:txBody>
        </p:sp>
        <p:pic>
          <p:nvPicPr>
            <p:cNvPr id="62" name="Google Shape;62;p13" title="location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229300" y="4965192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3" name="Google Shape;63;p13" title="Untitled (2)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042538" y="2662400"/>
            <a:ext cx="3309826" cy="2000826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grpSp>
        <p:nvGrpSpPr>
          <p:cNvPr id="65" name="Google Shape;65;p13"/>
          <p:cNvGrpSpPr/>
          <p:nvPr/>
        </p:nvGrpSpPr>
        <p:grpSpPr>
          <a:xfrm>
            <a:off x="309849" y="1233369"/>
            <a:ext cx="3415942" cy="1911275"/>
            <a:chOff x="788865" y="1515488"/>
            <a:chExt cx="4594407" cy="2387862"/>
          </a:xfrm>
        </p:grpSpPr>
        <p:sp>
          <p:nvSpPr>
            <p:cNvPr id="66" name="Google Shape;66;p13"/>
            <p:cNvSpPr txBox="1"/>
            <p:nvPr/>
          </p:nvSpPr>
          <p:spPr>
            <a:xfrm>
              <a:off x="788865" y="1515488"/>
              <a:ext cx="31977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 b="1" dirty="0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Lecture 32</a:t>
              </a:r>
              <a:r>
                <a:rPr lang="en" sz="2700" dirty="0">
                  <a:solidFill>
                    <a:schemeClr val="lt1"/>
                  </a:solidFill>
                </a:rPr>
                <a:t>:</a:t>
              </a:r>
              <a:endParaRPr sz="2200" dirty="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67" name="Google Shape;67;p13"/>
            <p:cNvSpPr txBox="1"/>
            <p:nvPr/>
          </p:nvSpPr>
          <p:spPr>
            <a:xfrm>
              <a:off x="788875" y="3475300"/>
              <a:ext cx="6990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-By</a:t>
              </a:r>
              <a:endParaRPr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8" name="Google Shape;68;p13"/>
            <p:cNvSpPr txBox="1"/>
            <p:nvPr/>
          </p:nvSpPr>
          <p:spPr>
            <a:xfrm>
              <a:off x="790272" y="2145213"/>
              <a:ext cx="4593000" cy="9232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lvl="0">
                <a:buClr>
                  <a:schemeClr val="dk1"/>
                </a:buClr>
                <a:buSzPts val="1100"/>
              </a:pPr>
              <a:r>
                <a:rPr lang="en-IN" sz="2400" dirty="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React Router Basics</a:t>
              </a:r>
              <a:endParaRPr sz="2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2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9" name="Google Shape;69;p13"/>
            <p:cNvSpPr txBox="1"/>
            <p:nvPr/>
          </p:nvSpPr>
          <p:spPr>
            <a:xfrm>
              <a:off x="1330896" y="3491750"/>
              <a:ext cx="3313200" cy="41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Instructor Name</a:t>
              </a:r>
              <a:endParaRPr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70" name="Google Shape;70;p13" title="png-transparent-js-react-js-logo-react-react-native-logos-icon-removebg-preview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33272" y="3503196"/>
            <a:ext cx="521207" cy="5212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>
            <a:spLocks noGrp="1"/>
          </p:cNvSpPr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Table of Contents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" name="Google Shape;76;p14"/>
          <p:cNvSpPr txBox="1">
            <a:spLocks noGrp="1"/>
          </p:cNvSpPr>
          <p:nvPr>
            <p:ph type="body" idx="1"/>
          </p:nvPr>
        </p:nvSpPr>
        <p:spPr>
          <a:xfrm>
            <a:off x="311700" y="12347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dirty="0">
                <a:solidFill>
                  <a:srgbClr val="273239"/>
                </a:solidFill>
              </a:rPr>
              <a:t>Setting up React Router.</a:t>
            </a:r>
            <a:endParaRPr dirty="0">
              <a:solidFill>
                <a:srgbClr val="273239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dirty="0">
                <a:solidFill>
                  <a:srgbClr val="273239"/>
                </a:solidFill>
              </a:rPr>
              <a:t>Creating Multiple Pages (Routes).</a:t>
            </a:r>
            <a:endParaRPr dirty="0">
              <a:solidFill>
                <a:srgbClr val="273239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dirty="0">
                <a:solidFill>
                  <a:srgbClr val="273239"/>
                </a:solidFill>
              </a:rPr>
              <a:t>Link &amp; NavLink Components.</a:t>
            </a:r>
            <a:endParaRPr dirty="0">
              <a:solidFill>
                <a:srgbClr val="273239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dirty="0">
                <a:solidFill>
                  <a:srgbClr val="273239"/>
                </a:solidFill>
              </a:rPr>
              <a:t>References.</a:t>
            </a:r>
            <a:endParaRPr dirty="0">
              <a:solidFill>
                <a:srgbClr val="273239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dirty="0">
                <a:solidFill>
                  <a:srgbClr val="273239"/>
                </a:solidFill>
              </a:rPr>
              <a:t>The End.</a:t>
            </a:r>
            <a:endParaRPr dirty="0">
              <a:solidFill>
                <a:srgbClr val="273239"/>
              </a:solidFill>
            </a:endParaRPr>
          </a:p>
        </p:txBody>
      </p:sp>
      <p:pic>
        <p:nvPicPr>
          <p:cNvPr id="77" name="Google Shape;77;p1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>
            <a:spLocks noGrp="1"/>
          </p:cNvSpPr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200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sz="22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4" name="Google Shape;84;p1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86" name="Google Shape;86;p15"/>
          <p:cNvSpPr txBox="1"/>
          <p:nvPr/>
        </p:nvSpPr>
        <p:spPr>
          <a:xfrm>
            <a:off x="576075" y="210300"/>
            <a:ext cx="7223700" cy="10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So far, we’ve built apps on a single page. But what if our client asks for Home, About, and Contact — should we build three separate apps?</a:t>
            </a:r>
            <a:endParaRPr sz="37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7" name="Google Shape;87;p15" title="Thinking face-rafiki (3)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31720" y="1261872"/>
            <a:ext cx="4489700" cy="3611880"/>
          </a:xfrm>
          <a:prstGeom prst="rect">
            <a:avLst/>
          </a:prstGeom>
          <a:noFill/>
          <a:ln>
            <a:noFill/>
          </a:ln>
          <a:effectLst>
            <a:outerShdw blurRad="85725" dist="95250" dir="738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>
            <a:spLocks noGrp="1"/>
          </p:cNvSpPr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200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sz="22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3" name="Google Shape;93;p1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95" name="Google Shape;95;p16"/>
          <p:cNvSpPr txBox="1"/>
          <p:nvPr/>
        </p:nvSpPr>
        <p:spPr>
          <a:xfrm>
            <a:off x="576075" y="210300"/>
            <a:ext cx="7223700" cy="10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So far, we’ve built apps on a single page. But what if our client asks for Home, About, and Contact — should we build three separate apps?</a:t>
            </a:r>
            <a:endParaRPr sz="37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311700" y="1487575"/>
            <a:ext cx="4588200" cy="28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No, we don’t need to build three separate apps. React is a Single-Page Application (SPA) framework, which means everything still lives in one page. 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Instead of making separate apps, we can use a library called React Router to handle navigation. 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It lets us define different ‘routes’ like </a:t>
            </a: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/home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/about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, and </a:t>
            </a: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/contact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, and load different components for each, without reloading the whole page.</a:t>
            </a:r>
            <a:endParaRPr sz="21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7" name="Google Shape;97;p16" title="20250821_1128_React SPA Navigation Diagram_simple_compose_01k35k827sf3y8m8k7pd1d0nz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4900" y="1218650"/>
            <a:ext cx="3322550" cy="3746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 txBox="1">
            <a:spLocks noGrp="1"/>
          </p:cNvSpPr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React-Router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3" name="Google Shape;103;p1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105" name="Google Shape;105;p17"/>
          <p:cNvSpPr txBox="1"/>
          <p:nvPr/>
        </p:nvSpPr>
        <p:spPr>
          <a:xfrm>
            <a:off x="311700" y="1227050"/>
            <a:ext cx="7545600" cy="145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React Router is a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library for routing in React applications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It allows you to create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multiple views (pages)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in a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Single-Page Application (SPA)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Instead of reloading the entire page, it loads and switches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different components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based on the URL.</a:t>
            </a:r>
            <a:endParaRPr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 txBox="1">
            <a:spLocks noGrp="1"/>
          </p:cNvSpPr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Setting Up</a:t>
            </a:r>
            <a:r>
              <a:rPr lang="en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React-Router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1" name="Google Shape;111;p1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113" name="Google Shape;113;p18"/>
          <p:cNvSpPr txBox="1"/>
          <p:nvPr/>
        </p:nvSpPr>
        <p:spPr>
          <a:xfrm>
            <a:off x="311700" y="1227050"/>
            <a:ext cx="7545600" cy="8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AutoNum type="arabicPeriod"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Installation of React-Router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Open your terminal inside the React project folder and run: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4" name="Google Shape;114;p18" title="carbon (27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198175"/>
            <a:ext cx="7689300" cy="17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8"/>
          <p:cNvSpPr txBox="1"/>
          <p:nvPr/>
        </p:nvSpPr>
        <p:spPr>
          <a:xfrm>
            <a:off x="311700" y="4161325"/>
            <a:ext cx="7689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This installs the React Router library for web app.</a:t>
            </a:r>
            <a:endParaRPr sz="21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>
            <a:spLocks noGrp="1"/>
          </p:cNvSpPr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Setting Up</a:t>
            </a:r>
            <a:r>
              <a:rPr lang="en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React-Router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1" name="Google Shape;121;p1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123" name="Google Shape;123;p19"/>
          <p:cNvSpPr txBox="1"/>
          <p:nvPr/>
        </p:nvSpPr>
        <p:spPr>
          <a:xfrm>
            <a:off x="311700" y="1011575"/>
            <a:ext cx="7545600" cy="8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2.    Import BrowserRouter in </a:t>
            </a:r>
            <a:r>
              <a:rPr lang="en" b="1">
                <a:solidFill>
                  <a:srgbClr val="85200C"/>
                </a:solidFill>
                <a:latin typeface="Poppins"/>
                <a:ea typeface="Poppins"/>
                <a:cs typeface="Poppins"/>
                <a:sym typeface="Poppins"/>
              </a:rPr>
              <a:t>main.jsx</a:t>
            </a:r>
            <a:endParaRPr sz="1700" b="1">
              <a:solidFill>
                <a:srgbClr val="85200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Wrap your </a:t>
            </a: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&lt;App /&gt;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with </a:t>
            </a: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BrowserRouter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4" name="Google Shape;124;p19" title="carbon (29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813475"/>
            <a:ext cx="6399007" cy="318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>
            <a:spLocks noGrp="1"/>
          </p:cNvSpPr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200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sz="22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0" name="Google Shape;130;p2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132" name="Google Shape;132;p20"/>
          <p:cNvSpPr txBox="1"/>
          <p:nvPr/>
        </p:nvSpPr>
        <p:spPr>
          <a:xfrm>
            <a:off x="576075" y="210300"/>
            <a:ext cx="7223700" cy="10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Imagine Facebook had only one screen — you’d see your newsfeed but never reach your profile, messages, or settings. How would that feel?</a:t>
            </a:r>
            <a:endParaRPr sz="37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3" name="Google Shape;133;p20" title="Thinking face-rafiki (3)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31720" y="1261872"/>
            <a:ext cx="4489700" cy="3611880"/>
          </a:xfrm>
          <a:prstGeom prst="rect">
            <a:avLst/>
          </a:prstGeom>
          <a:noFill/>
          <a:ln>
            <a:noFill/>
          </a:ln>
          <a:effectLst>
            <a:outerShdw blurRad="85725" dist="95250" dir="738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>
            <a:spLocks noGrp="1"/>
          </p:cNvSpPr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200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sz="22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9" name="Google Shape;139;p2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141" name="Google Shape;141;p21"/>
          <p:cNvSpPr txBox="1"/>
          <p:nvPr/>
        </p:nvSpPr>
        <p:spPr>
          <a:xfrm>
            <a:off x="576075" y="210300"/>
            <a:ext cx="7223700" cy="10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Imagine Facebook had only one screen — you’d see your newsfeed but never reach your profile, messages, or settings. How would that feel?</a:t>
            </a:r>
            <a:endParaRPr sz="37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2" name="Google Shape;142;p21"/>
          <p:cNvSpPr txBox="1"/>
          <p:nvPr/>
        </p:nvSpPr>
        <p:spPr>
          <a:xfrm>
            <a:off x="311700" y="1798525"/>
            <a:ext cx="4453500" cy="22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It would feel incomplete and frustrating, right? A real app needs multiple sections or pages. That’s why in React we use </a:t>
            </a:r>
            <a:r>
              <a:rPr lang="en" i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Creating Multiple Pages (Routes)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By defining a </a:t>
            </a:r>
            <a:r>
              <a:rPr lang="en" i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route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for each page — like NewsFeed, Profile, Messages, or Settings — users can smoothly navigate between them inside the same app.</a:t>
            </a:r>
            <a:endParaRPr sz="21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3" name="Google Shape;143;p21" title="20250821_1225_Facebook App Navigation_simple_compose_01k35pg4t2f7gr72w20z1jrenf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52075" y="1304925"/>
            <a:ext cx="3007749" cy="3611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Routes and Route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9" name="Google Shape;149;p22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151" name="Google Shape;151;p22"/>
          <p:cNvSpPr txBox="1"/>
          <p:nvPr/>
        </p:nvSpPr>
        <p:spPr>
          <a:xfrm>
            <a:off x="371050" y="1234450"/>
            <a:ext cx="7957800" cy="32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&lt;Routes&gt;</a:t>
            </a:r>
            <a:endParaRPr sz="1600"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Think of it as a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container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or a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switchboard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It holds all the possible paths (routes) your app can take.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Only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one route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inside &lt;Routes&gt; will match and render at a time.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&lt;Route&gt;</a:t>
            </a:r>
            <a:endParaRPr sz="1600"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Defines a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single path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in your app.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Each &lt;Route&gt; maps a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URL path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(like /about) to a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component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(like &lt;About /&gt;).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rgbClr val="273239"/>
              </a:buClr>
              <a:buSzPts val="1400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Multiple &lt;Route&gt; components live inside &lt;Routes&gt;.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2" name="Google Shape;152;p22"/>
          <p:cNvSpPr txBox="1"/>
          <p:nvPr/>
        </p:nvSpPr>
        <p:spPr>
          <a:xfrm>
            <a:off x="273850" y="4584300"/>
            <a:ext cx="8152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Together : </a:t>
            </a:r>
            <a:r>
              <a:rPr lang="en"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&lt;Routes&gt;</a:t>
            </a: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manages all exits, </a:t>
            </a:r>
            <a:r>
              <a:rPr lang="en"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&lt;Route&gt;</a:t>
            </a: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decides </a:t>
            </a:r>
            <a:r>
              <a:rPr lang="en" sz="1200" i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which exact path</a:t>
            </a: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the user takes.</a:t>
            </a:r>
            <a:endParaRPr sz="19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Example : Routes and Route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8" name="Google Shape;158;p23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pic>
        <p:nvPicPr>
          <p:cNvPr id="160" name="Google Shape;160;p23" title="carbon (30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2213" y="1014975"/>
            <a:ext cx="6887974" cy="391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 txBox="1">
            <a:spLocks noGrp="1"/>
          </p:cNvSpPr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200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sz="22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6" name="Google Shape;166;p2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168" name="Google Shape;168;p24"/>
          <p:cNvSpPr txBox="1"/>
          <p:nvPr/>
        </p:nvSpPr>
        <p:spPr>
          <a:xfrm>
            <a:off x="576075" y="210300"/>
            <a:ext cx="7223700" cy="10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If React Router gives us multiple pages, how do users actually </a:t>
            </a:r>
            <a:r>
              <a:rPr lang="en" sz="1900" b="1" i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navigate</a:t>
            </a:r>
            <a:r>
              <a:rPr lang="en" sz="19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between them? Do they guess the path, or do we give them clickable links?</a:t>
            </a:r>
            <a:endParaRPr sz="19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9" name="Google Shape;169;p24" title="Problem solving-pan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31720" y="1261872"/>
            <a:ext cx="4489705" cy="3611880"/>
          </a:xfrm>
          <a:prstGeom prst="rect">
            <a:avLst/>
          </a:prstGeom>
          <a:noFill/>
          <a:ln>
            <a:noFill/>
          </a:ln>
          <a:effectLst>
            <a:outerShdw blurRad="142875" dist="95250" dir="738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5"/>
          <p:cNvSpPr txBox="1">
            <a:spLocks noGrp="1"/>
          </p:cNvSpPr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200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sz="22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5" name="Google Shape;175;p2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sp>
        <p:nvSpPr>
          <p:cNvPr id="177" name="Google Shape;177;p25"/>
          <p:cNvSpPr txBox="1"/>
          <p:nvPr/>
        </p:nvSpPr>
        <p:spPr>
          <a:xfrm>
            <a:off x="576075" y="210300"/>
            <a:ext cx="7223700" cy="10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If React Router gives us multiple pages, how do users actually </a:t>
            </a:r>
            <a:r>
              <a:rPr lang="en" sz="1900" b="1" i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navigate</a:t>
            </a:r>
            <a:r>
              <a:rPr lang="en" sz="19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between them? Do they guess the path, or do we give them clickable links?</a:t>
            </a:r>
            <a:endParaRPr sz="19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8" name="Google Shape;178;p25"/>
          <p:cNvSpPr txBox="1"/>
          <p:nvPr/>
        </p:nvSpPr>
        <p:spPr>
          <a:xfrm>
            <a:off x="311700" y="1798525"/>
            <a:ext cx="4453500" cy="26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Of course, users don’t guess the path — we give them clickable links to move between pages.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In React Router, we use the </a:t>
            </a: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Link 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component instead of the regular </a:t>
            </a: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&lt;a&gt;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tag, because Link lets us navigate smoothly without reloading the page. 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And if we want to show which page is currently active (like highlighting the ‘Cart’ tab on Amazon), we use </a:t>
            </a: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NavLink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24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9" name="Google Shape;179;p25" title="20250821_1621_Interactive Navigation Bar_simple_compose_01k3640tp8f3qbwx3h12t745hw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19325" y="1689950"/>
            <a:ext cx="3433874" cy="2856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6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Link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5" name="Google Shape;185;p2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sp>
        <p:nvSpPr>
          <p:cNvPr id="187" name="Google Shape;187;p26"/>
          <p:cNvSpPr txBox="1"/>
          <p:nvPr/>
        </p:nvSpPr>
        <p:spPr>
          <a:xfrm>
            <a:off x="310900" y="1014975"/>
            <a:ext cx="7470600" cy="10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Used to navigate between pages in a React Router app.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Works like an </a:t>
            </a: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&lt;a&gt;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tag, but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does not reload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the whole page.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Gives smooth navigation in a Single-Page Application (SPA).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8" name="Google Shape;188;p26" title="carbon (3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77025" y="2102775"/>
            <a:ext cx="4646501" cy="2906249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6"/>
          <p:cNvSpPr txBox="1"/>
          <p:nvPr/>
        </p:nvSpPr>
        <p:spPr>
          <a:xfrm>
            <a:off x="310900" y="2171550"/>
            <a:ext cx="1496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Example : 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7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NavLink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5" name="Google Shape;195;p2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sp>
        <p:nvSpPr>
          <p:cNvPr id="197" name="Google Shape;197;p27"/>
          <p:cNvSpPr txBox="1"/>
          <p:nvPr/>
        </p:nvSpPr>
        <p:spPr>
          <a:xfrm>
            <a:off x="310900" y="1014975"/>
            <a:ext cx="7470600" cy="10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Works like </a:t>
            </a: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Link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but adds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styling for the active link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Automatically applies a class when the route is active.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Useful for highlighting the current page in a navbar.</a:t>
            </a:r>
            <a:endParaRPr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8" name="Google Shape;198;p27"/>
          <p:cNvSpPr txBox="1"/>
          <p:nvPr/>
        </p:nvSpPr>
        <p:spPr>
          <a:xfrm>
            <a:off x="310900" y="2171550"/>
            <a:ext cx="1496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Example : 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9" name="Google Shape;199;p27" title="carbon (32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31625" y="2102775"/>
            <a:ext cx="6571074" cy="2889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8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5" name="Google Shape;205;p2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8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grpSp>
        <p:nvGrpSpPr>
          <p:cNvPr id="208" name="Google Shape;208;p28"/>
          <p:cNvGrpSpPr/>
          <p:nvPr/>
        </p:nvGrpSpPr>
        <p:grpSpPr>
          <a:xfrm>
            <a:off x="310894" y="1014975"/>
            <a:ext cx="6003496" cy="4099625"/>
            <a:chOff x="310900" y="1014975"/>
            <a:chExt cx="5656205" cy="4099625"/>
          </a:xfrm>
        </p:grpSpPr>
        <p:sp>
          <p:nvSpPr>
            <p:cNvPr id="209" name="Google Shape;209;p28"/>
            <p:cNvSpPr txBox="1"/>
            <p:nvPr/>
          </p:nvSpPr>
          <p:spPr>
            <a:xfrm>
              <a:off x="310900" y="1014975"/>
              <a:ext cx="5139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1.   </a:t>
              </a:r>
              <a:r>
                <a:rPr lang="en" sz="1100" b="1">
                  <a:solidFill>
                    <a:schemeClr val="dk1"/>
                  </a:solidFill>
                </a:rPr>
                <a:t> </a:t>
              </a:r>
              <a:r>
                <a:rPr lang="en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 Basic Multi-Page Setup</a:t>
              </a:r>
              <a:endParaRPr sz="17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0" name="Google Shape;210;p28"/>
            <p:cNvSpPr txBox="1"/>
            <p:nvPr/>
          </p:nvSpPr>
          <p:spPr>
            <a:xfrm>
              <a:off x="310905" y="1725200"/>
              <a:ext cx="5656200" cy="338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Task :</a:t>
              </a:r>
              <a:endParaRPr sz="1100">
                <a:solidFill>
                  <a:schemeClr val="dk1"/>
                </a:solidFill>
              </a:endParaRPr>
            </a:p>
            <a:p>
              <a:pPr marL="914400" lvl="0" indent="-29845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en" sz="1100">
                  <a:solidFill>
                    <a:schemeClr val="dk1"/>
                  </a:solidFill>
                </a:rPr>
                <a:t>Create a simple two-page application.</a:t>
              </a:r>
              <a:endParaRPr sz="1100">
                <a:solidFill>
                  <a:schemeClr val="dk1"/>
                </a:solidFill>
              </a:endParaRPr>
            </a:p>
            <a:p>
              <a:pPr marL="1371600" lvl="1" indent="-298450" algn="l" rtl="0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lphaLcPeriod"/>
              </a:pPr>
              <a:r>
                <a:rPr lang="en" sz="1100">
                  <a:solidFill>
                    <a:schemeClr val="dk1"/>
                  </a:solidFill>
                </a:rPr>
                <a:t>Set up BrowserRouter in your src/main.jsx file.</a:t>
              </a:r>
              <a:endParaRPr sz="1100">
                <a:solidFill>
                  <a:schemeClr val="dk1"/>
                </a:solidFill>
              </a:endParaRPr>
            </a:p>
            <a:p>
              <a:pPr marL="1371600" lvl="1" indent="-298450" algn="l" rtl="0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lphaLcPeriod"/>
              </a:pPr>
              <a:r>
                <a:rPr lang="en" sz="1100">
                  <a:solidFill>
                    <a:schemeClr val="dk1"/>
                  </a:solidFill>
                </a:rPr>
                <a:t>Create two simple components: HomePage (renders &lt;h1&gt;Home&lt;/h1&gt;) and AboutPage (renders &lt;h1&gt;About&lt;/h1&gt;).</a:t>
              </a:r>
              <a:endParaRPr sz="1100">
                <a:solidFill>
                  <a:schemeClr val="dk1"/>
                </a:solidFill>
              </a:endParaRPr>
            </a:p>
            <a:p>
              <a:pPr marL="1371600" lvl="1" indent="-298450" algn="l" rtl="0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lphaLcPeriod"/>
              </a:pPr>
              <a:r>
                <a:rPr lang="en" sz="1100">
                  <a:solidFill>
                    <a:schemeClr val="dk1"/>
                  </a:solidFill>
                </a:rPr>
                <a:t>In App.jsx, define routes for / and /about.</a:t>
              </a:r>
              <a:endParaRPr sz="1100">
                <a:solidFill>
                  <a:schemeClr val="dk1"/>
                </a:solidFill>
              </a:endParaRPr>
            </a:p>
            <a:p>
              <a:pPr marL="1371600" lvl="1" indent="-29845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lphaLcPeriod"/>
              </a:pPr>
              <a:r>
                <a:rPr lang="en" sz="1100">
                  <a:solidFill>
                    <a:schemeClr val="dk1"/>
                  </a:solidFill>
                </a:rPr>
                <a:t>Add &lt;Link&gt; components to navigate between the two pages.</a:t>
              </a:r>
              <a:endParaRPr sz="1100">
                <a:solidFill>
                  <a:schemeClr val="dk1"/>
                </a:solidFill>
              </a:endParaRPr>
            </a:p>
            <a:p>
              <a:pPr marL="91440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endParaRPr sz="1100">
                <a:solidFill>
                  <a:schemeClr val="dk1"/>
                </a:solidFill>
              </a:endParaRPr>
            </a:p>
            <a:p>
              <a:pPr marL="91440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endParaRPr sz="1100">
                <a:solidFill>
                  <a:schemeClr val="dk1"/>
                </a:solidFill>
              </a:endParaRPr>
            </a:p>
            <a:p>
              <a:pPr marL="91440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endParaRPr sz="1100"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9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16" name="Google Shape;216;p2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9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42389" y="3055750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sp>
        <p:nvSpPr>
          <p:cNvPr id="219" name="Google Shape;219;p29"/>
          <p:cNvSpPr txBox="1"/>
          <p:nvPr/>
        </p:nvSpPr>
        <p:spPr>
          <a:xfrm>
            <a:off x="92400" y="1014975"/>
            <a:ext cx="10497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Solution :</a:t>
            </a:r>
            <a:endParaRPr sz="1700"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0" name="Google Shape;220;p29" title="carbon (39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1650" y="1482050"/>
            <a:ext cx="5837590" cy="3057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0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6" name="Google Shape;226;p3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30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42389" y="3055750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sp>
        <p:nvSpPr>
          <p:cNvPr id="229" name="Google Shape;229;p30"/>
          <p:cNvSpPr txBox="1"/>
          <p:nvPr/>
        </p:nvSpPr>
        <p:spPr>
          <a:xfrm>
            <a:off x="92400" y="1014975"/>
            <a:ext cx="10497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Solution :</a:t>
            </a:r>
            <a:endParaRPr sz="1700"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30" name="Google Shape;230;p30" title="carbon (40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42100" y="770025"/>
            <a:ext cx="5085574" cy="4180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1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36" name="Google Shape;236;p3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31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sp>
        <p:nvSpPr>
          <p:cNvPr id="239" name="Google Shape;239;p31"/>
          <p:cNvSpPr txBox="1"/>
          <p:nvPr/>
        </p:nvSpPr>
        <p:spPr>
          <a:xfrm>
            <a:off x="310900" y="1086300"/>
            <a:ext cx="10497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Output :</a:t>
            </a:r>
            <a:endParaRPr sz="1700"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40" name="Google Shape;240;p31" title="Screen Recording 2025-08-25 185025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5124" y="1486150"/>
            <a:ext cx="5313150" cy="339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51"/>
          <p:cNvSpPr txBox="1">
            <a:spLocks noGrp="1"/>
          </p:cNvSpPr>
          <p:nvPr>
            <p:ph type="title"/>
          </p:nvPr>
        </p:nvSpPr>
        <p:spPr>
          <a:xfrm>
            <a:off x="310896" y="21031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References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46" name="Google Shape;446;p5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51"/>
          <p:cNvSpPr txBox="1"/>
          <p:nvPr/>
        </p:nvSpPr>
        <p:spPr>
          <a:xfrm>
            <a:off x="358850" y="1181200"/>
            <a:ext cx="8520600" cy="3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MDN Web Docs</a:t>
            </a:r>
            <a:r>
              <a:rPr lang="en" sz="1100" b="1">
                <a:solidFill>
                  <a:schemeClr val="dk1"/>
                </a:solidFill>
              </a:rPr>
              <a:t> : </a:t>
            </a:r>
            <a:r>
              <a:rPr lang="en" sz="1100" i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Comprehensive and official documentation for JS.</a:t>
            </a:r>
            <a:br>
              <a:rPr lang="en" sz="1100" i="1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🔗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https://developer.mozilla.org/en-US/docs/Web/JavaScript</a:t>
            </a:r>
            <a:endParaRPr sz="1100" u="sng">
              <a:solidFill>
                <a:schemeClr val="hlink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u="sng">
              <a:solidFill>
                <a:schemeClr val="hlink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u="sng">
              <a:solidFill>
                <a:schemeClr val="hlink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u="sng">
              <a:solidFill>
                <a:schemeClr val="hlink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W3Schools – JS Tutorial : </a:t>
            </a:r>
            <a:r>
              <a:rPr lang="en" sz="1100" i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Beginner-friendly JS tutorials with examples and interactive editors.</a:t>
            </a:r>
            <a:br>
              <a:rPr lang="en" sz="1100" i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100">
                <a:solidFill>
                  <a:schemeClr val="dk1"/>
                </a:solidFill>
              </a:rPr>
              <a:t> 🔗</a:t>
            </a:r>
            <a:r>
              <a:rPr lang="en" sz="1100" u="sng">
                <a:solidFill>
                  <a:schemeClr val="hlink"/>
                </a:solidFill>
                <a:hlinkClick r:id="rId5"/>
              </a:rPr>
              <a:t> https://www.w3schools.com/js/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react.dev -</a:t>
            </a:r>
            <a:r>
              <a:rPr lang="en" sz="1100" b="1" i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100" i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comprehensive, tutorial-style website that deeply explores core React concepts, including components, state, effects, and hooks, through interactive examples and in-depth explanations.</a:t>
            </a:r>
            <a:endParaRPr sz="1100" i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🔗</a:t>
            </a:r>
            <a:r>
              <a:rPr lang="en" sz="1100" u="sng">
                <a:solidFill>
                  <a:schemeClr val="hlink"/>
                </a:solidFill>
                <a:hlinkClick r:id="rId6"/>
              </a:rPr>
              <a:t>https://react.dev/</a:t>
            </a:r>
            <a:endParaRPr sz="1100" i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8" name="Google Shape;448;p5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52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95600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454" name="Google Shape;454;p52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52"/>
          <p:cNvSpPr txBox="1"/>
          <p:nvPr/>
        </p:nvSpPr>
        <p:spPr>
          <a:xfrm>
            <a:off x="4407400" y="2020825"/>
            <a:ext cx="4636200" cy="5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173034"/>
                </a:solidFill>
              </a:rPr>
              <a:t>Course - Web Development - II</a:t>
            </a:r>
            <a:endParaRPr sz="2400" b="1">
              <a:solidFill>
                <a:srgbClr val="173034"/>
              </a:solidFill>
            </a:endParaRPr>
          </a:p>
        </p:txBody>
      </p:sp>
      <p:grpSp>
        <p:nvGrpSpPr>
          <p:cNvPr id="456" name="Google Shape;456;p52"/>
          <p:cNvGrpSpPr/>
          <p:nvPr/>
        </p:nvGrpSpPr>
        <p:grpSpPr>
          <a:xfrm>
            <a:off x="4572000" y="4881413"/>
            <a:ext cx="1607600" cy="292500"/>
            <a:chOff x="5060775" y="4881413"/>
            <a:chExt cx="1607600" cy="292500"/>
          </a:xfrm>
        </p:grpSpPr>
        <p:sp>
          <p:nvSpPr>
            <p:cNvPr id="457" name="Google Shape;457;p52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welcome@krmangalam.edu.in</a:t>
              </a:r>
              <a:endParaRPr sz="900">
                <a:solidFill>
                  <a:schemeClr val="dk1"/>
                </a:solidFill>
              </a:endParaRPr>
            </a:p>
          </p:txBody>
        </p:sp>
        <p:pic>
          <p:nvPicPr>
            <p:cNvPr id="458" name="Google Shape;458;p52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9" name="Google Shape;459;p52"/>
          <p:cNvSpPr txBox="1"/>
          <p:nvPr/>
        </p:nvSpPr>
        <p:spPr>
          <a:xfrm>
            <a:off x="7326500" y="4881425"/>
            <a:ext cx="23400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accent2"/>
                </a:solidFill>
              </a:rPr>
              <a:t>Sohna Road,Gurugram,Haryana 122103</a:t>
            </a:r>
            <a:endParaRPr sz="700">
              <a:solidFill>
                <a:schemeClr val="accent2"/>
              </a:solidFill>
            </a:endParaRPr>
          </a:p>
        </p:txBody>
      </p:sp>
      <p:pic>
        <p:nvPicPr>
          <p:cNvPr id="460" name="Google Shape;460;p52" title="location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29300" y="4959088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52"/>
          <p:cNvSpPr txBox="1">
            <a:spLocks noGrp="1"/>
          </p:cNvSpPr>
          <p:nvPr>
            <p:ph type="sldNum" idx="12"/>
          </p:nvPr>
        </p:nvSpPr>
        <p:spPr>
          <a:xfrm>
            <a:off x="8494883" y="464826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  <p:sp>
        <p:nvSpPr>
          <p:cNvPr id="462" name="Google Shape;462;p52"/>
          <p:cNvSpPr txBox="1"/>
          <p:nvPr/>
        </p:nvSpPr>
        <p:spPr>
          <a:xfrm>
            <a:off x="1033275" y="1691650"/>
            <a:ext cx="2313000" cy="1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Thanks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For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Watching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63" name="Google Shape;463;p52" title="Untitled (2)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038344" y="2660904"/>
            <a:ext cx="3309826" cy="2000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975</Words>
  <Application>Microsoft Office PowerPoint</Application>
  <PresentationFormat>On-screen Show (16:9)</PresentationFormat>
  <Paragraphs>118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Roboto Slab</vt:lpstr>
      <vt:lpstr>Poppins</vt:lpstr>
      <vt:lpstr>Arial</vt:lpstr>
      <vt:lpstr>Simple Light</vt:lpstr>
      <vt:lpstr>PowerPoint Presentation</vt:lpstr>
      <vt:lpstr>|  Table of Contents</vt:lpstr>
      <vt:lpstr>|  </vt:lpstr>
      <vt:lpstr>|  </vt:lpstr>
      <vt:lpstr>|  React-Router</vt:lpstr>
      <vt:lpstr>|  Setting Up React-Router</vt:lpstr>
      <vt:lpstr>|  Setting Up React-Router</vt:lpstr>
      <vt:lpstr>|  </vt:lpstr>
      <vt:lpstr>|  </vt:lpstr>
      <vt:lpstr>| Routes and Route</vt:lpstr>
      <vt:lpstr>| Example : Routes and Route</vt:lpstr>
      <vt:lpstr>|  </vt:lpstr>
      <vt:lpstr>|  </vt:lpstr>
      <vt:lpstr>| Link</vt:lpstr>
      <vt:lpstr>| NavLink</vt:lpstr>
      <vt:lpstr>| Coding Questions</vt:lpstr>
      <vt:lpstr>| Coding Questions</vt:lpstr>
      <vt:lpstr>| Coding Questions</vt:lpstr>
      <vt:lpstr>| Coding Questions</vt:lpstr>
      <vt:lpstr>|  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Love Porwal</cp:lastModifiedBy>
  <cp:revision>2</cp:revision>
  <dcterms:modified xsi:type="dcterms:W3CDTF">2026-03-17T14:36:11Z</dcterms:modified>
</cp:coreProperties>
</file>