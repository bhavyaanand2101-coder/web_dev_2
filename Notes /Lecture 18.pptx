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3EB540-696D-41C7-8B5B-5BC2F80C0DC6}">
  <a:tblStyle styleId="{E33EB540-696D-41C7-8B5B-5BC2F80C0D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c2e33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c2e33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bc2e33cc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bc2e33cc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c2e33cc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bc2e33cc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bc2e33cca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bc2e33cca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bc2e33cca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bc2e33cca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bc2e33cca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bc2e33cca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bc2e33cc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bc2e33cc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bc2e33cca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bc2e33cca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bc2e33cca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bc2e33cca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c2e33cca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bc2e33cca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bc2e33cca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bc2e33cca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bc2e33cca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bc2e33cca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c2e33cca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bc2e33cca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0768f92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0768f92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0768f922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0768f922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bc2e33cc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bc2e33cc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bc2e33cc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bc2e33cc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bc2e33c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bc2e33c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bc2e33cca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bc2e33cca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bc2e33cc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bc2e33cc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1.jp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3024" y="1247040"/>
            <a:ext cx="3415942" cy="3185076"/>
            <a:chOff x="309849" y="1233369"/>
            <a:chExt cx="3415942" cy="3239829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rgbClr val="FFFFFF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18</a:t>
                </a:r>
                <a:r>
                  <a:rPr lang="en" sz="2700">
                    <a:solidFill>
                      <a:srgbClr val="FFFFFF"/>
                    </a:solidFill>
                  </a:rPr>
                  <a:t>:</a:t>
                </a:r>
                <a:endParaRPr sz="22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2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13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Storage &amp; Advanced Functions</a:t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6422" y="3951990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Local </a:t>
            </a:r>
            <a:r>
              <a:rPr lang="en" sz="1800">
                <a:solidFill>
                  <a:srgbClr val="273239"/>
                </a:solidFill>
              </a:rPr>
              <a:t>Storage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Session Storage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Cookies </a:t>
            </a:r>
            <a:r>
              <a:rPr lang="en" sz="1800">
                <a:solidFill>
                  <a:srgbClr val="273239"/>
                </a:solidFill>
              </a:rPr>
              <a:t>Storage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Generators &amp; currying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</a:t>
            </a:r>
            <a:r>
              <a:rPr b="1" lang="en" sz="2500">
                <a:solidFill>
                  <a:srgbClr val="073763"/>
                </a:solidFill>
              </a:rPr>
              <a:t>Local Storage</a:t>
            </a:r>
            <a:endParaRPr b="1" sz="2500">
              <a:solidFill>
                <a:srgbClr val="073763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48825" y="1142250"/>
            <a:ext cx="5095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Local Storage</a:t>
            </a:r>
            <a:r>
              <a:rPr lang="en" sz="1100">
                <a:solidFill>
                  <a:schemeClr val="dk1"/>
                </a:solidFill>
              </a:rPr>
              <a:t> is a browser storage mechanism that allows us to store data in the form of </a:t>
            </a:r>
            <a:r>
              <a:rPr b="1" lang="en" sz="1100">
                <a:solidFill>
                  <a:schemeClr val="dk1"/>
                </a:solidFill>
              </a:rPr>
              <a:t>key–value pairs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data stored in Local Storage </a:t>
            </a:r>
            <a:r>
              <a:rPr b="1" lang="en" sz="1100">
                <a:solidFill>
                  <a:schemeClr val="dk1"/>
                </a:solidFill>
              </a:rPr>
              <a:t>does not expire</a:t>
            </a:r>
            <a:r>
              <a:rPr lang="en" sz="1100">
                <a:solidFill>
                  <a:schemeClr val="dk1"/>
                </a:solidFill>
              </a:rPr>
              <a:t> and remains available even after the browser is closed or the system is restarted.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459800" y="2434950"/>
            <a:ext cx="4746900" cy="17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Characteristics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is stored </a:t>
            </a:r>
            <a:r>
              <a:rPr b="1" lang="en" sz="1100">
                <a:solidFill>
                  <a:schemeClr val="dk1"/>
                </a:solidFill>
              </a:rPr>
              <a:t>per domain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is stored as </a:t>
            </a:r>
            <a:r>
              <a:rPr b="1" lang="en" sz="1100">
                <a:solidFill>
                  <a:schemeClr val="dk1"/>
                </a:solidFill>
              </a:rPr>
              <a:t>strings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Maximum size is around </a:t>
            </a:r>
            <a:r>
              <a:rPr b="1" lang="en" sz="1100">
                <a:solidFill>
                  <a:schemeClr val="dk1"/>
                </a:solidFill>
              </a:rPr>
              <a:t>5–10 MB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remains until </a:t>
            </a:r>
            <a:r>
              <a:rPr b="1" lang="en" sz="1100">
                <a:solidFill>
                  <a:schemeClr val="dk1"/>
                </a:solidFill>
              </a:rPr>
              <a:t>manually removed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</a:t>
            </a:r>
            <a:r>
              <a:rPr b="1" lang="en" sz="2500">
                <a:solidFill>
                  <a:srgbClr val="073763"/>
                </a:solidFill>
              </a:rPr>
              <a:t>Local Storage</a:t>
            </a:r>
            <a:endParaRPr b="1" sz="2500">
              <a:solidFill>
                <a:srgbClr val="073763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46400" y="1011600"/>
            <a:ext cx="51336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Common Use Cases</a:t>
            </a:r>
            <a:endParaRPr b="1" sz="17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Saving user preferences (theme, language)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Storing tokens (not recommended for sensitive data)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Remembering login state (basic apps)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000" y="2518350"/>
            <a:ext cx="2929200" cy="20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5011200" y="2518350"/>
            <a:ext cx="3461400" cy="1352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6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Important Note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Local Storage is </a:t>
            </a:r>
            <a:r>
              <a:rPr b="1" lang="en" sz="1100">
                <a:solidFill>
                  <a:schemeClr val="dk1"/>
                </a:solidFill>
              </a:rPr>
              <a:t>not secure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should </a:t>
            </a:r>
            <a:r>
              <a:rPr b="1" lang="en" sz="1100">
                <a:solidFill>
                  <a:schemeClr val="dk1"/>
                </a:solidFill>
              </a:rPr>
              <a:t>never</a:t>
            </a:r>
            <a:r>
              <a:rPr lang="en" sz="1100">
                <a:solidFill>
                  <a:schemeClr val="dk1"/>
                </a:solidFill>
              </a:rPr>
              <a:t> be used to store passwords or sensitive information.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414D"/>
                </a:solidFill>
              </a:rPr>
              <a:t>Session Storage</a:t>
            </a:r>
            <a:endParaRPr b="1" sz="2400">
              <a:solidFill>
                <a:srgbClr val="2E414D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11700" y="1202400"/>
            <a:ext cx="60099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Session Storage</a:t>
            </a:r>
            <a:r>
              <a:rPr lang="en" sz="1100">
                <a:solidFill>
                  <a:schemeClr val="dk1"/>
                </a:solidFill>
              </a:rPr>
              <a:t> is similar to Local Storage, but the data is stored </a:t>
            </a:r>
            <a:r>
              <a:rPr b="1" lang="en" sz="1100">
                <a:solidFill>
                  <a:schemeClr val="dk1"/>
                </a:solidFill>
              </a:rPr>
              <a:t>only for one browser session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Once the browser tab or window is closed, the data is </a:t>
            </a:r>
            <a:r>
              <a:rPr b="1" lang="en" sz="1100">
                <a:solidFill>
                  <a:schemeClr val="dk1"/>
                </a:solidFill>
              </a:rPr>
              <a:t>automatically deleted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39200" y="2367600"/>
            <a:ext cx="43344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Key Characteristics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exists </a:t>
            </a:r>
            <a:r>
              <a:rPr b="1" lang="en" sz="1100">
                <a:solidFill>
                  <a:schemeClr val="dk1"/>
                </a:solidFill>
              </a:rPr>
              <a:t>only while the tab is open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is not shared across tabs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Stored as </a:t>
            </a:r>
            <a:r>
              <a:rPr b="1" lang="en" sz="1100">
                <a:solidFill>
                  <a:schemeClr val="dk1"/>
                </a:solidFill>
              </a:rPr>
              <a:t>key–value pairs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Size limit similar to Local Storage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Session Storage</a:t>
            </a: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727200" y="1094400"/>
            <a:ext cx="3000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Common Use Cases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Temporary form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Multi-step forms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One-time session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200" y="3006300"/>
            <a:ext cx="3000000" cy="1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Cookies Storage</a:t>
            </a: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76900" y="1011600"/>
            <a:ext cx="52191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Cookies</a:t>
            </a:r>
            <a:r>
              <a:rPr lang="en" sz="1100">
                <a:solidFill>
                  <a:schemeClr val="dk1"/>
                </a:solidFill>
              </a:rPr>
              <a:t> are small pieces of data stored in the browser and </a:t>
            </a:r>
            <a:r>
              <a:rPr b="1" lang="en" sz="1100">
                <a:solidFill>
                  <a:schemeClr val="dk1"/>
                </a:solidFill>
              </a:rPr>
              <a:t>sent to the server with every HTTP request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They are mainly used for </a:t>
            </a:r>
            <a:r>
              <a:rPr b="1" lang="en" sz="1100">
                <a:solidFill>
                  <a:schemeClr val="dk1"/>
                </a:solidFill>
              </a:rPr>
              <a:t>authentication, tracking, and session management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619200" y="2203200"/>
            <a:ext cx="51768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Key Characteristics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Stored as </a:t>
            </a:r>
            <a:r>
              <a:rPr b="1" lang="en" sz="1100">
                <a:solidFill>
                  <a:schemeClr val="dk1"/>
                </a:solidFill>
              </a:rPr>
              <a:t>key–value pairs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Automatically sent to server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have an </a:t>
            </a:r>
            <a:r>
              <a:rPr b="1" lang="en" sz="1100">
                <a:solidFill>
                  <a:schemeClr val="dk1"/>
                </a:solidFill>
              </a:rPr>
              <a:t>expiry date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Size limit is around </a:t>
            </a:r>
            <a:r>
              <a:rPr b="1" lang="en" sz="1100">
                <a:solidFill>
                  <a:schemeClr val="dk1"/>
                </a:solidFill>
              </a:rPr>
              <a:t>4 KB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More secure than local storage (when using flags)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Cookies Storage</a:t>
            </a: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600" y="1360800"/>
            <a:ext cx="4101125" cy="14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720000" y="3207600"/>
            <a:ext cx="5306400" cy="1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Cookie Security Flags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HttpOnly</a:t>
            </a:r>
            <a:r>
              <a:rPr lang="en" sz="1100">
                <a:solidFill>
                  <a:schemeClr val="dk1"/>
                </a:solidFill>
              </a:rPr>
              <a:t> → not accessible via JavaScript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Secure</a:t>
            </a:r>
            <a:r>
              <a:rPr lang="en" sz="1100">
                <a:solidFill>
                  <a:schemeClr val="dk1"/>
                </a:solidFill>
              </a:rPr>
              <a:t> → sent only over HTTPS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SameSite</a:t>
            </a:r>
            <a:r>
              <a:rPr lang="en" sz="1100">
                <a:solidFill>
                  <a:schemeClr val="dk1"/>
                </a:solidFill>
              </a:rPr>
              <a:t> → prevents CSRF attacks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" name="Google Shape;146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Cookies Storage</a:t>
            </a: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49" name="Google Shape;149;p21"/>
          <p:cNvGraphicFramePr/>
          <p:nvPr/>
        </p:nvGraphicFramePr>
        <p:xfrm>
          <a:off x="908400" y="144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{E33EB540-696D-41C7-8B5B-5BC2F80C0DC6}</a:tableStyleId>
              </a:tblPr>
              <a:tblGrid>
                <a:gridCol w="1220250"/>
                <a:gridCol w="1518550"/>
                <a:gridCol w="1315175"/>
                <a:gridCol w="14643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Cookies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Local Storage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Session Storage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Sent to server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~4 KB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~5–10 MB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~5 MB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Expiry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Tab-based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Security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(with flags)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Generators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311700" y="1285050"/>
            <a:ext cx="61251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b="1" lang="en" sz="1100">
                <a:solidFill>
                  <a:schemeClr val="dk1"/>
                </a:solidFill>
              </a:rPr>
              <a:t>Generator</a:t>
            </a:r>
            <a:r>
              <a:rPr lang="en" sz="1100">
                <a:solidFill>
                  <a:schemeClr val="dk1"/>
                </a:solidFill>
              </a:rPr>
              <a:t> is a special type of function that can </a:t>
            </a:r>
            <a:r>
              <a:rPr b="1" lang="en" sz="1100">
                <a:solidFill>
                  <a:schemeClr val="dk1"/>
                </a:solidFill>
              </a:rPr>
              <a:t>pause its execution</a:t>
            </a:r>
            <a:r>
              <a:rPr lang="en" sz="1100">
                <a:solidFill>
                  <a:schemeClr val="dk1"/>
                </a:solidFill>
              </a:rPr>
              <a:t> and later </a:t>
            </a:r>
            <a:r>
              <a:rPr b="1" lang="en" sz="1100">
                <a:solidFill>
                  <a:schemeClr val="dk1"/>
                </a:solidFill>
              </a:rPr>
              <a:t>resume from the same point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Generators are created using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function*</a:t>
            </a:r>
            <a:r>
              <a:rPr lang="en" sz="1100">
                <a:solidFill>
                  <a:schemeClr val="dk1"/>
                </a:solidFill>
              </a:rPr>
              <a:t> and use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" sz="1100">
                <a:solidFill>
                  <a:schemeClr val="dk1"/>
                </a:solidFill>
              </a:rPr>
              <a:t> keyword.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468000" y="2455800"/>
            <a:ext cx="5709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Why Generators are Used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 control execution flow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 generate values one by one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 save memory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 handle large data streams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Generators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075" y="1214450"/>
            <a:ext cx="3452000" cy="18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/>
        </p:nvSpPr>
        <p:spPr>
          <a:xfrm>
            <a:off x="4665600" y="1347025"/>
            <a:ext cx="3000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Key Points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" sz="1200">
                <a:solidFill>
                  <a:schemeClr val="dk1"/>
                </a:solidFill>
              </a:rPr>
              <a:t> pauses the function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next()</a:t>
            </a:r>
            <a:r>
              <a:rPr lang="en" sz="1200">
                <a:solidFill>
                  <a:schemeClr val="dk1"/>
                </a:solidFill>
              </a:rPr>
              <a:t> resumes execution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Generators return an </a:t>
            </a:r>
            <a:r>
              <a:rPr b="1" lang="en" sz="1200">
                <a:solidFill>
                  <a:schemeClr val="dk1"/>
                </a:solidFill>
              </a:rPr>
              <a:t>iterator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Currying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345600" y="943200"/>
            <a:ext cx="604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Currying</a:t>
            </a:r>
            <a:r>
              <a:rPr lang="en" sz="1100">
                <a:solidFill>
                  <a:schemeClr val="dk1"/>
                </a:solidFill>
              </a:rPr>
              <a:t> is a functional programming technique where a function with multiple arguments is transformed into a sequence of </a:t>
            </a:r>
            <a:r>
              <a:rPr b="1" lang="en" sz="1100">
                <a:solidFill>
                  <a:schemeClr val="dk1"/>
                </a:solidFill>
              </a:rPr>
              <a:t>functions that take one argument at a time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432000" y="1894500"/>
            <a:ext cx="3837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Currying is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code readability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Helps in function reuse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Used heavily in functional programming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Currying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052" y="1323000"/>
            <a:ext cx="2671264" cy="14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050" y="3485675"/>
            <a:ext cx="2757200" cy="14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476038" y="9576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 (Normal Function)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476050" y="30964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Curried Version</a:t>
            </a:r>
            <a:endParaRPr b="1" sz="1100"/>
          </a:p>
        </p:txBody>
      </p:sp>
      <p:sp>
        <p:nvSpPr>
          <p:cNvPr id="192" name="Google Shape;192;p25"/>
          <p:cNvSpPr txBox="1"/>
          <p:nvPr/>
        </p:nvSpPr>
        <p:spPr>
          <a:xfrm>
            <a:off x="3436138" y="9421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Currying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311700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Real-World Use Case :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393075" y="13808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there is a discount system.</a:t>
            </a:r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482900" y="2111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function</a:t>
            </a:r>
            <a:endParaRPr/>
          </a:p>
        </p:txBody>
      </p:sp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2675" y="2257304"/>
            <a:ext cx="4481099" cy="18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2E414D"/>
                </a:solidFill>
              </a:rPr>
              <a:t>Currying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311700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Real-World Use Case :</a:t>
            </a: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393075" y="13808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there is a discount system.</a:t>
            </a:r>
            <a:endParaRPr/>
          </a:p>
        </p:txBody>
      </p:sp>
      <p:sp>
        <p:nvSpPr>
          <p:cNvPr id="215" name="Google Shape;215;p27"/>
          <p:cNvSpPr txBox="1"/>
          <p:nvPr/>
        </p:nvSpPr>
        <p:spPr>
          <a:xfrm>
            <a:off x="482900" y="2111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Curried Version</a:t>
            </a:r>
            <a:endParaRPr/>
          </a:p>
        </p:txBody>
      </p:sp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1000" y="2111298"/>
            <a:ext cx="4139916" cy="26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100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Which storage stores data permanently in browser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310900" y="1748350"/>
            <a:ext cx="8084700" cy="19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A. Session Storage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B. Cookies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C. Local Storage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D. Cache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>
                <a:solidFill>
                  <a:schemeClr val="dk1"/>
                </a:solidFill>
              </a:rPr>
              <a:t>C. Local Storage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8" name="Google Shape;228;p28"/>
          <p:cNvGrpSpPr/>
          <p:nvPr/>
        </p:nvGrpSpPr>
        <p:grpSpPr>
          <a:xfrm>
            <a:off x="310900" y="3959263"/>
            <a:ext cx="6005825" cy="1049713"/>
            <a:chOff x="310900" y="3959263"/>
            <a:chExt cx="6005825" cy="1049713"/>
          </a:xfrm>
        </p:grpSpPr>
        <p:sp>
          <p:nvSpPr>
            <p:cNvPr id="229" name="Google Shape;229;p2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28"/>
            <p:cNvSpPr txBox="1"/>
            <p:nvPr/>
          </p:nvSpPr>
          <p:spPr>
            <a:xfrm>
              <a:off x="1607925" y="3959275"/>
              <a:ext cx="4708800" cy="1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Local Storage stores data permanently until it is manually removed.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 txBox="1"/>
          <p:nvPr/>
        </p:nvSpPr>
        <p:spPr>
          <a:xfrm>
            <a:off x="310900" y="1228825"/>
            <a:ext cx="816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300">
                <a:solidFill>
                  <a:schemeClr val="dk1"/>
                </a:solidFill>
              </a:rPr>
              <a:t>Which storage is automatically sent to the server with every HTTP request?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310900" y="1748350"/>
            <a:ext cx="80847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A. Local Storage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B. Session Storage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C. IndexedDB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D. Cookies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2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D. Cookies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2" name="Google Shape;242;p29"/>
          <p:cNvGrpSpPr/>
          <p:nvPr/>
        </p:nvGrpSpPr>
        <p:grpSpPr>
          <a:xfrm>
            <a:off x="310900" y="3959263"/>
            <a:ext cx="6005825" cy="1049713"/>
            <a:chOff x="310900" y="3959263"/>
            <a:chExt cx="6005825" cy="1049713"/>
          </a:xfrm>
        </p:grpSpPr>
        <p:sp>
          <p:nvSpPr>
            <p:cNvPr id="243" name="Google Shape;243;p2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44" name="Google Shape;244;p29"/>
            <p:cNvSpPr txBox="1"/>
            <p:nvPr/>
          </p:nvSpPr>
          <p:spPr>
            <a:xfrm>
              <a:off x="1607925" y="3959275"/>
              <a:ext cx="4708800" cy="1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Cookies are attached to every HTTP request and sent to the server.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" name="Google Shape;250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/>
        </p:nvSpPr>
        <p:spPr>
          <a:xfrm>
            <a:off x="310900" y="9655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What is the main purpose of Generators in JavaScript?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349300" y="1365850"/>
            <a:ext cx="8084700" cy="19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A. To execute code faster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B. To pause and resume function execution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C. To store data in memory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D. To handle HTTP requests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3" name="Google Shape;253;p3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349300" y="3188100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B. To pause and resume function execution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6" name="Google Shape;256;p30"/>
          <p:cNvGrpSpPr/>
          <p:nvPr/>
        </p:nvGrpSpPr>
        <p:grpSpPr>
          <a:xfrm>
            <a:off x="215475" y="3917113"/>
            <a:ext cx="6044700" cy="1014313"/>
            <a:chOff x="310900" y="3766488"/>
            <a:chExt cx="6044700" cy="1014313"/>
          </a:xfrm>
        </p:grpSpPr>
        <p:sp>
          <p:nvSpPr>
            <p:cNvPr id="257" name="Google Shape;257;p30"/>
            <p:cNvSpPr txBox="1"/>
            <p:nvPr/>
          </p:nvSpPr>
          <p:spPr>
            <a:xfrm>
              <a:off x="310900" y="3766488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58" name="Google Shape;258;p30"/>
            <p:cNvSpPr txBox="1"/>
            <p:nvPr/>
          </p:nvSpPr>
          <p:spPr>
            <a:xfrm>
              <a:off x="1646800" y="3766500"/>
              <a:ext cx="4708800" cy="10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Generators use </a:t>
              </a:r>
              <a:r>
                <a:rPr lang="en" sz="13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yield</a:t>
              </a:r>
              <a:r>
                <a:rPr lang="en" sz="1300">
                  <a:solidFill>
                    <a:schemeClr val="dk1"/>
                  </a:solidFill>
                </a:rPr>
                <a:t> to pause execution and </a:t>
              </a:r>
              <a:r>
                <a:rPr lang="en" sz="13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next()</a:t>
              </a:r>
              <a:r>
                <a:rPr lang="en" sz="1300">
                  <a:solidFill>
                    <a:schemeClr val="dk1"/>
                  </a:solidFill>
                </a:rPr>
                <a:t> to resume it.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https://javascript.info/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2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72" name="Google Shape;272;p32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74" name="Google Shape;274;p32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75" name="Google Shape;275;p32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276" name="Google Shape;276;p32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32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278" name="Google Shape;278;p32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1" name="Google Shape;281;p32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