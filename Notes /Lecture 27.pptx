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5"/>
  </p:notesMasterIdLst>
  <p:sldIdLst>
    <p:sldId id="256" r:id="rId2"/>
    <p:sldId id="288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</p:sldIdLst>
  <p:sldSz cx="9144000" cy="5143500" type="screen16x9"/>
  <p:notesSz cx="6858000" cy="9144000"/>
  <p:embeddedFontLst>
    <p:embeddedFont>
      <p:font typeface="Poppins" panose="00000500000000000000" pitchFamily="2" charset="0"/>
      <p:regular r:id="rId36"/>
      <p:bold r:id="rId37"/>
      <p:italic r:id="rId38"/>
      <p:boldItalic r:id="rId39"/>
    </p:embeddedFont>
    <p:embeddedFont>
      <p:font typeface="Roboto Slab" pitchFamily="2" charset="0"/>
      <p:regular r:id="rId40"/>
      <p:bold r:id="rId4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4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2.fntdata"/><Relationship Id="rId40" Type="http://schemas.openxmlformats.org/officeDocument/2006/relationships/font" Target="fonts/font5.fntdata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3.fntdata"/><Relationship Id="rId20" Type="http://schemas.openxmlformats.org/officeDocument/2006/relationships/slide" Target="slides/slide19.xml"/><Relationship Id="rId41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733a918ce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733a918ce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29987D4D-A691-F8CF-A71D-FB68A4A505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733a918ceb_0_20:notes">
            <a:extLst>
              <a:ext uri="{FF2B5EF4-FFF2-40B4-BE49-F238E27FC236}">
                <a16:creationId xmlns:a16="http://schemas.microsoft.com/office/drawing/2014/main" id="{3D68396A-10B1-6DAB-074F-CE533D135B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733a918ceb_0_20:notes">
            <a:extLst>
              <a:ext uri="{FF2B5EF4-FFF2-40B4-BE49-F238E27FC236}">
                <a16:creationId xmlns:a16="http://schemas.microsoft.com/office/drawing/2014/main" id="{5C3FFC08-EE23-F560-AB3A-0C6534F3F1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893540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733a918ceb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733a918ceb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733a918ceb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733a918ceb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733a918ceb_0_1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733a918ceb_0_1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733a918ceb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733a918ceb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733a918ceb_0_1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733a918ceb_0_1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733a918ceb_0_1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733a918ceb_0_1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733a918ceb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733a918ceb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733a918ceb_1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733a918ceb_1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733a918ceb_0_1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733a918ceb_0_1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733a918ceb_1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733a918ceb_1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733a918ceb_1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733a918ceb_1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733a918ceb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733a918ceb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733a918ceb_1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733a918ceb_1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733a918ceb_1_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733a918ceb_1_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733a918ceb_1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733a918ceb_1_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733a918ceb_1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733a918ceb_1_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733a918ceb_0_1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733a918ceb_0_1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733a918ceb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3733a918ceb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7366b02ecd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37366b02ecd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733a918ceb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3733a918ceb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7366b02ecd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37366b02ecd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7366b02ecd_0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37366b02ecd_0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7366b02ecd_0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7366b02ecd_0_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7366b02ecd_0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37366b02ecd_0_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733a918ceb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3733a918ceb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7366b02ec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37366b02ec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7366b02ecd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37366b02ecd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7366b02ecd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37366b02ecd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37366b02ecd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37366b02ecd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733a918ceb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3733a918ceb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733a918ceb_0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3733a918ceb_0_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6.jpg"/><Relationship Id="rId4" Type="http://schemas.openxmlformats.org/officeDocument/2006/relationships/hyperlink" Target="http://drive.google.com/file/d/1dNGl88tOXN3srag_TsAKKumEzGs78dYk/view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2.png"/><Relationship Id="rId4" Type="http://schemas.openxmlformats.org/officeDocument/2006/relationships/image" Target="../media/image2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3.jpg"/><Relationship Id="rId5" Type="http://schemas.openxmlformats.org/officeDocument/2006/relationships/hyperlink" Target="http://drive.google.com/file/d/1PZy4MNZipsJuc5OvwPQ-iBLs1DTFhY9W/view" TargetMode="External"/><Relationship Id="rId4" Type="http://schemas.openxmlformats.org/officeDocument/2006/relationships/image" Target="../media/image2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4.png"/><Relationship Id="rId4" Type="http://schemas.openxmlformats.org/officeDocument/2006/relationships/image" Target="../media/image2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5.png"/><Relationship Id="rId4" Type="http://schemas.openxmlformats.org/officeDocument/2006/relationships/image" Target="../media/image2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6.jpg"/><Relationship Id="rId5" Type="http://schemas.openxmlformats.org/officeDocument/2006/relationships/hyperlink" Target="http://drive.google.com/file/d/1xGVcB9-pUBZopyknhjLkZ8Jh2WsJEguy/view" TargetMode="External"/><Relationship Id="rId4" Type="http://schemas.openxmlformats.org/officeDocument/2006/relationships/image" Target="../media/image2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react.dev/" TargetMode="External"/><Relationship Id="rId5" Type="http://schemas.openxmlformats.org/officeDocument/2006/relationships/hyperlink" Target="https://www.w3schools.com/js/" TargetMode="External"/><Relationship Id="rId4" Type="http://schemas.openxmlformats.org/officeDocument/2006/relationships/hyperlink" Target="https://developer.mozilla.org/en-US/docs/Web/JavaScript" TargetMode="Externa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subtle-prism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50">
            <a:off x="-395563" y="395600"/>
            <a:ext cx="5157175" cy="4365975"/>
          </a:xfrm>
          <a:prstGeom prst="flowChartManualInput">
            <a:avLst/>
          </a:prstGeom>
          <a:noFill/>
          <a:ln>
            <a:noFill/>
          </a:ln>
        </p:spPr>
      </p:pic>
      <p:pic>
        <p:nvPicPr>
          <p:cNvPr id="55" name="Google Shape;55;p13" title="KRMU_Full_heading_Logo-removebg-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06125" y="452500"/>
            <a:ext cx="5337876" cy="136305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/>
        </p:nvSpPr>
        <p:spPr>
          <a:xfrm>
            <a:off x="4405600" y="2017650"/>
            <a:ext cx="45837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rgbClr val="173034"/>
                </a:solidFill>
              </a:rPr>
              <a:t>Course - Web Development - II </a:t>
            </a:r>
            <a:endParaRPr sz="2400" b="1">
              <a:solidFill>
                <a:srgbClr val="173034"/>
              </a:solidFill>
            </a:endParaRPr>
          </a:p>
        </p:txBody>
      </p:sp>
      <p:grpSp>
        <p:nvGrpSpPr>
          <p:cNvPr id="57" name="Google Shape;57;p13"/>
          <p:cNvGrpSpPr/>
          <p:nvPr/>
        </p:nvGrpSpPr>
        <p:grpSpPr>
          <a:xfrm>
            <a:off x="4572000" y="4882896"/>
            <a:ext cx="1607600" cy="292500"/>
            <a:chOff x="5060775" y="4881413"/>
            <a:chExt cx="1607600" cy="292500"/>
          </a:xfrm>
        </p:grpSpPr>
        <p:sp>
          <p:nvSpPr>
            <p:cNvPr id="58" name="Google Shape;58;p13"/>
            <p:cNvSpPr txBox="1"/>
            <p:nvPr/>
          </p:nvSpPr>
          <p:spPr>
            <a:xfrm>
              <a:off x="5165675" y="4881413"/>
              <a:ext cx="15027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chemeClr val="dk1"/>
                  </a:solidFill>
                </a:rPr>
                <a:t>welcome@krmangalam.edu.in</a:t>
              </a:r>
              <a:endParaRPr sz="900">
                <a:solidFill>
                  <a:schemeClr val="dk1"/>
                </a:solidFill>
              </a:endParaRPr>
            </a:p>
          </p:txBody>
        </p:sp>
        <p:pic>
          <p:nvPicPr>
            <p:cNvPr id="59" name="Google Shape;59;p13" title="email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060775" y="4966738"/>
              <a:ext cx="137160" cy="13716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0" name="Google Shape;60;p13"/>
          <p:cNvGrpSpPr/>
          <p:nvPr/>
        </p:nvGrpSpPr>
        <p:grpSpPr>
          <a:xfrm>
            <a:off x="7229300" y="4881425"/>
            <a:ext cx="1926000" cy="292500"/>
            <a:chOff x="7229300" y="4881425"/>
            <a:chExt cx="1926000" cy="292500"/>
          </a:xfrm>
        </p:grpSpPr>
        <p:sp>
          <p:nvSpPr>
            <p:cNvPr id="61" name="Google Shape;61;p13"/>
            <p:cNvSpPr txBox="1"/>
            <p:nvPr/>
          </p:nvSpPr>
          <p:spPr>
            <a:xfrm>
              <a:off x="7326500" y="4881425"/>
              <a:ext cx="18288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chemeClr val="accent2"/>
                  </a:solidFill>
                </a:rPr>
                <a:t>Sohna Road,Gurugram,Haryana 122103</a:t>
              </a:r>
              <a:endParaRPr sz="700">
                <a:solidFill>
                  <a:schemeClr val="accent2"/>
                </a:solidFill>
              </a:endParaRPr>
            </a:p>
          </p:txBody>
        </p:sp>
        <p:pic>
          <p:nvPicPr>
            <p:cNvPr id="62" name="Google Shape;62;p13" title="location.png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7229300" y="4965192"/>
              <a:ext cx="137160" cy="13716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63" name="Google Shape;63;p13" title="Untitled (2)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042538" y="2662400"/>
            <a:ext cx="3309826" cy="2000826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</a:t>
            </a:fld>
            <a:endParaRPr/>
          </a:p>
        </p:txBody>
      </p:sp>
      <p:grpSp>
        <p:nvGrpSpPr>
          <p:cNvPr id="65" name="Google Shape;65;p13"/>
          <p:cNvGrpSpPr/>
          <p:nvPr/>
        </p:nvGrpSpPr>
        <p:grpSpPr>
          <a:xfrm>
            <a:off x="309849" y="1233369"/>
            <a:ext cx="3415942" cy="2661020"/>
            <a:chOff x="788865" y="1515488"/>
            <a:chExt cx="4594407" cy="2661020"/>
          </a:xfrm>
        </p:grpSpPr>
        <p:sp>
          <p:nvSpPr>
            <p:cNvPr id="66" name="Google Shape;66;p13"/>
            <p:cNvSpPr txBox="1"/>
            <p:nvPr/>
          </p:nvSpPr>
          <p:spPr>
            <a:xfrm>
              <a:off x="788865" y="1515488"/>
              <a:ext cx="3197700" cy="600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700" b="1" dirty="0">
                  <a:solidFill>
                    <a:schemeClr val="lt1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Lecture 27</a:t>
              </a:r>
              <a:r>
                <a:rPr lang="en" sz="2700" dirty="0">
                  <a:solidFill>
                    <a:schemeClr val="lt1"/>
                  </a:solidFill>
                </a:rPr>
                <a:t>:</a:t>
              </a:r>
              <a:endParaRPr sz="2200" dirty="0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67" name="Google Shape;67;p13"/>
            <p:cNvSpPr txBox="1"/>
            <p:nvPr/>
          </p:nvSpPr>
          <p:spPr>
            <a:xfrm>
              <a:off x="788874" y="3475300"/>
              <a:ext cx="699001" cy="64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" sz="1500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 dirty="0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-By</a:t>
              </a:r>
              <a:endParaRPr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8" name="Google Shape;68;p13"/>
            <p:cNvSpPr txBox="1"/>
            <p:nvPr/>
          </p:nvSpPr>
          <p:spPr>
            <a:xfrm>
              <a:off x="790272" y="2145213"/>
              <a:ext cx="4593000" cy="203129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lvl="0">
                <a:buClr>
                  <a:schemeClr val="dk1"/>
                </a:buClr>
                <a:buSzPts val="1100"/>
              </a:pPr>
              <a:r>
                <a:rPr lang="en-IN" sz="2400" dirty="0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React Hooks Overview - </a:t>
              </a:r>
              <a:r>
                <a:rPr lang="en" sz="2400" dirty="0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State Management with useState</a:t>
              </a:r>
              <a:endParaRPr sz="2400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lang="en-IN" sz="2400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9" name="Google Shape;69;p13"/>
            <p:cNvSpPr txBox="1"/>
            <p:nvPr/>
          </p:nvSpPr>
          <p:spPr>
            <a:xfrm>
              <a:off x="1330896" y="3491750"/>
              <a:ext cx="3313200" cy="411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Instructor Name</a:t>
              </a:r>
              <a:endParaRPr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pic>
        <p:nvPicPr>
          <p:cNvPr id="70" name="Google Shape;70;p13" title="png-transparent-js-react-js-logo-react-react-native-logos-icon-removebg-preview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033272" y="3666744"/>
            <a:ext cx="521207" cy="5212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>
          <a:extLst>
            <a:ext uri="{FF2B5EF4-FFF2-40B4-BE49-F238E27FC236}">
              <a16:creationId xmlns:a16="http://schemas.microsoft.com/office/drawing/2014/main" id="{A901D0B9-C9CD-7C05-BBAE-ABF8405C5E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4">
            <a:extLst>
              <a:ext uri="{FF2B5EF4-FFF2-40B4-BE49-F238E27FC236}">
                <a16:creationId xmlns:a16="http://schemas.microsoft.com/office/drawing/2014/main" id="{33C09C31-C3AA-91E2-666D-455F72B88ED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 b="1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Table of Contents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6" name="Google Shape;76;p14">
            <a:extLst>
              <a:ext uri="{FF2B5EF4-FFF2-40B4-BE49-F238E27FC236}">
                <a16:creationId xmlns:a16="http://schemas.microsoft.com/office/drawing/2014/main" id="{E191CC88-294F-F21D-5241-055804D28A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23470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Char char="●"/>
            </a:pPr>
            <a:r>
              <a:rPr lang="en" dirty="0">
                <a:solidFill>
                  <a:srgbClr val="273239"/>
                </a:solidFill>
              </a:rPr>
              <a:t>React Hook</a:t>
            </a: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Char char="●"/>
            </a:pPr>
            <a:r>
              <a:rPr lang="en" dirty="0">
                <a:solidFill>
                  <a:srgbClr val="273239"/>
                </a:solidFill>
              </a:rPr>
              <a:t>Introduction to React State.</a:t>
            </a:r>
            <a:endParaRPr dirty="0">
              <a:solidFill>
                <a:srgbClr val="273239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Char char="●"/>
            </a:pPr>
            <a:r>
              <a:rPr lang="en" dirty="0">
                <a:solidFill>
                  <a:srgbClr val="273239"/>
                </a:solidFill>
              </a:rPr>
              <a:t>Managing Component State with useState.</a:t>
            </a:r>
            <a:endParaRPr dirty="0">
              <a:solidFill>
                <a:srgbClr val="273239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Char char="●"/>
            </a:pPr>
            <a:r>
              <a:rPr lang="en" dirty="0">
                <a:solidFill>
                  <a:srgbClr val="273239"/>
                </a:solidFill>
              </a:rPr>
              <a:t>Updating State &amp; Re-rendering.</a:t>
            </a:r>
            <a:endParaRPr dirty="0">
              <a:solidFill>
                <a:srgbClr val="273239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Char char="●"/>
            </a:pPr>
            <a:r>
              <a:rPr lang="en" dirty="0">
                <a:solidFill>
                  <a:srgbClr val="273239"/>
                </a:solidFill>
              </a:rPr>
              <a:t>References.</a:t>
            </a:r>
            <a:endParaRPr dirty="0">
              <a:solidFill>
                <a:srgbClr val="273239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Char char="●"/>
            </a:pPr>
            <a:r>
              <a:rPr lang="en" dirty="0">
                <a:solidFill>
                  <a:srgbClr val="273239"/>
                </a:solidFill>
              </a:rPr>
              <a:t>The End.</a:t>
            </a:r>
            <a:endParaRPr dirty="0">
              <a:solidFill>
                <a:srgbClr val="273239"/>
              </a:solidFill>
            </a:endParaRPr>
          </a:p>
        </p:txBody>
      </p:sp>
      <p:pic>
        <p:nvPicPr>
          <p:cNvPr id="77" name="Google Shape;77;p14" title="KRMU LOGO.png">
            <a:extLst>
              <a:ext uri="{FF2B5EF4-FFF2-40B4-BE49-F238E27FC236}">
                <a16:creationId xmlns:a16="http://schemas.microsoft.com/office/drawing/2014/main" id="{42FECA30-C230-FED5-86DF-FC1CB0CE16E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4">
            <a:extLst>
              <a:ext uri="{FF2B5EF4-FFF2-40B4-BE49-F238E27FC236}">
                <a16:creationId xmlns:a16="http://schemas.microsoft.com/office/drawing/2014/main" id="{137E781D-F51F-A6F7-D954-1911454567E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179539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4"/>
          <p:cNvSpPr txBox="1">
            <a:spLocks noGrp="1"/>
          </p:cNvSpPr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 b="1" dirty="0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lang="en-IN" b="1" dirty="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What is React Hook?</a:t>
            </a:r>
            <a:endParaRPr b="1" dirty="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6" name="Google Shape;76;p14"/>
          <p:cNvSpPr txBox="1">
            <a:spLocks noGrp="1"/>
          </p:cNvSpPr>
          <p:nvPr>
            <p:ph type="body" idx="1"/>
          </p:nvPr>
        </p:nvSpPr>
        <p:spPr>
          <a:xfrm>
            <a:off x="311700" y="123470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Char char="●"/>
            </a:pPr>
            <a:r>
              <a:rPr lang="en-US" dirty="0">
                <a:solidFill>
                  <a:srgbClr val="273239"/>
                </a:solidFill>
              </a:rPr>
              <a:t>React Hooks are special functions in React that allow you to use state and lifecycle features in functional components.</a:t>
            </a:r>
            <a:endParaRPr lang="en" dirty="0">
              <a:solidFill>
                <a:srgbClr val="273239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Char char="●"/>
            </a:pPr>
            <a:r>
              <a:rPr lang="en-US" dirty="0">
                <a:solidFill>
                  <a:srgbClr val="273239"/>
                </a:solidFill>
              </a:rPr>
              <a:t>Hooks were introduced in React 16.8.</a:t>
            </a:r>
            <a:endParaRPr dirty="0">
              <a:solidFill>
                <a:srgbClr val="273239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Char char="●"/>
            </a:pPr>
            <a:r>
              <a:rPr lang="en-US" dirty="0">
                <a:solidFill>
                  <a:srgbClr val="273239"/>
                </a:solidFill>
              </a:rPr>
              <a:t>Before Hooks, these features were only available in class components.</a:t>
            </a: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Char char="●"/>
            </a:pPr>
            <a:endParaRPr lang="en-US" dirty="0">
              <a:solidFill>
                <a:srgbClr val="273239"/>
              </a:solidFill>
            </a:endParaRPr>
          </a:p>
          <a:p>
            <a:pPr marL="1143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None/>
            </a:pPr>
            <a:r>
              <a:rPr lang="en-US" b="1" dirty="0">
                <a:solidFill>
                  <a:srgbClr val="273239"/>
                </a:solidFill>
              </a:rPr>
              <a:t>Example Hooks</a:t>
            </a:r>
          </a:p>
          <a:p>
            <a:pPr>
              <a:lnSpc>
                <a:spcPct val="150000"/>
              </a:lnSpc>
              <a:buClr>
                <a:srgbClr val="273239"/>
              </a:buClr>
            </a:pPr>
            <a:r>
              <a:rPr lang="en-US" b="1" dirty="0" err="1">
                <a:solidFill>
                  <a:srgbClr val="273239"/>
                </a:solidFill>
              </a:rPr>
              <a:t>useState</a:t>
            </a:r>
            <a:r>
              <a:rPr lang="en-US" b="1" dirty="0">
                <a:solidFill>
                  <a:srgbClr val="273239"/>
                </a:solidFill>
              </a:rPr>
              <a:t> → </a:t>
            </a:r>
            <a:r>
              <a:rPr lang="en-US" dirty="0">
                <a:solidFill>
                  <a:srgbClr val="273239"/>
                </a:solidFill>
              </a:rPr>
              <a:t>Manage state</a:t>
            </a:r>
          </a:p>
          <a:p>
            <a:pPr>
              <a:lnSpc>
                <a:spcPct val="150000"/>
              </a:lnSpc>
              <a:buClr>
                <a:srgbClr val="273239"/>
              </a:buClr>
            </a:pPr>
            <a:r>
              <a:rPr lang="en-US" b="1" dirty="0" err="1">
                <a:solidFill>
                  <a:srgbClr val="273239"/>
                </a:solidFill>
              </a:rPr>
              <a:t>useEffect</a:t>
            </a:r>
            <a:r>
              <a:rPr lang="en-US" b="1" dirty="0">
                <a:solidFill>
                  <a:srgbClr val="273239"/>
                </a:solidFill>
              </a:rPr>
              <a:t> → </a:t>
            </a:r>
            <a:r>
              <a:rPr lang="en-US" dirty="0">
                <a:solidFill>
                  <a:srgbClr val="273239"/>
                </a:solidFill>
              </a:rPr>
              <a:t>Handle side effects</a:t>
            </a:r>
          </a:p>
        </p:txBody>
      </p:sp>
      <p:pic>
        <p:nvPicPr>
          <p:cNvPr id="77" name="Google Shape;77;p14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>
            <a:spLocks noGrp="1"/>
          </p:cNvSpPr>
          <p:nvPr>
            <p:ph type="title"/>
          </p:nvPr>
        </p:nvSpPr>
        <p:spPr>
          <a:xfrm>
            <a:off x="311700" y="213250"/>
            <a:ext cx="265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 sz="2200" b="1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endParaRPr sz="2200"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4" name="Google Shape;84;p15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sp>
        <p:nvSpPr>
          <p:cNvPr id="86" name="Google Shape;86;p15"/>
          <p:cNvSpPr txBox="1"/>
          <p:nvPr/>
        </p:nvSpPr>
        <p:spPr>
          <a:xfrm>
            <a:off x="576075" y="210300"/>
            <a:ext cx="7223700" cy="10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Imagine you have a lunchbox that can be empty, half-full, or full. How would you keep track of its current state throughout the day?</a:t>
            </a:r>
            <a:endParaRPr sz="3000"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7" name="Google Shape;87;p15" title="Thinking face-rafiki (3)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331720" y="1261872"/>
            <a:ext cx="4489700" cy="3611880"/>
          </a:xfrm>
          <a:prstGeom prst="rect">
            <a:avLst/>
          </a:prstGeom>
          <a:noFill/>
          <a:ln>
            <a:noFill/>
          </a:ln>
          <a:effectLst>
            <a:outerShdw blurRad="85725" dist="95250" dir="738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6"/>
          <p:cNvSpPr txBox="1">
            <a:spLocks noGrp="1"/>
          </p:cNvSpPr>
          <p:nvPr>
            <p:ph type="title"/>
          </p:nvPr>
        </p:nvSpPr>
        <p:spPr>
          <a:xfrm>
            <a:off x="311700" y="213250"/>
            <a:ext cx="265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 sz="2200" b="1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endParaRPr sz="2200"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3" name="Google Shape;93;p16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sp>
        <p:nvSpPr>
          <p:cNvPr id="95" name="Google Shape;95;p16"/>
          <p:cNvSpPr txBox="1"/>
          <p:nvPr/>
        </p:nvSpPr>
        <p:spPr>
          <a:xfrm>
            <a:off x="576075" y="210300"/>
            <a:ext cx="7223700" cy="10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Imagine you have a lunchbox that can be empty, half-full, or full. How would you keep track of its current state throughout the day?</a:t>
            </a:r>
            <a:endParaRPr sz="3000"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6" name="Google Shape;96;p16"/>
          <p:cNvSpPr txBox="1"/>
          <p:nvPr/>
        </p:nvSpPr>
        <p:spPr>
          <a:xfrm>
            <a:off x="311700" y="1368425"/>
            <a:ext cx="7545600" cy="15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To keep track of your lunchbox's state throughout the day, you start by setting an initial state (e.g., empty), update it whenever the lunchbox changes (half-full, full), and use that state to show the current status.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In </a:t>
            </a: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React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, this is like using </a:t>
            </a: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state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to remember and update dynamic data inside a component.</a:t>
            </a:r>
            <a:endParaRPr sz="20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7" name="Google Shape;97;p16" title="generated-imag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05675" y="2721175"/>
            <a:ext cx="3933251" cy="2288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7"/>
          <p:cNvSpPr txBox="1">
            <a:spLocks noGrp="1"/>
          </p:cNvSpPr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Introduction to React State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03" name="Google Shape;103;p17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sp>
        <p:nvSpPr>
          <p:cNvPr id="105" name="Google Shape;105;p17"/>
          <p:cNvSpPr txBox="1"/>
          <p:nvPr/>
        </p:nvSpPr>
        <p:spPr>
          <a:xfrm>
            <a:off x="310900" y="1116775"/>
            <a:ext cx="7543800" cy="15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React State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is a built-in feature in React that allows components to store and manage dynamic data. It represents values that can change over time due to user interaction, system events, or internal logic.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When state changes, React automatically </a:t>
            </a: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re-renders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the component to reflect the new data in the UI.</a:t>
            </a:r>
            <a:endParaRPr sz="15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06" name="Google Shape;106;p17" title="20250806_1617_React State Animation_simple_compose_01k1zfp849e7gvvx7429yrrv4d.png"/>
          <p:cNvPicPr preferRelativeResize="0"/>
          <p:nvPr/>
        </p:nvPicPr>
        <p:blipFill rotWithShape="1">
          <a:blip r:embed="rId4">
            <a:alphaModFix/>
          </a:blip>
          <a:srcRect t="55658"/>
          <a:stretch/>
        </p:blipFill>
        <p:spPr>
          <a:xfrm>
            <a:off x="2368300" y="2571750"/>
            <a:ext cx="3429000" cy="2280749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7"/>
          <p:cNvSpPr txBox="1"/>
          <p:nvPr/>
        </p:nvSpPr>
        <p:spPr>
          <a:xfrm>
            <a:off x="2595350" y="2571750"/>
            <a:ext cx="448200" cy="314700"/>
          </a:xfrm>
          <a:prstGeom prst="rect">
            <a:avLst/>
          </a:prstGeom>
          <a:solidFill>
            <a:srgbClr val="FDF9F5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8"/>
          <p:cNvSpPr txBox="1">
            <a:spLocks noGrp="1"/>
          </p:cNvSpPr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Introduction to React State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13" name="Google Shape;113;p18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sp>
        <p:nvSpPr>
          <p:cNvPr id="115" name="Google Shape;115;p18"/>
          <p:cNvSpPr txBox="1"/>
          <p:nvPr/>
        </p:nvSpPr>
        <p:spPr>
          <a:xfrm>
            <a:off x="310900" y="1116775"/>
            <a:ext cx="7543800" cy="21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Key Points</a:t>
            </a:r>
            <a:endParaRPr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115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273239"/>
              </a:buClr>
              <a:buSzPts val="1300"/>
              <a:buFont typeface="Poppins"/>
              <a:buChar char="●"/>
            </a:pPr>
            <a:r>
              <a:rPr lang="en" sz="13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Each React component can have its own state.</a:t>
            </a:r>
            <a:endParaRPr sz="13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115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273239"/>
              </a:buClr>
              <a:buSzPts val="1300"/>
              <a:buFont typeface="Poppins"/>
              <a:buChar char="●"/>
            </a:pPr>
            <a:r>
              <a:rPr lang="en" sz="13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When the state changes, React re-renders the component updating the UI.</a:t>
            </a:r>
            <a:endParaRPr sz="13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115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273239"/>
              </a:buClr>
              <a:buSzPts val="1300"/>
              <a:buFont typeface="Poppins"/>
              <a:buChar char="●"/>
            </a:pPr>
            <a:r>
              <a:rPr lang="en" sz="13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State can only be updated using special functions (not directly).</a:t>
            </a:r>
            <a:endParaRPr sz="13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23850" algn="l" rtl="0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rgbClr val="273239"/>
              </a:buClr>
              <a:buSzPts val="1500"/>
              <a:buFont typeface="Poppins"/>
              <a:buChar char="●"/>
            </a:pPr>
            <a:r>
              <a:rPr lang="en" sz="13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You manage state using the </a:t>
            </a:r>
            <a:r>
              <a:rPr lang="en" sz="1300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useState()</a:t>
            </a:r>
            <a:r>
              <a:rPr lang="en" sz="13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hook in functional components.</a:t>
            </a:r>
            <a:endParaRPr sz="15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9"/>
          <p:cNvSpPr txBox="1">
            <a:spLocks noGrp="1"/>
          </p:cNvSpPr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Why do we need React State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21" name="Google Shape;121;p19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sp>
        <p:nvSpPr>
          <p:cNvPr id="123" name="Google Shape;123;p19"/>
          <p:cNvSpPr txBox="1"/>
          <p:nvPr/>
        </p:nvSpPr>
        <p:spPr>
          <a:xfrm>
            <a:off x="310900" y="1355975"/>
            <a:ext cx="7543800" cy="18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Font typeface="Poppins"/>
              <a:buChar char="●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To </a:t>
            </a: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store changing data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in a component.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73239"/>
              </a:buClr>
              <a:buSzPts val="1800"/>
              <a:buFont typeface="Poppins"/>
              <a:buChar char="●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To </a:t>
            </a: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respond to user actions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(like clicks or typing).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73239"/>
              </a:buClr>
              <a:buSzPts val="1800"/>
              <a:buFont typeface="Poppins"/>
              <a:buChar char="●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To </a:t>
            </a: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update the UI automatically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when data changes.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273239"/>
              </a:buClr>
              <a:buSzPts val="1800"/>
              <a:buFont typeface="Poppins"/>
              <a:buChar char="●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Makes the app </a:t>
            </a: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dynamic and interactive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sz="17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0"/>
          <p:cNvSpPr txBox="1">
            <a:spLocks noGrp="1"/>
          </p:cNvSpPr>
          <p:nvPr>
            <p:ph type="title"/>
          </p:nvPr>
        </p:nvSpPr>
        <p:spPr>
          <a:xfrm>
            <a:off x="311700" y="213250"/>
            <a:ext cx="265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 sz="2200" b="1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endParaRPr sz="2200"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29" name="Google Shape;129;p20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  <p:sp>
        <p:nvSpPr>
          <p:cNvPr id="131" name="Google Shape;131;p20"/>
          <p:cNvSpPr txBox="1"/>
          <p:nvPr/>
        </p:nvSpPr>
        <p:spPr>
          <a:xfrm>
            <a:off x="576075" y="210300"/>
            <a:ext cx="7223700" cy="10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Imagine you have a light switch in your room that you can flip on or off. How do you keep track of whether the light is currently on or off?</a:t>
            </a:r>
            <a:endParaRPr sz="1900"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32" name="Google Shape;132;p20" title="Questions-bro (3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31720" y="1261800"/>
            <a:ext cx="4489705" cy="3611880"/>
          </a:xfrm>
          <a:prstGeom prst="rect">
            <a:avLst/>
          </a:prstGeom>
          <a:noFill/>
          <a:ln>
            <a:noFill/>
          </a:ln>
          <a:effectLst>
            <a:outerShdw blurRad="142875" dist="95250" dir="738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1"/>
          <p:cNvSpPr txBox="1">
            <a:spLocks noGrp="1"/>
          </p:cNvSpPr>
          <p:nvPr>
            <p:ph type="title"/>
          </p:nvPr>
        </p:nvSpPr>
        <p:spPr>
          <a:xfrm>
            <a:off x="311700" y="213250"/>
            <a:ext cx="265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 sz="2200" b="1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endParaRPr sz="2200"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38" name="Google Shape;138;p21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sp>
        <p:nvSpPr>
          <p:cNvPr id="140" name="Google Shape;140;p21"/>
          <p:cNvSpPr txBox="1"/>
          <p:nvPr/>
        </p:nvSpPr>
        <p:spPr>
          <a:xfrm>
            <a:off x="576075" y="210300"/>
            <a:ext cx="7223700" cy="10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Imagine you have a light switch in your room that you can flip on or off. How do you keep track of whether the light is currently on or off?</a:t>
            </a:r>
            <a:endParaRPr sz="1900"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1" name="Google Shape;141;p21"/>
          <p:cNvSpPr txBox="1"/>
          <p:nvPr/>
        </p:nvSpPr>
        <p:spPr>
          <a:xfrm>
            <a:off x="311700" y="1612250"/>
            <a:ext cx="4548600" cy="239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To keep track of whether a light switch is on or off, you store its current status as a true (on) or false (off) value. 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In React, the </a:t>
            </a:r>
            <a:r>
              <a:rPr lang="en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useState()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hook does the same by initializing a state variable (like isOn), updating it when toggled, and re-rendering the UI to show the current light status.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42" name="Google Shape;142;p21" title="20250806_1656_React useState Light Switch_simple_compose_01k1zj2br4f3kts7ncymx9zjyh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82188" y="1011575"/>
            <a:ext cx="3568374" cy="3895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2"/>
          <p:cNvSpPr txBox="1">
            <a:spLocks noGrp="1"/>
          </p:cNvSpPr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useState() 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48" name="Google Shape;148;p22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  <p:sp>
        <p:nvSpPr>
          <p:cNvPr id="150" name="Google Shape;150;p22"/>
          <p:cNvSpPr txBox="1"/>
          <p:nvPr/>
        </p:nvSpPr>
        <p:spPr>
          <a:xfrm>
            <a:off x="310900" y="1124650"/>
            <a:ext cx="7543800" cy="194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useState()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is a </a:t>
            </a: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React Hook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that lets you add </a:t>
            </a: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state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(a way to store changing data) to your </a:t>
            </a: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functional components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It lets your component </a:t>
            </a: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remember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values — like a counter, a form input, or toggle state.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When the state changes, </a:t>
            </a: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React automatically re-renders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the component to reflect the new value in the UI.</a:t>
            </a:r>
            <a:endParaRPr sz="17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1" name="Google Shape;151;p22"/>
          <p:cNvSpPr txBox="1"/>
          <p:nvPr/>
        </p:nvSpPr>
        <p:spPr>
          <a:xfrm>
            <a:off x="310900" y="3232400"/>
            <a:ext cx="914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Syntax :</a:t>
            </a:r>
            <a:endParaRPr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52" name="Google Shape;152;p22" title="carbon - 2025-08-06T170844.31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89825" y="3349850"/>
            <a:ext cx="6213076" cy="1313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3"/>
          <p:cNvSpPr txBox="1">
            <a:spLocks noGrp="1"/>
          </p:cNvSpPr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useState() 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58" name="Google Shape;158;p23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12</a:t>
            </a:fld>
            <a:endParaRPr/>
          </a:p>
        </p:txBody>
      </p:sp>
      <p:sp>
        <p:nvSpPr>
          <p:cNvPr id="160" name="Google Shape;160;p23"/>
          <p:cNvSpPr txBox="1"/>
          <p:nvPr/>
        </p:nvSpPr>
        <p:spPr>
          <a:xfrm>
            <a:off x="310900" y="1124650"/>
            <a:ext cx="75438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7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1" name="Google Shape;161;p23"/>
          <p:cNvSpPr txBox="1"/>
          <p:nvPr/>
        </p:nvSpPr>
        <p:spPr>
          <a:xfrm>
            <a:off x="310900" y="1147750"/>
            <a:ext cx="1309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Example :</a:t>
            </a:r>
            <a:endParaRPr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62" name="Google Shape;162;p23" title="carbon - 2025-08-06T171148.02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60525" y="1147750"/>
            <a:ext cx="6810876" cy="1180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3"/>
          <p:cNvSpPr txBox="1"/>
          <p:nvPr/>
        </p:nvSpPr>
        <p:spPr>
          <a:xfrm>
            <a:off x="1360525" y="2438050"/>
            <a:ext cx="4530000" cy="79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Char char="●"/>
            </a:pPr>
            <a:r>
              <a:rPr lang="en" sz="12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count</a:t>
            </a:r>
            <a:r>
              <a:rPr lang="en" sz="12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→ the current state value</a:t>
            </a:r>
            <a:endParaRPr sz="12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Char char="●"/>
            </a:pPr>
            <a:r>
              <a:rPr lang="en" sz="12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setCount()</a:t>
            </a:r>
            <a:r>
              <a:rPr lang="en" sz="12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→ function to update that value</a:t>
            </a:r>
            <a:endParaRPr sz="12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Char char="●"/>
            </a:pPr>
            <a:r>
              <a:rPr lang="en" sz="12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" sz="12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→ the initial value of count</a:t>
            </a:r>
            <a:endParaRPr sz="19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4" name="Google Shape;164;p23"/>
          <p:cNvSpPr txBox="1"/>
          <p:nvPr/>
        </p:nvSpPr>
        <p:spPr>
          <a:xfrm>
            <a:off x="416825" y="3232150"/>
            <a:ext cx="7699500" cy="14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Key Points:</a:t>
            </a:r>
            <a:endParaRPr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73239"/>
              </a:buClr>
              <a:buSzPts val="1200"/>
              <a:buChar char="●"/>
            </a:pPr>
            <a:r>
              <a:rPr lang="en" sz="12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It comes from React: import { useState } from 'react'</a:t>
            </a:r>
            <a:endParaRPr sz="12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73239"/>
              </a:buClr>
              <a:buSzPts val="1200"/>
              <a:buChar char="●"/>
            </a:pPr>
            <a:r>
              <a:rPr lang="en" sz="12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It can be used </a:t>
            </a:r>
            <a:r>
              <a:rPr lang="en" sz="1200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multiple times</a:t>
            </a:r>
            <a:r>
              <a:rPr lang="en" sz="12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to track different values</a:t>
            </a:r>
            <a:endParaRPr sz="12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200"/>
              </a:spcBef>
              <a:spcAft>
                <a:spcPts val="1000"/>
              </a:spcAft>
              <a:buClr>
                <a:srgbClr val="273239"/>
              </a:buClr>
              <a:buSzPts val="1200"/>
              <a:buChar char="●"/>
            </a:pPr>
            <a:r>
              <a:rPr lang="en" sz="12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You must </a:t>
            </a:r>
            <a:r>
              <a:rPr lang="en" sz="1200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not update state directly</a:t>
            </a:r>
            <a:r>
              <a:rPr lang="en" sz="12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— always use the updater function (setCount)</a:t>
            </a:r>
            <a:endParaRPr sz="12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4"/>
          <p:cNvSpPr txBox="1">
            <a:spLocks noGrp="1"/>
          </p:cNvSpPr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Example 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70" name="Google Shape;170;p24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13</a:t>
            </a:fld>
            <a:endParaRPr/>
          </a:p>
        </p:txBody>
      </p:sp>
      <p:pic>
        <p:nvPicPr>
          <p:cNvPr id="172" name="Google Shape;172;p24" title="carbon - 2025-08-06T154024.344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27625" y="770025"/>
            <a:ext cx="5288748" cy="4286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5"/>
          <p:cNvSpPr txBox="1">
            <a:spLocks noGrp="1"/>
          </p:cNvSpPr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Output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78" name="Google Shape;178;p25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14</a:t>
            </a:fld>
            <a:endParaRPr/>
          </a:p>
        </p:txBody>
      </p:sp>
      <p:pic>
        <p:nvPicPr>
          <p:cNvPr id="180" name="Google Shape;180;p25" title="Screen Recording 2025-08-06 154153.mp4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04250" y="1195350"/>
            <a:ext cx="6283876" cy="3326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6"/>
          <p:cNvSpPr txBox="1">
            <a:spLocks noGrp="1"/>
          </p:cNvSpPr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Updating State &amp; Re-Rendering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86" name="Google Shape;186;p26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15</a:t>
            </a:fld>
            <a:endParaRPr/>
          </a:p>
        </p:txBody>
      </p:sp>
      <p:sp>
        <p:nvSpPr>
          <p:cNvPr id="188" name="Google Shape;188;p26"/>
          <p:cNvSpPr txBox="1"/>
          <p:nvPr/>
        </p:nvSpPr>
        <p:spPr>
          <a:xfrm>
            <a:off x="589850" y="1282375"/>
            <a:ext cx="6873600" cy="31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1. useState is Used to Store Count</a:t>
            </a:r>
            <a:endParaRPr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73239"/>
              </a:buClr>
              <a:buSzPts val="1400"/>
              <a:buChar char="●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Initializes a state variable count with value 0.</a:t>
            </a:r>
            <a:b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</a:b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setCount is the function used to update count.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pic>
        <p:nvPicPr>
          <p:cNvPr id="189" name="Google Shape;189;p26" title="carbon - 2025-08-06T171148.02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9850" y="1879675"/>
            <a:ext cx="4992400" cy="833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7"/>
          <p:cNvSpPr txBox="1">
            <a:spLocks noGrp="1"/>
          </p:cNvSpPr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Updating State &amp; Re-Rendering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95" name="Google Shape;195;p27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16</a:t>
            </a:fld>
            <a:endParaRPr/>
          </a:p>
        </p:txBody>
      </p:sp>
      <p:sp>
        <p:nvSpPr>
          <p:cNvPr id="197" name="Google Shape;197;p27"/>
          <p:cNvSpPr txBox="1"/>
          <p:nvPr/>
        </p:nvSpPr>
        <p:spPr>
          <a:xfrm>
            <a:off x="589850" y="1014975"/>
            <a:ext cx="6873600" cy="22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2. User Clicks a Button (e.g., + or -)</a:t>
            </a:r>
            <a:endParaRPr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73239"/>
              </a:buClr>
              <a:buSzPts val="1400"/>
              <a:buFont typeface="Poppins"/>
              <a:buChar char="●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When clicked, it runs this: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98" name="Google Shape;198;p27" title="carbon - 2025-08-06T175211.73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7250" y="1482075"/>
            <a:ext cx="5261476" cy="861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7" title="carbon - 2025-08-06T175235.375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57250" y="2988475"/>
            <a:ext cx="4956851" cy="1777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8"/>
          <p:cNvSpPr txBox="1">
            <a:spLocks noGrp="1"/>
          </p:cNvSpPr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Updating State &amp; Re-Rendering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05" name="Google Shape;205;p28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17</a:t>
            </a:fld>
            <a:endParaRPr/>
          </a:p>
        </p:txBody>
      </p:sp>
      <p:sp>
        <p:nvSpPr>
          <p:cNvPr id="207" name="Google Shape;207;p28"/>
          <p:cNvSpPr txBox="1"/>
          <p:nvPr/>
        </p:nvSpPr>
        <p:spPr>
          <a:xfrm>
            <a:off x="589850" y="1014975"/>
            <a:ext cx="6873600" cy="298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3. State is Updated</a:t>
            </a:r>
            <a:endParaRPr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273239"/>
              </a:buClr>
              <a:buSzPts val="1400"/>
              <a:buChar char="●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setCount updates the value of count.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273239"/>
              </a:buClr>
              <a:buSzPts val="1400"/>
              <a:buChar char="●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For example, if count was 0, it becomes 1.</a:t>
            </a:r>
            <a:b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</a:b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4. React Re-renders the Component</a:t>
            </a:r>
            <a:endParaRPr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273239"/>
              </a:buClr>
              <a:buSzPts val="1400"/>
              <a:buFont typeface="Poppins"/>
              <a:buChar char="●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React sees the state has changed.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1200"/>
              </a:spcBef>
              <a:spcAft>
                <a:spcPts val="100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It automatically re-runs the component to </a:t>
            </a: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refresh the UI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9"/>
          <p:cNvSpPr txBox="1">
            <a:spLocks noGrp="1"/>
          </p:cNvSpPr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Updating State &amp; Re-Rendering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13" name="Google Shape;213;p29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18</a:t>
            </a:fld>
            <a:endParaRPr/>
          </a:p>
        </p:txBody>
      </p:sp>
      <p:sp>
        <p:nvSpPr>
          <p:cNvPr id="215" name="Google Shape;215;p29"/>
          <p:cNvSpPr txBox="1"/>
          <p:nvPr/>
        </p:nvSpPr>
        <p:spPr>
          <a:xfrm>
            <a:off x="589850" y="1014975"/>
            <a:ext cx="6873600" cy="37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5. Updated UI is Displayed</a:t>
            </a:r>
            <a:endParaRPr sz="1300"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188038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Now displays the updated number, like </a:t>
            </a:r>
            <a:r>
              <a:rPr lang="en" sz="11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Count: 1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This Cycle Repeats</a:t>
            </a:r>
            <a:endParaRPr sz="1300"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Every time a button is clicked (increment, decrement, reset):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setCount()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updates the state.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●"/>
            </a:pP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React re-renders the component.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200"/>
              </a:spcBef>
              <a:spcAft>
                <a:spcPts val="100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UI reflects the </a:t>
            </a:r>
            <a:r>
              <a:rPr lang="en" sz="12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latest value of count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sz="1900">
              <a:solidFill>
                <a:schemeClr val="dk2"/>
              </a:solidFill>
            </a:endParaRPr>
          </a:p>
        </p:txBody>
      </p:sp>
      <p:pic>
        <p:nvPicPr>
          <p:cNvPr id="216" name="Google Shape;216;p29" title="carbon - 2025-08-06T175559.96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250" y="1502125"/>
            <a:ext cx="4513624" cy="95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0"/>
          <p:cNvSpPr txBox="1">
            <a:spLocks noGrp="1"/>
          </p:cNvSpPr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Coding Questions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22" name="Google Shape;222;p30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30" title="question-and-answer-illustration-download-in-svg-png-gif-file-formats--answers-faq-comments-chatting-business-pack-people-illustrations-42570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3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19</a:t>
            </a:fld>
            <a:endParaRPr/>
          </a:p>
        </p:txBody>
      </p:sp>
      <p:grpSp>
        <p:nvGrpSpPr>
          <p:cNvPr id="225" name="Google Shape;225;p30"/>
          <p:cNvGrpSpPr/>
          <p:nvPr/>
        </p:nvGrpSpPr>
        <p:grpSpPr>
          <a:xfrm>
            <a:off x="310894" y="1014975"/>
            <a:ext cx="6716433" cy="1930925"/>
            <a:chOff x="310900" y="1014975"/>
            <a:chExt cx="6327900" cy="1930925"/>
          </a:xfrm>
        </p:grpSpPr>
        <p:sp>
          <p:nvSpPr>
            <p:cNvPr id="226" name="Google Shape;226;p30"/>
            <p:cNvSpPr txBox="1"/>
            <p:nvPr/>
          </p:nvSpPr>
          <p:spPr>
            <a:xfrm>
              <a:off x="310900" y="1014975"/>
              <a:ext cx="51390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1.   Simple Counter</a:t>
              </a:r>
              <a:endParaRPr sz="2000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27" name="Google Shape;227;p30"/>
            <p:cNvSpPr txBox="1"/>
            <p:nvPr/>
          </p:nvSpPr>
          <p:spPr>
            <a:xfrm>
              <a:off x="310900" y="1725200"/>
              <a:ext cx="6327900" cy="122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Task :</a:t>
              </a:r>
              <a:endParaRPr sz="1100">
                <a:solidFill>
                  <a:schemeClr val="dk1"/>
                </a:solidFill>
              </a:endParaRPr>
            </a:p>
            <a:p>
              <a:pPr marL="914400" lvl="0" indent="-298450" algn="l" rtl="0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AutoNum type="arabicPeriod"/>
              </a:pPr>
              <a:r>
                <a:rPr lang="en" sz="1100">
                  <a:solidFill>
                    <a:schemeClr val="dk1"/>
                  </a:solidFill>
                </a:rPr>
                <a:t>Create a </a:t>
              </a:r>
              <a:r>
                <a:rPr lang="en" sz="1100" b="1">
                  <a:solidFill>
                    <a:schemeClr val="dk1"/>
                  </a:solidFill>
                </a:rPr>
                <a:t>Counter</a:t>
              </a:r>
              <a:r>
                <a:rPr lang="en" sz="1100">
                  <a:solidFill>
                    <a:schemeClr val="dk1"/>
                  </a:solidFill>
                </a:rPr>
                <a:t> component. Use the </a:t>
              </a:r>
              <a:r>
                <a:rPr lang="en" sz="1100" b="1">
                  <a:solidFill>
                    <a:schemeClr val="dk1"/>
                  </a:solidFill>
                </a:rPr>
                <a:t>useState</a:t>
              </a:r>
              <a:r>
                <a:rPr lang="en" sz="1100">
                  <a:solidFill>
                    <a:schemeClr val="dk1"/>
                  </a:solidFill>
                </a:rPr>
                <a:t> Hook to manage a </a:t>
              </a:r>
              <a:r>
                <a:rPr lang="en" sz="1100" b="1">
                  <a:solidFill>
                    <a:schemeClr val="dk1"/>
                  </a:solidFill>
                </a:rPr>
                <a:t>count </a:t>
              </a:r>
              <a:r>
                <a:rPr lang="en" sz="1100">
                  <a:solidFill>
                    <a:schemeClr val="dk1"/>
                  </a:solidFill>
                </a:rPr>
                <a:t>state variable, initialized to </a:t>
              </a:r>
              <a:r>
                <a:rPr lang="en" sz="1100" b="1">
                  <a:solidFill>
                    <a:schemeClr val="dk1"/>
                  </a:solidFill>
                </a:rPr>
                <a:t>0</a:t>
              </a:r>
              <a:r>
                <a:rPr lang="en" sz="1100">
                  <a:solidFill>
                    <a:schemeClr val="dk1"/>
                  </a:solidFill>
                </a:rPr>
                <a:t>. Display the current count in a </a:t>
              </a:r>
              <a:r>
                <a:rPr lang="en" sz="1100" b="1">
                  <a:solidFill>
                    <a:schemeClr val="dk1"/>
                  </a:solidFill>
                </a:rPr>
                <a:t>&lt;p&gt;</a:t>
              </a:r>
              <a:r>
                <a:rPr lang="en" sz="1100">
                  <a:solidFill>
                    <a:schemeClr val="dk1"/>
                  </a:solidFill>
                </a:rPr>
                <a:t> tag and a &lt;</a:t>
              </a:r>
              <a:r>
                <a:rPr lang="en" sz="1100" b="1">
                  <a:solidFill>
                    <a:schemeClr val="dk1"/>
                  </a:solidFill>
                </a:rPr>
                <a:t>button&gt; </a:t>
              </a:r>
              <a:r>
                <a:rPr lang="en" sz="1100">
                  <a:solidFill>
                    <a:schemeClr val="dk1"/>
                  </a:solidFill>
                </a:rPr>
                <a:t>that, when clicked, increments the count.</a:t>
              </a:r>
              <a:endParaRPr sz="1100">
                <a:solidFill>
                  <a:schemeClr val="dk1"/>
                </a:solidFill>
              </a:endParaRPr>
            </a:p>
          </p:txBody>
        </p:sp>
      </p:grpSp>
    </p:spTree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1"/>
          <p:cNvSpPr txBox="1">
            <a:spLocks noGrp="1"/>
          </p:cNvSpPr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Coding Questions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33" name="Google Shape;233;p31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31" title="question-and-answer-illustration-download-in-svg-png-gif-file-formats--answers-faq-comments-chatting-business-pack-people-illustrations-42570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3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20</a:t>
            </a:fld>
            <a:endParaRPr/>
          </a:p>
        </p:txBody>
      </p:sp>
      <p:sp>
        <p:nvSpPr>
          <p:cNvPr id="236" name="Google Shape;236;p31"/>
          <p:cNvSpPr txBox="1"/>
          <p:nvPr/>
        </p:nvSpPr>
        <p:spPr>
          <a:xfrm>
            <a:off x="310900" y="1086300"/>
            <a:ext cx="1049700" cy="3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Solution :</a:t>
            </a:r>
            <a:endParaRPr sz="1700"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37" name="Google Shape;237;p31" title="carbon - 2025-08-07T170351.584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13000" y="922425"/>
            <a:ext cx="4494973" cy="390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2"/>
          <p:cNvSpPr txBox="1">
            <a:spLocks noGrp="1"/>
          </p:cNvSpPr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Coding Questions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43" name="Google Shape;243;p32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32" title="question-and-answer-illustration-download-in-svg-png-gif-file-formats--answers-faq-comments-chatting-business-pack-people-illustrations-42570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3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21</a:t>
            </a:fld>
            <a:endParaRPr/>
          </a:p>
        </p:txBody>
      </p:sp>
      <p:sp>
        <p:nvSpPr>
          <p:cNvPr id="246" name="Google Shape;246;p32"/>
          <p:cNvSpPr txBox="1"/>
          <p:nvPr/>
        </p:nvSpPr>
        <p:spPr>
          <a:xfrm>
            <a:off x="310900" y="1086300"/>
            <a:ext cx="1049700" cy="3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Solution :</a:t>
            </a:r>
            <a:endParaRPr sz="1700"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47" name="Google Shape;247;p32" title="carbon - 2025-08-07T170514.351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60600" y="1086300"/>
            <a:ext cx="4272676" cy="3576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3"/>
          <p:cNvSpPr txBox="1">
            <a:spLocks noGrp="1"/>
          </p:cNvSpPr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Coding Questions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53" name="Google Shape;253;p33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33" title="question-and-answer-illustration-download-in-svg-png-gif-file-formats--answers-faq-comments-chatting-business-pack-people-illustrations-42570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3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22</a:t>
            </a:fld>
            <a:endParaRPr/>
          </a:p>
        </p:txBody>
      </p:sp>
      <p:sp>
        <p:nvSpPr>
          <p:cNvPr id="256" name="Google Shape;256;p33"/>
          <p:cNvSpPr txBox="1"/>
          <p:nvPr/>
        </p:nvSpPr>
        <p:spPr>
          <a:xfrm>
            <a:off x="310900" y="1086300"/>
            <a:ext cx="1049700" cy="3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Output :</a:t>
            </a:r>
            <a:endParaRPr sz="1700"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57" name="Google Shape;257;p33" title="Screen Recording 2025-08-07 170747.mp4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818225" y="1611850"/>
            <a:ext cx="3726500" cy="2036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4"/>
          <p:cNvSpPr txBox="1">
            <a:spLocks noGrp="1"/>
          </p:cNvSpPr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Coding Questions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63" name="Google Shape;263;p34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34" title="question-and-answer-illustration-download-in-svg-png-gif-file-formats--answers-faq-comments-chatting-business-pack-people-illustrations-42570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3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23</a:t>
            </a:fld>
            <a:endParaRPr/>
          </a:p>
        </p:txBody>
      </p:sp>
      <p:grpSp>
        <p:nvGrpSpPr>
          <p:cNvPr id="266" name="Google Shape;266;p34"/>
          <p:cNvGrpSpPr/>
          <p:nvPr/>
        </p:nvGrpSpPr>
        <p:grpSpPr>
          <a:xfrm>
            <a:off x="310894" y="1014975"/>
            <a:ext cx="6716433" cy="2084825"/>
            <a:chOff x="310900" y="1014975"/>
            <a:chExt cx="6327900" cy="2084825"/>
          </a:xfrm>
        </p:grpSpPr>
        <p:sp>
          <p:nvSpPr>
            <p:cNvPr id="267" name="Google Shape;267;p34"/>
            <p:cNvSpPr txBox="1"/>
            <p:nvPr/>
          </p:nvSpPr>
          <p:spPr>
            <a:xfrm>
              <a:off x="310900" y="1014975"/>
              <a:ext cx="51390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2.   Text Input State</a:t>
              </a:r>
              <a:endParaRPr sz="1700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68" name="Google Shape;268;p34"/>
            <p:cNvSpPr txBox="1"/>
            <p:nvPr/>
          </p:nvSpPr>
          <p:spPr>
            <a:xfrm>
              <a:off x="310900" y="1725200"/>
              <a:ext cx="6327900" cy="1374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Task :</a:t>
              </a:r>
              <a:endParaRPr sz="1100">
                <a:solidFill>
                  <a:schemeClr val="dk1"/>
                </a:solidFill>
              </a:endParaRPr>
            </a:p>
            <a:p>
              <a:pPr marL="914400" lvl="0" indent="-298450" algn="l" rtl="0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AutoNum type="arabicPeriod"/>
              </a:pPr>
              <a:r>
                <a:rPr lang="en" sz="1100">
                  <a:solidFill>
                    <a:schemeClr val="dk1"/>
                  </a:solidFill>
                </a:rPr>
                <a:t>Create a component that has a text input field. Use </a:t>
              </a:r>
              <a:r>
                <a:rPr lang="en" sz="1100" b="1">
                  <a:solidFill>
                    <a:schemeClr val="dk1"/>
                  </a:solidFill>
                </a:rPr>
                <a:t>useState</a:t>
              </a:r>
              <a:r>
                <a:rPr lang="en" sz="1100">
                  <a:solidFill>
                    <a:schemeClr val="dk1"/>
                  </a:solidFill>
                </a:rPr>
                <a:t> to manage the text typed into the input. Display the current text in real-time in a </a:t>
              </a:r>
              <a:r>
                <a:rPr lang="en" sz="1100" b="1">
                  <a:solidFill>
                    <a:schemeClr val="dk1"/>
                  </a:solidFill>
                </a:rPr>
                <a:t>&lt;p&gt;</a:t>
              </a:r>
              <a:r>
                <a:rPr lang="en" sz="1100">
                  <a:solidFill>
                    <a:schemeClr val="dk1"/>
                  </a:solidFill>
                </a:rPr>
                <a:t> tag below the input.</a:t>
              </a:r>
              <a:endParaRPr sz="1100">
                <a:solidFill>
                  <a:schemeClr val="dk1"/>
                </a:solidFill>
              </a:endParaRPr>
            </a:p>
            <a:p>
              <a:pPr marL="914400" lvl="0" indent="0" algn="l" rtl="0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endParaRPr sz="1100">
                <a:solidFill>
                  <a:schemeClr val="dk1"/>
                </a:solidFill>
              </a:endParaRPr>
            </a:p>
          </p:txBody>
        </p:sp>
      </p:grpSp>
    </p:spTree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5"/>
          <p:cNvSpPr txBox="1">
            <a:spLocks noGrp="1"/>
          </p:cNvSpPr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Coding Questions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74" name="Google Shape;274;p35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35" title="question-and-answer-illustration-download-in-svg-png-gif-file-formats--answers-faq-comments-chatting-business-pack-people-illustrations-42570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3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24</a:t>
            </a:fld>
            <a:endParaRPr/>
          </a:p>
        </p:txBody>
      </p:sp>
      <p:sp>
        <p:nvSpPr>
          <p:cNvPr id="277" name="Google Shape;277;p35"/>
          <p:cNvSpPr txBox="1"/>
          <p:nvPr/>
        </p:nvSpPr>
        <p:spPr>
          <a:xfrm>
            <a:off x="310900" y="1086300"/>
            <a:ext cx="1049700" cy="3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Solution :</a:t>
            </a:r>
            <a:endParaRPr sz="1700"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78" name="Google Shape;278;p35" title="carbon - 2025-08-07T171732.787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93650" y="770025"/>
            <a:ext cx="4993624" cy="4207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6"/>
          <p:cNvSpPr txBox="1">
            <a:spLocks noGrp="1"/>
          </p:cNvSpPr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Coding Questions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84" name="Google Shape;284;p36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36" title="question-and-answer-illustration-download-in-svg-png-gif-file-formats--answers-faq-comments-chatting-business-pack-people-illustrations-42570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3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25</a:t>
            </a:fld>
            <a:endParaRPr/>
          </a:p>
        </p:txBody>
      </p:sp>
      <p:sp>
        <p:nvSpPr>
          <p:cNvPr id="287" name="Google Shape;287;p36"/>
          <p:cNvSpPr txBox="1"/>
          <p:nvPr/>
        </p:nvSpPr>
        <p:spPr>
          <a:xfrm>
            <a:off x="310900" y="1086300"/>
            <a:ext cx="1049700" cy="3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Solution :</a:t>
            </a:r>
            <a:endParaRPr sz="1700"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88" name="Google Shape;288;p36" title="carbon - 2025-08-07T171658.388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90100" y="1086300"/>
            <a:ext cx="4761749" cy="3427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7"/>
          <p:cNvSpPr txBox="1">
            <a:spLocks noGrp="1"/>
          </p:cNvSpPr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Coding Questions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94" name="Google Shape;294;p37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37" title="question-and-answer-illustration-download-in-svg-png-gif-file-formats--answers-faq-comments-chatting-business-pack-people-illustrations-42570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3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26</a:t>
            </a:fld>
            <a:endParaRPr/>
          </a:p>
        </p:txBody>
      </p:sp>
      <p:sp>
        <p:nvSpPr>
          <p:cNvPr id="297" name="Google Shape;297;p37"/>
          <p:cNvSpPr txBox="1"/>
          <p:nvPr/>
        </p:nvSpPr>
        <p:spPr>
          <a:xfrm>
            <a:off x="310900" y="1086300"/>
            <a:ext cx="1049700" cy="3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Output :</a:t>
            </a:r>
            <a:endParaRPr sz="1700"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98" name="Google Shape;298;p37" title="Screen Recording 2025-08-07 172335.mp4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838650" y="1519213"/>
            <a:ext cx="3815050" cy="2105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8"/>
          <p:cNvSpPr txBox="1">
            <a:spLocks noGrp="1"/>
          </p:cNvSpPr>
          <p:nvPr>
            <p:ph type="title"/>
          </p:nvPr>
        </p:nvSpPr>
        <p:spPr>
          <a:xfrm>
            <a:off x="310900" y="210300"/>
            <a:ext cx="747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Check Your Understanding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04" name="Google Shape;304;p38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38"/>
          <p:cNvSpPr txBox="1"/>
          <p:nvPr/>
        </p:nvSpPr>
        <p:spPr>
          <a:xfrm>
            <a:off x="310900" y="1228825"/>
            <a:ext cx="8161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Question : </a:t>
            </a:r>
            <a:r>
              <a:rPr lang="en" sz="1300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  </a:t>
            </a:r>
            <a:r>
              <a:rPr lang="en" sz="1100" b="1">
                <a:solidFill>
                  <a:schemeClr val="dk1"/>
                </a:solidFill>
              </a:rPr>
              <a:t>  </a:t>
            </a:r>
            <a:r>
              <a:rPr lang="en" sz="1300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What is "state" in the context of a React component?</a:t>
            </a:r>
            <a:endParaRPr sz="2700"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06" name="Google Shape;306;p38"/>
          <p:cNvSpPr txBox="1"/>
          <p:nvPr/>
        </p:nvSpPr>
        <p:spPr>
          <a:xfrm>
            <a:off x="310900" y="1748350"/>
            <a:ext cx="8084700" cy="145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Options    :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a) Data passed down from a parent component that cannot be changed.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          b) A built-in JavaScript object for storing static data.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          c) Data that a component owns and can change over time, causing the component to re-render.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          d) A CSS framework for managing styles.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07" name="Google Shape;307;p38" title="question-and-answer-illustration-download-in-svg-png-gif-file-formats--answers-faq-comments-chatting-business-pack-people-illustrations-42570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3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27</a:t>
            </a:fld>
            <a:endParaRPr/>
          </a:p>
        </p:txBody>
      </p:sp>
      <p:sp>
        <p:nvSpPr>
          <p:cNvPr id="309" name="Google Shape;309;p38"/>
          <p:cNvSpPr txBox="1"/>
          <p:nvPr/>
        </p:nvSpPr>
        <p:spPr>
          <a:xfrm>
            <a:off x="310950" y="3313725"/>
            <a:ext cx="6260400" cy="63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Answer :</a:t>
            </a:r>
            <a:r>
              <a:rPr lang="en" sz="1800">
                <a:solidFill>
                  <a:schemeClr val="dk2"/>
                </a:solidFill>
              </a:rPr>
              <a:t> 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c) 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Data that a component owns and can change over time, causing the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                            component to re-render. 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310" name="Google Shape;310;p38"/>
          <p:cNvGrpSpPr/>
          <p:nvPr/>
        </p:nvGrpSpPr>
        <p:grpSpPr>
          <a:xfrm>
            <a:off x="310900" y="3959263"/>
            <a:ext cx="6005825" cy="743413"/>
            <a:chOff x="310900" y="3959263"/>
            <a:chExt cx="6005825" cy="743413"/>
          </a:xfrm>
        </p:grpSpPr>
        <p:sp>
          <p:nvSpPr>
            <p:cNvPr id="311" name="Google Shape;311;p38"/>
            <p:cNvSpPr txBox="1"/>
            <p:nvPr/>
          </p:nvSpPr>
          <p:spPr>
            <a:xfrm>
              <a:off x="310900" y="3959263"/>
              <a:ext cx="1335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b="1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Explanation: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312" name="Google Shape;312;p38"/>
            <p:cNvSpPr txBox="1"/>
            <p:nvPr/>
          </p:nvSpPr>
          <p:spPr>
            <a:xfrm>
              <a:off x="1607925" y="3959275"/>
              <a:ext cx="4708800" cy="74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rPr lang="en" sz="11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State is internal data managed by a component. When this data changes, React knows it needs to update the UI to reflect the new state.</a:t>
              </a:r>
              <a:endParaRPr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39"/>
          <p:cNvSpPr txBox="1">
            <a:spLocks noGrp="1"/>
          </p:cNvSpPr>
          <p:nvPr>
            <p:ph type="title"/>
          </p:nvPr>
        </p:nvSpPr>
        <p:spPr>
          <a:xfrm>
            <a:off x="310900" y="210300"/>
            <a:ext cx="747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Check Your Understanding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18" name="Google Shape;318;p39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39"/>
          <p:cNvSpPr txBox="1"/>
          <p:nvPr/>
        </p:nvSpPr>
        <p:spPr>
          <a:xfrm>
            <a:off x="310900" y="1228825"/>
            <a:ext cx="8161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Question : </a:t>
            </a:r>
            <a:r>
              <a:rPr lang="en" sz="1300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  </a:t>
            </a:r>
            <a:r>
              <a:rPr lang="en" sz="1100" b="1">
                <a:solidFill>
                  <a:schemeClr val="dk1"/>
                </a:solidFill>
              </a:rPr>
              <a:t> </a:t>
            </a:r>
            <a:r>
              <a:rPr lang="en" sz="1300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What is </a:t>
            </a:r>
            <a:r>
              <a:rPr lang="en" sz="1300" b="1" i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useState</a:t>
            </a:r>
            <a:r>
              <a:rPr lang="en" sz="1300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in React?</a:t>
            </a:r>
            <a:endParaRPr sz="2900"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0" name="Google Shape;320;p39"/>
          <p:cNvSpPr txBox="1"/>
          <p:nvPr/>
        </p:nvSpPr>
        <p:spPr>
          <a:xfrm>
            <a:off x="310900" y="1748350"/>
            <a:ext cx="8084700" cy="145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Options    :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a) A component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          b) A prop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          c) A Hook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          d) A CSS class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21" name="Google Shape;321;p39" title="question-and-answer-illustration-download-in-svg-png-gif-file-formats--answers-faq-comments-chatting-business-pack-people-illustrations-42570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3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28</a:t>
            </a:fld>
            <a:endParaRPr/>
          </a:p>
        </p:txBody>
      </p:sp>
      <p:sp>
        <p:nvSpPr>
          <p:cNvPr id="323" name="Google Shape;323;p39"/>
          <p:cNvSpPr txBox="1"/>
          <p:nvPr/>
        </p:nvSpPr>
        <p:spPr>
          <a:xfrm>
            <a:off x="310950" y="3313725"/>
            <a:ext cx="6260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Answer :</a:t>
            </a:r>
            <a:r>
              <a:rPr lang="en" sz="1800">
                <a:solidFill>
                  <a:schemeClr val="dk2"/>
                </a:solidFill>
              </a:rPr>
              <a:t> 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c) 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 Hook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324" name="Google Shape;324;p39"/>
          <p:cNvGrpSpPr/>
          <p:nvPr/>
        </p:nvGrpSpPr>
        <p:grpSpPr>
          <a:xfrm>
            <a:off x="310900" y="3959263"/>
            <a:ext cx="6005825" cy="743413"/>
            <a:chOff x="310900" y="3959263"/>
            <a:chExt cx="6005825" cy="743413"/>
          </a:xfrm>
        </p:grpSpPr>
        <p:sp>
          <p:nvSpPr>
            <p:cNvPr id="325" name="Google Shape;325;p39"/>
            <p:cNvSpPr txBox="1"/>
            <p:nvPr/>
          </p:nvSpPr>
          <p:spPr>
            <a:xfrm>
              <a:off x="310900" y="3959263"/>
              <a:ext cx="1335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b="1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Explanation: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326" name="Google Shape;326;p39"/>
            <p:cNvSpPr txBox="1"/>
            <p:nvPr/>
          </p:nvSpPr>
          <p:spPr>
            <a:xfrm>
              <a:off x="1607925" y="3959275"/>
              <a:ext cx="4708800" cy="74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rPr lang="en" sz="1100" b="1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useState</a:t>
              </a:r>
              <a:r>
                <a:rPr lang="en" sz="11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 is a React Hook, a special function that lets you "hook into" React features like state and lifecycle from functional components.</a:t>
              </a:r>
              <a:endParaRPr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40"/>
          <p:cNvSpPr txBox="1">
            <a:spLocks noGrp="1"/>
          </p:cNvSpPr>
          <p:nvPr>
            <p:ph type="title"/>
          </p:nvPr>
        </p:nvSpPr>
        <p:spPr>
          <a:xfrm>
            <a:off x="310900" y="210300"/>
            <a:ext cx="747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Check Your Understanding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32" name="Google Shape;332;p40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40"/>
          <p:cNvSpPr txBox="1"/>
          <p:nvPr/>
        </p:nvSpPr>
        <p:spPr>
          <a:xfrm>
            <a:off x="310900" y="1228825"/>
            <a:ext cx="8161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Question : </a:t>
            </a:r>
            <a:r>
              <a:rPr lang="en" sz="1300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  </a:t>
            </a:r>
            <a:r>
              <a:rPr lang="en" sz="1100" b="1">
                <a:solidFill>
                  <a:schemeClr val="dk1"/>
                </a:solidFill>
              </a:rPr>
              <a:t> </a:t>
            </a:r>
            <a:r>
              <a:rPr lang="en" sz="1300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" sz="1100" b="1">
                <a:solidFill>
                  <a:schemeClr val="dk1"/>
                </a:solidFill>
              </a:rPr>
              <a:t> </a:t>
            </a:r>
            <a:r>
              <a:rPr lang="en" sz="1300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What does the </a:t>
            </a:r>
            <a:r>
              <a:rPr lang="en" sz="1300" b="1" i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useState</a:t>
            </a:r>
            <a:r>
              <a:rPr lang="en" sz="1300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Hook return?</a:t>
            </a:r>
            <a:endParaRPr sz="3100"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34" name="Google Shape;334;p40"/>
          <p:cNvSpPr txBox="1"/>
          <p:nvPr/>
        </p:nvSpPr>
        <p:spPr>
          <a:xfrm>
            <a:off x="310900" y="1748350"/>
            <a:ext cx="8084700" cy="145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Options    :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a) Just the current state value.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         b) Just a function to update the state.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         c) An object containing the state and an updater function.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         d) An array containing the current state value and a function to update it.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35" name="Google Shape;335;p40" title="question-and-answer-illustration-download-in-svg-png-gif-file-formats--answers-faq-comments-chatting-business-pack-people-illustrations-42570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4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29</a:t>
            </a:fld>
            <a:endParaRPr/>
          </a:p>
        </p:txBody>
      </p:sp>
      <p:sp>
        <p:nvSpPr>
          <p:cNvPr id="337" name="Google Shape;337;p40"/>
          <p:cNvSpPr txBox="1"/>
          <p:nvPr/>
        </p:nvSpPr>
        <p:spPr>
          <a:xfrm>
            <a:off x="310950" y="3313725"/>
            <a:ext cx="6439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Answer :</a:t>
            </a:r>
            <a:r>
              <a:rPr lang="en" sz="1800">
                <a:solidFill>
                  <a:schemeClr val="dk2"/>
                </a:solidFill>
              </a:rPr>
              <a:t> 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d) 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An array containing the current state value and a function to update it.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338" name="Google Shape;338;p40"/>
          <p:cNvGrpSpPr/>
          <p:nvPr/>
        </p:nvGrpSpPr>
        <p:grpSpPr>
          <a:xfrm>
            <a:off x="310900" y="3959263"/>
            <a:ext cx="6005825" cy="743413"/>
            <a:chOff x="310900" y="3959263"/>
            <a:chExt cx="6005825" cy="743413"/>
          </a:xfrm>
        </p:grpSpPr>
        <p:sp>
          <p:nvSpPr>
            <p:cNvPr id="339" name="Google Shape;339;p40"/>
            <p:cNvSpPr txBox="1"/>
            <p:nvPr/>
          </p:nvSpPr>
          <p:spPr>
            <a:xfrm>
              <a:off x="310900" y="3959263"/>
              <a:ext cx="1335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b="1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Explanation: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340" name="Google Shape;340;p40"/>
            <p:cNvSpPr txBox="1"/>
            <p:nvPr/>
          </p:nvSpPr>
          <p:spPr>
            <a:xfrm>
              <a:off x="1607925" y="3959275"/>
              <a:ext cx="4708800" cy="74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rPr lang="en" sz="1100" i="1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useState</a:t>
              </a:r>
              <a:r>
                <a:rPr lang="en" sz="11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 returns an array with exactly two elements: the current state and a setter function. We typically use array destructuring to name them, like </a:t>
              </a:r>
              <a:r>
                <a:rPr lang="en" sz="1100" b="1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const [count, setCount] = useState(0);</a:t>
              </a:r>
              <a:r>
                <a:rPr lang="en" sz="11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.</a:t>
              </a:r>
              <a:endParaRPr sz="11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1"/>
          <p:cNvSpPr txBox="1">
            <a:spLocks noGrp="1"/>
          </p:cNvSpPr>
          <p:nvPr>
            <p:ph type="title"/>
          </p:nvPr>
        </p:nvSpPr>
        <p:spPr>
          <a:xfrm>
            <a:off x="310900" y="210300"/>
            <a:ext cx="747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Check Your Understanding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46" name="Google Shape;346;p41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41"/>
          <p:cNvSpPr txBox="1"/>
          <p:nvPr/>
        </p:nvSpPr>
        <p:spPr>
          <a:xfrm>
            <a:off x="310900" y="1228825"/>
            <a:ext cx="8161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Question : </a:t>
            </a:r>
            <a:r>
              <a:rPr lang="en" sz="1300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  </a:t>
            </a:r>
            <a:r>
              <a:rPr lang="en" sz="1100" b="1">
                <a:solidFill>
                  <a:schemeClr val="dk1"/>
                </a:solidFill>
              </a:rPr>
              <a:t> </a:t>
            </a:r>
            <a:r>
              <a:rPr lang="en" sz="1300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" sz="1100" b="1">
                <a:solidFill>
                  <a:schemeClr val="dk1"/>
                </a:solidFill>
              </a:rPr>
              <a:t> </a:t>
            </a:r>
            <a:r>
              <a:rPr lang="en" sz="1300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What is the correct way to update a state variable named </a:t>
            </a:r>
            <a:r>
              <a:rPr lang="en" sz="1300" b="1" i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count</a:t>
            </a:r>
            <a:r>
              <a:rPr lang="en" sz="1300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?</a:t>
            </a:r>
            <a:r>
              <a:rPr lang="en" sz="1100">
                <a:solidFill>
                  <a:schemeClr val="dk1"/>
                </a:solidFill>
              </a:rPr>
              <a:t> </a:t>
            </a:r>
            <a:endParaRPr sz="3100"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48" name="Google Shape;348;p41"/>
          <p:cNvSpPr txBox="1"/>
          <p:nvPr/>
        </p:nvSpPr>
        <p:spPr>
          <a:xfrm>
            <a:off x="310900" y="1748350"/>
            <a:ext cx="8084700" cy="145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Options    :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a) count = count + 1;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          b) setCount(count + 1);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          c) useState(count + 1);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          d) props.count = count + 1;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49" name="Google Shape;349;p41" title="question-and-answer-illustration-download-in-svg-png-gif-file-formats--answers-faq-comments-chatting-business-pack-people-illustrations-42570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4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30</a:t>
            </a:fld>
            <a:endParaRPr/>
          </a:p>
        </p:txBody>
      </p:sp>
      <p:sp>
        <p:nvSpPr>
          <p:cNvPr id="351" name="Google Shape;351;p41"/>
          <p:cNvSpPr txBox="1"/>
          <p:nvPr/>
        </p:nvSpPr>
        <p:spPr>
          <a:xfrm>
            <a:off x="310950" y="3313725"/>
            <a:ext cx="6439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Answer :</a:t>
            </a:r>
            <a:r>
              <a:rPr lang="en" sz="1800">
                <a:solidFill>
                  <a:schemeClr val="dk2"/>
                </a:solidFill>
              </a:rPr>
              <a:t> 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b) 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setCount(count + 1);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352" name="Google Shape;352;p41"/>
          <p:cNvGrpSpPr/>
          <p:nvPr/>
        </p:nvGrpSpPr>
        <p:grpSpPr>
          <a:xfrm>
            <a:off x="310900" y="3959263"/>
            <a:ext cx="6005825" cy="743413"/>
            <a:chOff x="310900" y="3959263"/>
            <a:chExt cx="6005825" cy="743413"/>
          </a:xfrm>
        </p:grpSpPr>
        <p:sp>
          <p:nvSpPr>
            <p:cNvPr id="353" name="Google Shape;353;p41"/>
            <p:cNvSpPr txBox="1"/>
            <p:nvPr/>
          </p:nvSpPr>
          <p:spPr>
            <a:xfrm>
              <a:off x="310900" y="3959263"/>
              <a:ext cx="1335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b="1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Explanation: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354" name="Google Shape;354;p41"/>
            <p:cNvSpPr txBox="1"/>
            <p:nvPr/>
          </p:nvSpPr>
          <p:spPr>
            <a:xfrm>
              <a:off x="1607925" y="3959275"/>
              <a:ext cx="4708800" cy="74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rPr lang="en" sz="11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You </a:t>
              </a:r>
              <a:r>
                <a:rPr lang="en" sz="1100" b="1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must</a:t>
              </a:r>
              <a:r>
                <a:rPr lang="en" sz="11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 use the setter function provided by </a:t>
              </a:r>
              <a:r>
                <a:rPr lang="en" sz="1100" b="1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useState</a:t>
              </a:r>
              <a:r>
                <a:rPr lang="en" sz="11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 to update state. Directly modifying a state variable will not trigger a re-render and is against React's principles.</a:t>
              </a:r>
              <a:endParaRPr sz="11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42"/>
          <p:cNvSpPr txBox="1">
            <a:spLocks noGrp="1"/>
          </p:cNvSpPr>
          <p:nvPr>
            <p:ph type="title"/>
          </p:nvPr>
        </p:nvSpPr>
        <p:spPr>
          <a:xfrm>
            <a:off x="310900" y="210300"/>
            <a:ext cx="747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Check Your Understanding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60" name="Google Shape;360;p42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42"/>
          <p:cNvSpPr txBox="1"/>
          <p:nvPr/>
        </p:nvSpPr>
        <p:spPr>
          <a:xfrm>
            <a:off x="310900" y="1228825"/>
            <a:ext cx="8161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Question : </a:t>
            </a:r>
            <a:r>
              <a:rPr lang="en" sz="1300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  </a:t>
            </a:r>
            <a:r>
              <a:rPr lang="en" sz="1100" b="1">
                <a:solidFill>
                  <a:schemeClr val="dk1"/>
                </a:solidFill>
              </a:rPr>
              <a:t> </a:t>
            </a:r>
            <a:r>
              <a:rPr lang="en" sz="1300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" sz="1100" b="1">
                <a:solidFill>
                  <a:schemeClr val="dk1"/>
                </a:solidFill>
              </a:rPr>
              <a:t>  </a:t>
            </a:r>
            <a:r>
              <a:rPr lang="en" sz="1300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What triggers a React component to re-render?</a:t>
            </a:r>
            <a:endParaRPr sz="3300"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62" name="Google Shape;362;p42"/>
          <p:cNvSpPr txBox="1"/>
          <p:nvPr/>
        </p:nvSpPr>
        <p:spPr>
          <a:xfrm>
            <a:off x="310900" y="1748350"/>
            <a:ext cx="8084700" cy="145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Options    :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a) When a regular JavaScript variable inside it changes.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         b) Every time a user clicks anywhere on the page.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         c) When its props change or when its state is updated using the setter function.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         d) When a new component is imported.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63" name="Google Shape;363;p42" title="question-and-answer-illustration-download-in-svg-png-gif-file-formats--answers-faq-comments-chatting-business-pack-people-illustrations-42570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4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31</a:t>
            </a:fld>
            <a:endParaRPr/>
          </a:p>
        </p:txBody>
      </p:sp>
      <p:sp>
        <p:nvSpPr>
          <p:cNvPr id="365" name="Google Shape;365;p42"/>
          <p:cNvSpPr txBox="1"/>
          <p:nvPr/>
        </p:nvSpPr>
        <p:spPr>
          <a:xfrm>
            <a:off x="310950" y="3313725"/>
            <a:ext cx="6439500" cy="63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Answer :</a:t>
            </a:r>
            <a:r>
              <a:rPr lang="en" sz="1800">
                <a:solidFill>
                  <a:schemeClr val="dk2"/>
                </a:solidFill>
              </a:rPr>
              <a:t> 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b)  When its props change or when its state is updated using the setter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                             function.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366" name="Google Shape;366;p42"/>
          <p:cNvGrpSpPr/>
          <p:nvPr/>
        </p:nvGrpSpPr>
        <p:grpSpPr>
          <a:xfrm>
            <a:off x="310900" y="3959263"/>
            <a:ext cx="6005825" cy="938113"/>
            <a:chOff x="310900" y="3959263"/>
            <a:chExt cx="6005825" cy="938113"/>
          </a:xfrm>
        </p:grpSpPr>
        <p:sp>
          <p:nvSpPr>
            <p:cNvPr id="367" name="Google Shape;367;p42"/>
            <p:cNvSpPr txBox="1"/>
            <p:nvPr/>
          </p:nvSpPr>
          <p:spPr>
            <a:xfrm>
              <a:off x="310900" y="3959263"/>
              <a:ext cx="1335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b="1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Explanation: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368" name="Google Shape;368;p42"/>
            <p:cNvSpPr txBox="1"/>
            <p:nvPr/>
          </p:nvSpPr>
          <p:spPr>
            <a:xfrm>
              <a:off x="1607925" y="3959275"/>
              <a:ext cx="4708800" cy="938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rPr lang="en" sz="11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React's rendering is primarily driven by changes in data. It re-renders a component automatically when it receives new props from its parent or when its internal state changes via a state setter function.</a:t>
              </a:r>
              <a:endParaRPr sz="11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43"/>
          <p:cNvSpPr txBox="1">
            <a:spLocks noGrp="1"/>
          </p:cNvSpPr>
          <p:nvPr>
            <p:ph type="title"/>
          </p:nvPr>
        </p:nvSpPr>
        <p:spPr>
          <a:xfrm>
            <a:off x="310896" y="210312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References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74" name="Google Shape;374;p43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43"/>
          <p:cNvSpPr txBox="1"/>
          <p:nvPr/>
        </p:nvSpPr>
        <p:spPr>
          <a:xfrm>
            <a:off x="358850" y="1181200"/>
            <a:ext cx="8520600" cy="34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MDN Web Docs</a:t>
            </a:r>
            <a:r>
              <a:rPr lang="en" sz="1100" b="1">
                <a:solidFill>
                  <a:schemeClr val="dk1"/>
                </a:solidFill>
              </a:rPr>
              <a:t> : </a:t>
            </a:r>
            <a:r>
              <a:rPr lang="en" sz="1100" i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Comprehensive and official documentation for JS.</a:t>
            </a:r>
            <a:br>
              <a:rPr lang="en" sz="1100" i="1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🔗</a:t>
            </a:r>
            <a:r>
              <a:rPr lang="en" sz="1100" u="sng">
                <a:solidFill>
                  <a:schemeClr val="hlink"/>
                </a:solidFill>
                <a:hlinkClick r:id="rId4"/>
              </a:rPr>
              <a:t>https://developer.mozilla.org/en-US/docs/Web/JavaScript</a:t>
            </a:r>
            <a:endParaRPr sz="1100" u="sng">
              <a:solidFill>
                <a:schemeClr val="hlink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u="sng">
              <a:solidFill>
                <a:schemeClr val="hlink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u="sng">
              <a:solidFill>
                <a:schemeClr val="hlink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u="sng">
              <a:solidFill>
                <a:schemeClr val="hlink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W3Schools – JS Tutorial : </a:t>
            </a:r>
            <a:r>
              <a:rPr lang="en" sz="1100" i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Beginner-friendly JS tutorials with examples and interactive editors.</a:t>
            </a:r>
            <a:br>
              <a:rPr lang="en" sz="1100" i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 sz="1100">
                <a:solidFill>
                  <a:schemeClr val="dk1"/>
                </a:solidFill>
              </a:rPr>
              <a:t> 🔗</a:t>
            </a:r>
            <a:r>
              <a:rPr lang="en" sz="1100" u="sng">
                <a:solidFill>
                  <a:schemeClr val="hlink"/>
                </a:solidFill>
                <a:hlinkClick r:id="rId5"/>
              </a:rPr>
              <a:t> https://www.w3schools.com/js/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react.dev -</a:t>
            </a:r>
            <a:r>
              <a:rPr lang="en" sz="1100" b="1" i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" sz="1100" i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 comprehensive, tutorial-style website that deeply explores core React concepts, including components, state, effects, and hooks, through interactive examples and in-depth explanations.</a:t>
            </a:r>
            <a:endParaRPr sz="1100" i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🔗</a:t>
            </a:r>
            <a:r>
              <a:rPr lang="en" sz="1100" u="sng">
                <a:solidFill>
                  <a:schemeClr val="hlink"/>
                </a:solidFill>
                <a:hlinkClick r:id="rId6"/>
              </a:rPr>
              <a:t>https://react.dev/</a:t>
            </a:r>
            <a:endParaRPr sz="1100" i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76" name="Google Shape;376;p4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32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p44" title="subtle-prism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50">
            <a:off x="-395563" y="395600"/>
            <a:ext cx="5157175" cy="4365975"/>
          </a:xfrm>
          <a:prstGeom prst="flowChartManualInput">
            <a:avLst/>
          </a:prstGeom>
          <a:noFill/>
          <a:ln>
            <a:noFill/>
          </a:ln>
        </p:spPr>
      </p:pic>
      <p:pic>
        <p:nvPicPr>
          <p:cNvPr id="382" name="Google Shape;382;p44" title="KRMU_Full_heading_Logo-removebg-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06125" y="452500"/>
            <a:ext cx="5337876" cy="1363050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p44"/>
          <p:cNvSpPr txBox="1"/>
          <p:nvPr/>
        </p:nvSpPr>
        <p:spPr>
          <a:xfrm>
            <a:off x="4407400" y="2020825"/>
            <a:ext cx="4636200" cy="55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rgbClr val="173034"/>
                </a:solidFill>
              </a:rPr>
              <a:t>Course - Web Development - II</a:t>
            </a:r>
            <a:endParaRPr sz="2400" b="1">
              <a:solidFill>
                <a:srgbClr val="173034"/>
              </a:solidFill>
            </a:endParaRPr>
          </a:p>
        </p:txBody>
      </p:sp>
      <p:grpSp>
        <p:nvGrpSpPr>
          <p:cNvPr id="384" name="Google Shape;384;p44"/>
          <p:cNvGrpSpPr/>
          <p:nvPr/>
        </p:nvGrpSpPr>
        <p:grpSpPr>
          <a:xfrm>
            <a:off x="4572000" y="4881413"/>
            <a:ext cx="1607600" cy="292500"/>
            <a:chOff x="5060775" y="4881413"/>
            <a:chExt cx="1607600" cy="292500"/>
          </a:xfrm>
        </p:grpSpPr>
        <p:sp>
          <p:nvSpPr>
            <p:cNvPr id="385" name="Google Shape;385;p44"/>
            <p:cNvSpPr txBox="1"/>
            <p:nvPr/>
          </p:nvSpPr>
          <p:spPr>
            <a:xfrm>
              <a:off x="5165675" y="4881413"/>
              <a:ext cx="15027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chemeClr val="dk1"/>
                  </a:solidFill>
                </a:rPr>
                <a:t>welcome@krmangalam.edu.in</a:t>
              </a:r>
              <a:endParaRPr sz="900">
                <a:solidFill>
                  <a:schemeClr val="dk1"/>
                </a:solidFill>
              </a:endParaRPr>
            </a:p>
          </p:txBody>
        </p:sp>
        <p:pic>
          <p:nvPicPr>
            <p:cNvPr id="386" name="Google Shape;386;p44" title="email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060775" y="4966738"/>
              <a:ext cx="137160" cy="13716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87" name="Google Shape;387;p44"/>
          <p:cNvSpPr txBox="1"/>
          <p:nvPr/>
        </p:nvSpPr>
        <p:spPr>
          <a:xfrm>
            <a:off x="7326500" y="4881425"/>
            <a:ext cx="23400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accent2"/>
                </a:solidFill>
              </a:rPr>
              <a:t>Sohna Road,Gurugram,Haryana 122103</a:t>
            </a:r>
            <a:endParaRPr sz="700">
              <a:solidFill>
                <a:schemeClr val="accent2"/>
              </a:solidFill>
            </a:endParaRPr>
          </a:p>
        </p:txBody>
      </p:sp>
      <p:pic>
        <p:nvPicPr>
          <p:cNvPr id="388" name="Google Shape;388;p44" title="location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229300" y="4959088"/>
            <a:ext cx="137160" cy="137160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p44"/>
          <p:cNvSpPr txBox="1">
            <a:spLocks noGrp="1"/>
          </p:cNvSpPr>
          <p:nvPr>
            <p:ph type="sldNum" idx="12"/>
          </p:nvPr>
        </p:nvSpPr>
        <p:spPr>
          <a:xfrm>
            <a:off x="8494883" y="464826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33</a:t>
            </a:fld>
            <a:endParaRPr/>
          </a:p>
        </p:txBody>
      </p:sp>
      <p:sp>
        <p:nvSpPr>
          <p:cNvPr id="390" name="Google Shape;390;p44"/>
          <p:cNvSpPr txBox="1"/>
          <p:nvPr/>
        </p:nvSpPr>
        <p:spPr>
          <a:xfrm>
            <a:off x="1033275" y="1691650"/>
            <a:ext cx="2313000" cy="17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Thanks</a:t>
            </a:r>
            <a:endParaRPr sz="34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For</a:t>
            </a:r>
            <a:endParaRPr sz="34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Watching</a:t>
            </a:r>
            <a:endParaRPr sz="34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91" name="Google Shape;391;p44" title="Untitled (2)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038344" y="2660904"/>
            <a:ext cx="3309826" cy="2000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1663</Words>
  <Application>Microsoft Office PowerPoint</Application>
  <PresentationFormat>On-screen Show (16:9)</PresentationFormat>
  <Paragraphs>219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7" baseType="lpstr">
      <vt:lpstr>Roboto Slab</vt:lpstr>
      <vt:lpstr>Poppins</vt:lpstr>
      <vt:lpstr>Arial</vt:lpstr>
      <vt:lpstr>Simple Light</vt:lpstr>
      <vt:lpstr>PowerPoint Presentation</vt:lpstr>
      <vt:lpstr>|  Table of Contents</vt:lpstr>
      <vt:lpstr>|  What is React Hook?</vt:lpstr>
      <vt:lpstr>|  </vt:lpstr>
      <vt:lpstr>|  </vt:lpstr>
      <vt:lpstr>| Introduction to React State</vt:lpstr>
      <vt:lpstr>| Introduction to React State</vt:lpstr>
      <vt:lpstr>| Why do we need React State</vt:lpstr>
      <vt:lpstr>|  </vt:lpstr>
      <vt:lpstr>|  </vt:lpstr>
      <vt:lpstr>| useState() </vt:lpstr>
      <vt:lpstr>| useState() </vt:lpstr>
      <vt:lpstr>| Example </vt:lpstr>
      <vt:lpstr>| Output</vt:lpstr>
      <vt:lpstr>| Updating State &amp; Re-Rendering</vt:lpstr>
      <vt:lpstr>| Updating State &amp; Re-Rendering</vt:lpstr>
      <vt:lpstr>| Updating State &amp; Re-Rendering</vt:lpstr>
      <vt:lpstr>| Updating State &amp; Re-Rendering</vt:lpstr>
      <vt:lpstr>| Coding Questions</vt:lpstr>
      <vt:lpstr>| Coding Questions</vt:lpstr>
      <vt:lpstr>| Coding Questions</vt:lpstr>
      <vt:lpstr>| Coding Questions</vt:lpstr>
      <vt:lpstr>| Coding Questions</vt:lpstr>
      <vt:lpstr>| Coding Questions</vt:lpstr>
      <vt:lpstr>| Coding Questions</vt:lpstr>
      <vt:lpstr>| Coding Questions</vt:lpstr>
      <vt:lpstr>| Check Your Understanding</vt:lpstr>
      <vt:lpstr>| Check Your Understanding</vt:lpstr>
      <vt:lpstr>| Check Your Understanding</vt:lpstr>
      <vt:lpstr>| Check Your Understanding</vt:lpstr>
      <vt:lpstr>| Check Your Understanding</vt:lpstr>
      <vt:lpstr>|  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Love Porwal</cp:lastModifiedBy>
  <cp:revision>1</cp:revision>
  <dcterms:modified xsi:type="dcterms:W3CDTF">2026-03-17T13:48:21Z</dcterms:modified>
</cp:coreProperties>
</file>