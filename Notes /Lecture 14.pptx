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Roboto Slab"/>
      <p:regular r:id="rId32"/>
      <p:bold r:id="rId33"/>
    </p:embeddedFont>
    <p:embeddedFont>
      <p:font typeface="Poppi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135F9E-D922-4180-882E-9687296AAA3A}">
  <a:tblStyle styleId="{4B135F9E-D922-4180-882E-9687296AAA3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Slab-bold.fntdata"/><Relationship Id="rId10" Type="http://schemas.openxmlformats.org/officeDocument/2006/relationships/slide" Target="slides/slide4.xml"/><Relationship Id="rId32" Type="http://schemas.openxmlformats.org/officeDocument/2006/relationships/font" Target="fonts/RobotoSlab-regular.fntdata"/><Relationship Id="rId13" Type="http://schemas.openxmlformats.org/officeDocument/2006/relationships/slide" Target="slides/slide7.xml"/><Relationship Id="rId35" Type="http://schemas.openxmlformats.org/officeDocument/2006/relationships/font" Target="fonts/Poppins-bold.fntdata"/><Relationship Id="rId12" Type="http://schemas.openxmlformats.org/officeDocument/2006/relationships/slide" Target="slides/slide6.xml"/><Relationship Id="rId34" Type="http://schemas.openxmlformats.org/officeDocument/2006/relationships/font" Target="fonts/Poppins-regular.fntdata"/><Relationship Id="rId15" Type="http://schemas.openxmlformats.org/officeDocument/2006/relationships/slide" Target="slides/slide9.xml"/><Relationship Id="rId37" Type="http://schemas.openxmlformats.org/officeDocument/2006/relationships/font" Target="fonts/Poppins-boldItalic.fntdata"/><Relationship Id="rId14" Type="http://schemas.openxmlformats.org/officeDocument/2006/relationships/slide" Target="slides/slide8.xml"/><Relationship Id="rId36" Type="http://schemas.openxmlformats.org/officeDocument/2006/relationships/font" Target="fonts/Poppi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758b1abb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758b1abb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758b1abb8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758b1abb8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758b1abb8_2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758b1abb8_2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758b1abb8_2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b758b1abb8_2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b758b1abb8_2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b758b1abb8_2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758b1abb8_2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758b1abb8_2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758b1abb8_2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b758b1abb8_2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758b1abb8_2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758b1abb8_2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758b1abb8_2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758b1abb8_2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758b1abb8_2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758b1abb8_2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758b1abb8_2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758b1abb8_2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758b1abb8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758b1abb8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758b1abb8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758b1abb8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758b1abb8_5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b758b1abb8_5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bc22ee04a_4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bbc22ee04a_4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bc22ee04a_4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bbc22ee04a_4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bc22ee04a_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bc22ee04a_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bc22ee04a_4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bc22ee04a_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758b1abb8_2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b758b1abb8_2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758b1abb8_2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b758b1abb8_2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758b1abb8_2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b758b1abb8_2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bbc22ee04a_4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bbc22ee04a_4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758b1abb8_2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b758b1abb8_2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758b1abb8_2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b758b1abb8_2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758b1abb8_2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b758b1abb8_2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25.jpg"/><Relationship Id="rId8"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hyperlink" Target="https://developer.mozilla.org/en-US/docs/Web/JavaScript" TargetMode="External"/><Relationship Id="rId5" Type="http://schemas.openxmlformats.org/officeDocument/2006/relationships/hyperlink" Target="https://www.w3schools.com/js/" TargetMode="External"/><Relationship Id="rId6" Type="http://schemas.openxmlformats.org/officeDocument/2006/relationships/hyperlink" Target="https://javascript.info/"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2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subtle-prism (2).png"/>
          <p:cNvPicPr preferRelativeResize="0"/>
          <p:nvPr/>
        </p:nvPicPr>
        <p:blipFill>
          <a:blip r:embed="rId3">
            <a:alphaModFix/>
          </a:blip>
          <a:stretch>
            <a:fillRect/>
          </a:stretch>
        </p:blipFill>
        <p:spPr>
          <a:xfrm rot="5400050">
            <a:off x="-395563" y="395600"/>
            <a:ext cx="5157175" cy="4365975"/>
          </a:xfrm>
          <a:prstGeom prst="flowChartManualInput">
            <a:avLst/>
          </a:prstGeom>
          <a:noFill/>
          <a:ln>
            <a:noFill/>
          </a:ln>
        </p:spPr>
      </p:pic>
      <p:pic>
        <p:nvPicPr>
          <p:cNvPr id="55" name="Google Shape;55;p13" title="KRMU_Full_heading_Logo-removebg-preview.png"/>
          <p:cNvPicPr preferRelativeResize="0"/>
          <p:nvPr/>
        </p:nvPicPr>
        <p:blipFill>
          <a:blip r:embed="rId4">
            <a:alphaModFix/>
          </a:blip>
          <a:stretch>
            <a:fillRect/>
          </a:stretch>
        </p:blipFill>
        <p:spPr>
          <a:xfrm>
            <a:off x="3806125" y="452500"/>
            <a:ext cx="5337876" cy="1363050"/>
          </a:xfrm>
          <a:prstGeom prst="rect">
            <a:avLst/>
          </a:prstGeom>
          <a:noFill/>
          <a:ln>
            <a:noFill/>
          </a:ln>
        </p:spPr>
      </p:pic>
      <p:sp>
        <p:nvSpPr>
          <p:cNvPr id="56" name="Google Shape;56;p13"/>
          <p:cNvSpPr txBox="1"/>
          <p:nvPr/>
        </p:nvSpPr>
        <p:spPr>
          <a:xfrm>
            <a:off x="4405600" y="2017650"/>
            <a:ext cx="4583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173034"/>
                </a:solidFill>
              </a:rPr>
              <a:t>Course - Web Development - II </a:t>
            </a:r>
            <a:endParaRPr b="1" sz="2400">
              <a:solidFill>
                <a:srgbClr val="173034"/>
              </a:solidFill>
            </a:endParaRPr>
          </a:p>
        </p:txBody>
      </p:sp>
      <p:grpSp>
        <p:nvGrpSpPr>
          <p:cNvPr id="57" name="Google Shape;57;p13"/>
          <p:cNvGrpSpPr/>
          <p:nvPr/>
        </p:nvGrpSpPr>
        <p:grpSpPr>
          <a:xfrm>
            <a:off x="4572000" y="4882896"/>
            <a:ext cx="1607600" cy="292500"/>
            <a:chOff x="5060775" y="4881413"/>
            <a:chExt cx="1607600" cy="292500"/>
          </a:xfrm>
        </p:grpSpPr>
        <p:sp>
          <p:nvSpPr>
            <p:cNvPr id="58" name="Google Shape;58;p13"/>
            <p:cNvSpPr txBox="1"/>
            <p:nvPr/>
          </p:nvSpPr>
          <p:spPr>
            <a:xfrm>
              <a:off x="5165675" y="4881413"/>
              <a:ext cx="1502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000000"/>
                  </a:solidFill>
                </a:rPr>
                <a:t>welcome@krmangalam.edu.in</a:t>
              </a:r>
              <a:endParaRPr sz="900">
                <a:solidFill>
                  <a:srgbClr val="000000"/>
                </a:solidFill>
              </a:endParaRPr>
            </a:p>
          </p:txBody>
        </p:sp>
        <p:pic>
          <p:nvPicPr>
            <p:cNvPr id="59" name="Google Shape;59;p13" title="email.png"/>
            <p:cNvPicPr preferRelativeResize="0"/>
            <p:nvPr/>
          </p:nvPicPr>
          <p:blipFill>
            <a:blip r:embed="rId5">
              <a:alphaModFix/>
            </a:blip>
            <a:stretch>
              <a:fillRect/>
            </a:stretch>
          </p:blipFill>
          <p:spPr>
            <a:xfrm>
              <a:off x="5060775" y="4966738"/>
              <a:ext cx="137160" cy="137160"/>
            </a:xfrm>
            <a:prstGeom prst="rect">
              <a:avLst/>
            </a:prstGeom>
            <a:noFill/>
            <a:ln>
              <a:noFill/>
            </a:ln>
          </p:spPr>
        </p:pic>
      </p:grpSp>
      <p:grpSp>
        <p:nvGrpSpPr>
          <p:cNvPr id="60" name="Google Shape;60;p13"/>
          <p:cNvGrpSpPr/>
          <p:nvPr/>
        </p:nvGrpSpPr>
        <p:grpSpPr>
          <a:xfrm>
            <a:off x="7229300" y="4881425"/>
            <a:ext cx="1926000" cy="292500"/>
            <a:chOff x="7229300" y="4881425"/>
            <a:chExt cx="1926000" cy="292500"/>
          </a:xfrm>
        </p:grpSpPr>
        <p:sp>
          <p:nvSpPr>
            <p:cNvPr id="61" name="Google Shape;61;p13"/>
            <p:cNvSpPr txBox="1"/>
            <p:nvPr/>
          </p:nvSpPr>
          <p:spPr>
            <a:xfrm>
              <a:off x="7326500" y="4881425"/>
              <a:ext cx="1828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212121"/>
                  </a:solidFill>
                </a:rPr>
                <a:t>Sohna Road,Gurugram,Haryana 122103</a:t>
              </a:r>
              <a:endParaRPr sz="700">
                <a:solidFill>
                  <a:srgbClr val="212121"/>
                </a:solidFill>
              </a:endParaRPr>
            </a:p>
          </p:txBody>
        </p:sp>
        <p:pic>
          <p:nvPicPr>
            <p:cNvPr id="62" name="Google Shape;62;p13" title="location.png"/>
            <p:cNvPicPr preferRelativeResize="0"/>
            <p:nvPr/>
          </p:nvPicPr>
          <p:blipFill>
            <a:blip r:embed="rId6">
              <a:alphaModFix/>
            </a:blip>
            <a:stretch>
              <a:fillRect/>
            </a:stretch>
          </p:blipFill>
          <p:spPr>
            <a:xfrm>
              <a:off x="7229300" y="4965192"/>
              <a:ext cx="137160" cy="137160"/>
            </a:xfrm>
            <a:prstGeom prst="rect">
              <a:avLst/>
            </a:prstGeom>
            <a:noFill/>
            <a:ln>
              <a:noFill/>
            </a:ln>
          </p:spPr>
        </p:pic>
      </p:grpSp>
      <p:pic>
        <p:nvPicPr>
          <p:cNvPr id="63" name="Google Shape;63;p13" title="Wavy_Trv-02_Single-09.jpg"/>
          <p:cNvPicPr preferRelativeResize="0"/>
          <p:nvPr/>
        </p:nvPicPr>
        <p:blipFill>
          <a:blip r:embed="rId7">
            <a:alphaModFix/>
          </a:blip>
          <a:stretch>
            <a:fillRect/>
          </a:stretch>
        </p:blipFill>
        <p:spPr>
          <a:xfrm>
            <a:off x="5450000" y="2536688"/>
            <a:ext cx="2463299" cy="2227850"/>
          </a:xfrm>
          <a:prstGeom prst="rect">
            <a:avLst/>
          </a:prstGeom>
          <a:noFill/>
          <a:ln>
            <a:noFill/>
          </a:ln>
        </p:spPr>
      </p:pic>
      <p:sp>
        <p:nvSpPr>
          <p:cNvPr id="64" name="Google Shape;64;p1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65" name="Google Shape;65;p13"/>
          <p:cNvGrpSpPr/>
          <p:nvPr/>
        </p:nvGrpSpPr>
        <p:grpSpPr>
          <a:xfrm>
            <a:off x="309849" y="1233369"/>
            <a:ext cx="3415942" cy="2954584"/>
            <a:chOff x="309849" y="1233369"/>
            <a:chExt cx="3415942" cy="2954584"/>
          </a:xfrm>
        </p:grpSpPr>
        <p:grpSp>
          <p:nvGrpSpPr>
            <p:cNvPr id="66" name="Google Shape;66;p13"/>
            <p:cNvGrpSpPr/>
            <p:nvPr/>
          </p:nvGrpSpPr>
          <p:grpSpPr>
            <a:xfrm>
              <a:off x="309849" y="1233369"/>
              <a:ext cx="3415942" cy="2387863"/>
              <a:chOff x="788865" y="1515488"/>
              <a:chExt cx="4594407" cy="2387863"/>
            </a:xfrm>
          </p:grpSpPr>
          <p:sp>
            <p:nvSpPr>
              <p:cNvPr id="67" name="Google Shape;67;p13"/>
              <p:cNvSpPr txBox="1"/>
              <p:nvPr/>
            </p:nvSpPr>
            <p:spPr>
              <a:xfrm>
                <a:off x="788865" y="1515488"/>
                <a:ext cx="3197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solidFill>
                      <a:srgbClr val="FFFFFF"/>
                    </a:solidFill>
                    <a:latin typeface="Roboto Slab"/>
                    <a:ea typeface="Roboto Slab"/>
                    <a:cs typeface="Roboto Slab"/>
                    <a:sym typeface="Roboto Slab"/>
                  </a:rPr>
                  <a:t>Lecture 14</a:t>
                </a:r>
                <a:r>
                  <a:rPr lang="en" sz="2700">
                    <a:solidFill>
                      <a:srgbClr val="FFFFFF"/>
                    </a:solidFill>
                  </a:rPr>
                  <a:t>:</a:t>
                </a:r>
                <a:endParaRPr sz="2200">
                  <a:solidFill>
                    <a:srgbClr val="FFFFFF"/>
                  </a:solidFill>
                  <a:latin typeface="Roboto Slab"/>
                  <a:ea typeface="Roboto Slab"/>
                  <a:cs typeface="Roboto Slab"/>
                  <a:sym typeface="Roboto Slab"/>
                </a:endParaRPr>
              </a:p>
            </p:txBody>
          </p:sp>
          <p:sp>
            <p:nvSpPr>
              <p:cNvPr id="68" name="Google Shape;68;p13"/>
              <p:cNvSpPr txBox="1"/>
              <p:nvPr/>
            </p:nvSpPr>
            <p:spPr>
              <a:xfrm>
                <a:off x="788875" y="3475300"/>
                <a:ext cx="69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FFFF"/>
                    </a:solidFill>
                    <a:latin typeface="Poppins"/>
                    <a:ea typeface="Poppins"/>
                    <a:cs typeface="Poppins"/>
                    <a:sym typeface="Poppins"/>
                  </a:rPr>
                  <a:t>-By</a:t>
                </a:r>
                <a:endParaRPr>
                  <a:solidFill>
                    <a:srgbClr val="FFFFFF"/>
                  </a:solidFill>
                  <a:latin typeface="Poppins"/>
                  <a:ea typeface="Poppins"/>
                  <a:cs typeface="Poppins"/>
                  <a:sym typeface="Poppins"/>
                </a:endParaRPr>
              </a:p>
            </p:txBody>
          </p:sp>
          <p:sp>
            <p:nvSpPr>
              <p:cNvPr id="69" name="Google Shape;69;p13"/>
              <p:cNvSpPr txBox="1"/>
              <p:nvPr/>
            </p:nvSpPr>
            <p:spPr>
              <a:xfrm>
                <a:off x="790272" y="2145213"/>
                <a:ext cx="4593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Poppins"/>
                    <a:ea typeface="Poppins"/>
                    <a:cs typeface="Poppins"/>
                    <a:sym typeface="Poppins"/>
                  </a:rPr>
                  <a:t>Event Loop</a:t>
                </a:r>
                <a:endParaRPr sz="2400">
                  <a:solidFill>
                    <a:srgbClr val="FFFFFF"/>
                  </a:solidFill>
                  <a:latin typeface="Poppins"/>
                  <a:ea typeface="Poppins"/>
                  <a:cs typeface="Poppins"/>
                  <a:sym typeface="Poppins"/>
                </a:endParaRPr>
              </a:p>
              <a:p>
                <a:pPr indent="0" lvl="0" marL="0" rtl="0" algn="l">
                  <a:spcBef>
                    <a:spcPts val="0"/>
                  </a:spcBef>
                  <a:spcAft>
                    <a:spcPts val="0"/>
                  </a:spcAft>
                  <a:buClr>
                    <a:srgbClr val="000000"/>
                  </a:buClr>
                  <a:buSzPts val="1100"/>
                  <a:buFont typeface="Arial"/>
                  <a:buNone/>
                </a:pPr>
                <a:r>
                  <a:t/>
                </a:r>
                <a:endParaRPr sz="2400">
                  <a:solidFill>
                    <a:srgbClr val="FFFFFF"/>
                  </a:solidFill>
                  <a:latin typeface="Poppins"/>
                  <a:ea typeface="Poppins"/>
                  <a:cs typeface="Poppins"/>
                  <a:sym typeface="Poppins"/>
                </a:endParaRPr>
              </a:p>
            </p:txBody>
          </p:sp>
          <p:sp>
            <p:nvSpPr>
              <p:cNvPr id="70" name="Google Shape;70;p13"/>
              <p:cNvSpPr txBox="1"/>
              <p:nvPr/>
            </p:nvSpPr>
            <p:spPr>
              <a:xfrm>
                <a:off x="1330896" y="3491750"/>
                <a:ext cx="3313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a:ea typeface="Poppins"/>
                    <a:cs typeface="Poppins"/>
                    <a:sym typeface="Poppins"/>
                  </a:rPr>
                  <a:t>Instructor Name</a:t>
                </a:r>
                <a:endParaRPr>
                  <a:solidFill>
                    <a:srgbClr val="FFFFFF"/>
                  </a:solidFill>
                  <a:latin typeface="Poppins"/>
                  <a:ea typeface="Poppins"/>
                  <a:cs typeface="Poppins"/>
                  <a:sym typeface="Poppins"/>
                </a:endParaRPr>
              </a:p>
            </p:txBody>
          </p:sp>
        </p:grpSp>
        <p:pic>
          <p:nvPicPr>
            <p:cNvPr id="71" name="Google Shape;71;p13" title="javascript-logo-javascript-icon-transparent-free-png.png"/>
            <p:cNvPicPr preferRelativeResize="0"/>
            <p:nvPr/>
          </p:nvPicPr>
          <p:blipFill>
            <a:blip r:embed="rId8">
              <a:alphaModFix/>
            </a:blip>
            <a:stretch>
              <a:fillRect/>
            </a:stretch>
          </p:blipFill>
          <p:spPr>
            <a:xfrm>
              <a:off x="1033272" y="3666744"/>
              <a:ext cx="521208" cy="52120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a:t>
            </a:r>
            <a:r>
              <a:rPr b="1" lang="en" sz="2800">
                <a:solidFill>
                  <a:srgbClr val="1C4587"/>
                </a:solidFill>
                <a:latin typeface="Poppins"/>
                <a:ea typeface="Poppins"/>
                <a:cs typeface="Poppins"/>
                <a:sym typeface="Poppins"/>
              </a:rPr>
              <a:t>  </a:t>
            </a:r>
            <a:r>
              <a:rPr b="1" lang="en" sz="2800">
                <a:solidFill>
                  <a:srgbClr val="073763"/>
                </a:solidFill>
                <a:latin typeface="Poppins"/>
                <a:ea typeface="Poppins"/>
                <a:cs typeface="Poppins"/>
                <a:sym typeface="Poppins"/>
              </a:rPr>
              <a:t>Table of Contents</a:t>
            </a:r>
            <a:endParaRPr b="1" sz="2800">
              <a:solidFill>
                <a:srgbClr val="073763"/>
              </a:solidFill>
              <a:latin typeface="Poppins"/>
              <a:ea typeface="Poppins"/>
              <a:cs typeface="Poppins"/>
              <a:sym typeface="Poppins"/>
            </a:endParaRPr>
          </a:p>
        </p:txBody>
      </p:sp>
      <p:sp>
        <p:nvSpPr>
          <p:cNvPr id="77" name="Google Shape;77;p14"/>
          <p:cNvSpPr txBox="1"/>
          <p:nvPr/>
        </p:nvSpPr>
        <p:spPr>
          <a:xfrm>
            <a:off x="311700" y="12347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sz="1800">
              <a:solidFill>
                <a:srgbClr val="273239"/>
              </a:solidFill>
            </a:endParaRPr>
          </a:p>
          <a:p>
            <a:pPr indent="-342900" lvl="0" marL="457200" rtl="0" algn="l">
              <a:lnSpc>
                <a:spcPct val="150000"/>
              </a:lnSpc>
              <a:spcBef>
                <a:spcPts val="1200"/>
              </a:spcBef>
              <a:spcAft>
                <a:spcPts val="0"/>
              </a:spcAft>
              <a:buClr>
                <a:srgbClr val="273239"/>
              </a:buClr>
              <a:buSzPts val="1800"/>
              <a:buChar char="●"/>
            </a:pPr>
            <a:r>
              <a:rPr lang="en" sz="1800">
                <a:solidFill>
                  <a:srgbClr val="273239"/>
                </a:solidFill>
              </a:rPr>
              <a:t>Event Loop &amp; Task Queue</a:t>
            </a:r>
            <a:endParaRPr sz="1800">
              <a:solidFill>
                <a:srgbClr val="273239"/>
              </a:solidFill>
            </a:endParaRPr>
          </a:p>
          <a:p>
            <a:pPr indent="-342900" lvl="0" marL="457200" rtl="0" algn="l">
              <a:lnSpc>
                <a:spcPct val="150000"/>
              </a:lnSpc>
              <a:spcBef>
                <a:spcPts val="0"/>
              </a:spcBef>
              <a:spcAft>
                <a:spcPts val="0"/>
              </a:spcAft>
              <a:buClr>
                <a:srgbClr val="273239"/>
              </a:buClr>
              <a:buSzPts val="1800"/>
              <a:buChar char="●"/>
            </a:pPr>
            <a:r>
              <a:rPr lang="en" sz="1800">
                <a:solidFill>
                  <a:srgbClr val="273239"/>
                </a:solidFill>
              </a:rPr>
              <a:t>Understanding Web APIs &amp; Browser Internals</a:t>
            </a:r>
            <a:endParaRPr sz="1800">
              <a:solidFill>
                <a:srgbClr val="273239"/>
              </a:solidFill>
            </a:endParaRPr>
          </a:p>
          <a:p>
            <a:pPr indent="-342900" lvl="0" marL="457200" rtl="0" algn="l">
              <a:lnSpc>
                <a:spcPct val="150000"/>
              </a:lnSpc>
              <a:spcBef>
                <a:spcPts val="0"/>
              </a:spcBef>
              <a:spcAft>
                <a:spcPts val="0"/>
              </a:spcAft>
              <a:buClr>
                <a:srgbClr val="273239"/>
              </a:buClr>
              <a:buSzPts val="1800"/>
              <a:buChar char="●"/>
            </a:pPr>
            <a:r>
              <a:rPr lang="en" sz="1800">
                <a:solidFill>
                  <a:srgbClr val="273239"/>
                </a:solidFill>
              </a:rPr>
              <a:t>References.</a:t>
            </a:r>
            <a:endParaRPr sz="1800">
              <a:solidFill>
                <a:srgbClr val="273239"/>
              </a:solidFill>
            </a:endParaRPr>
          </a:p>
          <a:p>
            <a:pPr indent="-342900" lvl="0" marL="457200" rtl="0" algn="l">
              <a:lnSpc>
                <a:spcPct val="150000"/>
              </a:lnSpc>
              <a:spcBef>
                <a:spcPts val="0"/>
              </a:spcBef>
              <a:spcAft>
                <a:spcPts val="0"/>
              </a:spcAft>
              <a:buClr>
                <a:srgbClr val="273239"/>
              </a:buClr>
              <a:buSzPts val="1800"/>
              <a:buChar char="●"/>
            </a:pPr>
            <a:r>
              <a:rPr lang="en" sz="1800">
                <a:solidFill>
                  <a:srgbClr val="273239"/>
                </a:solidFill>
              </a:rPr>
              <a:t>The End.</a:t>
            </a:r>
            <a:endParaRPr sz="1800">
              <a:solidFill>
                <a:srgbClr val="273239"/>
              </a:solidFill>
            </a:endParaRPr>
          </a:p>
        </p:txBody>
      </p:sp>
      <p:pic>
        <p:nvPicPr>
          <p:cNvPr id="78" name="Google Shape;78;p14"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79" name="Google Shape;79;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nvSpPr>
        <p:spPr>
          <a:xfrm>
            <a:off x="311700" y="213250"/>
            <a:ext cx="265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Poppins"/>
                <a:ea typeface="Poppins"/>
                <a:cs typeface="Poppins"/>
                <a:sym typeface="Poppins"/>
              </a:rPr>
              <a:t>|</a:t>
            </a:r>
            <a:r>
              <a:rPr b="1" lang="en" sz="2200">
                <a:solidFill>
                  <a:srgbClr val="1C4587"/>
                </a:solidFill>
                <a:latin typeface="Poppins"/>
                <a:ea typeface="Poppins"/>
                <a:cs typeface="Poppins"/>
                <a:sym typeface="Poppins"/>
              </a:rPr>
              <a:t>  </a:t>
            </a:r>
            <a:endParaRPr b="1" sz="2200">
              <a:solidFill>
                <a:srgbClr val="073763"/>
              </a:solidFill>
              <a:latin typeface="Poppins"/>
              <a:ea typeface="Poppins"/>
              <a:cs typeface="Poppins"/>
              <a:sym typeface="Poppins"/>
            </a:endParaRPr>
          </a:p>
        </p:txBody>
      </p:sp>
      <p:pic>
        <p:nvPicPr>
          <p:cNvPr id="85" name="Google Shape;85;p15"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86" name="Google Shape;86;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7" name="Google Shape;87;p15"/>
          <p:cNvSpPr txBox="1"/>
          <p:nvPr/>
        </p:nvSpPr>
        <p:spPr>
          <a:xfrm>
            <a:off x="576075" y="210300"/>
            <a:ext cx="7223700" cy="508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rgbClr val="073763"/>
                </a:solidFill>
                <a:latin typeface="Poppins"/>
                <a:ea typeface="Poppins"/>
                <a:cs typeface="Poppins"/>
                <a:sym typeface="Poppins"/>
              </a:rPr>
              <a:t>Have you ever wondered how JavaScript handles things that take time, like setTimeout or fetch? We know that JavaScript runs one line at a time… so who decides when these delayed tasks should come back and run? How do they know when it's their turn?</a:t>
            </a:r>
            <a:endParaRPr b="1" sz="1600">
              <a:solidFill>
                <a:srgbClr val="073763"/>
              </a:solidFill>
              <a:latin typeface="Poppins"/>
              <a:ea typeface="Poppins"/>
              <a:cs typeface="Poppins"/>
              <a:sym typeface="Poppins"/>
            </a:endParaRPr>
          </a:p>
        </p:txBody>
      </p:sp>
      <p:pic>
        <p:nvPicPr>
          <p:cNvPr id="88" name="Google Shape;88;p15" title="Thinking face-rafiki (2).png"/>
          <p:cNvPicPr preferRelativeResize="0"/>
          <p:nvPr/>
        </p:nvPicPr>
        <p:blipFill rotWithShape="1">
          <a:blip r:embed="rId4">
            <a:alphaModFix/>
          </a:blip>
          <a:srcRect b="0" l="0" r="0" t="0"/>
          <a:stretch/>
        </p:blipFill>
        <p:spPr>
          <a:xfrm>
            <a:off x="2400175" y="1369825"/>
            <a:ext cx="4343650" cy="3494375"/>
          </a:xfrm>
          <a:prstGeom prst="rect">
            <a:avLst/>
          </a:prstGeom>
          <a:noFill/>
          <a:ln>
            <a:noFill/>
          </a:ln>
          <a:effectLst>
            <a:outerShdw blurRad="85725" rotWithShape="0" algn="bl" dir="7380000" dist="952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nvSpPr>
        <p:spPr>
          <a:xfrm>
            <a:off x="311700" y="213250"/>
            <a:ext cx="265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Poppins"/>
                <a:ea typeface="Poppins"/>
                <a:cs typeface="Poppins"/>
                <a:sym typeface="Poppins"/>
              </a:rPr>
              <a:t>|</a:t>
            </a:r>
            <a:r>
              <a:rPr b="1" lang="en" sz="2200">
                <a:solidFill>
                  <a:srgbClr val="1C4587"/>
                </a:solidFill>
                <a:latin typeface="Poppins"/>
                <a:ea typeface="Poppins"/>
                <a:cs typeface="Poppins"/>
                <a:sym typeface="Poppins"/>
              </a:rPr>
              <a:t>  </a:t>
            </a:r>
            <a:endParaRPr b="1" sz="2200">
              <a:solidFill>
                <a:srgbClr val="073763"/>
              </a:solidFill>
              <a:latin typeface="Poppins"/>
              <a:ea typeface="Poppins"/>
              <a:cs typeface="Poppins"/>
              <a:sym typeface="Poppins"/>
            </a:endParaRPr>
          </a:p>
        </p:txBody>
      </p:sp>
      <p:pic>
        <p:nvPicPr>
          <p:cNvPr id="94" name="Google Shape;94;p16"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95" name="Google Shape;95;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6" name="Google Shape;96;p16"/>
          <p:cNvSpPr txBox="1"/>
          <p:nvPr/>
        </p:nvSpPr>
        <p:spPr>
          <a:xfrm>
            <a:off x="576075" y="210300"/>
            <a:ext cx="7223700" cy="508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rgbClr val="073763"/>
                </a:solidFill>
                <a:latin typeface="Poppins"/>
                <a:ea typeface="Poppins"/>
                <a:cs typeface="Poppins"/>
                <a:sym typeface="Poppins"/>
              </a:rPr>
              <a:t>Have you ever wondered how JavaScript handles things that take time, like setTimeout or fetch? We know that JavaScript runs one line at a time… so who decides when these delayed tasks should come back and run? How do they know when it's their turn?</a:t>
            </a:r>
            <a:endParaRPr b="1" sz="1600">
              <a:solidFill>
                <a:srgbClr val="073763"/>
              </a:solidFill>
              <a:latin typeface="Poppins"/>
              <a:ea typeface="Poppins"/>
              <a:cs typeface="Poppins"/>
              <a:sym typeface="Poppins"/>
            </a:endParaRPr>
          </a:p>
        </p:txBody>
      </p:sp>
      <p:sp>
        <p:nvSpPr>
          <p:cNvPr id="97" name="Google Shape;97;p16"/>
          <p:cNvSpPr txBox="1"/>
          <p:nvPr/>
        </p:nvSpPr>
        <p:spPr>
          <a:xfrm>
            <a:off x="311700" y="1879100"/>
            <a:ext cx="57333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Big thanks to these 4 silent heroes</a:t>
            </a:r>
            <a:r>
              <a:rPr lang="en" sz="1100">
                <a:solidFill>
                  <a:schemeClr val="dk1"/>
                </a:solidFill>
              </a:rPr>
              <a:t> behind the scenes: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Call Stack</a:t>
            </a:r>
            <a:r>
              <a:rPr lang="en" sz="1100">
                <a:solidFill>
                  <a:schemeClr val="dk1"/>
                </a:solidFill>
              </a:rPr>
              <a:t> – the place where all code runs, one line at a time.</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Web APIs</a:t>
            </a:r>
            <a:r>
              <a:rPr lang="en" sz="1100">
                <a:solidFill>
                  <a:schemeClr val="dk1"/>
                </a:solidFill>
              </a:rPr>
              <a:t> – they handle time-consuming stuff like timers or HTTP requests.</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Task Queue</a:t>
            </a:r>
            <a:r>
              <a:rPr lang="en" sz="1100">
                <a:solidFill>
                  <a:schemeClr val="dk1"/>
                </a:solidFill>
              </a:rPr>
              <a:t> – where the completed tasks wait in line to be executed.</a:t>
            </a:r>
            <a:br>
              <a:rPr lang="en" sz="1100">
                <a:solidFill>
                  <a:schemeClr val="dk1"/>
                </a:solidFill>
              </a:rPr>
            </a:br>
            <a:endParaRPr sz="1100">
              <a:solidFill>
                <a:schemeClr val="dk1"/>
              </a:solidFill>
            </a:endParaRPr>
          </a:p>
          <a:p>
            <a:pPr indent="0" lvl="0" marL="0" rtl="0" algn="l">
              <a:spcBef>
                <a:spcPts val="0"/>
              </a:spcBef>
              <a:spcAft>
                <a:spcPts val="0"/>
              </a:spcAft>
              <a:buNone/>
            </a:pPr>
            <a:r>
              <a:rPr b="1" lang="en" sz="1100">
                <a:solidFill>
                  <a:schemeClr val="dk1"/>
                </a:solidFill>
              </a:rPr>
              <a:t>Event Loop</a:t>
            </a:r>
            <a:r>
              <a:rPr lang="en" sz="1100">
                <a:solidFill>
                  <a:schemeClr val="dk1"/>
                </a:solidFill>
              </a:rPr>
              <a:t> – the manager that decides when a task can go to the Call Stack.</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they make sure JavaScript doesn’t freeze, keeps running smoothly, and still knows </a:t>
            </a:r>
            <a:r>
              <a:rPr b="1" lang="en" sz="1100">
                <a:solidFill>
                  <a:schemeClr val="dk1"/>
                </a:solidFill>
              </a:rPr>
              <a:t>exactly when to run delayed tasks</a:t>
            </a:r>
            <a:endParaRPr>
              <a:solidFill>
                <a:srgbClr val="273239"/>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a:t>
            </a:r>
            <a:r>
              <a:rPr b="1" lang="en" sz="2800">
                <a:solidFill>
                  <a:srgbClr val="1C4587"/>
                </a:solidFill>
                <a:latin typeface="Poppins"/>
                <a:ea typeface="Poppins"/>
                <a:cs typeface="Poppins"/>
                <a:sym typeface="Poppins"/>
              </a:rPr>
              <a:t> </a:t>
            </a:r>
            <a:r>
              <a:rPr b="1" lang="en" sz="2800">
                <a:solidFill>
                  <a:srgbClr val="073763"/>
                </a:solidFill>
                <a:latin typeface="Poppins"/>
                <a:ea typeface="Poppins"/>
                <a:cs typeface="Poppins"/>
                <a:sym typeface="Poppins"/>
              </a:rPr>
              <a:t> Call Stack</a:t>
            </a:r>
            <a:endParaRPr b="1" sz="2800">
              <a:solidFill>
                <a:srgbClr val="073763"/>
              </a:solidFill>
              <a:latin typeface="Poppins"/>
              <a:ea typeface="Poppins"/>
              <a:cs typeface="Poppins"/>
              <a:sym typeface="Poppins"/>
            </a:endParaRPr>
          </a:p>
        </p:txBody>
      </p:sp>
      <p:pic>
        <p:nvPicPr>
          <p:cNvPr id="103" name="Google Shape;103;p17"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04" name="Google Shape;104;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5" name="Google Shape;105;p17"/>
          <p:cNvSpPr txBox="1"/>
          <p:nvPr/>
        </p:nvSpPr>
        <p:spPr>
          <a:xfrm>
            <a:off x="311700" y="1531400"/>
            <a:ext cx="4695000" cy="198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The </a:t>
            </a:r>
            <a:r>
              <a:rPr b="1" lang="en" sz="1100">
                <a:solidFill>
                  <a:schemeClr val="dk1"/>
                </a:solidFill>
              </a:rPr>
              <a:t>Call Stack</a:t>
            </a:r>
            <a:r>
              <a:rPr lang="en" sz="1100">
                <a:solidFill>
                  <a:schemeClr val="dk1"/>
                </a:solidFill>
              </a:rPr>
              <a:t> is a place where </a:t>
            </a:r>
            <a:r>
              <a:rPr b="1" lang="en" sz="1100">
                <a:solidFill>
                  <a:schemeClr val="dk1"/>
                </a:solidFill>
              </a:rPr>
              <a:t>JavaScript keeps track of the functions</a:t>
            </a:r>
            <a:r>
              <a:rPr lang="en" sz="1100">
                <a:solidFill>
                  <a:schemeClr val="dk1"/>
                </a:solidFill>
              </a:rPr>
              <a:t> that are currently running.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JavaScript runs code </a:t>
            </a:r>
            <a:r>
              <a:rPr b="1" lang="en" sz="1100">
                <a:solidFill>
                  <a:schemeClr val="dk1"/>
                </a:solidFill>
              </a:rPr>
              <a:t>one line at a time</a:t>
            </a:r>
            <a:r>
              <a:rPr lang="en" sz="1100">
                <a:solidFill>
                  <a:schemeClr val="dk1"/>
                </a:solidFill>
              </a:rPr>
              <a:t> (it is </a:t>
            </a:r>
            <a:r>
              <a:rPr b="1" lang="en" sz="1100">
                <a:solidFill>
                  <a:schemeClr val="dk1"/>
                </a:solidFill>
              </a:rPr>
              <a:t>single-threaded</a:t>
            </a:r>
            <a:r>
              <a:rPr lang="en" sz="1100">
                <a:solidFill>
                  <a:schemeClr val="dk1"/>
                </a:solidFill>
              </a:rPr>
              <a:t>), and uses the </a:t>
            </a:r>
            <a:r>
              <a:rPr b="1" lang="en" sz="1100">
                <a:solidFill>
                  <a:schemeClr val="dk1"/>
                </a:solidFill>
              </a:rPr>
              <a:t>Call Stack</a:t>
            </a:r>
            <a:r>
              <a:rPr lang="en" sz="1100">
                <a:solidFill>
                  <a:schemeClr val="dk1"/>
                </a:solidFill>
              </a:rPr>
              <a:t> to remember </a:t>
            </a:r>
            <a:r>
              <a:rPr b="1" lang="en" sz="1100">
                <a:solidFill>
                  <a:schemeClr val="dk1"/>
                </a:solidFill>
              </a:rPr>
              <a:t>which function is currently executing</a:t>
            </a:r>
            <a:r>
              <a:rPr lang="en" sz="1100">
                <a:solidFill>
                  <a:schemeClr val="dk1"/>
                </a:solidFill>
              </a:rPr>
              <a:t> and </a:t>
            </a:r>
            <a:r>
              <a:rPr b="1" lang="en" sz="1100">
                <a:solidFill>
                  <a:schemeClr val="dk1"/>
                </a:solidFill>
              </a:rPr>
              <a:t>where to return</a:t>
            </a:r>
            <a:r>
              <a:rPr lang="en" sz="1100">
                <a:solidFill>
                  <a:schemeClr val="dk1"/>
                </a:solidFill>
              </a:rPr>
              <a:t> after the function ends.</a:t>
            </a:r>
            <a:endParaRPr sz="1100">
              <a:solidFill>
                <a:schemeClr val="dk1"/>
              </a:solidFill>
            </a:endParaRPr>
          </a:p>
          <a:p>
            <a:pPr indent="0" lvl="0" marL="0" rtl="0" algn="l">
              <a:spcBef>
                <a:spcPts val="1200"/>
              </a:spcBef>
              <a:spcAft>
                <a:spcPts val="0"/>
              </a:spcAft>
              <a:buNone/>
            </a:pPr>
            <a:r>
              <a:t/>
            </a:r>
            <a:endParaRPr sz="1100">
              <a:solidFill>
                <a:schemeClr val="dk1"/>
              </a:solidFill>
            </a:endParaRPr>
          </a:p>
        </p:txBody>
      </p:sp>
      <p:pic>
        <p:nvPicPr>
          <p:cNvPr id="106" name="Google Shape;106;p17"/>
          <p:cNvPicPr preferRelativeResize="0"/>
          <p:nvPr/>
        </p:nvPicPr>
        <p:blipFill>
          <a:blip r:embed="rId4">
            <a:alphaModFix/>
          </a:blip>
          <a:stretch>
            <a:fillRect/>
          </a:stretch>
        </p:blipFill>
        <p:spPr>
          <a:xfrm>
            <a:off x="5296600" y="1531401"/>
            <a:ext cx="2936450" cy="2683925"/>
          </a:xfrm>
          <a:prstGeom prst="rect">
            <a:avLst/>
          </a:prstGeom>
          <a:noFill/>
          <a:ln>
            <a:noFill/>
          </a:ln>
          <a:effectLst>
            <a:outerShdw blurRad="128588" rotWithShape="0" algn="bl" dir="7320000" dist="571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a:t>
            </a:r>
            <a:r>
              <a:rPr b="1" lang="en" sz="2800">
                <a:solidFill>
                  <a:srgbClr val="1C4587"/>
                </a:solidFill>
                <a:latin typeface="Poppins"/>
                <a:ea typeface="Poppins"/>
                <a:cs typeface="Poppins"/>
                <a:sym typeface="Poppins"/>
              </a:rPr>
              <a:t> </a:t>
            </a:r>
            <a:r>
              <a:rPr b="1" lang="en" sz="2800">
                <a:solidFill>
                  <a:srgbClr val="073763"/>
                </a:solidFill>
                <a:latin typeface="Poppins"/>
                <a:ea typeface="Poppins"/>
                <a:cs typeface="Poppins"/>
                <a:sym typeface="Poppins"/>
              </a:rPr>
              <a:t> Web API</a:t>
            </a:r>
            <a:endParaRPr b="1" sz="2800">
              <a:solidFill>
                <a:srgbClr val="073763"/>
              </a:solidFill>
              <a:latin typeface="Poppins"/>
              <a:ea typeface="Poppins"/>
              <a:cs typeface="Poppins"/>
              <a:sym typeface="Poppins"/>
            </a:endParaRPr>
          </a:p>
        </p:txBody>
      </p:sp>
      <p:pic>
        <p:nvPicPr>
          <p:cNvPr id="112" name="Google Shape;112;p18"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13" name="Google Shape;113;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 name="Google Shape;114;p18"/>
          <p:cNvSpPr txBox="1"/>
          <p:nvPr/>
        </p:nvSpPr>
        <p:spPr>
          <a:xfrm>
            <a:off x="311700" y="972525"/>
            <a:ext cx="55362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273239"/>
                </a:solidFill>
                <a:latin typeface="Poppins"/>
                <a:ea typeface="Poppins"/>
                <a:cs typeface="Poppins"/>
                <a:sym typeface="Poppins"/>
              </a:rPr>
              <a:t>Web Application Programming Interfaces</a:t>
            </a:r>
            <a:r>
              <a:rPr lang="en" sz="1100">
                <a:solidFill>
                  <a:srgbClr val="273239"/>
                </a:solidFill>
                <a:latin typeface="Poppins"/>
                <a:ea typeface="Poppins"/>
                <a:cs typeface="Poppins"/>
                <a:sym typeface="Poppins"/>
              </a:rPr>
              <a:t> are tools provided by the </a:t>
            </a:r>
            <a:r>
              <a:rPr b="1" lang="en" sz="1100">
                <a:solidFill>
                  <a:srgbClr val="273239"/>
                </a:solidFill>
                <a:latin typeface="Poppins"/>
                <a:ea typeface="Poppins"/>
                <a:cs typeface="Poppins"/>
                <a:sym typeface="Poppins"/>
              </a:rPr>
              <a:t>browser</a:t>
            </a:r>
            <a:r>
              <a:rPr lang="en" sz="1100">
                <a:solidFill>
                  <a:srgbClr val="273239"/>
                </a:solidFill>
                <a:latin typeface="Poppins"/>
                <a:ea typeface="Poppins"/>
                <a:cs typeface="Poppins"/>
                <a:sym typeface="Poppins"/>
              </a:rPr>
              <a:t> (not JavaScript) that help us perform </a:t>
            </a:r>
            <a:r>
              <a:rPr b="1" lang="en" sz="1100">
                <a:solidFill>
                  <a:srgbClr val="273239"/>
                </a:solidFill>
                <a:latin typeface="Poppins"/>
                <a:ea typeface="Poppins"/>
                <a:cs typeface="Poppins"/>
                <a:sym typeface="Poppins"/>
              </a:rPr>
              <a:t>asynchronous</a:t>
            </a:r>
            <a:r>
              <a:rPr lang="en" sz="1100">
                <a:solidFill>
                  <a:srgbClr val="273239"/>
                </a:solidFill>
                <a:latin typeface="Poppins"/>
                <a:ea typeface="Poppins"/>
                <a:cs typeface="Poppins"/>
                <a:sym typeface="Poppins"/>
              </a:rPr>
              <a:t> or </a:t>
            </a:r>
            <a:r>
              <a:rPr b="1" lang="en" sz="1100">
                <a:solidFill>
                  <a:srgbClr val="273239"/>
                </a:solidFill>
                <a:latin typeface="Poppins"/>
                <a:ea typeface="Poppins"/>
                <a:cs typeface="Poppins"/>
                <a:sym typeface="Poppins"/>
              </a:rPr>
              <a:t>background tasks</a:t>
            </a:r>
            <a:r>
              <a:rPr lang="en" sz="1100">
                <a:solidFill>
                  <a:srgbClr val="273239"/>
                </a:solidFill>
                <a:latin typeface="Poppins"/>
                <a:ea typeface="Poppins"/>
                <a:cs typeface="Poppins"/>
                <a:sym typeface="Poppins"/>
              </a:rPr>
              <a:t> — </a:t>
            </a:r>
            <a:endParaRPr sz="1100">
              <a:solidFill>
                <a:srgbClr val="273239"/>
              </a:solidFill>
              <a:latin typeface="Poppins"/>
              <a:ea typeface="Poppins"/>
              <a:cs typeface="Poppins"/>
              <a:sym typeface="Poppins"/>
            </a:endParaRPr>
          </a:p>
          <a:p>
            <a:pPr indent="0" lvl="0" marL="0" rtl="0" algn="l">
              <a:spcBef>
                <a:spcPts val="0"/>
              </a:spcBef>
              <a:spcAft>
                <a:spcPts val="0"/>
              </a:spcAft>
              <a:buNone/>
            </a:pPr>
            <a:r>
              <a:t/>
            </a:r>
            <a:endParaRPr sz="1100">
              <a:solidFill>
                <a:srgbClr val="273239"/>
              </a:solidFill>
              <a:latin typeface="Poppins"/>
              <a:ea typeface="Poppins"/>
              <a:cs typeface="Poppins"/>
              <a:sym typeface="Poppins"/>
            </a:endParaRPr>
          </a:p>
          <a:p>
            <a:pPr indent="0" lvl="0" marL="0" rtl="0" algn="l">
              <a:spcBef>
                <a:spcPts val="0"/>
              </a:spcBef>
              <a:spcAft>
                <a:spcPts val="0"/>
              </a:spcAft>
              <a:buNone/>
            </a:pPr>
            <a:r>
              <a:rPr lang="en" sz="1100">
                <a:solidFill>
                  <a:srgbClr val="273239"/>
                </a:solidFill>
                <a:latin typeface="Poppins"/>
                <a:ea typeface="Poppins"/>
                <a:cs typeface="Poppins"/>
                <a:sym typeface="Poppins"/>
              </a:rPr>
              <a:t>like waiting for time, fetching data, or handling events — </a:t>
            </a:r>
            <a:r>
              <a:rPr b="1" lang="en" sz="1100">
                <a:solidFill>
                  <a:srgbClr val="273239"/>
                </a:solidFill>
                <a:latin typeface="Poppins"/>
                <a:ea typeface="Poppins"/>
                <a:cs typeface="Poppins"/>
                <a:sym typeface="Poppins"/>
              </a:rPr>
              <a:t>without blocking</a:t>
            </a:r>
            <a:r>
              <a:rPr lang="en" sz="1100">
                <a:solidFill>
                  <a:srgbClr val="273239"/>
                </a:solidFill>
                <a:latin typeface="Poppins"/>
                <a:ea typeface="Poppins"/>
                <a:cs typeface="Poppins"/>
                <a:sym typeface="Poppins"/>
              </a:rPr>
              <a:t> the main program.</a:t>
            </a:r>
            <a:endParaRPr>
              <a:solidFill>
                <a:srgbClr val="273239"/>
              </a:solidFill>
              <a:latin typeface="Poppins"/>
              <a:ea typeface="Poppins"/>
              <a:cs typeface="Poppins"/>
              <a:sym typeface="Poppins"/>
            </a:endParaRPr>
          </a:p>
        </p:txBody>
      </p:sp>
      <p:graphicFrame>
        <p:nvGraphicFramePr>
          <p:cNvPr id="115" name="Google Shape;115;p18"/>
          <p:cNvGraphicFramePr/>
          <p:nvPr/>
        </p:nvGraphicFramePr>
        <p:xfrm>
          <a:off x="311700" y="2428125"/>
          <a:ext cx="3000000" cy="3000000"/>
        </p:xfrm>
        <a:graphic>
          <a:graphicData uri="http://schemas.openxmlformats.org/drawingml/2006/table">
            <a:tbl>
              <a:tblPr>
                <a:noFill/>
                <a:tableStyleId>{4B135F9E-D922-4180-882E-9687296AAA3A}</a:tableStyleId>
              </a:tblPr>
              <a:tblGrid>
                <a:gridCol w="3821025"/>
                <a:gridCol w="3452075"/>
              </a:tblGrid>
              <a:tr h="190500">
                <a:tc>
                  <a:txBody>
                    <a:bodyPr/>
                    <a:lstStyle/>
                    <a:p>
                      <a:pPr indent="0" lvl="0" marL="0" rtl="0" algn="l">
                        <a:lnSpc>
                          <a:spcPct val="115000"/>
                        </a:lnSpc>
                        <a:spcBef>
                          <a:spcPts val="0"/>
                        </a:spcBef>
                        <a:spcAft>
                          <a:spcPts val="0"/>
                        </a:spcAft>
                        <a:buNone/>
                      </a:pPr>
                      <a:r>
                        <a:rPr b="1" lang="en" sz="1100">
                          <a:solidFill>
                            <a:srgbClr val="273239"/>
                          </a:solidFill>
                          <a:latin typeface="Poppins"/>
                          <a:ea typeface="Poppins"/>
                          <a:cs typeface="Poppins"/>
                          <a:sym typeface="Poppins"/>
                        </a:rPr>
                        <a:t>Task</a:t>
                      </a:r>
                      <a:endParaRPr b="1" sz="1100">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273239"/>
                          </a:solidFill>
                          <a:latin typeface="Poppins"/>
                          <a:ea typeface="Poppins"/>
                          <a:cs typeface="Poppins"/>
                          <a:sym typeface="Poppins"/>
                        </a:rPr>
                        <a:t>Web API Used</a:t>
                      </a:r>
                      <a:endParaRPr b="1" sz="1100">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solidFill>
                            <a:srgbClr val="273239"/>
                          </a:solidFill>
                          <a:latin typeface="Poppins"/>
                          <a:ea typeface="Poppins"/>
                          <a:cs typeface="Poppins"/>
                          <a:sym typeface="Poppins"/>
                        </a:rPr>
                        <a:t>Wait for time</a:t>
                      </a:r>
                      <a:endParaRPr>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273239"/>
                          </a:solidFill>
                          <a:latin typeface="Poppins"/>
                          <a:ea typeface="Poppins"/>
                          <a:cs typeface="Poppins"/>
                          <a:sym typeface="Poppins"/>
                        </a:rPr>
                        <a:t>setTimeout()</a:t>
                      </a:r>
                      <a:endParaRPr sz="1100">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solidFill>
                            <a:srgbClr val="273239"/>
                          </a:solidFill>
                          <a:latin typeface="Poppins"/>
                          <a:ea typeface="Poppins"/>
                          <a:cs typeface="Poppins"/>
                          <a:sym typeface="Poppins"/>
                        </a:rPr>
                        <a:t>Make network request</a:t>
                      </a:r>
                      <a:endParaRPr>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273239"/>
                          </a:solidFill>
                          <a:latin typeface="Poppins"/>
                          <a:ea typeface="Poppins"/>
                          <a:cs typeface="Poppins"/>
                          <a:sym typeface="Poppins"/>
                        </a:rPr>
                        <a:t>fetch()</a:t>
                      </a:r>
                      <a:endParaRPr sz="1100">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solidFill>
                            <a:srgbClr val="273239"/>
                          </a:solidFill>
                          <a:latin typeface="Poppins"/>
                          <a:ea typeface="Poppins"/>
                          <a:cs typeface="Poppins"/>
                          <a:sym typeface="Poppins"/>
                        </a:rPr>
                        <a:t>Handle button click</a:t>
                      </a:r>
                      <a:endParaRPr>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273239"/>
                          </a:solidFill>
                          <a:latin typeface="Poppins"/>
                          <a:ea typeface="Poppins"/>
                          <a:cs typeface="Poppins"/>
                          <a:sym typeface="Poppins"/>
                        </a:rPr>
                        <a:t>addEventListener()</a:t>
                      </a:r>
                      <a:endParaRPr sz="1100">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solidFill>
                            <a:srgbClr val="273239"/>
                          </a:solidFill>
                          <a:latin typeface="Poppins"/>
                          <a:ea typeface="Poppins"/>
                          <a:cs typeface="Poppins"/>
                          <a:sym typeface="Poppins"/>
                        </a:rPr>
                        <a:t>Listen for key press</a:t>
                      </a:r>
                      <a:endParaRPr>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273239"/>
                          </a:solidFill>
                          <a:latin typeface="Poppins"/>
                          <a:ea typeface="Poppins"/>
                          <a:cs typeface="Poppins"/>
                          <a:sym typeface="Poppins"/>
                        </a:rPr>
                        <a:t>keydown</a:t>
                      </a:r>
                      <a:endParaRPr sz="1100">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solidFill>
                            <a:srgbClr val="273239"/>
                          </a:solidFill>
                          <a:latin typeface="Poppins"/>
                          <a:ea typeface="Poppins"/>
                          <a:cs typeface="Poppins"/>
                          <a:sym typeface="Poppins"/>
                        </a:rPr>
                        <a:t>Work in background</a:t>
                      </a:r>
                      <a:endParaRPr>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273239"/>
                          </a:solidFill>
                          <a:latin typeface="Poppins"/>
                          <a:ea typeface="Poppins"/>
                          <a:cs typeface="Poppins"/>
                          <a:sym typeface="Poppins"/>
                        </a:rPr>
                        <a:t>Web Workers</a:t>
                      </a:r>
                      <a:endParaRPr sz="1100">
                        <a:solidFill>
                          <a:srgbClr val="273239"/>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a:t>
            </a:r>
            <a:r>
              <a:rPr b="1" lang="en" sz="2800">
                <a:solidFill>
                  <a:srgbClr val="1C4587"/>
                </a:solidFill>
                <a:latin typeface="Poppins"/>
                <a:ea typeface="Poppins"/>
                <a:cs typeface="Poppins"/>
                <a:sym typeface="Poppins"/>
              </a:rPr>
              <a:t> </a:t>
            </a:r>
            <a:r>
              <a:rPr b="1" lang="en" sz="2800">
                <a:solidFill>
                  <a:srgbClr val="073763"/>
                </a:solidFill>
                <a:latin typeface="Poppins"/>
                <a:ea typeface="Poppins"/>
                <a:cs typeface="Poppins"/>
                <a:sym typeface="Poppins"/>
              </a:rPr>
              <a:t> Web API</a:t>
            </a:r>
            <a:endParaRPr b="1" sz="2800">
              <a:solidFill>
                <a:srgbClr val="073763"/>
              </a:solidFill>
              <a:latin typeface="Poppins"/>
              <a:ea typeface="Poppins"/>
              <a:cs typeface="Poppins"/>
              <a:sym typeface="Poppins"/>
            </a:endParaRPr>
          </a:p>
        </p:txBody>
      </p:sp>
      <p:pic>
        <p:nvPicPr>
          <p:cNvPr id="121" name="Google Shape;121;p19"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22" name="Google Shape;122;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123" name="Google Shape;123;p19"/>
          <p:cNvPicPr preferRelativeResize="0"/>
          <p:nvPr/>
        </p:nvPicPr>
        <p:blipFill>
          <a:blip r:embed="rId4">
            <a:alphaModFix/>
          </a:blip>
          <a:stretch>
            <a:fillRect/>
          </a:stretch>
        </p:blipFill>
        <p:spPr>
          <a:xfrm>
            <a:off x="388025" y="2344950"/>
            <a:ext cx="3843625" cy="2428125"/>
          </a:xfrm>
          <a:prstGeom prst="rect">
            <a:avLst/>
          </a:prstGeom>
          <a:noFill/>
          <a:ln>
            <a:noFill/>
          </a:ln>
        </p:spPr>
      </p:pic>
      <p:pic>
        <p:nvPicPr>
          <p:cNvPr id="124" name="Google Shape;124;p19"/>
          <p:cNvPicPr preferRelativeResize="0"/>
          <p:nvPr/>
        </p:nvPicPr>
        <p:blipFill>
          <a:blip r:embed="rId5">
            <a:alphaModFix/>
          </a:blip>
          <a:stretch>
            <a:fillRect/>
          </a:stretch>
        </p:blipFill>
        <p:spPr>
          <a:xfrm>
            <a:off x="5649025" y="3138775"/>
            <a:ext cx="3106950" cy="840475"/>
          </a:xfrm>
          <a:prstGeom prst="rect">
            <a:avLst/>
          </a:prstGeom>
          <a:noFill/>
          <a:ln>
            <a:noFill/>
          </a:ln>
        </p:spPr>
      </p:pic>
      <p:cxnSp>
        <p:nvCxnSpPr>
          <p:cNvPr id="125" name="Google Shape;125;p19"/>
          <p:cNvCxnSpPr>
            <a:stCxn id="123" idx="3"/>
          </p:cNvCxnSpPr>
          <p:nvPr/>
        </p:nvCxnSpPr>
        <p:spPr>
          <a:xfrm>
            <a:off x="4231649" y="3559013"/>
            <a:ext cx="1323300" cy="10200"/>
          </a:xfrm>
          <a:prstGeom prst="straightConnector1">
            <a:avLst/>
          </a:prstGeom>
          <a:noFill/>
          <a:ln cap="flat" cmpd="sng" w="9525">
            <a:solidFill>
              <a:srgbClr val="FF0000"/>
            </a:solidFill>
            <a:prstDash val="solid"/>
            <a:round/>
            <a:headEnd len="med" w="med" type="none"/>
            <a:tailEnd len="med" w="med" type="triangle"/>
          </a:ln>
        </p:spPr>
      </p:cxnSp>
      <p:sp>
        <p:nvSpPr>
          <p:cNvPr id="126" name="Google Shape;126;p19"/>
          <p:cNvSpPr txBox="1"/>
          <p:nvPr/>
        </p:nvSpPr>
        <p:spPr>
          <a:xfrm>
            <a:off x="1573150" y="1039650"/>
            <a:ext cx="1032900" cy="4377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Web api</a:t>
            </a:r>
            <a:endParaRPr sz="1800">
              <a:solidFill>
                <a:schemeClr val="dk2"/>
              </a:solidFill>
            </a:endParaRPr>
          </a:p>
        </p:txBody>
      </p:sp>
      <p:cxnSp>
        <p:nvCxnSpPr>
          <p:cNvPr id="127" name="Google Shape;127;p19"/>
          <p:cNvCxnSpPr>
            <a:stCxn id="126" idx="2"/>
          </p:cNvCxnSpPr>
          <p:nvPr/>
        </p:nvCxnSpPr>
        <p:spPr>
          <a:xfrm flipH="1">
            <a:off x="1237900" y="1477350"/>
            <a:ext cx="851700" cy="1853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nvSpPr>
        <p:spPr>
          <a:xfrm>
            <a:off x="311700" y="213250"/>
            <a:ext cx="265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Poppins"/>
                <a:ea typeface="Poppins"/>
                <a:cs typeface="Poppins"/>
                <a:sym typeface="Poppins"/>
              </a:rPr>
              <a:t>|</a:t>
            </a:r>
            <a:r>
              <a:rPr b="1" lang="en" sz="2200">
                <a:solidFill>
                  <a:srgbClr val="1C4587"/>
                </a:solidFill>
                <a:latin typeface="Poppins"/>
                <a:ea typeface="Poppins"/>
                <a:cs typeface="Poppins"/>
                <a:sym typeface="Poppins"/>
              </a:rPr>
              <a:t>  </a:t>
            </a:r>
            <a:endParaRPr b="1" sz="2200">
              <a:solidFill>
                <a:srgbClr val="073763"/>
              </a:solidFill>
              <a:latin typeface="Poppins"/>
              <a:ea typeface="Poppins"/>
              <a:cs typeface="Poppins"/>
              <a:sym typeface="Poppins"/>
            </a:endParaRPr>
          </a:p>
        </p:txBody>
      </p:sp>
      <p:pic>
        <p:nvPicPr>
          <p:cNvPr id="133" name="Google Shape;133;p20"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34" name="Google Shape;134;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35" name="Google Shape;135;p20"/>
          <p:cNvSpPr txBox="1"/>
          <p:nvPr/>
        </p:nvSpPr>
        <p:spPr>
          <a:xfrm>
            <a:off x="576075" y="210300"/>
            <a:ext cx="7223700" cy="50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300">
                <a:solidFill>
                  <a:srgbClr val="073763"/>
                </a:solidFill>
                <a:latin typeface="Poppins"/>
                <a:ea typeface="Poppins"/>
                <a:cs typeface="Poppins"/>
                <a:sym typeface="Poppins"/>
              </a:rPr>
              <a:t>Have you ever wondered JavaScript can only do one thing at a time, right? That’s why it uses the Call Stack to keep track of what to do next. But  when we use async code that goes to the Web API zone and when the Web API finishes its job Can it directly jump into the Call Stack ? </a:t>
            </a:r>
            <a:r>
              <a:rPr b="1" lang="en" sz="1200">
                <a:solidFill>
                  <a:srgbClr val="073763"/>
                </a:solidFill>
                <a:latin typeface="Poppins"/>
                <a:ea typeface="Poppins"/>
                <a:cs typeface="Poppins"/>
                <a:sym typeface="Poppins"/>
              </a:rPr>
              <a:t>Who decides when that task can finally go into the Call Stack?</a:t>
            </a:r>
            <a:endParaRPr b="1" sz="1100">
              <a:solidFill>
                <a:schemeClr val="dk1"/>
              </a:solidFill>
            </a:endParaRPr>
          </a:p>
          <a:p>
            <a:pPr indent="0" lvl="0" marL="0" rtl="0" algn="l">
              <a:lnSpc>
                <a:spcPct val="100000"/>
              </a:lnSpc>
              <a:spcBef>
                <a:spcPts val="1200"/>
              </a:spcBef>
              <a:spcAft>
                <a:spcPts val="0"/>
              </a:spcAft>
              <a:buNone/>
            </a:pPr>
            <a:r>
              <a:t/>
            </a:r>
            <a:endParaRPr b="1" sz="1600">
              <a:solidFill>
                <a:srgbClr val="073763"/>
              </a:solidFill>
              <a:latin typeface="Poppins"/>
              <a:ea typeface="Poppins"/>
              <a:cs typeface="Poppins"/>
              <a:sym typeface="Poppins"/>
            </a:endParaRPr>
          </a:p>
        </p:txBody>
      </p:sp>
      <p:pic>
        <p:nvPicPr>
          <p:cNvPr id="136" name="Google Shape;136;p20"/>
          <p:cNvPicPr preferRelativeResize="0"/>
          <p:nvPr/>
        </p:nvPicPr>
        <p:blipFill>
          <a:blip r:embed="rId4">
            <a:alphaModFix/>
          </a:blip>
          <a:stretch>
            <a:fillRect/>
          </a:stretch>
        </p:blipFill>
        <p:spPr>
          <a:xfrm>
            <a:off x="3076500" y="1878925"/>
            <a:ext cx="2784300" cy="2784300"/>
          </a:xfrm>
          <a:prstGeom prst="rect">
            <a:avLst/>
          </a:prstGeom>
          <a:noFill/>
          <a:ln>
            <a:noFill/>
          </a:ln>
          <a:effectLst>
            <a:outerShdw blurRad="128588" rotWithShape="0" algn="bl" dir="7500000" dist="95250">
              <a:srgbClr val="000000">
                <a:alpha val="72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nvSpPr>
        <p:spPr>
          <a:xfrm>
            <a:off x="311700" y="213250"/>
            <a:ext cx="265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Poppins"/>
                <a:ea typeface="Poppins"/>
                <a:cs typeface="Poppins"/>
                <a:sym typeface="Poppins"/>
              </a:rPr>
              <a:t>|</a:t>
            </a:r>
            <a:r>
              <a:rPr b="1" lang="en" sz="2200">
                <a:solidFill>
                  <a:srgbClr val="1C4587"/>
                </a:solidFill>
                <a:latin typeface="Poppins"/>
                <a:ea typeface="Poppins"/>
                <a:cs typeface="Poppins"/>
                <a:sym typeface="Poppins"/>
              </a:rPr>
              <a:t>  </a:t>
            </a:r>
            <a:endParaRPr b="1" sz="2200">
              <a:solidFill>
                <a:srgbClr val="073763"/>
              </a:solidFill>
              <a:latin typeface="Poppins"/>
              <a:ea typeface="Poppins"/>
              <a:cs typeface="Poppins"/>
              <a:sym typeface="Poppins"/>
            </a:endParaRPr>
          </a:p>
        </p:txBody>
      </p:sp>
      <p:pic>
        <p:nvPicPr>
          <p:cNvPr id="142" name="Google Shape;142;p21"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43" name="Google Shape;143;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44" name="Google Shape;144;p21"/>
          <p:cNvSpPr txBox="1"/>
          <p:nvPr/>
        </p:nvSpPr>
        <p:spPr>
          <a:xfrm>
            <a:off x="576075" y="210300"/>
            <a:ext cx="7223700" cy="50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rgbClr val="073763"/>
                </a:solidFill>
                <a:latin typeface="Poppins"/>
                <a:ea typeface="Poppins"/>
                <a:cs typeface="Poppins"/>
                <a:sym typeface="Poppins"/>
              </a:rPr>
              <a:t>Have you ever wondered JavaScript can only do one thing at a time, right? That’s why it uses the Call Stack to keep track of what to do next. But  when we use async code that goes to the Web API zone and when the Web API finishes its job can it directly jump into the Call Stack ? </a:t>
            </a:r>
            <a:r>
              <a:rPr b="1" lang="en" sz="1200">
                <a:solidFill>
                  <a:srgbClr val="073763"/>
                </a:solidFill>
                <a:latin typeface="Poppins"/>
                <a:ea typeface="Poppins"/>
                <a:cs typeface="Poppins"/>
                <a:sym typeface="Poppins"/>
              </a:rPr>
              <a:t>Who decides when that task can finally go into the Call Stack?</a:t>
            </a:r>
            <a:endParaRPr b="1" sz="1100">
              <a:solidFill>
                <a:schemeClr val="dk1"/>
              </a:solidFill>
            </a:endParaRPr>
          </a:p>
          <a:p>
            <a:pPr indent="0" lvl="0" marL="0" rtl="0" algn="l">
              <a:lnSpc>
                <a:spcPct val="100000"/>
              </a:lnSpc>
              <a:spcBef>
                <a:spcPts val="1200"/>
              </a:spcBef>
              <a:spcAft>
                <a:spcPts val="0"/>
              </a:spcAft>
              <a:buNone/>
            </a:pPr>
            <a:r>
              <a:t/>
            </a:r>
            <a:endParaRPr b="1" sz="1600">
              <a:solidFill>
                <a:srgbClr val="073763"/>
              </a:solidFill>
              <a:latin typeface="Poppins"/>
              <a:ea typeface="Poppins"/>
              <a:cs typeface="Poppins"/>
              <a:sym typeface="Poppins"/>
            </a:endParaRPr>
          </a:p>
        </p:txBody>
      </p:sp>
      <p:sp>
        <p:nvSpPr>
          <p:cNvPr id="145" name="Google Shape;145;p21"/>
          <p:cNvSpPr txBox="1"/>
          <p:nvPr/>
        </p:nvSpPr>
        <p:spPr>
          <a:xfrm>
            <a:off x="311700" y="2095200"/>
            <a:ext cx="4944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No, the Web API </a:t>
            </a:r>
            <a:r>
              <a:rPr b="1" lang="en" sz="1100">
                <a:solidFill>
                  <a:schemeClr val="dk1"/>
                </a:solidFill>
              </a:rPr>
              <a:t>can’t directly jump into the Call Stack</a:t>
            </a: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Once it finishes its job, it sends the task to the </a:t>
            </a:r>
            <a:r>
              <a:rPr b="1" lang="en" sz="1100">
                <a:solidFill>
                  <a:schemeClr val="dk1"/>
                </a:solidFill>
              </a:rPr>
              <a:t>Task Queue</a:t>
            </a:r>
            <a:r>
              <a:rPr lang="en" sz="1100">
                <a:solidFill>
                  <a:schemeClr val="dk1"/>
                </a:solidFill>
              </a:rPr>
              <a:t>.</a:t>
            </a:r>
            <a:endParaRPr sz="1100">
              <a:solidFill>
                <a:schemeClr val="dk1"/>
              </a:solidFill>
            </a:endParaRPr>
          </a:p>
          <a:p>
            <a:pPr indent="0" lvl="0" marL="0" rtl="0" algn="l">
              <a:spcBef>
                <a:spcPts val="0"/>
              </a:spcBef>
              <a:spcAft>
                <a:spcPts val="0"/>
              </a:spcAft>
              <a:buNone/>
            </a:pPr>
            <a:r>
              <a:rPr lang="en" sz="1100">
                <a:solidFill>
                  <a:schemeClr val="dk1"/>
                </a:solidFill>
              </a:rPr>
              <a:t>But even Task Queue doesn’t push the task — it just waits there patiently.</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151" name="Google Shape;151;p22"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52" name="Google Shape;152;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3" name="Google Shape;153;p22"/>
          <p:cNvSpPr txBox="1"/>
          <p:nvPr/>
        </p:nvSpPr>
        <p:spPr>
          <a:xfrm>
            <a:off x="311700" y="1607350"/>
            <a:ext cx="46404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273239"/>
                </a:solidFill>
                <a:latin typeface="Poppins"/>
                <a:ea typeface="Poppins"/>
                <a:cs typeface="Poppins"/>
                <a:sym typeface="Poppins"/>
              </a:rPr>
              <a:t>Task Queue </a:t>
            </a:r>
            <a:r>
              <a:rPr lang="en" sz="1100">
                <a:solidFill>
                  <a:srgbClr val="273239"/>
                </a:solidFill>
                <a:latin typeface="Poppins"/>
                <a:ea typeface="Poppins"/>
                <a:cs typeface="Poppins"/>
                <a:sym typeface="Poppins"/>
              </a:rPr>
              <a:t>is a waiting line for functions that are ready to run after </a:t>
            </a:r>
            <a:r>
              <a:rPr b="1" lang="en" sz="1100">
                <a:solidFill>
                  <a:srgbClr val="273239"/>
                </a:solidFill>
                <a:latin typeface="Poppins"/>
                <a:ea typeface="Poppins"/>
                <a:cs typeface="Poppins"/>
                <a:sym typeface="Poppins"/>
              </a:rPr>
              <a:t>Web API finishes its work</a:t>
            </a:r>
            <a:r>
              <a:rPr lang="en" sz="1100">
                <a:solidFill>
                  <a:srgbClr val="273239"/>
                </a:solidFill>
                <a:latin typeface="Poppins"/>
                <a:ea typeface="Poppins"/>
                <a:cs typeface="Poppins"/>
                <a:sym typeface="Poppins"/>
              </a:rPr>
              <a:t>, but they have to wait until the</a:t>
            </a:r>
            <a:r>
              <a:rPr b="1" lang="en" sz="1100">
                <a:solidFill>
                  <a:srgbClr val="273239"/>
                </a:solidFill>
                <a:latin typeface="Poppins"/>
                <a:ea typeface="Poppins"/>
                <a:cs typeface="Poppins"/>
                <a:sym typeface="Poppins"/>
              </a:rPr>
              <a:t> Call Stack is empty</a:t>
            </a:r>
            <a:r>
              <a:rPr lang="en" sz="1100">
                <a:solidFill>
                  <a:srgbClr val="273239"/>
                </a:solidFill>
                <a:latin typeface="Poppins"/>
                <a:ea typeface="Poppins"/>
                <a:cs typeface="Poppins"/>
                <a:sym typeface="Poppins"/>
              </a:rPr>
              <a:t>.</a:t>
            </a:r>
            <a:endParaRPr sz="1100">
              <a:solidFill>
                <a:srgbClr val="273239"/>
              </a:solidFill>
              <a:latin typeface="Poppins"/>
              <a:ea typeface="Poppins"/>
              <a:cs typeface="Poppins"/>
              <a:sym typeface="Poppins"/>
            </a:endParaRPr>
          </a:p>
          <a:p>
            <a:pPr indent="0" lvl="0" marL="0" rtl="0" algn="l">
              <a:spcBef>
                <a:spcPts val="0"/>
              </a:spcBef>
              <a:spcAft>
                <a:spcPts val="0"/>
              </a:spcAft>
              <a:buNone/>
            </a:pPr>
            <a:r>
              <a:t/>
            </a:r>
            <a:endParaRPr sz="1100">
              <a:solidFill>
                <a:srgbClr val="273239"/>
              </a:solidFill>
              <a:latin typeface="Poppins"/>
              <a:ea typeface="Poppins"/>
              <a:cs typeface="Poppins"/>
              <a:sym typeface="Poppins"/>
            </a:endParaRPr>
          </a:p>
          <a:p>
            <a:pPr indent="0" lvl="0" marL="0" rtl="0" algn="l">
              <a:spcBef>
                <a:spcPts val="0"/>
              </a:spcBef>
              <a:spcAft>
                <a:spcPts val="0"/>
              </a:spcAft>
              <a:buNone/>
            </a:pPr>
            <a:r>
              <a:t/>
            </a:r>
            <a:endParaRPr sz="1100">
              <a:solidFill>
                <a:srgbClr val="273239"/>
              </a:solidFill>
              <a:latin typeface="Poppins"/>
              <a:ea typeface="Poppins"/>
              <a:cs typeface="Poppins"/>
              <a:sym typeface="Poppins"/>
            </a:endParaRPr>
          </a:p>
          <a:p>
            <a:pPr indent="0" lvl="0" marL="0" rtl="0" algn="l">
              <a:spcBef>
                <a:spcPts val="0"/>
              </a:spcBef>
              <a:spcAft>
                <a:spcPts val="0"/>
              </a:spcAft>
              <a:buNone/>
            </a:pPr>
            <a:r>
              <a:t/>
            </a:r>
            <a:endParaRPr sz="1100">
              <a:solidFill>
                <a:srgbClr val="273239"/>
              </a:solidFill>
              <a:latin typeface="Poppins"/>
              <a:ea typeface="Poppins"/>
              <a:cs typeface="Poppins"/>
              <a:sym typeface="Poppins"/>
            </a:endParaRPr>
          </a:p>
          <a:p>
            <a:pPr indent="0" lvl="0" marL="0" rtl="0" algn="l">
              <a:spcBef>
                <a:spcPts val="0"/>
              </a:spcBef>
              <a:spcAft>
                <a:spcPts val="0"/>
              </a:spcAft>
              <a:buNone/>
            </a:pPr>
            <a:r>
              <a:rPr lang="en" sz="1100">
                <a:solidFill>
                  <a:srgbClr val="273239"/>
                </a:solidFill>
                <a:latin typeface="Poppins"/>
                <a:ea typeface="Poppins"/>
                <a:cs typeface="Poppins"/>
                <a:sym typeface="Poppins"/>
              </a:rPr>
              <a:t>It stores </a:t>
            </a:r>
            <a:r>
              <a:rPr b="1" lang="en" sz="1100">
                <a:solidFill>
                  <a:srgbClr val="273239"/>
                </a:solidFill>
                <a:latin typeface="Poppins"/>
                <a:ea typeface="Poppins"/>
                <a:cs typeface="Poppins"/>
                <a:sym typeface="Poppins"/>
              </a:rPr>
              <a:t>asynchronous callbacks</a:t>
            </a:r>
            <a:r>
              <a:rPr lang="en" sz="1100">
                <a:solidFill>
                  <a:srgbClr val="273239"/>
                </a:solidFill>
                <a:latin typeface="Poppins"/>
                <a:ea typeface="Poppins"/>
                <a:cs typeface="Poppins"/>
                <a:sym typeface="Poppins"/>
              </a:rPr>
              <a:t> (like the function inside setTimeout)</a:t>
            </a:r>
            <a:endParaRPr sz="1100">
              <a:solidFill>
                <a:srgbClr val="273239"/>
              </a:solidFill>
              <a:latin typeface="Poppins"/>
              <a:ea typeface="Poppins"/>
              <a:cs typeface="Poppins"/>
              <a:sym typeface="Poppins"/>
            </a:endParaRPr>
          </a:p>
        </p:txBody>
      </p:sp>
      <p:pic>
        <p:nvPicPr>
          <p:cNvPr id="154" name="Google Shape;154;p22"/>
          <p:cNvPicPr preferRelativeResize="0"/>
          <p:nvPr/>
        </p:nvPicPr>
        <p:blipFill>
          <a:blip r:embed="rId4">
            <a:alphaModFix/>
          </a:blip>
          <a:stretch>
            <a:fillRect/>
          </a:stretch>
        </p:blipFill>
        <p:spPr>
          <a:xfrm>
            <a:off x="6097200" y="1607350"/>
            <a:ext cx="2256500" cy="2980925"/>
          </a:xfrm>
          <a:prstGeom prst="rect">
            <a:avLst/>
          </a:prstGeom>
          <a:noFill/>
          <a:ln>
            <a:noFill/>
          </a:ln>
          <a:effectLst>
            <a:outerShdw blurRad="114300" rotWithShape="0" algn="bl" dir="7380000" dist="85725">
              <a:srgbClr val="000000">
                <a:alpha val="52999"/>
              </a:srgbClr>
            </a:outerShdw>
          </a:effectLst>
        </p:spPr>
      </p:pic>
      <p:cxnSp>
        <p:nvCxnSpPr>
          <p:cNvPr id="155" name="Google Shape;155;p22"/>
          <p:cNvCxnSpPr/>
          <p:nvPr/>
        </p:nvCxnSpPr>
        <p:spPr>
          <a:xfrm flipH="1" rot="10800000">
            <a:off x="5166900" y="3990975"/>
            <a:ext cx="930300" cy="6900"/>
          </a:xfrm>
          <a:prstGeom prst="straightConnector1">
            <a:avLst/>
          </a:prstGeom>
          <a:noFill/>
          <a:ln cap="flat" cmpd="sng" w="9525">
            <a:solidFill>
              <a:srgbClr val="FF0000"/>
            </a:solidFill>
            <a:prstDash val="solid"/>
            <a:round/>
            <a:headEnd len="med" w="med" type="none"/>
            <a:tailEnd len="med" w="med" type="triangle"/>
          </a:ln>
        </p:spPr>
      </p:cxnSp>
      <p:sp>
        <p:nvSpPr>
          <p:cNvPr id="156" name="Google Shape;156;p22"/>
          <p:cNvSpPr txBox="1"/>
          <p:nvPr/>
        </p:nvSpPr>
        <p:spPr>
          <a:xfrm>
            <a:off x="3636600" y="3751575"/>
            <a:ext cx="1530300" cy="4857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Poppins"/>
                <a:ea typeface="Poppins"/>
                <a:cs typeface="Poppins"/>
                <a:sym typeface="Poppins"/>
              </a:rPr>
              <a:t>Waiting for the Call Stack to be empty</a:t>
            </a:r>
            <a:endParaRPr sz="1100">
              <a:solidFill>
                <a:schemeClr val="dk2"/>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42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162" name="Google Shape;162;p23"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63" name="Google Shape;163;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64" name="Google Shape;164;p23"/>
          <p:cNvSpPr txBox="1"/>
          <p:nvPr/>
        </p:nvSpPr>
        <p:spPr>
          <a:xfrm>
            <a:off x="311700" y="1360400"/>
            <a:ext cx="53175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273239"/>
                </a:solidFill>
                <a:latin typeface="Poppins"/>
                <a:ea typeface="Poppins"/>
                <a:cs typeface="Poppins"/>
                <a:sym typeface="Poppins"/>
              </a:rPr>
              <a:t>Remember, JavaScript runs one task at a time using the </a:t>
            </a:r>
            <a:r>
              <a:rPr b="1" lang="en" sz="1100">
                <a:solidFill>
                  <a:srgbClr val="273239"/>
                </a:solidFill>
                <a:latin typeface="Poppins"/>
                <a:ea typeface="Poppins"/>
                <a:cs typeface="Poppins"/>
                <a:sym typeface="Poppins"/>
              </a:rPr>
              <a:t>Call Stack</a:t>
            </a:r>
            <a:r>
              <a:rPr lang="en" sz="1100">
                <a:solidFill>
                  <a:srgbClr val="273239"/>
                </a:solidFill>
                <a:latin typeface="Poppins"/>
                <a:ea typeface="Poppins"/>
                <a:cs typeface="Poppins"/>
                <a:sym typeface="Poppins"/>
              </a:rPr>
              <a:t>. And when we use functions like setTimeout, fetch, or DOM events, they go to the </a:t>
            </a:r>
            <a:r>
              <a:rPr b="1" lang="en" sz="1100">
                <a:solidFill>
                  <a:srgbClr val="273239"/>
                </a:solidFill>
                <a:latin typeface="Poppins"/>
                <a:ea typeface="Poppins"/>
                <a:cs typeface="Poppins"/>
                <a:sym typeface="Poppins"/>
              </a:rPr>
              <a:t>Web API</a:t>
            </a:r>
            <a:r>
              <a:rPr lang="en" sz="1100">
                <a:solidFill>
                  <a:srgbClr val="273239"/>
                </a:solidFill>
                <a:latin typeface="Poppins"/>
                <a:ea typeface="Poppins"/>
                <a:cs typeface="Poppins"/>
                <a:sym typeface="Poppins"/>
              </a:rPr>
              <a:t>, right?</a:t>
            </a:r>
            <a:endParaRPr sz="1100">
              <a:solidFill>
                <a:srgbClr val="273239"/>
              </a:solidFill>
              <a:latin typeface="Poppins"/>
              <a:ea typeface="Poppins"/>
              <a:cs typeface="Poppins"/>
              <a:sym typeface="Poppins"/>
            </a:endParaRPr>
          </a:p>
          <a:p>
            <a:pPr indent="0" lvl="0" marL="0" rtl="0" algn="l">
              <a:spcBef>
                <a:spcPts val="0"/>
              </a:spcBef>
              <a:spcAft>
                <a:spcPts val="0"/>
              </a:spcAft>
              <a:buNone/>
            </a:pPr>
            <a:r>
              <a:t/>
            </a:r>
            <a:endParaRPr sz="1100">
              <a:solidFill>
                <a:srgbClr val="273239"/>
              </a:solidFill>
              <a:latin typeface="Poppins"/>
              <a:ea typeface="Poppins"/>
              <a:cs typeface="Poppins"/>
              <a:sym typeface="Poppins"/>
            </a:endParaRPr>
          </a:p>
          <a:p>
            <a:pPr indent="0" lvl="0" marL="0" rtl="0" algn="l">
              <a:spcBef>
                <a:spcPts val="0"/>
              </a:spcBef>
              <a:spcAft>
                <a:spcPts val="0"/>
              </a:spcAft>
              <a:buNone/>
            </a:pPr>
            <a:r>
              <a:rPr lang="en" sz="1100">
                <a:solidFill>
                  <a:srgbClr val="273239"/>
                </a:solidFill>
                <a:latin typeface="Poppins"/>
                <a:ea typeface="Poppins"/>
                <a:cs typeface="Poppins"/>
                <a:sym typeface="Poppins"/>
              </a:rPr>
              <a:t>Can </a:t>
            </a:r>
            <a:r>
              <a:rPr b="1" lang="en" sz="1100">
                <a:solidFill>
                  <a:srgbClr val="273239"/>
                </a:solidFill>
                <a:latin typeface="Poppins"/>
                <a:ea typeface="Poppins"/>
                <a:cs typeface="Poppins"/>
                <a:sym typeface="Poppins"/>
              </a:rPr>
              <a:t>Web API</a:t>
            </a:r>
            <a:r>
              <a:rPr lang="en" sz="1100">
                <a:solidFill>
                  <a:srgbClr val="273239"/>
                </a:solidFill>
                <a:latin typeface="Poppins"/>
                <a:ea typeface="Poppins"/>
                <a:cs typeface="Poppins"/>
                <a:sym typeface="Poppins"/>
              </a:rPr>
              <a:t> directly send results to Call Stack? → No!</a:t>
            </a:r>
            <a:endParaRPr sz="1100">
              <a:solidFill>
                <a:srgbClr val="273239"/>
              </a:solidFill>
              <a:latin typeface="Poppins"/>
              <a:ea typeface="Poppins"/>
              <a:cs typeface="Poppins"/>
              <a:sym typeface="Poppins"/>
            </a:endParaRPr>
          </a:p>
          <a:p>
            <a:pPr indent="0" lvl="0" marL="0" rtl="0" algn="l">
              <a:spcBef>
                <a:spcPts val="0"/>
              </a:spcBef>
              <a:spcAft>
                <a:spcPts val="0"/>
              </a:spcAft>
              <a:buNone/>
            </a:pPr>
            <a:r>
              <a:t/>
            </a:r>
            <a:endParaRPr sz="1100">
              <a:solidFill>
                <a:srgbClr val="273239"/>
              </a:solidFill>
              <a:latin typeface="Poppins"/>
              <a:ea typeface="Poppins"/>
              <a:cs typeface="Poppins"/>
              <a:sym typeface="Poppins"/>
            </a:endParaRPr>
          </a:p>
          <a:p>
            <a:pPr indent="0" lvl="0" marL="0" rtl="0" algn="l">
              <a:spcBef>
                <a:spcPts val="0"/>
              </a:spcBef>
              <a:spcAft>
                <a:spcPts val="0"/>
              </a:spcAft>
              <a:buNone/>
            </a:pPr>
            <a:r>
              <a:rPr lang="en" sz="1100">
                <a:solidFill>
                  <a:srgbClr val="273239"/>
                </a:solidFill>
                <a:latin typeface="Poppins"/>
                <a:ea typeface="Poppins"/>
                <a:cs typeface="Poppins"/>
                <a:sym typeface="Poppins"/>
              </a:rPr>
              <a:t>If Web API can’t push the function back into the Call Stack, who helps it?</a:t>
            </a:r>
            <a:endParaRPr sz="1100">
              <a:solidFill>
                <a:srgbClr val="273239"/>
              </a:solidFill>
              <a:latin typeface="Poppins"/>
              <a:ea typeface="Poppins"/>
              <a:cs typeface="Poppins"/>
              <a:sym typeface="Poppins"/>
            </a:endParaRPr>
          </a:p>
          <a:p>
            <a:pPr indent="0" lvl="0" marL="0" rtl="0" algn="l">
              <a:spcBef>
                <a:spcPts val="0"/>
              </a:spcBef>
              <a:spcAft>
                <a:spcPts val="0"/>
              </a:spcAft>
              <a:buNone/>
            </a:pPr>
            <a:r>
              <a:t/>
            </a:r>
            <a:endParaRPr sz="1100">
              <a:solidFill>
                <a:srgbClr val="273239"/>
              </a:solidFill>
              <a:latin typeface="Poppins"/>
              <a:ea typeface="Poppins"/>
              <a:cs typeface="Poppins"/>
              <a:sym typeface="Poppins"/>
            </a:endParaRPr>
          </a:p>
          <a:p>
            <a:pPr indent="0" lvl="0" marL="0" rtl="0" algn="l">
              <a:spcBef>
                <a:spcPts val="0"/>
              </a:spcBef>
              <a:spcAft>
                <a:spcPts val="0"/>
              </a:spcAft>
              <a:buNone/>
            </a:pPr>
            <a:r>
              <a:rPr b="1" lang="en" sz="1100">
                <a:solidFill>
                  <a:srgbClr val="273239"/>
                </a:solidFill>
                <a:latin typeface="Poppins"/>
                <a:ea typeface="Poppins"/>
                <a:cs typeface="Poppins"/>
                <a:sym typeface="Poppins"/>
              </a:rPr>
              <a:t>Task Queue</a:t>
            </a:r>
            <a:endParaRPr b="1" sz="1100">
              <a:solidFill>
                <a:srgbClr val="273239"/>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170" name="Google Shape;170;p24"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71" name="Google Shape;171;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72" name="Google Shape;172;p24"/>
          <p:cNvSpPr txBox="1"/>
          <p:nvPr/>
        </p:nvSpPr>
        <p:spPr>
          <a:xfrm>
            <a:off x="697650" y="1039650"/>
            <a:ext cx="6128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Types of Task Queues :</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sz="1000">
                <a:solidFill>
                  <a:schemeClr val="dk1"/>
                </a:solidFill>
              </a:rPr>
              <a:t>JavaScript mainly has </a:t>
            </a:r>
            <a:r>
              <a:rPr b="1" lang="en" sz="1000">
                <a:solidFill>
                  <a:schemeClr val="dk1"/>
                </a:solidFill>
              </a:rPr>
              <a:t>two types of task queues</a:t>
            </a:r>
            <a:r>
              <a:rPr lang="en" sz="1000">
                <a:solidFill>
                  <a:schemeClr val="dk1"/>
                </a:solidFill>
              </a:rPr>
              <a:t>:</a:t>
            </a:r>
            <a:endParaRPr b="1" sz="1300"/>
          </a:p>
        </p:txBody>
      </p:sp>
      <p:sp>
        <p:nvSpPr>
          <p:cNvPr id="173" name="Google Shape;173;p24"/>
          <p:cNvSpPr txBox="1"/>
          <p:nvPr/>
        </p:nvSpPr>
        <p:spPr>
          <a:xfrm>
            <a:off x="731850" y="18809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 Macrotask Queue ( Low Priority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2. Microtask Queue (High Priority)</a:t>
            </a:r>
            <a:endParaRPr>
              <a:solidFill>
                <a:schemeClr val="dk1"/>
              </a:solidFill>
            </a:endParaRPr>
          </a:p>
          <a:p>
            <a:pPr indent="0" lvl="0" marL="0" rtl="0" algn="l">
              <a:spcBef>
                <a:spcPts val="0"/>
              </a:spcBef>
              <a:spcAft>
                <a:spcPts val="0"/>
              </a:spcAft>
              <a:buNone/>
            </a:pPr>
            <a:r>
              <a:t/>
            </a:r>
            <a:endParaRPr/>
          </a:p>
        </p:txBody>
      </p:sp>
      <p:sp>
        <p:nvSpPr>
          <p:cNvPr id="174" name="Google Shape;174;p24"/>
          <p:cNvSpPr txBox="1"/>
          <p:nvPr/>
        </p:nvSpPr>
        <p:spPr>
          <a:xfrm>
            <a:off x="697650" y="23529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180" name="Google Shape;180;p25"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81" name="Google Shape;181;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82" name="Google Shape;182;p25"/>
          <p:cNvSpPr txBox="1"/>
          <p:nvPr/>
        </p:nvSpPr>
        <p:spPr>
          <a:xfrm>
            <a:off x="311700" y="909700"/>
            <a:ext cx="6192900" cy="435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Macrotask Queue (Task Queue)</a:t>
            </a:r>
            <a:endParaRPr b="1" sz="1100">
              <a:solidFill>
                <a:schemeClr val="dk1"/>
              </a:solidFill>
            </a:endParaRPr>
          </a:p>
          <a:p>
            <a:pPr indent="0" lvl="0" marL="0" rtl="0" algn="l">
              <a:lnSpc>
                <a:spcPct val="115000"/>
              </a:lnSpc>
              <a:spcBef>
                <a:spcPts val="1200"/>
              </a:spcBef>
              <a:spcAft>
                <a:spcPts val="0"/>
              </a:spcAft>
              <a:buNone/>
            </a:pPr>
            <a:r>
              <a:rPr lang="en" sz="1100">
                <a:solidFill>
                  <a:schemeClr val="dk1"/>
                </a:solidFill>
              </a:rPr>
              <a:t>The </a:t>
            </a:r>
            <a:r>
              <a:rPr b="1" lang="en" sz="1100">
                <a:solidFill>
                  <a:schemeClr val="dk1"/>
                </a:solidFill>
              </a:rPr>
              <a:t>Macrotask Queue</a:t>
            </a:r>
            <a:r>
              <a:rPr lang="en" sz="1100">
                <a:solidFill>
                  <a:schemeClr val="dk1"/>
                </a:solidFill>
              </a:rPr>
              <a:t> contains tasks that are executed </a:t>
            </a:r>
            <a:r>
              <a:rPr b="1" lang="en" sz="1100">
                <a:solidFill>
                  <a:schemeClr val="dk1"/>
                </a:solidFill>
              </a:rPr>
              <a:t>after the current call stack is empty</a:t>
            </a:r>
            <a:r>
              <a:rPr lang="en" sz="1100">
                <a:solidFill>
                  <a:schemeClr val="dk1"/>
                </a:solidFill>
              </a:rPr>
              <a:t> and </a:t>
            </a:r>
            <a:r>
              <a:rPr b="1" lang="en" sz="1100">
                <a:solidFill>
                  <a:schemeClr val="dk1"/>
                </a:solidFill>
              </a:rPr>
              <a:t>after all microtasks are completed</a:t>
            </a:r>
            <a:r>
              <a:rPr lang="en"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These tasks usually represent </a:t>
            </a:r>
            <a:r>
              <a:rPr b="1" lang="en" sz="1100">
                <a:solidFill>
                  <a:schemeClr val="dk1"/>
                </a:solidFill>
              </a:rPr>
              <a:t>larger or delayed operations</a:t>
            </a:r>
            <a:r>
              <a:rPr lang="en"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Examples of Macrotasks: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setTimeout()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setInterval()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DOM events (click, keydown, submit)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setImmediate() (Node.js)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I/O operations (Node.js)</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How Macrotask Queue works: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A task waits in the queue.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Event Loop checks if the Call Stack is empty.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If Microtask Queue is empty, one macrotask is moved to the Call Stack.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That task is executed completely.</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 </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188" name="Google Shape;188;p26"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89" name="Google Shape;189;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90" name="Google Shape;190;p26"/>
          <p:cNvSpPr txBox="1"/>
          <p:nvPr/>
        </p:nvSpPr>
        <p:spPr>
          <a:xfrm>
            <a:off x="403550" y="16210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Example: </a:t>
            </a:r>
            <a:endParaRPr b="1"/>
          </a:p>
          <a:p>
            <a:pPr indent="0" lvl="0" marL="0" rtl="0" algn="l">
              <a:spcBef>
                <a:spcPts val="0"/>
              </a:spcBef>
              <a:spcAft>
                <a:spcPts val="0"/>
              </a:spcAft>
              <a:buNone/>
            </a:pPr>
            <a:r>
              <a:t/>
            </a:r>
            <a:endParaRPr/>
          </a:p>
        </p:txBody>
      </p:sp>
      <p:pic>
        <p:nvPicPr>
          <p:cNvPr id="191" name="Google Shape;191;p26"/>
          <p:cNvPicPr preferRelativeResize="0"/>
          <p:nvPr/>
        </p:nvPicPr>
        <p:blipFill>
          <a:blip r:embed="rId4">
            <a:alphaModFix/>
          </a:blip>
          <a:stretch>
            <a:fillRect/>
          </a:stretch>
        </p:blipFill>
        <p:spPr>
          <a:xfrm>
            <a:off x="403550" y="2332350"/>
            <a:ext cx="3097649" cy="1279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197" name="Google Shape;197;p27"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98" name="Google Shape;19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99" name="Google Shape;199;p27"/>
          <p:cNvSpPr txBox="1"/>
          <p:nvPr/>
        </p:nvSpPr>
        <p:spPr>
          <a:xfrm>
            <a:off x="404925" y="1011575"/>
            <a:ext cx="7009500" cy="304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800">
                <a:solidFill>
                  <a:schemeClr val="dk1"/>
                </a:solidFill>
              </a:rPr>
              <a:t>Microtask Queue (High Priority Queue)</a:t>
            </a:r>
            <a:endParaRPr b="1" sz="1800">
              <a:solidFill>
                <a:schemeClr val="dk1"/>
              </a:solidFill>
            </a:endParaRPr>
          </a:p>
          <a:p>
            <a:pPr indent="0" lvl="0" marL="0" rtl="0" algn="l">
              <a:lnSpc>
                <a:spcPct val="115000"/>
              </a:lnSpc>
              <a:spcBef>
                <a:spcPts val="1200"/>
              </a:spcBef>
              <a:spcAft>
                <a:spcPts val="0"/>
              </a:spcAft>
              <a:buNone/>
            </a:pPr>
            <a:r>
              <a:rPr lang="en" sz="1100">
                <a:solidFill>
                  <a:schemeClr val="dk1"/>
                </a:solidFill>
              </a:rPr>
              <a:t>The </a:t>
            </a:r>
            <a:r>
              <a:rPr b="1" lang="en" sz="1100">
                <a:solidFill>
                  <a:schemeClr val="dk1"/>
                </a:solidFill>
              </a:rPr>
              <a:t>Microtask Queue</a:t>
            </a:r>
            <a:r>
              <a:rPr lang="en" sz="1100">
                <a:solidFill>
                  <a:schemeClr val="dk1"/>
                </a:solidFill>
              </a:rPr>
              <a:t> has </a:t>
            </a:r>
            <a:r>
              <a:rPr b="1" lang="en" sz="1100">
                <a:solidFill>
                  <a:schemeClr val="dk1"/>
                </a:solidFill>
              </a:rPr>
              <a:t>higher priority</a:t>
            </a:r>
            <a:r>
              <a:rPr lang="en" sz="1100">
                <a:solidFill>
                  <a:schemeClr val="dk1"/>
                </a:solidFill>
              </a:rPr>
              <a:t> than the Macrotask Queue.</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Microtasks are executed </a:t>
            </a:r>
            <a:r>
              <a:rPr b="1" lang="en" sz="1100">
                <a:solidFill>
                  <a:schemeClr val="dk1"/>
                </a:solidFill>
              </a:rPr>
              <a:t>immediately after the current script finishes</a:t>
            </a:r>
            <a:r>
              <a:rPr lang="en" sz="1100">
                <a:solidFill>
                  <a:schemeClr val="dk1"/>
                </a:solidFill>
              </a:rPr>
              <a:t>, </a:t>
            </a:r>
            <a:r>
              <a:rPr b="1" lang="en" sz="1100">
                <a:solidFill>
                  <a:schemeClr val="dk1"/>
                </a:solidFill>
              </a:rPr>
              <a:t>before any macrotask runs</a:t>
            </a:r>
            <a:r>
              <a:rPr lang="en"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b="1" lang="en" sz="1350">
                <a:solidFill>
                  <a:schemeClr val="dk1"/>
                </a:solidFill>
              </a:rPr>
              <a:t>Examples of Microtasks:</a:t>
            </a:r>
            <a:endParaRPr b="1" sz="135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000">
                <a:solidFill>
                  <a:schemeClr val="dk1"/>
                </a:solidFill>
              </a:rPr>
              <a:t>Promise.then()</a:t>
            </a:r>
            <a:endParaRPr sz="10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000">
                <a:solidFill>
                  <a:schemeClr val="dk1"/>
                </a:solidFill>
              </a:rPr>
              <a:t>Promise.catch()</a:t>
            </a:r>
            <a:endParaRPr sz="10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000">
                <a:solidFill>
                  <a:schemeClr val="dk1"/>
                </a:solidFill>
              </a:rPr>
              <a:t>Promise.finally()</a:t>
            </a:r>
            <a:endParaRPr sz="10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000">
                <a:solidFill>
                  <a:schemeClr val="dk1"/>
                </a:solidFill>
              </a:rPr>
              <a:t>queueMicrotask()</a:t>
            </a:r>
            <a:endParaRPr sz="10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000">
                <a:solidFill>
                  <a:schemeClr val="dk1"/>
                </a:solidFill>
              </a:rPr>
              <a:t>MutationObserver</a:t>
            </a:r>
            <a:endParaRPr sz="10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205" name="Google Shape;205;p28"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06" name="Google Shape;206;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07" name="Google Shape;207;p28"/>
          <p:cNvSpPr txBox="1"/>
          <p:nvPr/>
        </p:nvSpPr>
        <p:spPr>
          <a:xfrm>
            <a:off x="373250" y="1149100"/>
            <a:ext cx="5769000" cy="13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50">
                <a:solidFill>
                  <a:schemeClr val="dk1"/>
                </a:solidFill>
              </a:rPr>
              <a:t>How Microtask Queue works:</a:t>
            </a:r>
            <a:endParaRPr b="1" sz="135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After the Call Stack becomes empty, Event Loop checks Microtask Queue.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All microtasks are executed </a:t>
            </a:r>
            <a:r>
              <a:rPr b="1" lang="en" sz="1100">
                <a:solidFill>
                  <a:schemeClr val="dk1"/>
                </a:solidFill>
              </a:rPr>
              <a:t>one by one</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Only after the Microtask Queue is completely empty, the Event Loop moves to the Macrotask Queue.</a:t>
            </a:r>
            <a:endParaRPr sz="1100">
              <a:solidFill>
                <a:schemeClr val="dk1"/>
              </a:solidFill>
            </a:endParaRPr>
          </a:p>
        </p:txBody>
      </p:sp>
      <p:pic>
        <p:nvPicPr>
          <p:cNvPr id="208" name="Google Shape;208;p28"/>
          <p:cNvPicPr preferRelativeResize="0"/>
          <p:nvPr/>
        </p:nvPicPr>
        <p:blipFill>
          <a:blip r:embed="rId4">
            <a:alphaModFix/>
          </a:blip>
          <a:stretch>
            <a:fillRect/>
          </a:stretch>
        </p:blipFill>
        <p:spPr>
          <a:xfrm>
            <a:off x="597000" y="2653825"/>
            <a:ext cx="3541075" cy="1472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9"/>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214" name="Google Shape;214;p29"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15" name="Google Shape;215;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16" name="Google Shape;216;p29"/>
          <p:cNvSpPr txBox="1"/>
          <p:nvPr/>
        </p:nvSpPr>
        <p:spPr>
          <a:xfrm>
            <a:off x="311700" y="1067000"/>
            <a:ext cx="5844000" cy="115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rPr>
              <a:t>Microtask vs Macrotask (Execution Rule)</a:t>
            </a:r>
            <a:endParaRPr b="1" sz="1700">
              <a:solidFill>
                <a:schemeClr val="dk1"/>
              </a:solidFill>
            </a:endParaRPr>
          </a:p>
          <a:p>
            <a:pPr indent="0" lvl="0" marL="0" rtl="0" algn="l">
              <a:lnSpc>
                <a:spcPct val="115000"/>
              </a:lnSpc>
              <a:spcBef>
                <a:spcPts val="1200"/>
              </a:spcBef>
              <a:spcAft>
                <a:spcPts val="0"/>
              </a:spcAft>
              <a:buNone/>
            </a:pPr>
            <a:r>
              <a:rPr lang="en" sz="1100">
                <a:solidFill>
                  <a:schemeClr val="dk1"/>
                </a:solidFill>
              </a:rPr>
              <a:t>📌 </a:t>
            </a:r>
            <a:r>
              <a:rPr b="1" lang="en" sz="1100">
                <a:solidFill>
                  <a:schemeClr val="dk1"/>
                </a:solidFill>
              </a:rPr>
              <a:t>Important Rule of Event Loop:</a:t>
            </a:r>
            <a:endParaRPr b="1" sz="1100">
              <a:solidFill>
                <a:schemeClr val="dk1"/>
              </a:solidFill>
            </a:endParaRPr>
          </a:p>
          <a:p>
            <a:pPr indent="0" lvl="0" marL="381000" marR="381000" rtl="0" algn="l">
              <a:lnSpc>
                <a:spcPct val="115000"/>
              </a:lnSpc>
              <a:spcBef>
                <a:spcPts val="1200"/>
              </a:spcBef>
              <a:spcAft>
                <a:spcPts val="1200"/>
              </a:spcAft>
              <a:buNone/>
            </a:pPr>
            <a:r>
              <a:rPr lang="en" sz="1100">
                <a:solidFill>
                  <a:schemeClr val="dk1"/>
                </a:solidFill>
              </a:rPr>
              <a:t>The Event Loop always executes </a:t>
            </a:r>
            <a:r>
              <a:rPr b="1" lang="en" sz="1100">
                <a:solidFill>
                  <a:schemeClr val="dk1"/>
                </a:solidFill>
              </a:rPr>
              <a:t>all Microtasks first</a:t>
            </a:r>
            <a:r>
              <a:rPr lang="en" sz="1100">
                <a:solidFill>
                  <a:schemeClr val="dk1"/>
                </a:solidFill>
              </a:rPr>
              <a:t>, then </a:t>
            </a:r>
            <a:r>
              <a:rPr b="1" lang="en" sz="1100">
                <a:solidFill>
                  <a:schemeClr val="dk1"/>
                </a:solidFill>
              </a:rPr>
              <a:t>one Macrotask</a:t>
            </a:r>
            <a:r>
              <a:rPr lang="en" sz="1100">
                <a:solidFill>
                  <a:schemeClr val="dk1"/>
                </a:solidFill>
              </a:rPr>
              <a:t>.</a:t>
            </a:r>
            <a:endParaRPr sz="1100">
              <a:solidFill>
                <a:schemeClr val="dk1"/>
              </a:solidFill>
            </a:endParaRPr>
          </a:p>
        </p:txBody>
      </p:sp>
      <p:pic>
        <p:nvPicPr>
          <p:cNvPr id="217" name="Google Shape;217;p29"/>
          <p:cNvPicPr preferRelativeResize="0"/>
          <p:nvPr/>
        </p:nvPicPr>
        <p:blipFill>
          <a:blip r:embed="rId4">
            <a:alphaModFix/>
          </a:blip>
          <a:stretch>
            <a:fillRect/>
          </a:stretch>
        </p:blipFill>
        <p:spPr>
          <a:xfrm>
            <a:off x="658525" y="2505450"/>
            <a:ext cx="2296251" cy="20120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Task Queue</a:t>
            </a:r>
            <a:endParaRPr b="1" sz="2800">
              <a:solidFill>
                <a:srgbClr val="073763"/>
              </a:solidFill>
              <a:latin typeface="Poppins"/>
              <a:ea typeface="Poppins"/>
              <a:cs typeface="Poppins"/>
              <a:sym typeface="Poppins"/>
            </a:endParaRPr>
          </a:p>
        </p:txBody>
      </p:sp>
      <p:pic>
        <p:nvPicPr>
          <p:cNvPr id="223" name="Google Shape;223;p30"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24" name="Google Shape;224;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225" name="Google Shape;225;p30"/>
          <p:cNvPicPr preferRelativeResize="0"/>
          <p:nvPr/>
        </p:nvPicPr>
        <p:blipFill>
          <a:blip r:embed="rId4">
            <a:alphaModFix/>
          </a:blip>
          <a:stretch>
            <a:fillRect/>
          </a:stretch>
        </p:blipFill>
        <p:spPr>
          <a:xfrm>
            <a:off x="658550" y="2167500"/>
            <a:ext cx="1267725" cy="2141550"/>
          </a:xfrm>
          <a:prstGeom prst="rect">
            <a:avLst/>
          </a:prstGeom>
          <a:noFill/>
          <a:ln>
            <a:noFill/>
          </a:ln>
        </p:spPr>
      </p:pic>
      <p:sp>
        <p:nvSpPr>
          <p:cNvPr id="226" name="Google Shape;226;p30"/>
          <p:cNvSpPr txBox="1"/>
          <p:nvPr/>
        </p:nvSpPr>
        <p:spPr>
          <a:xfrm>
            <a:off x="590150" y="1422650"/>
            <a:ext cx="1812600" cy="52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Output :</a:t>
            </a:r>
            <a:endParaRPr b="1">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nvSpPr>
        <p:spPr>
          <a:xfrm>
            <a:off x="311700" y="213250"/>
            <a:ext cx="265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Poppins"/>
                <a:ea typeface="Poppins"/>
                <a:cs typeface="Poppins"/>
                <a:sym typeface="Poppins"/>
              </a:rPr>
              <a:t>|</a:t>
            </a:r>
            <a:r>
              <a:rPr b="1" lang="en" sz="2200">
                <a:solidFill>
                  <a:srgbClr val="1C4587"/>
                </a:solidFill>
                <a:latin typeface="Poppins"/>
                <a:ea typeface="Poppins"/>
                <a:cs typeface="Poppins"/>
                <a:sym typeface="Poppins"/>
              </a:rPr>
              <a:t>  </a:t>
            </a:r>
            <a:endParaRPr b="1" sz="2200">
              <a:solidFill>
                <a:srgbClr val="073763"/>
              </a:solidFill>
              <a:latin typeface="Poppins"/>
              <a:ea typeface="Poppins"/>
              <a:cs typeface="Poppins"/>
              <a:sym typeface="Poppins"/>
            </a:endParaRPr>
          </a:p>
        </p:txBody>
      </p:sp>
      <p:pic>
        <p:nvPicPr>
          <p:cNvPr id="232" name="Google Shape;232;p31"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33" name="Google Shape;233;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34" name="Google Shape;234;p31"/>
          <p:cNvSpPr txBox="1"/>
          <p:nvPr/>
        </p:nvSpPr>
        <p:spPr>
          <a:xfrm>
            <a:off x="576075" y="210300"/>
            <a:ext cx="72237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73763"/>
                </a:solidFill>
                <a:latin typeface="Poppins"/>
                <a:ea typeface="Poppins"/>
                <a:cs typeface="Poppins"/>
                <a:sym typeface="Poppins"/>
              </a:rPr>
              <a:t>Have you ever wondered… when Call Stack is busy, Web APIs are handling timeouts or fetch, Task Queue is filling up, then who’s making sure everything runs so smoothly, one after another, in the right order?</a:t>
            </a:r>
            <a:endParaRPr sz="2000">
              <a:solidFill>
                <a:srgbClr val="073763"/>
              </a:solidFill>
              <a:latin typeface="Poppins"/>
              <a:ea typeface="Poppins"/>
              <a:cs typeface="Poppins"/>
              <a:sym typeface="Poppins"/>
            </a:endParaRPr>
          </a:p>
        </p:txBody>
      </p:sp>
      <p:pic>
        <p:nvPicPr>
          <p:cNvPr id="235" name="Google Shape;235;p31"/>
          <p:cNvPicPr preferRelativeResize="0"/>
          <p:nvPr/>
        </p:nvPicPr>
        <p:blipFill>
          <a:blip r:embed="rId4">
            <a:alphaModFix/>
          </a:blip>
          <a:stretch>
            <a:fillRect/>
          </a:stretch>
        </p:blipFill>
        <p:spPr>
          <a:xfrm>
            <a:off x="3076500" y="1878925"/>
            <a:ext cx="2784300" cy="2784300"/>
          </a:xfrm>
          <a:prstGeom prst="rect">
            <a:avLst/>
          </a:prstGeom>
          <a:noFill/>
          <a:ln>
            <a:noFill/>
          </a:ln>
          <a:effectLst>
            <a:outerShdw blurRad="128588" rotWithShape="0" algn="bl" dir="7500000" dist="95250">
              <a:srgbClr val="000000">
                <a:alpha val="72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nvSpPr>
        <p:spPr>
          <a:xfrm>
            <a:off x="311700" y="213250"/>
            <a:ext cx="265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Poppins"/>
                <a:ea typeface="Poppins"/>
                <a:cs typeface="Poppins"/>
                <a:sym typeface="Poppins"/>
              </a:rPr>
              <a:t>|</a:t>
            </a:r>
            <a:r>
              <a:rPr b="1" lang="en" sz="2200">
                <a:solidFill>
                  <a:srgbClr val="1C4587"/>
                </a:solidFill>
                <a:latin typeface="Poppins"/>
                <a:ea typeface="Poppins"/>
                <a:cs typeface="Poppins"/>
                <a:sym typeface="Poppins"/>
              </a:rPr>
              <a:t>  </a:t>
            </a:r>
            <a:endParaRPr b="1" sz="2200">
              <a:solidFill>
                <a:srgbClr val="073763"/>
              </a:solidFill>
              <a:latin typeface="Poppins"/>
              <a:ea typeface="Poppins"/>
              <a:cs typeface="Poppins"/>
              <a:sym typeface="Poppins"/>
            </a:endParaRPr>
          </a:p>
        </p:txBody>
      </p:sp>
      <p:pic>
        <p:nvPicPr>
          <p:cNvPr id="241" name="Google Shape;241;p32"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42" name="Google Shape;242;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43" name="Google Shape;243;p32"/>
          <p:cNvSpPr txBox="1"/>
          <p:nvPr/>
        </p:nvSpPr>
        <p:spPr>
          <a:xfrm>
            <a:off x="576075" y="210300"/>
            <a:ext cx="72237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73763"/>
                </a:solidFill>
                <a:latin typeface="Poppins"/>
                <a:ea typeface="Poppins"/>
                <a:cs typeface="Poppins"/>
                <a:sym typeface="Poppins"/>
              </a:rPr>
              <a:t>Have you ever wondered… when Call Stack is busy, Web APIs are handling timeouts or fetch, Task Queue is filling up, then who’s making sure everything runs so smoothly, one after another, in the right order?</a:t>
            </a:r>
            <a:endParaRPr sz="2000">
              <a:solidFill>
                <a:srgbClr val="073763"/>
              </a:solidFill>
              <a:latin typeface="Poppins"/>
              <a:ea typeface="Poppins"/>
              <a:cs typeface="Poppins"/>
              <a:sym typeface="Poppins"/>
            </a:endParaRPr>
          </a:p>
        </p:txBody>
      </p:sp>
      <p:sp>
        <p:nvSpPr>
          <p:cNvPr id="244" name="Google Shape;244;p32"/>
          <p:cNvSpPr txBox="1"/>
          <p:nvPr/>
        </p:nvSpPr>
        <p:spPr>
          <a:xfrm>
            <a:off x="311700" y="1750925"/>
            <a:ext cx="6063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73763"/>
                </a:solidFill>
                <a:latin typeface="Poppins"/>
                <a:ea typeface="Poppins"/>
                <a:cs typeface="Poppins"/>
                <a:sym typeface="Poppins"/>
              </a:rPr>
              <a:t>Big thanks to the </a:t>
            </a:r>
            <a:r>
              <a:rPr b="1" lang="en">
                <a:solidFill>
                  <a:srgbClr val="073763"/>
                </a:solidFill>
                <a:latin typeface="Poppins"/>
                <a:ea typeface="Poppins"/>
                <a:cs typeface="Poppins"/>
                <a:sym typeface="Poppins"/>
              </a:rPr>
              <a:t>Event Loop!</a:t>
            </a:r>
            <a:r>
              <a:rPr lang="en">
                <a:solidFill>
                  <a:srgbClr val="073763"/>
                </a:solidFill>
                <a:latin typeface="Poppins"/>
                <a:ea typeface="Poppins"/>
                <a:cs typeface="Poppins"/>
                <a:sym typeface="Poppins"/>
              </a:rPr>
              <a:t> </a:t>
            </a:r>
            <a:endParaRPr>
              <a:solidFill>
                <a:srgbClr val="073763"/>
              </a:solidFill>
              <a:latin typeface="Poppins"/>
              <a:ea typeface="Poppins"/>
              <a:cs typeface="Poppins"/>
              <a:sym typeface="Poppins"/>
            </a:endParaRPr>
          </a:p>
          <a:p>
            <a:pPr indent="0" lvl="0" marL="0" rtl="0" algn="l">
              <a:spcBef>
                <a:spcPts val="0"/>
              </a:spcBef>
              <a:spcAft>
                <a:spcPts val="0"/>
              </a:spcAft>
              <a:buNone/>
            </a:pPr>
            <a:r>
              <a:rPr lang="en">
                <a:solidFill>
                  <a:srgbClr val="073763"/>
                </a:solidFill>
                <a:latin typeface="Poppins"/>
                <a:ea typeface="Poppins"/>
                <a:cs typeface="Poppins"/>
                <a:sym typeface="Poppins"/>
              </a:rPr>
              <a:t>It’s the real manager behind the scenes.</a:t>
            </a:r>
            <a:endParaRPr>
              <a:solidFill>
                <a:srgbClr val="073763"/>
              </a:solidFill>
              <a:latin typeface="Poppins"/>
              <a:ea typeface="Poppins"/>
              <a:cs typeface="Poppins"/>
              <a:sym typeface="Poppins"/>
            </a:endParaRPr>
          </a:p>
          <a:p>
            <a:pPr indent="0" lvl="0" marL="0" rtl="0" algn="l">
              <a:spcBef>
                <a:spcPts val="0"/>
              </a:spcBef>
              <a:spcAft>
                <a:spcPts val="0"/>
              </a:spcAft>
              <a:buNone/>
            </a:pPr>
            <a:r>
              <a:t/>
            </a:r>
            <a:endParaRPr>
              <a:solidFill>
                <a:srgbClr val="073763"/>
              </a:solidFill>
              <a:latin typeface="Poppins"/>
              <a:ea typeface="Poppins"/>
              <a:cs typeface="Poppins"/>
              <a:sym typeface="Poppins"/>
            </a:endParaRPr>
          </a:p>
          <a:p>
            <a:pPr indent="0" lvl="0" marL="0" rtl="0" algn="l">
              <a:spcBef>
                <a:spcPts val="0"/>
              </a:spcBef>
              <a:spcAft>
                <a:spcPts val="0"/>
              </a:spcAft>
              <a:buNone/>
            </a:pPr>
            <a:r>
              <a:rPr lang="en">
                <a:solidFill>
                  <a:srgbClr val="073763"/>
                </a:solidFill>
                <a:latin typeface="Poppins"/>
                <a:ea typeface="Poppins"/>
                <a:cs typeface="Poppins"/>
                <a:sym typeface="Poppins"/>
              </a:rPr>
              <a:t>Event Loop is like a manager or guard who keeps checking if the Call Stack is empty, and if yes, it sends the next task from the Task Queue to the Call Stack</a:t>
            </a:r>
            <a:endParaRPr>
              <a:solidFill>
                <a:srgbClr val="073763"/>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Event Loop</a:t>
            </a:r>
            <a:endParaRPr b="1" sz="2800">
              <a:solidFill>
                <a:srgbClr val="073763"/>
              </a:solidFill>
              <a:latin typeface="Poppins"/>
              <a:ea typeface="Poppins"/>
              <a:cs typeface="Poppins"/>
              <a:sym typeface="Poppins"/>
            </a:endParaRPr>
          </a:p>
        </p:txBody>
      </p:sp>
      <p:pic>
        <p:nvPicPr>
          <p:cNvPr id="250" name="Google Shape;250;p33"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51" name="Google Shape;251;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252" name="Google Shape;252;p33"/>
          <p:cNvPicPr preferRelativeResize="0"/>
          <p:nvPr/>
        </p:nvPicPr>
        <p:blipFill>
          <a:blip r:embed="rId4">
            <a:alphaModFix/>
          </a:blip>
          <a:stretch>
            <a:fillRect/>
          </a:stretch>
        </p:blipFill>
        <p:spPr>
          <a:xfrm>
            <a:off x="1131637" y="1011580"/>
            <a:ext cx="6880724" cy="396104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800">
                <a:solidFill>
                  <a:srgbClr val="073763"/>
                </a:solidFill>
                <a:latin typeface="Poppins"/>
                <a:ea typeface="Poppins"/>
                <a:cs typeface="Poppins"/>
                <a:sym typeface="Poppins"/>
              </a:rPr>
              <a:t>Event Loop</a:t>
            </a:r>
            <a:endParaRPr b="1" sz="2800">
              <a:solidFill>
                <a:srgbClr val="073763"/>
              </a:solidFill>
              <a:latin typeface="Poppins"/>
              <a:ea typeface="Poppins"/>
              <a:cs typeface="Poppins"/>
              <a:sym typeface="Poppins"/>
            </a:endParaRPr>
          </a:p>
        </p:txBody>
      </p:sp>
      <p:pic>
        <p:nvPicPr>
          <p:cNvPr id="258" name="Google Shape;258;p34"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59" name="Google Shape;259;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260" name="Google Shape;260;p34"/>
          <p:cNvPicPr preferRelativeResize="0"/>
          <p:nvPr/>
        </p:nvPicPr>
        <p:blipFill>
          <a:blip r:embed="rId4">
            <a:alphaModFix/>
          </a:blip>
          <a:stretch>
            <a:fillRect/>
          </a:stretch>
        </p:blipFill>
        <p:spPr>
          <a:xfrm>
            <a:off x="938975" y="1370150"/>
            <a:ext cx="6577900" cy="32930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5"/>
          <p:cNvSpPr txBox="1"/>
          <p:nvPr/>
        </p:nvSpPr>
        <p:spPr>
          <a:xfrm>
            <a:off x="310900" y="210300"/>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Check Your Understanding</a:t>
            </a:r>
            <a:endParaRPr b="1" sz="2800">
              <a:solidFill>
                <a:srgbClr val="073763"/>
              </a:solidFill>
              <a:latin typeface="Poppins"/>
              <a:ea typeface="Poppins"/>
              <a:cs typeface="Poppins"/>
              <a:sym typeface="Poppins"/>
            </a:endParaRPr>
          </a:p>
        </p:txBody>
      </p:sp>
      <p:pic>
        <p:nvPicPr>
          <p:cNvPr id="266" name="Google Shape;266;p35"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67" name="Google Shape;267;p35"/>
          <p:cNvSpPr txBox="1"/>
          <p:nvPr/>
        </p:nvSpPr>
        <p:spPr>
          <a:xfrm>
            <a:off x="310900" y="1228825"/>
            <a:ext cx="8161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Question :  </a:t>
            </a:r>
            <a:r>
              <a:rPr b="1" lang="en" sz="1100">
                <a:solidFill>
                  <a:srgbClr val="000000"/>
                </a:solidFill>
              </a:rPr>
              <a:t>  </a:t>
            </a:r>
            <a:r>
              <a:rPr b="1" lang="en" sz="1300">
                <a:solidFill>
                  <a:srgbClr val="000000"/>
                </a:solidFill>
              </a:rPr>
              <a:t>  </a:t>
            </a:r>
            <a:r>
              <a:rPr b="1" lang="en" sz="1300">
                <a:solidFill>
                  <a:schemeClr val="dk1"/>
                </a:solidFill>
              </a:rPr>
              <a:t> In the Event Loop, do Promise callbacks (.then, .catch) generally have priority over   </a:t>
            </a:r>
            <a:endParaRPr b="1" sz="1300">
              <a:solidFill>
                <a:schemeClr val="dk1"/>
              </a:solidFill>
            </a:endParaRPr>
          </a:p>
          <a:p>
            <a:pPr indent="0" lvl="0" marL="0" rtl="0" algn="l">
              <a:spcBef>
                <a:spcPts val="0"/>
              </a:spcBef>
              <a:spcAft>
                <a:spcPts val="0"/>
              </a:spcAft>
              <a:buNone/>
            </a:pPr>
            <a:r>
              <a:rPr b="1" lang="en" sz="1300">
                <a:solidFill>
                  <a:schemeClr val="dk1"/>
                </a:solidFill>
              </a:rPr>
              <a:t>                        setTimeout callbacks?</a:t>
            </a:r>
            <a:r>
              <a:rPr lang="en" sz="1300">
                <a:solidFill>
                  <a:schemeClr val="dk1"/>
                </a:solidFill>
              </a:rPr>
              <a:t> </a:t>
            </a:r>
            <a:r>
              <a:rPr lang="en">
                <a:solidFill>
                  <a:srgbClr val="273239"/>
                </a:solidFill>
                <a:latin typeface="Poppins"/>
                <a:ea typeface="Poppins"/>
                <a:cs typeface="Poppins"/>
                <a:sym typeface="Poppins"/>
              </a:rPr>
              <a:t>  </a:t>
            </a:r>
            <a:r>
              <a:rPr lang="en" sz="1300">
                <a:solidFill>
                  <a:srgbClr val="273239"/>
                </a:solidFill>
                <a:latin typeface="Poppins"/>
                <a:ea typeface="Poppins"/>
                <a:cs typeface="Poppins"/>
                <a:sym typeface="Poppins"/>
              </a:rPr>
              <a:t> </a:t>
            </a:r>
            <a:endParaRPr b="1" sz="1300">
              <a:solidFill>
                <a:srgbClr val="273239"/>
              </a:solidFill>
              <a:latin typeface="Poppins"/>
              <a:ea typeface="Poppins"/>
              <a:cs typeface="Poppins"/>
              <a:sym typeface="Poppins"/>
            </a:endParaRPr>
          </a:p>
        </p:txBody>
      </p:sp>
      <p:sp>
        <p:nvSpPr>
          <p:cNvPr id="268" name="Google Shape;268;p35"/>
          <p:cNvSpPr txBox="1"/>
          <p:nvPr/>
        </p:nvSpPr>
        <p:spPr>
          <a:xfrm>
            <a:off x="310900" y="1748350"/>
            <a:ext cx="8084700" cy="18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100"/>
              <a:buFont typeface="Arial"/>
              <a:buNone/>
            </a:pPr>
            <a:r>
              <a:rPr b="1" lang="en">
                <a:solidFill>
                  <a:srgbClr val="273239"/>
                </a:solidFill>
                <a:latin typeface="Poppins"/>
                <a:ea typeface="Poppins"/>
                <a:cs typeface="Poppins"/>
                <a:sym typeface="Poppins"/>
              </a:rPr>
              <a:t>Options    :</a:t>
            </a:r>
            <a:r>
              <a:rPr lang="en" sz="1100">
                <a:solidFill>
                  <a:srgbClr val="000000"/>
                </a:solidFill>
              </a:rPr>
              <a:t> </a:t>
            </a:r>
            <a:r>
              <a:rPr lang="en" sz="1100">
                <a:solidFill>
                  <a:srgbClr val="000000"/>
                </a:solidFill>
                <a:latin typeface="Poppins"/>
                <a:ea typeface="Poppins"/>
                <a:cs typeface="Poppins"/>
                <a:sym typeface="Poppins"/>
              </a:rPr>
              <a:t> </a:t>
            </a:r>
            <a:r>
              <a:rPr lang="en" sz="1100">
                <a:solidFill>
                  <a:schemeClr val="dk1"/>
                </a:solidFill>
              </a:rPr>
              <a:t>a) No, </a:t>
            </a:r>
            <a:r>
              <a:rPr b="1" lang="en" sz="1100">
                <a:solidFill>
                  <a:schemeClr val="dk1"/>
                </a:solidFill>
              </a:rPr>
              <a:t>setTimeout</a:t>
            </a:r>
            <a:r>
              <a:rPr lang="en" sz="1100">
                <a:solidFill>
                  <a:schemeClr val="dk1"/>
                </a:solidFill>
              </a:rPr>
              <a:t> always runs first.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b) Yes, because they are placed in the Microtask Queue, which is processed before the Macrotask Queue.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c) No, their priority is random.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d) Yes, because Promises are a newer feature.</a:t>
            </a:r>
            <a:endParaRPr sz="1100">
              <a:solidFill>
                <a:schemeClr val="dk1"/>
              </a:solidFill>
            </a:endParaRPr>
          </a:p>
          <a:p>
            <a:pPr indent="0" lvl="0" marL="0" rtl="0" algn="l">
              <a:lnSpc>
                <a:spcPct val="115000"/>
              </a:lnSpc>
              <a:spcBef>
                <a:spcPts val="1200"/>
              </a:spcBef>
              <a:spcAft>
                <a:spcPts val="1200"/>
              </a:spcAft>
              <a:buClr>
                <a:srgbClr val="000000"/>
              </a:buClr>
              <a:buSzPts val="1100"/>
              <a:buFont typeface="Arial"/>
              <a:buNone/>
            </a:pPr>
            <a:r>
              <a:t/>
            </a:r>
            <a:endParaRPr sz="1100">
              <a:latin typeface="Poppins"/>
              <a:ea typeface="Poppins"/>
              <a:cs typeface="Poppins"/>
              <a:sym typeface="Poppins"/>
            </a:endParaRPr>
          </a:p>
        </p:txBody>
      </p:sp>
      <p:pic>
        <p:nvPicPr>
          <p:cNvPr id="269" name="Google Shape;269;p35"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70" name="Google Shape;270;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71" name="Google Shape;271;p35"/>
          <p:cNvSpPr txBox="1"/>
          <p:nvPr/>
        </p:nvSpPr>
        <p:spPr>
          <a:xfrm>
            <a:off x="310950" y="3313725"/>
            <a:ext cx="6260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Answer :</a:t>
            </a:r>
            <a:r>
              <a:rPr lang="en" sz="1800">
                <a:solidFill>
                  <a:srgbClr val="595959"/>
                </a:solidFill>
              </a:rPr>
              <a:t>  </a:t>
            </a:r>
            <a:r>
              <a:rPr lang="en" sz="1100">
                <a:solidFill>
                  <a:srgbClr val="000000"/>
                </a:solidFill>
                <a:latin typeface="Poppins"/>
                <a:ea typeface="Poppins"/>
                <a:cs typeface="Poppins"/>
                <a:sym typeface="Poppins"/>
              </a:rPr>
              <a:t>  </a:t>
            </a:r>
            <a:r>
              <a:rPr lang="en" sz="1100">
                <a:solidFill>
                  <a:schemeClr val="dk1"/>
                </a:solidFill>
              </a:rPr>
              <a:t>b) Yes, because they are placed in the Microtask Queue, which is processed   </a:t>
            </a:r>
            <a:endParaRPr sz="1100">
              <a:solidFill>
                <a:schemeClr val="dk1"/>
              </a:solidFill>
            </a:endParaRPr>
          </a:p>
          <a:p>
            <a:pPr indent="0" lvl="0" marL="0" rtl="0" algn="l">
              <a:spcBef>
                <a:spcPts val="0"/>
              </a:spcBef>
              <a:spcAft>
                <a:spcPts val="0"/>
              </a:spcAft>
              <a:buNone/>
            </a:pPr>
            <a:r>
              <a:rPr lang="en" sz="1100">
                <a:solidFill>
                  <a:schemeClr val="dk1"/>
                </a:solidFill>
              </a:rPr>
              <a:t>                        before the Macrotask Queue. </a:t>
            </a:r>
            <a:endParaRPr sz="1100">
              <a:latin typeface="Poppins"/>
              <a:ea typeface="Poppins"/>
              <a:cs typeface="Poppins"/>
              <a:sym typeface="Poppins"/>
            </a:endParaRPr>
          </a:p>
        </p:txBody>
      </p:sp>
      <p:grpSp>
        <p:nvGrpSpPr>
          <p:cNvPr id="272" name="Google Shape;272;p35"/>
          <p:cNvGrpSpPr/>
          <p:nvPr/>
        </p:nvGrpSpPr>
        <p:grpSpPr>
          <a:xfrm>
            <a:off x="310900" y="3959263"/>
            <a:ext cx="6005825" cy="1286713"/>
            <a:chOff x="310900" y="3959263"/>
            <a:chExt cx="6005825" cy="1286713"/>
          </a:xfrm>
        </p:grpSpPr>
        <p:sp>
          <p:nvSpPr>
            <p:cNvPr id="273" name="Google Shape;273;p35"/>
            <p:cNvSpPr txBox="1"/>
            <p:nvPr/>
          </p:nvSpPr>
          <p:spPr>
            <a:xfrm>
              <a:off x="310900" y="3959263"/>
              <a:ext cx="1335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rgbClr val="000000"/>
                </a:buClr>
                <a:buSzPts val="1100"/>
                <a:buFont typeface="Arial"/>
                <a:buNone/>
              </a:pPr>
              <a:r>
                <a:rPr b="1" lang="en">
                  <a:solidFill>
                    <a:srgbClr val="273239"/>
                  </a:solidFill>
                  <a:latin typeface="Poppins"/>
                  <a:ea typeface="Poppins"/>
                  <a:cs typeface="Poppins"/>
                  <a:sym typeface="Poppins"/>
                </a:rPr>
                <a:t>Explanation:</a:t>
              </a:r>
              <a:endParaRPr sz="1800">
                <a:solidFill>
                  <a:srgbClr val="595959"/>
                </a:solidFill>
              </a:endParaRPr>
            </a:p>
          </p:txBody>
        </p:sp>
        <p:sp>
          <p:nvSpPr>
            <p:cNvPr id="274" name="Google Shape;274;p35"/>
            <p:cNvSpPr txBox="1"/>
            <p:nvPr/>
          </p:nvSpPr>
          <p:spPr>
            <a:xfrm>
              <a:off x="1607925" y="3959275"/>
              <a:ext cx="4708800" cy="128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The Event Loop prioritizes tasks from the Microtask Queue (where promise callbacks go) over the Macrotask/Callback Queue (where </a:t>
              </a:r>
              <a:r>
                <a:rPr b="1" lang="en" sz="1100">
                  <a:solidFill>
                    <a:schemeClr val="dk1"/>
                  </a:solidFill>
                </a:rPr>
                <a:t>setTimeout</a:t>
              </a:r>
              <a:r>
                <a:rPr lang="en" sz="1100">
                  <a:solidFill>
                    <a:schemeClr val="dk1"/>
                  </a:solidFill>
                </a:rPr>
                <a:t> callbacks go). The entire Microtask Queue is emptied before the next Macrotask is processed.</a:t>
              </a:r>
              <a:endParaRPr sz="1100">
                <a:solidFill>
                  <a:schemeClr val="dk1"/>
                </a:solidFill>
              </a:endParaRPr>
            </a:p>
            <a:p>
              <a:pPr indent="0" lvl="0" marL="0" rtl="0" algn="l">
                <a:lnSpc>
                  <a:spcPct val="115000"/>
                </a:lnSpc>
                <a:spcBef>
                  <a:spcPts val="1200"/>
                </a:spcBef>
                <a:spcAft>
                  <a:spcPts val="1200"/>
                </a:spcAft>
                <a:buNone/>
              </a:pPr>
              <a:r>
                <a:t/>
              </a:r>
              <a:endParaRPr sz="1100">
                <a:latin typeface="Poppins"/>
                <a:ea typeface="Poppins"/>
                <a:cs typeface="Poppins"/>
                <a:sym typeface="Poppi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nvSpPr>
        <p:spPr>
          <a:xfrm>
            <a:off x="310896" y="210312"/>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References</a:t>
            </a:r>
            <a:endParaRPr b="1" sz="2800">
              <a:solidFill>
                <a:srgbClr val="073763"/>
              </a:solidFill>
              <a:latin typeface="Poppins"/>
              <a:ea typeface="Poppins"/>
              <a:cs typeface="Poppins"/>
              <a:sym typeface="Poppins"/>
            </a:endParaRPr>
          </a:p>
        </p:txBody>
      </p:sp>
      <p:pic>
        <p:nvPicPr>
          <p:cNvPr id="280" name="Google Shape;280;p36"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81" name="Google Shape;281;p36"/>
          <p:cNvSpPr txBox="1"/>
          <p:nvPr/>
        </p:nvSpPr>
        <p:spPr>
          <a:xfrm>
            <a:off x="358850" y="1181200"/>
            <a:ext cx="8520600" cy="3438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b="1" lang="en" sz="1100">
                <a:solidFill>
                  <a:srgbClr val="000000"/>
                </a:solidFill>
                <a:latin typeface="Poppins"/>
                <a:ea typeface="Poppins"/>
                <a:cs typeface="Poppins"/>
                <a:sym typeface="Poppins"/>
              </a:rPr>
              <a:t>MDN Web Docs</a:t>
            </a:r>
            <a:r>
              <a:rPr b="1" lang="en" sz="1100">
                <a:solidFill>
                  <a:srgbClr val="000000"/>
                </a:solidFill>
              </a:rPr>
              <a:t> : </a:t>
            </a:r>
            <a:r>
              <a:rPr i="1" lang="en" sz="1100">
                <a:solidFill>
                  <a:srgbClr val="000000"/>
                </a:solidFill>
                <a:latin typeface="Poppins"/>
                <a:ea typeface="Poppins"/>
                <a:cs typeface="Poppins"/>
                <a:sym typeface="Poppins"/>
              </a:rPr>
              <a:t>Comprehensive and official documentation for JS.</a:t>
            </a:r>
            <a:br>
              <a:rPr i="1" lang="en" sz="1100">
                <a:solidFill>
                  <a:srgbClr val="000000"/>
                </a:solidFill>
              </a:rPr>
            </a:br>
            <a:r>
              <a:rPr lang="en" sz="1100">
                <a:solidFill>
                  <a:srgbClr val="000000"/>
                </a:solidFill>
              </a:rPr>
              <a:t> 🔗</a:t>
            </a:r>
            <a:r>
              <a:rPr lang="en" sz="1100" u="sng">
                <a:solidFill>
                  <a:srgbClr val="0097A7"/>
                </a:solidFill>
                <a:hlinkClick r:id="rId4">
                  <a:extLst>
                    <a:ext uri="{A12FA001-AC4F-418D-AE19-62706E023703}">
                      <ahyp:hlinkClr val="tx"/>
                    </a:ext>
                  </a:extLst>
                </a:hlinkClick>
              </a:rPr>
              <a:t>https://developer.mozilla.org/en-US/docs/Web/JavaScript</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298450" lvl="0" marL="457200" rtl="0" algn="l">
              <a:lnSpc>
                <a:spcPct val="115000"/>
              </a:lnSpc>
              <a:spcBef>
                <a:spcPts val="0"/>
              </a:spcBef>
              <a:spcAft>
                <a:spcPts val="0"/>
              </a:spcAft>
              <a:buClr>
                <a:srgbClr val="000000"/>
              </a:buClr>
              <a:buSzPts val="1100"/>
              <a:buChar char="●"/>
            </a:pPr>
            <a:r>
              <a:rPr b="1" lang="en" sz="1100">
                <a:solidFill>
                  <a:srgbClr val="000000"/>
                </a:solidFill>
                <a:latin typeface="Poppins"/>
                <a:ea typeface="Poppins"/>
                <a:cs typeface="Poppins"/>
                <a:sym typeface="Poppins"/>
              </a:rPr>
              <a:t>W3Schools – JS Tutorial : </a:t>
            </a:r>
            <a:r>
              <a:rPr i="1" lang="en" sz="1100">
                <a:solidFill>
                  <a:srgbClr val="000000"/>
                </a:solidFill>
                <a:latin typeface="Poppins"/>
                <a:ea typeface="Poppins"/>
                <a:cs typeface="Poppins"/>
                <a:sym typeface="Poppins"/>
              </a:rPr>
              <a:t>Beginner-friendly JS tutorials with examples and interactive editors.</a:t>
            </a:r>
            <a:br>
              <a:rPr i="1" lang="en" sz="1100">
                <a:solidFill>
                  <a:srgbClr val="000000"/>
                </a:solidFill>
                <a:latin typeface="Poppins"/>
                <a:ea typeface="Poppins"/>
                <a:cs typeface="Poppins"/>
                <a:sym typeface="Poppins"/>
              </a:rPr>
            </a:br>
            <a:r>
              <a:rPr lang="en" sz="1100">
                <a:solidFill>
                  <a:srgbClr val="000000"/>
                </a:solidFill>
              </a:rPr>
              <a:t> 🔗</a:t>
            </a:r>
            <a:r>
              <a:rPr lang="en" sz="1100" u="sng">
                <a:solidFill>
                  <a:srgbClr val="0097A7"/>
                </a:solidFill>
                <a:hlinkClick r:id="rId5">
                  <a:extLst>
                    <a:ext uri="{A12FA001-AC4F-418D-AE19-62706E023703}">
                      <ahyp:hlinkClr val="tx"/>
                    </a:ext>
                  </a:extLst>
                </a:hlinkClick>
              </a:rPr>
              <a:t> https://www.w3schools.com/js/</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 sz="1100">
                <a:solidFill>
                  <a:srgbClr val="000000"/>
                </a:solidFill>
                <a:latin typeface="Poppins"/>
                <a:ea typeface="Poppins"/>
                <a:cs typeface="Poppins"/>
                <a:sym typeface="Poppins"/>
              </a:rPr>
              <a:t>JavaScript.info -</a:t>
            </a:r>
            <a:r>
              <a:rPr b="1" i="1" lang="en" sz="1100">
                <a:solidFill>
                  <a:srgbClr val="000000"/>
                </a:solidFill>
                <a:latin typeface="Poppins"/>
                <a:ea typeface="Poppins"/>
                <a:cs typeface="Poppins"/>
                <a:sym typeface="Poppins"/>
              </a:rPr>
              <a:t> </a:t>
            </a:r>
            <a:r>
              <a:rPr i="1" lang="en" sz="1100">
                <a:solidFill>
                  <a:srgbClr val="000000"/>
                </a:solidFill>
                <a:latin typeface="Poppins"/>
                <a:ea typeface="Poppins"/>
                <a:cs typeface="Poppins"/>
                <a:sym typeface="Poppins"/>
              </a:rPr>
              <a:t>A </a:t>
            </a:r>
            <a:r>
              <a:rPr b="1" i="1" lang="en" sz="1100">
                <a:solidFill>
                  <a:srgbClr val="000000"/>
                </a:solidFill>
                <a:latin typeface="Poppins"/>
                <a:ea typeface="Poppins"/>
                <a:cs typeface="Poppins"/>
                <a:sym typeface="Poppins"/>
              </a:rPr>
              <a:t>comprehensive tutorial-style website</a:t>
            </a:r>
            <a:r>
              <a:rPr i="1" lang="en" sz="1100">
                <a:solidFill>
                  <a:srgbClr val="000000"/>
                </a:solidFill>
                <a:latin typeface="Poppins"/>
                <a:ea typeface="Poppins"/>
                <a:cs typeface="Poppins"/>
                <a:sym typeface="Poppins"/>
              </a:rPr>
              <a:t> that covers core JavaScript concepts in depth.</a:t>
            </a:r>
            <a:endParaRPr i="1" sz="1100">
              <a:solidFill>
                <a:srgbClr val="000000"/>
              </a:solidFill>
              <a:latin typeface="Poppins"/>
              <a:ea typeface="Poppins"/>
              <a:cs typeface="Poppins"/>
              <a:sym typeface="Poppins"/>
            </a:endParaRPr>
          </a:p>
          <a:p>
            <a:pPr indent="0" lvl="0" marL="457200" rtl="0" algn="l">
              <a:lnSpc>
                <a:spcPct val="115000"/>
              </a:lnSpc>
              <a:spcBef>
                <a:spcPts val="0"/>
              </a:spcBef>
              <a:spcAft>
                <a:spcPts val="0"/>
              </a:spcAft>
              <a:buNone/>
            </a:pPr>
            <a:r>
              <a:rPr lang="en" sz="1100">
                <a:solidFill>
                  <a:srgbClr val="000000"/>
                </a:solidFill>
              </a:rPr>
              <a:t>🔗</a:t>
            </a:r>
            <a:r>
              <a:rPr lang="en" sz="1100" u="sng">
                <a:solidFill>
                  <a:srgbClr val="0097A7"/>
                </a:solidFill>
                <a:hlinkClick r:id="rId6">
                  <a:extLst>
                    <a:ext uri="{A12FA001-AC4F-418D-AE19-62706E023703}">
                      <ahyp:hlinkClr val="tx"/>
                    </a:ext>
                  </a:extLst>
                </a:hlinkClick>
              </a:rPr>
              <a:t>https://javascript.info/</a:t>
            </a:r>
            <a:endParaRPr i="1" sz="1100">
              <a:solidFill>
                <a:srgbClr val="000000"/>
              </a:solidFill>
              <a:latin typeface="Poppins"/>
              <a:ea typeface="Poppins"/>
              <a:cs typeface="Poppins"/>
              <a:sym typeface="Poppins"/>
            </a:endParaRPr>
          </a:p>
        </p:txBody>
      </p:sp>
      <p:sp>
        <p:nvSpPr>
          <p:cNvPr id="282" name="Google Shape;282;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37" title="subtle-prism (2).png"/>
          <p:cNvPicPr preferRelativeResize="0"/>
          <p:nvPr/>
        </p:nvPicPr>
        <p:blipFill>
          <a:blip r:embed="rId3">
            <a:alphaModFix/>
          </a:blip>
          <a:stretch>
            <a:fillRect/>
          </a:stretch>
        </p:blipFill>
        <p:spPr>
          <a:xfrm rot="5400050">
            <a:off x="-395563" y="395600"/>
            <a:ext cx="5157175" cy="4365975"/>
          </a:xfrm>
          <a:prstGeom prst="flowChartManualInput">
            <a:avLst/>
          </a:prstGeom>
          <a:noFill/>
          <a:ln>
            <a:noFill/>
          </a:ln>
        </p:spPr>
      </p:pic>
      <p:pic>
        <p:nvPicPr>
          <p:cNvPr id="288" name="Google Shape;288;p37" title="KRMU_Full_heading_Logo-removebg-preview.png"/>
          <p:cNvPicPr preferRelativeResize="0"/>
          <p:nvPr/>
        </p:nvPicPr>
        <p:blipFill>
          <a:blip r:embed="rId4">
            <a:alphaModFix/>
          </a:blip>
          <a:stretch>
            <a:fillRect/>
          </a:stretch>
        </p:blipFill>
        <p:spPr>
          <a:xfrm>
            <a:off x="3806125" y="452500"/>
            <a:ext cx="5337876" cy="1363050"/>
          </a:xfrm>
          <a:prstGeom prst="rect">
            <a:avLst/>
          </a:prstGeom>
          <a:noFill/>
          <a:ln>
            <a:noFill/>
          </a:ln>
        </p:spPr>
      </p:pic>
      <p:sp>
        <p:nvSpPr>
          <p:cNvPr id="289" name="Google Shape;289;p37"/>
          <p:cNvSpPr txBox="1"/>
          <p:nvPr/>
        </p:nvSpPr>
        <p:spPr>
          <a:xfrm>
            <a:off x="4407400" y="2020825"/>
            <a:ext cx="46362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173034"/>
                </a:solidFill>
              </a:rPr>
              <a:t>Course - Web Development - II</a:t>
            </a:r>
            <a:endParaRPr b="1" sz="2400">
              <a:solidFill>
                <a:srgbClr val="173034"/>
              </a:solidFill>
            </a:endParaRPr>
          </a:p>
        </p:txBody>
      </p:sp>
      <p:grpSp>
        <p:nvGrpSpPr>
          <p:cNvPr id="290" name="Google Shape;290;p37"/>
          <p:cNvGrpSpPr/>
          <p:nvPr/>
        </p:nvGrpSpPr>
        <p:grpSpPr>
          <a:xfrm>
            <a:off x="4572000" y="4881413"/>
            <a:ext cx="1607600" cy="292500"/>
            <a:chOff x="5060775" y="4881413"/>
            <a:chExt cx="1607600" cy="292500"/>
          </a:xfrm>
        </p:grpSpPr>
        <p:sp>
          <p:nvSpPr>
            <p:cNvPr id="291" name="Google Shape;291;p37"/>
            <p:cNvSpPr txBox="1"/>
            <p:nvPr/>
          </p:nvSpPr>
          <p:spPr>
            <a:xfrm>
              <a:off x="5165675" y="4881413"/>
              <a:ext cx="1502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000000"/>
                  </a:solidFill>
                </a:rPr>
                <a:t>welcome@krmangalam.edu.in</a:t>
              </a:r>
              <a:endParaRPr sz="900">
                <a:solidFill>
                  <a:srgbClr val="000000"/>
                </a:solidFill>
              </a:endParaRPr>
            </a:p>
          </p:txBody>
        </p:sp>
        <p:pic>
          <p:nvPicPr>
            <p:cNvPr id="292" name="Google Shape;292;p37" title="email.png"/>
            <p:cNvPicPr preferRelativeResize="0"/>
            <p:nvPr/>
          </p:nvPicPr>
          <p:blipFill>
            <a:blip r:embed="rId5">
              <a:alphaModFix/>
            </a:blip>
            <a:stretch>
              <a:fillRect/>
            </a:stretch>
          </p:blipFill>
          <p:spPr>
            <a:xfrm>
              <a:off x="5060775" y="4966738"/>
              <a:ext cx="137160" cy="137160"/>
            </a:xfrm>
            <a:prstGeom prst="rect">
              <a:avLst/>
            </a:prstGeom>
            <a:noFill/>
            <a:ln>
              <a:noFill/>
            </a:ln>
          </p:spPr>
        </p:pic>
      </p:grpSp>
      <p:sp>
        <p:nvSpPr>
          <p:cNvPr id="293" name="Google Shape;293;p37"/>
          <p:cNvSpPr txBox="1"/>
          <p:nvPr/>
        </p:nvSpPr>
        <p:spPr>
          <a:xfrm>
            <a:off x="7326500" y="4881425"/>
            <a:ext cx="234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212121"/>
                </a:solidFill>
              </a:rPr>
              <a:t>Sohna Road,Gurugram,Haryana 122103</a:t>
            </a:r>
            <a:endParaRPr sz="700">
              <a:solidFill>
                <a:srgbClr val="212121"/>
              </a:solidFill>
            </a:endParaRPr>
          </a:p>
        </p:txBody>
      </p:sp>
      <p:pic>
        <p:nvPicPr>
          <p:cNvPr id="294" name="Google Shape;294;p37" title="location.png"/>
          <p:cNvPicPr preferRelativeResize="0"/>
          <p:nvPr/>
        </p:nvPicPr>
        <p:blipFill>
          <a:blip r:embed="rId6">
            <a:alphaModFix/>
          </a:blip>
          <a:stretch>
            <a:fillRect/>
          </a:stretch>
        </p:blipFill>
        <p:spPr>
          <a:xfrm>
            <a:off x="7229300" y="4959088"/>
            <a:ext cx="137160" cy="137160"/>
          </a:xfrm>
          <a:prstGeom prst="rect">
            <a:avLst/>
          </a:prstGeom>
          <a:noFill/>
          <a:ln>
            <a:noFill/>
          </a:ln>
        </p:spPr>
      </p:pic>
      <p:pic>
        <p:nvPicPr>
          <p:cNvPr id="295" name="Google Shape;295;p37" title="Wavy_Trv-02_Single-09.jpg"/>
          <p:cNvPicPr preferRelativeResize="0"/>
          <p:nvPr/>
        </p:nvPicPr>
        <p:blipFill>
          <a:blip r:embed="rId7">
            <a:alphaModFix/>
          </a:blip>
          <a:stretch>
            <a:fillRect/>
          </a:stretch>
        </p:blipFill>
        <p:spPr>
          <a:xfrm>
            <a:off x="5450000" y="2536688"/>
            <a:ext cx="2463299" cy="2227850"/>
          </a:xfrm>
          <a:prstGeom prst="rect">
            <a:avLst/>
          </a:prstGeom>
          <a:noFill/>
          <a:ln>
            <a:noFill/>
          </a:ln>
        </p:spPr>
      </p:pic>
      <p:sp>
        <p:nvSpPr>
          <p:cNvPr id="296" name="Google Shape;296;p37"/>
          <p:cNvSpPr txBox="1"/>
          <p:nvPr/>
        </p:nvSpPr>
        <p:spPr>
          <a:xfrm>
            <a:off x="8494883" y="464826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97" name="Google Shape;297;p37"/>
          <p:cNvSpPr txBox="1"/>
          <p:nvPr/>
        </p:nvSpPr>
        <p:spPr>
          <a:xfrm>
            <a:off x="1033275" y="1691650"/>
            <a:ext cx="23130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rgbClr val="FFFFFF"/>
                </a:solidFill>
                <a:latin typeface="Poppins"/>
                <a:ea typeface="Poppins"/>
                <a:cs typeface="Poppins"/>
                <a:sym typeface="Poppins"/>
              </a:rPr>
              <a:t>Thanks</a:t>
            </a:r>
            <a:endParaRPr sz="3400">
              <a:solidFill>
                <a:srgbClr val="FFFFFF"/>
              </a:solidFill>
              <a:latin typeface="Poppins"/>
              <a:ea typeface="Poppins"/>
              <a:cs typeface="Poppins"/>
              <a:sym typeface="Poppins"/>
            </a:endParaRPr>
          </a:p>
          <a:p>
            <a:pPr indent="0" lvl="0" marL="0" rtl="0" algn="l">
              <a:spcBef>
                <a:spcPts val="0"/>
              </a:spcBef>
              <a:spcAft>
                <a:spcPts val="0"/>
              </a:spcAft>
              <a:buNone/>
            </a:pPr>
            <a:r>
              <a:rPr lang="en" sz="3400">
                <a:solidFill>
                  <a:srgbClr val="FFFFFF"/>
                </a:solidFill>
                <a:latin typeface="Poppins"/>
                <a:ea typeface="Poppins"/>
                <a:cs typeface="Poppins"/>
                <a:sym typeface="Poppins"/>
              </a:rPr>
              <a:t>For</a:t>
            </a:r>
            <a:endParaRPr sz="3400">
              <a:solidFill>
                <a:srgbClr val="FFFFFF"/>
              </a:solidFill>
              <a:latin typeface="Poppins"/>
              <a:ea typeface="Poppins"/>
              <a:cs typeface="Poppins"/>
              <a:sym typeface="Poppins"/>
            </a:endParaRPr>
          </a:p>
          <a:p>
            <a:pPr indent="0" lvl="0" marL="0" rtl="0" algn="l">
              <a:spcBef>
                <a:spcPts val="0"/>
              </a:spcBef>
              <a:spcAft>
                <a:spcPts val="0"/>
              </a:spcAft>
              <a:buNone/>
            </a:pPr>
            <a:r>
              <a:rPr lang="en" sz="3400">
                <a:solidFill>
                  <a:srgbClr val="FFFFFF"/>
                </a:solidFill>
                <a:latin typeface="Poppins"/>
                <a:ea typeface="Poppins"/>
                <a:cs typeface="Poppins"/>
                <a:sym typeface="Poppins"/>
              </a:rPr>
              <a:t>Watching</a:t>
            </a:r>
            <a:endParaRPr sz="340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