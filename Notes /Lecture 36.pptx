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1"/>
  </p:notesMasterIdLst>
  <p:sldIdLst>
    <p:sldId id="256" r:id="rId2"/>
    <p:sldId id="257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283" r:id="rId19"/>
    <p:sldId id="284" r:id="rId20"/>
    <p:sldId id="285" r:id="rId21"/>
    <p:sldId id="286" r:id="rId22"/>
    <p:sldId id="287" r:id="rId23"/>
    <p:sldId id="288" r:id="rId24"/>
    <p:sldId id="289" r:id="rId25"/>
    <p:sldId id="290" r:id="rId26"/>
    <p:sldId id="291" r:id="rId27"/>
    <p:sldId id="292" r:id="rId28"/>
    <p:sldId id="293" r:id="rId29"/>
    <p:sldId id="294" r:id="rId30"/>
    <p:sldId id="295" r:id="rId31"/>
    <p:sldId id="296" r:id="rId32"/>
    <p:sldId id="297" r:id="rId33"/>
    <p:sldId id="298" r:id="rId34"/>
    <p:sldId id="299" r:id="rId35"/>
    <p:sldId id="300" r:id="rId36"/>
    <p:sldId id="301" r:id="rId37"/>
    <p:sldId id="302" r:id="rId38"/>
    <p:sldId id="303" r:id="rId39"/>
    <p:sldId id="304" r:id="rId40"/>
  </p:sldIdLst>
  <p:sldSz cx="9144000" cy="5143500" type="screen16x9"/>
  <p:notesSz cx="6858000" cy="9144000"/>
  <p:embeddedFontLst>
    <p:embeddedFont>
      <p:font typeface="Poppins" panose="00000500000000000000" pitchFamily="2" charset="0"/>
      <p:regular r:id="rId42"/>
      <p:bold r:id="rId43"/>
      <p:italic r:id="rId44"/>
      <p:boldItalic r:id="rId45"/>
    </p:embeddedFont>
    <p:embeddedFont>
      <p:font typeface="Roboto Mono" panose="00000009000000000000" pitchFamily="49" charset="0"/>
      <p:regular r:id="rId46"/>
      <p:bold r:id="rId47"/>
      <p:italic r:id="rId48"/>
      <p:boldItalic r:id="rId49"/>
    </p:embeddedFont>
    <p:embeddedFont>
      <p:font typeface="Roboto Slab" pitchFamily="2" charset="0"/>
      <p:regular r:id="rId50"/>
      <p:bold r:id="rId5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1.fntdata"/><Relationship Id="rId47" Type="http://schemas.openxmlformats.org/officeDocument/2006/relationships/font" Target="fonts/font6.fntdata"/><Relationship Id="rId50" Type="http://schemas.openxmlformats.org/officeDocument/2006/relationships/font" Target="fonts/font9.fntdata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4.fntdata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3.fntdata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2.fntdata"/><Relationship Id="rId48" Type="http://schemas.openxmlformats.org/officeDocument/2006/relationships/font" Target="fonts/font7.fntdata"/><Relationship Id="rId8" Type="http://schemas.openxmlformats.org/officeDocument/2006/relationships/slide" Target="slides/slide7.xml"/><Relationship Id="rId51" Type="http://schemas.openxmlformats.org/officeDocument/2006/relationships/font" Target="fonts/font10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5.fntdata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735959b93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735959b93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7735959b93_0_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7735959b93_0_3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777d8457aa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777d8457aa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7735959b93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7735959b93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777d8457aa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777d8457aa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77c18498a8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77c18498a8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77c18498a8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77c18498a8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77c18498a8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77c18498a8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77c18498a8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77c18498a8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77c18498a8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77c18498a8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77c18498a8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77c18498a8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77c18498a8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77c18498a8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77c18498a8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77c18498a8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77c18498a8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77c18498a8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78e427aec9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78e427aec9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77c18498a8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77c18498a8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78e427aec9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78e427aec9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78e427aec9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78e427aec9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78e427aec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78e427aec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777d8457aa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777d8457aa_0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77889692a8_1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77889692a8_1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77c18498a8_0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377c18498a8_0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77c18498a8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377c18498a8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77c18498a8_0_1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377c18498a8_0_1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77889692a8_1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377889692a8_1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77c18498a8_0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77c18498a8_0_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777d8457aa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3777d8457aa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7735959b93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37735959b93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77f06d7b10_4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377f06d7b10_4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77f06d7b10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377f06d7b10_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777d8457aa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3777d8457aa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735959b93_0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37735959b93_0_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777d8457aa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3777d8457aa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777d8457aa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3777d8457aa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777d8457aa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3777d8457aa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777d8457aa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3777d8457aa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7735959b93_0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37735959b93_0_2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7735959b93_0_2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g37735959b93_0_2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gi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gi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3.png"/><Relationship Id="rId4" Type="http://schemas.openxmlformats.org/officeDocument/2006/relationships/image" Target="../media/image3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4.png"/><Relationship Id="rId4" Type="http://schemas.openxmlformats.org/officeDocument/2006/relationships/image" Target="../media/image3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5.png"/><Relationship Id="rId4" Type="http://schemas.openxmlformats.org/officeDocument/2006/relationships/image" Target="../media/image3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react.dev/" TargetMode="External"/><Relationship Id="rId5" Type="http://schemas.openxmlformats.org/officeDocument/2006/relationships/hyperlink" Target="https://www.w3schools.com/js/" TargetMode="External"/><Relationship Id="rId4" Type="http://schemas.openxmlformats.org/officeDocument/2006/relationships/hyperlink" Target="https://developer.mozilla.org/en-US/docs/Web/JavaScript" TargetMode="Externa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95600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55" name="Google Shape;55;p13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4405600" y="2017650"/>
            <a:ext cx="4583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173034"/>
                </a:solidFill>
              </a:rPr>
              <a:t>Course - Web Development - II </a:t>
            </a:r>
            <a:endParaRPr sz="2400" b="1">
              <a:solidFill>
                <a:srgbClr val="173034"/>
              </a:solidFill>
            </a:endParaRPr>
          </a:p>
        </p:txBody>
      </p:sp>
      <p:grpSp>
        <p:nvGrpSpPr>
          <p:cNvPr id="57" name="Google Shape;57;p13"/>
          <p:cNvGrpSpPr/>
          <p:nvPr/>
        </p:nvGrpSpPr>
        <p:grpSpPr>
          <a:xfrm>
            <a:off x="4572000" y="4882896"/>
            <a:ext cx="1607600" cy="292500"/>
            <a:chOff x="5060775" y="4881413"/>
            <a:chExt cx="1607600" cy="292500"/>
          </a:xfrm>
        </p:grpSpPr>
        <p:sp>
          <p:nvSpPr>
            <p:cNvPr id="58" name="Google Shape;58;p13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000000"/>
                  </a:solidFill>
                </a:rPr>
                <a:t>welcome@krmangalam.edu.in</a:t>
              </a:r>
              <a:endParaRPr sz="900">
                <a:solidFill>
                  <a:srgbClr val="000000"/>
                </a:solidFill>
              </a:endParaRPr>
            </a:p>
          </p:txBody>
        </p:sp>
        <p:pic>
          <p:nvPicPr>
            <p:cNvPr id="59" name="Google Shape;59;p13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0" name="Google Shape;60;p13"/>
          <p:cNvGrpSpPr/>
          <p:nvPr/>
        </p:nvGrpSpPr>
        <p:grpSpPr>
          <a:xfrm>
            <a:off x="7229300" y="4881425"/>
            <a:ext cx="1926000" cy="292500"/>
            <a:chOff x="7229300" y="4881425"/>
            <a:chExt cx="1926000" cy="292500"/>
          </a:xfrm>
        </p:grpSpPr>
        <p:sp>
          <p:nvSpPr>
            <p:cNvPr id="61" name="Google Shape;61;p13"/>
            <p:cNvSpPr txBox="1"/>
            <p:nvPr/>
          </p:nvSpPr>
          <p:spPr>
            <a:xfrm>
              <a:off x="7326500" y="4881425"/>
              <a:ext cx="18288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212121"/>
                  </a:solidFill>
                </a:rPr>
                <a:t>Sohna Road,Gurugram,Haryana 122103</a:t>
              </a:r>
              <a:endParaRPr sz="700">
                <a:solidFill>
                  <a:srgbClr val="212121"/>
                </a:solidFill>
              </a:endParaRPr>
            </a:p>
          </p:txBody>
        </p:sp>
        <p:pic>
          <p:nvPicPr>
            <p:cNvPr id="62" name="Google Shape;62;p13" title="location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229300" y="4965192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3" name="Google Shape;63;p13" title="Untitled (2)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042538" y="2662400"/>
            <a:ext cx="3309826" cy="2000826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1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65" name="Google Shape;65;p13"/>
          <p:cNvGrpSpPr/>
          <p:nvPr/>
        </p:nvGrpSpPr>
        <p:grpSpPr>
          <a:xfrm>
            <a:off x="309849" y="1233369"/>
            <a:ext cx="3415942" cy="1688251"/>
            <a:chOff x="788865" y="1515488"/>
            <a:chExt cx="4594407" cy="2387862"/>
          </a:xfrm>
        </p:grpSpPr>
        <p:sp>
          <p:nvSpPr>
            <p:cNvPr id="66" name="Google Shape;66;p13"/>
            <p:cNvSpPr txBox="1"/>
            <p:nvPr/>
          </p:nvSpPr>
          <p:spPr>
            <a:xfrm>
              <a:off x="788865" y="1515488"/>
              <a:ext cx="31977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 b="1" dirty="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Lecture 36</a:t>
              </a:r>
              <a:r>
                <a:rPr lang="en" sz="2700" dirty="0">
                  <a:solidFill>
                    <a:srgbClr val="FFFFFF"/>
                  </a:solidFill>
                </a:rPr>
                <a:t>:</a:t>
              </a:r>
              <a:endParaRPr sz="2200" dirty="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67" name="Google Shape;67;p13"/>
            <p:cNvSpPr txBox="1"/>
            <p:nvPr/>
          </p:nvSpPr>
          <p:spPr>
            <a:xfrm>
              <a:off x="788875" y="3475300"/>
              <a:ext cx="6990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-By</a:t>
              </a:r>
              <a:endParaRPr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8" name="Google Shape;68;p13"/>
            <p:cNvSpPr txBox="1"/>
            <p:nvPr/>
          </p:nvSpPr>
          <p:spPr>
            <a:xfrm>
              <a:off x="790272" y="2145213"/>
              <a:ext cx="4593000" cy="5539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lvl="0">
                <a:buSzPts val="1100"/>
              </a:pPr>
              <a:r>
                <a:rPr lang="en-IN" sz="2400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Context API</a:t>
              </a:r>
              <a:endParaRPr sz="24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9" name="Google Shape;69;p13"/>
            <p:cNvSpPr txBox="1"/>
            <p:nvPr/>
          </p:nvSpPr>
          <p:spPr>
            <a:xfrm>
              <a:off x="1330896" y="3491750"/>
              <a:ext cx="3313200" cy="41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Instructor Name</a:t>
              </a:r>
              <a:endParaRPr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pic>
        <p:nvPicPr>
          <p:cNvPr id="70" name="Google Shape;70;p13" title="png-transparent-js-react-js-logo-react-react-native-logos-icon-removebg-preview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33272" y="3384252"/>
            <a:ext cx="521207" cy="5212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/>
        </p:nvSpPr>
        <p:spPr>
          <a:xfrm>
            <a:off x="311700" y="213250"/>
            <a:ext cx="7470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 b="1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sz="280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Table of Contents</a:t>
            </a:r>
            <a:endParaRPr sz="28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311700" y="1234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 sz="1800" dirty="0">
                <a:solidFill>
                  <a:srgbClr val="273239"/>
                </a:solidFill>
              </a:rPr>
              <a:t>Context Api</a:t>
            </a:r>
            <a:endParaRPr sz="1800" dirty="0">
              <a:solidFill>
                <a:srgbClr val="273239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 sz="1800" dirty="0">
                <a:solidFill>
                  <a:srgbClr val="273239"/>
                </a:solidFill>
              </a:rPr>
              <a:t>References.</a:t>
            </a:r>
            <a:endParaRPr sz="1800" dirty="0">
              <a:solidFill>
                <a:srgbClr val="273239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 sz="1800" dirty="0">
                <a:solidFill>
                  <a:srgbClr val="273239"/>
                </a:solidFill>
              </a:rPr>
              <a:t>The End.</a:t>
            </a:r>
            <a:endParaRPr sz="1800" dirty="0">
              <a:solidFill>
                <a:srgbClr val="273239"/>
              </a:solidFill>
            </a:endParaRPr>
          </a:p>
        </p:txBody>
      </p:sp>
      <p:pic>
        <p:nvPicPr>
          <p:cNvPr id="77" name="Google Shape;77;p1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2</a:t>
            </a:fld>
            <a:endParaRPr sz="10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5"/>
          <p:cNvSpPr txBox="1"/>
          <p:nvPr/>
        </p:nvSpPr>
        <p:spPr>
          <a:xfrm>
            <a:off x="311700" y="213250"/>
            <a:ext cx="265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200" b="1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sz="22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8" name="Google Shape;188;p2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3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90" name="Google Shape;190;p25"/>
          <p:cNvSpPr txBox="1"/>
          <p:nvPr/>
        </p:nvSpPr>
        <p:spPr>
          <a:xfrm>
            <a:off x="576075" y="210300"/>
            <a:ext cx="7223700" cy="10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Have you ever wondered if we could share data directly with all components without passing it down step by step like in prop drilling?</a:t>
            </a:r>
            <a:endParaRPr sz="19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91" name="Google Shape;191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8675" y="1685775"/>
            <a:ext cx="2906650" cy="290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6"/>
          <p:cNvSpPr txBox="1"/>
          <p:nvPr/>
        </p:nvSpPr>
        <p:spPr>
          <a:xfrm>
            <a:off x="311700" y="213250"/>
            <a:ext cx="265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200" b="1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sz="22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97" name="Google Shape;197;p2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4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99" name="Google Shape;199;p26"/>
          <p:cNvSpPr txBox="1"/>
          <p:nvPr/>
        </p:nvSpPr>
        <p:spPr>
          <a:xfrm>
            <a:off x="576075" y="210300"/>
            <a:ext cx="7223700" cy="10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Have you ever wondered if we could share data directly with all components without passing it down step by step like in prop drilling?</a:t>
            </a:r>
            <a:endParaRPr sz="19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0" name="Google Shape;200;p26"/>
          <p:cNvSpPr txBox="1"/>
          <p:nvPr/>
        </p:nvSpPr>
        <p:spPr>
          <a:xfrm>
            <a:off x="488750" y="2057625"/>
            <a:ext cx="38739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Yes! Big thanks to </a:t>
            </a:r>
            <a:r>
              <a:rPr lang="en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Context API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because it allows us to share data directly with any component — without sending it step by step through props</a:t>
            </a:r>
            <a:endParaRPr sz="17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01" name="Google Shape;201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4450" y="1601250"/>
            <a:ext cx="2586775" cy="258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7"/>
          <p:cNvSpPr txBox="1"/>
          <p:nvPr/>
        </p:nvSpPr>
        <p:spPr>
          <a:xfrm>
            <a:off x="310900" y="197325"/>
            <a:ext cx="747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</a:t>
            </a:r>
            <a:r>
              <a:rPr lang="en" sz="280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Context api</a:t>
            </a:r>
            <a:endParaRPr sz="28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07" name="Google Shape;207;p2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5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09" name="Google Shape;209;p27"/>
          <p:cNvSpPr txBox="1"/>
          <p:nvPr/>
        </p:nvSpPr>
        <p:spPr>
          <a:xfrm>
            <a:off x="310900" y="1375675"/>
            <a:ext cx="4728300" cy="24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</a:t>
            </a:r>
            <a:r>
              <a:rPr lang="en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Context API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 React is a built-in feature that allows you to share data between components </a:t>
            </a:r>
            <a:r>
              <a:rPr lang="en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without passing props manually at every level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of the component tree.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It provides a way to make certain values </a:t>
            </a:r>
            <a:r>
              <a:rPr lang="en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globally available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to any component, no matter how deeply nested it is.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10" name="Google Shape;210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46000" y="1320099"/>
            <a:ext cx="3023475" cy="25535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1" name="Google Shape;211;p27"/>
          <p:cNvCxnSpPr/>
          <p:nvPr/>
        </p:nvCxnSpPr>
        <p:spPr>
          <a:xfrm flipH="1">
            <a:off x="6354200" y="2558075"/>
            <a:ext cx="129900" cy="136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2" name="Google Shape;212;p27"/>
          <p:cNvCxnSpPr/>
          <p:nvPr/>
        </p:nvCxnSpPr>
        <p:spPr>
          <a:xfrm>
            <a:off x="7147550" y="2544400"/>
            <a:ext cx="164100" cy="143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3" name="Google Shape;213;p27"/>
          <p:cNvCxnSpPr/>
          <p:nvPr/>
        </p:nvCxnSpPr>
        <p:spPr>
          <a:xfrm flipH="1">
            <a:off x="6005275" y="2551225"/>
            <a:ext cx="649800" cy="738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4" name="Google Shape;214;p27"/>
          <p:cNvCxnSpPr/>
          <p:nvPr/>
        </p:nvCxnSpPr>
        <p:spPr>
          <a:xfrm>
            <a:off x="7024425" y="2544400"/>
            <a:ext cx="615600" cy="732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5" name="Google Shape;215;p27"/>
          <p:cNvCxnSpPr/>
          <p:nvPr/>
        </p:nvCxnSpPr>
        <p:spPr>
          <a:xfrm flipH="1">
            <a:off x="6531850" y="2544400"/>
            <a:ext cx="219000" cy="738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6" name="Google Shape;216;p27"/>
          <p:cNvCxnSpPr/>
          <p:nvPr/>
        </p:nvCxnSpPr>
        <p:spPr>
          <a:xfrm>
            <a:off x="6860275" y="2551225"/>
            <a:ext cx="246300" cy="725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8"/>
          <p:cNvSpPr txBox="1"/>
          <p:nvPr/>
        </p:nvSpPr>
        <p:spPr>
          <a:xfrm>
            <a:off x="310900" y="197325"/>
            <a:ext cx="747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</a:t>
            </a:r>
            <a:r>
              <a:rPr lang="en" sz="280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Context api</a:t>
            </a:r>
            <a:endParaRPr sz="28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2" name="Google Shape;222;p2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6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24" name="Google Shape;224;p28"/>
          <p:cNvSpPr txBox="1"/>
          <p:nvPr/>
        </p:nvSpPr>
        <p:spPr>
          <a:xfrm>
            <a:off x="475075" y="1722150"/>
            <a:ext cx="3621900" cy="16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We will make a tiny app with a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light/dark theme.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It is one of the best examples to explain Context API.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5" name="Google Shape;225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02201" y="1460299"/>
            <a:ext cx="3960474" cy="297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9"/>
          <p:cNvSpPr txBox="1"/>
          <p:nvPr/>
        </p:nvSpPr>
        <p:spPr>
          <a:xfrm>
            <a:off x="311700" y="213250"/>
            <a:ext cx="265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200" b="1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sz="22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31" name="Google Shape;231;p29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7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33" name="Google Shape;233;p29"/>
          <p:cNvSpPr txBox="1"/>
          <p:nvPr/>
        </p:nvSpPr>
        <p:spPr>
          <a:xfrm>
            <a:off x="576075" y="210300"/>
            <a:ext cx="7223700" cy="10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Have you ever thought about this —</a:t>
            </a:r>
            <a:endParaRPr sz="16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If we want to build a Dark/Light theme in our app, and we have multiple components and pages, then how should we share the theme? </a:t>
            </a:r>
            <a:endParaRPr sz="16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34" name="Google Shape;234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90625" y="1870200"/>
            <a:ext cx="2735900" cy="273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0"/>
          <p:cNvSpPr txBox="1"/>
          <p:nvPr/>
        </p:nvSpPr>
        <p:spPr>
          <a:xfrm>
            <a:off x="311700" y="213250"/>
            <a:ext cx="265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200" b="1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sz="22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40" name="Google Shape;240;p30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8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42" name="Google Shape;242;p30"/>
          <p:cNvSpPr txBox="1"/>
          <p:nvPr/>
        </p:nvSpPr>
        <p:spPr>
          <a:xfrm>
            <a:off x="576075" y="210300"/>
            <a:ext cx="7223700" cy="10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Have you ever thought about this —</a:t>
            </a:r>
            <a:endParaRPr sz="16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If we want to build a Dark/Light theme in our app, and we have multiple components and pages, then how should we share the theme? </a:t>
            </a:r>
            <a:endParaRPr sz="16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3" name="Google Shape;243;p30"/>
          <p:cNvSpPr txBox="1"/>
          <p:nvPr/>
        </p:nvSpPr>
        <p:spPr>
          <a:xfrm>
            <a:off x="576900" y="1796850"/>
            <a:ext cx="4779600" cy="22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Here is two options:-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AutoNum type="arabicPeriod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Should we create the same theme logic inside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every single component separately?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AutoNum type="arabicPeriod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should we create the theme logic once inside App.js and then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pass it down as props to all components?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But wait… do you think this is the best way to do it?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44" name="Google Shape;24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51367" y="2395888"/>
            <a:ext cx="2920333" cy="1388475"/>
          </a:xfrm>
          <a:prstGeom prst="rect">
            <a:avLst/>
          </a:prstGeom>
          <a:noFill/>
          <a:ln>
            <a:noFill/>
          </a:ln>
          <a:effectLst>
            <a:outerShdw blurRad="128588" dist="76200" dir="75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1"/>
          <p:cNvSpPr txBox="1"/>
          <p:nvPr/>
        </p:nvSpPr>
        <p:spPr>
          <a:xfrm>
            <a:off x="311700" y="213250"/>
            <a:ext cx="265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200" b="1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sz="22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50" name="Google Shape;250;p31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3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9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52" name="Google Shape;252;p31"/>
          <p:cNvSpPr txBox="1"/>
          <p:nvPr/>
        </p:nvSpPr>
        <p:spPr>
          <a:xfrm>
            <a:off x="576075" y="210300"/>
            <a:ext cx="7223700" cy="10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Have you ever thought about this —</a:t>
            </a:r>
            <a:endParaRPr sz="16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If we want to build a Dark/Light theme in our app, and we have multiple components and pages, then how should we share the theme? </a:t>
            </a:r>
            <a:endParaRPr sz="16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3" name="Google Shape;253;p31"/>
          <p:cNvSpPr txBox="1"/>
          <p:nvPr/>
        </p:nvSpPr>
        <p:spPr>
          <a:xfrm>
            <a:off x="528625" y="1686225"/>
            <a:ext cx="5052600" cy="25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Both of these methods work…</a:t>
            </a:r>
            <a:b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But the problem is —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If we </a:t>
            </a:r>
            <a:r>
              <a:rPr lang="en" sz="13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repeat the logic</a:t>
            </a: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 every component → the code becomes very messy and harder to maintain.</a:t>
            </a:r>
            <a:b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If we </a:t>
            </a:r>
            <a:r>
              <a:rPr lang="en" sz="13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pass props</a:t>
            </a: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from App.js to all children → we end up with something called </a:t>
            </a:r>
            <a:r>
              <a:rPr lang="en" sz="13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Prop Drilling</a:t>
            </a: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(sending data step by step even if some components don’t need it).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54" name="Google Shape;254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19925" y="2006675"/>
            <a:ext cx="2212363" cy="165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2"/>
          <p:cNvSpPr txBox="1"/>
          <p:nvPr/>
        </p:nvSpPr>
        <p:spPr>
          <a:xfrm>
            <a:off x="311700" y="213250"/>
            <a:ext cx="265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200" b="1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sz="22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60" name="Google Shape;260;p32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3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10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62" name="Google Shape;262;p32"/>
          <p:cNvSpPr txBox="1"/>
          <p:nvPr/>
        </p:nvSpPr>
        <p:spPr>
          <a:xfrm>
            <a:off x="576075" y="210300"/>
            <a:ext cx="7223700" cy="10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Have you ever thought about this —</a:t>
            </a:r>
            <a:endParaRPr sz="16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If we want to build a Dark/Light theme in our app, and we have multiple components and pages, then how should we share the theme? </a:t>
            </a:r>
            <a:endParaRPr sz="16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3" name="Google Shape;263;p32"/>
          <p:cNvSpPr txBox="1"/>
          <p:nvPr/>
        </p:nvSpPr>
        <p:spPr>
          <a:xfrm>
            <a:off x="615575" y="1573150"/>
            <a:ext cx="4815300" cy="24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What if I told you… </a:t>
            </a:r>
            <a:r>
              <a:rPr lang="en" sz="13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React already</a:t>
            </a:r>
            <a:r>
              <a:rPr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gives us a better way?</a:t>
            </a:r>
            <a:endParaRPr sz="13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Imagine if your data had a </a:t>
            </a:r>
            <a:r>
              <a:rPr lang="en" sz="13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teleporter</a:t>
            </a:r>
            <a:r>
              <a:rPr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br>
              <a:rPr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Instead of passing it one by one, you could just </a:t>
            </a:r>
            <a:r>
              <a:rPr lang="en" sz="13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broadcast it like Wi-Fi</a:t>
            </a:r>
            <a:r>
              <a:rPr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3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Then, any component on any page (Home, About, Contact, etc.) can simply </a:t>
            </a:r>
            <a:r>
              <a:rPr lang="en" sz="13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connect and use it directly</a:t>
            </a:r>
            <a:r>
              <a:rPr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— without disturbing others.</a:t>
            </a:r>
            <a:endParaRPr sz="13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That teleporter in React is called the </a:t>
            </a:r>
            <a:r>
              <a:rPr lang="en" sz="13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Context API</a:t>
            </a:r>
            <a:r>
              <a:rPr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endParaRPr sz="13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64" name="Google Shape;264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18275" y="1695463"/>
            <a:ext cx="2950226" cy="22126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3"/>
          <p:cNvSpPr txBox="1"/>
          <p:nvPr/>
        </p:nvSpPr>
        <p:spPr>
          <a:xfrm>
            <a:off x="310900" y="197325"/>
            <a:ext cx="747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</a:t>
            </a:r>
            <a:r>
              <a:rPr lang="en" sz="280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Context api</a:t>
            </a:r>
            <a:endParaRPr sz="28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70" name="Google Shape;270;p33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3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11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72" name="Google Shape;272;p33"/>
          <p:cNvSpPr txBox="1"/>
          <p:nvPr/>
        </p:nvSpPr>
        <p:spPr>
          <a:xfrm>
            <a:off x="310900" y="896025"/>
            <a:ext cx="4333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Version 1: Without Context API (Prop Drilling)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73" name="Google Shape;273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2625" y="1367525"/>
            <a:ext cx="2761449" cy="3164501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33"/>
          <p:cNvSpPr txBox="1"/>
          <p:nvPr/>
        </p:nvSpPr>
        <p:spPr>
          <a:xfrm>
            <a:off x="692625" y="4532025"/>
            <a:ext cx="798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" sz="1300" b="1">
                <a:solidFill>
                  <a:srgbClr val="273239"/>
                </a:solidFill>
                <a:latin typeface="Roboto Mono"/>
                <a:ea typeface="Roboto Mono"/>
                <a:cs typeface="Roboto Mono"/>
                <a:sym typeface="Roboto Mono"/>
              </a:rPr>
              <a:t>App.js</a:t>
            </a:r>
            <a:endParaRPr sz="1300" b="1">
              <a:solidFill>
                <a:srgbClr val="273239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4"/>
          <p:cNvSpPr txBox="1"/>
          <p:nvPr/>
        </p:nvSpPr>
        <p:spPr>
          <a:xfrm>
            <a:off x="310900" y="197325"/>
            <a:ext cx="747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</a:t>
            </a:r>
            <a:r>
              <a:rPr lang="en" sz="280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Context api</a:t>
            </a:r>
            <a:endParaRPr sz="28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80" name="Google Shape;280;p3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3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12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82" name="Google Shape;282;p34"/>
          <p:cNvSpPr txBox="1"/>
          <p:nvPr/>
        </p:nvSpPr>
        <p:spPr>
          <a:xfrm>
            <a:off x="310900" y="896025"/>
            <a:ext cx="4333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Version 1: Without Context API (Prop Drilling)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3" name="Google Shape;283;p34"/>
          <p:cNvSpPr txBox="1"/>
          <p:nvPr/>
        </p:nvSpPr>
        <p:spPr>
          <a:xfrm>
            <a:off x="432825" y="4094275"/>
            <a:ext cx="1044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" sz="1300" b="1">
                <a:solidFill>
                  <a:srgbClr val="273239"/>
                </a:solidFill>
                <a:latin typeface="Roboto Mono"/>
                <a:ea typeface="Roboto Mono"/>
                <a:cs typeface="Roboto Mono"/>
                <a:sym typeface="Roboto Mono"/>
              </a:rPr>
              <a:t>Home.js</a:t>
            </a:r>
            <a:endParaRPr sz="1300" b="1">
              <a:solidFill>
                <a:srgbClr val="273239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84" name="Google Shape;284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2825" y="1490626"/>
            <a:ext cx="4211274" cy="25001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5"/>
          <p:cNvSpPr txBox="1"/>
          <p:nvPr/>
        </p:nvSpPr>
        <p:spPr>
          <a:xfrm>
            <a:off x="310900" y="197325"/>
            <a:ext cx="747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</a:t>
            </a:r>
            <a:r>
              <a:rPr lang="en" sz="280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Context api</a:t>
            </a:r>
            <a:endParaRPr sz="28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90" name="Google Shape;290;p3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3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13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92" name="Google Shape;292;p35"/>
          <p:cNvSpPr txBox="1"/>
          <p:nvPr/>
        </p:nvSpPr>
        <p:spPr>
          <a:xfrm>
            <a:off x="310900" y="896025"/>
            <a:ext cx="4333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Version 1: Without Context API (Prop Drilling)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3" name="Google Shape;293;p35"/>
          <p:cNvSpPr txBox="1"/>
          <p:nvPr/>
        </p:nvSpPr>
        <p:spPr>
          <a:xfrm>
            <a:off x="384950" y="3889075"/>
            <a:ext cx="1044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" sz="1300" b="1">
                <a:solidFill>
                  <a:srgbClr val="273239"/>
                </a:solidFill>
                <a:latin typeface="Roboto Mono"/>
                <a:ea typeface="Roboto Mono"/>
                <a:cs typeface="Roboto Mono"/>
                <a:sym typeface="Roboto Mono"/>
              </a:rPr>
              <a:t>About.js</a:t>
            </a:r>
            <a:endParaRPr sz="1300" b="1">
              <a:solidFill>
                <a:srgbClr val="273239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94" name="Google Shape;294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4950" y="1523900"/>
            <a:ext cx="3715575" cy="220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6"/>
          <p:cNvSpPr txBox="1"/>
          <p:nvPr/>
        </p:nvSpPr>
        <p:spPr>
          <a:xfrm>
            <a:off x="310900" y="197325"/>
            <a:ext cx="747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</a:t>
            </a:r>
            <a:r>
              <a:rPr lang="en" sz="280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Context api</a:t>
            </a:r>
            <a:endParaRPr sz="28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00" name="Google Shape;300;p3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3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14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302" name="Google Shape;302;p36"/>
          <p:cNvSpPr txBox="1"/>
          <p:nvPr/>
        </p:nvSpPr>
        <p:spPr>
          <a:xfrm>
            <a:off x="310900" y="896025"/>
            <a:ext cx="4333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Version 1: Without Context API (Prop Drilling)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3" name="Google Shape;303;p36"/>
          <p:cNvSpPr txBox="1"/>
          <p:nvPr/>
        </p:nvSpPr>
        <p:spPr>
          <a:xfrm>
            <a:off x="310900" y="4326825"/>
            <a:ext cx="16533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" sz="1300" b="1">
                <a:solidFill>
                  <a:srgbClr val="273239"/>
                </a:solidFill>
                <a:latin typeface="Roboto Mono"/>
                <a:ea typeface="Roboto Mono"/>
                <a:cs typeface="Roboto Mono"/>
                <a:sym typeface="Roboto Mono"/>
              </a:rPr>
              <a:t>Contact.js</a:t>
            </a:r>
            <a:endParaRPr sz="1300" b="1">
              <a:solidFill>
                <a:srgbClr val="273239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304" name="Google Shape;304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0900" y="1859975"/>
            <a:ext cx="3841625" cy="228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7"/>
          <p:cNvSpPr txBox="1"/>
          <p:nvPr/>
        </p:nvSpPr>
        <p:spPr>
          <a:xfrm>
            <a:off x="310900" y="197325"/>
            <a:ext cx="747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</a:t>
            </a:r>
            <a:r>
              <a:rPr lang="en" sz="280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Context api</a:t>
            </a:r>
            <a:endParaRPr sz="28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10" name="Google Shape;310;p3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3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15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312" name="Google Shape;312;p37"/>
          <p:cNvSpPr txBox="1"/>
          <p:nvPr/>
        </p:nvSpPr>
        <p:spPr>
          <a:xfrm>
            <a:off x="310900" y="896025"/>
            <a:ext cx="4333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Version 1: Without Context API (Prop Drilling)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3" name="Google Shape;313;p37"/>
          <p:cNvSpPr txBox="1"/>
          <p:nvPr/>
        </p:nvSpPr>
        <p:spPr>
          <a:xfrm>
            <a:off x="379300" y="1840325"/>
            <a:ext cx="4192800" cy="22887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Problem: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Every component (Home, About, Contact) is forced to receive darkTheme as a prop.</a:t>
            </a:r>
            <a:b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If components were nested deeper, we’d have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prop drilling everywhere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b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14" name="Google Shape;314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41125" y="1709225"/>
            <a:ext cx="2550900" cy="255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8"/>
          <p:cNvSpPr txBox="1"/>
          <p:nvPr/>
        </p:nvSpPr>
        <p:spPr>
          <a:xfrm>
            <a:off x="310900" y="197325"/>
            <a:ext cx="747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</a:t>
            </a:r>
            <a:r>
              <a:rPr lang="en" sz="280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Context api</a:t>
            </a:r>
            <a:endParaRPr sz="28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20" name="Google Shape;320;p3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3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16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322" name="Google Shape;322;p38"/>
          <p:cNvSpPr txBox="1"/>
          <p:nvPr/>
        </p:nvSpPr>
        <p:spPr>
          <a:xfrm>
            <a:off x="481800" y="1897275"/>
            <a:ext cx="978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Syntax :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23" name="Google Shape;323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6825" y="2385125"/>
            <a:ext cx="4744874" cy="2119699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38"/>
          <p:cNvSpPr txBox="1"/>
          <p:nvPr/>
        </p:nvSpPr>
        <p:spPr>
          <a:xfrm>
            <a:off x="481800" y="1025850"/>
            <a:ext cx="4090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Version 2: With Context API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9"/>
          <p:cNvSpPr txBox="1"/>
          <p:nvPr/>
        </p:nvSpPr>
        <p:spPr>
          <a:xfrm>
            <a:off x="310900" y="197325"/>
            <a:ext cx="747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</a:t>
            </a:r>
            <a:r>
              <a:rPr lang="en" sz="280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Context api</a:t>
            </a:r>
            <a:endParaRPr sz="28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30" name="Google Shape;330;p39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17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332" name="Google Shape;332;p39"/>
          <p:cNvSpPr txBox="1"/>
          <p:nvPr/>
        </p:nvSpPr>
        <p:spPr>
          <a:xfrm>
            <a:off x="540000" y="1159050"/>
            <a:ext cx="4291200" cy="4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Process of using Context Api :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3" name="Google Shape;333;p39"/>
          <p:cNvSpPr txBox="1"/>
          <p:nvPr/>
        </p:nvSpPr>
        <p:spPr>
          <a:xfrm>
            <a:off x="540000" y="1684875"/>
            <a:ext cx="3427200" cy="13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createContext()</a:t>
            </a:r>
            <a:endParaRPr sz="13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Used to create a </a:t>
            </a:r>
            <a:r>
              <a:rPr lang="en" sz="13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Context object</a:t>
            </a: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b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Example: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34" name="Google Shape;334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52674" y="2795700"/>
            <a:ext cx="3779324" cy="78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0"/>
          <p:cNvSpPr txBox="1"/>
          <p:nvPr/>
        </p:nvSpPr>
        <p:spPr>
          <a:xfrm>
            <a:off x="310900" y="197325"/>
            <a:ext cx="747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</a:t>
            </a:r>
            <a:r>
              <a:rPr lang="en" sz="280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Context api</a:t>
            </a:r>
            <a:endParaRPr sz="28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40" name="Google Shape;340;p40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4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18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342" name="Google Shape;342;p40"/>
          <p:cNvSpPr txBox="1"/>
          <p:nvPr/>
        </p:nvSpPr>
        <p:spPr>
          <a:xfrm>
            <a:off x="540000" y="1159050"/>
            <a:ext cx="4291200" cy="4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Process of using Context Api :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3" name="Google Shape;343;p40"/>
          <p:cNvSpPr txBox="1"/>
          <p:nvPr/>
        </p:nvSpPr>
        <p:spPr>
          <a:xfrm>
            <a:off x="540000" y="1684875"/>
            <a:ext cx="3427200" cy="14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Context Provider</a:t>
            </a:r>
            <a:endParaRPr sz="11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Used to </a:t>
            </a:r>
            <a:r>
              <a:rPr lang="en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provide (share)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data to all child components.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b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Example: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44" name="Google Shape;344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68950" y="2872800"/>
            <a:ext cx="3978951" cy="108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1"/>
          <p:cNvSpPr txBox="1"/>
          <p:nvPr/>
        </p:nvSpPr>
        <p:spPr>
          <a:xfrm>
            <a:off x="310900" y="197325"/>
            <a:ext cx="747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</a:t>
            </a:r>
            <a:r>
              <a:rPr lang="en" sz="280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Context api</a:t>
            </a:r>
            <a:endParaRPr sz="28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50" name="Google Shape;350;p41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4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19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352" name="Google Shape;352;p41"/>
          <p:cNvSpPr txBox="1"/>
          <p:nvPr/>
        </p:nvSpPr>
        <p:spPr>
          <a:xfrm>
            <a:off x="540000" y="1159050"/>
            <a:ext cx="4291200" cy="4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Process of using Context Api :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3" name="Google Shape;353;p41"/>
          <p:cNvSpPr txBox="1"/>
          <p:nvPr/>
        </p:nvSpPr>
        <p:spPr>
          <a:xfrm>
            <a:off x="540000" y="1684875"/>
            <a:ext cx="3427200" cy="14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useContext Hook</a:t>
            </a:r>
            <a:endParaRPr sz="11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Used to </a:t>
            </a:r>
            <a:r>
              <a:rPr lang="en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consume (use)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the data inside any component.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b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Example: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54" name="Google Shape;354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57600" y="2777250"/>
            <a:ext cx="4024801" cy="95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2"/>
          <p:cNvSpPr txBox="1"/>
          <p:nvPr/>
        </p:nvSpPr>
        <p:spPr>
          <a:xfrm>
            <a:off x="310900" y="197325"/>
            <a:ext cx="747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</a:t>
            </a:r>
            <a:r>
              <a:rPr lang="en" sz="280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Context api</a:t>
            </a:r>
            <a:endParaRPr sz="28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60" name="Google Shape;360;p42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4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20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362" name="Google Shape;362;p42"/>
          <p:cNvSpPr txBox="1"/>
          <p:nvPr/>
        </p:nvSpPr>
        <p:spPr>
          <a:xfrm>
            <a:off x="540000" y="1159050"/>
            <a:ext cx="4291200" cy="4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Process of using Context Api :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3" name="Google Shape;363;p42"/>
          <p:cNvSpPr txBox="1"/>
          <p:nvPr/>
        </p:nvSpPr>
        <p:spPr>
          <a:xfrm>
            <a:off x="540000" y="1735200"/>
            <a:ext cx="4528800" cy="10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Step 1: Create a context with createContext()</a:t>
            </a:r>
            <a:br>
              <a:rPr lang="en" sz="11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1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Step 2: Wrap your app (or part of it) with the </a:t>
            </a:r>
            <a:r>
              <a:rPr lang="en" sz="11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Provider</a:t>
            </a:r>
            <a:br>
              <a:rPr lang="en" sz="11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100"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Step 3: Use useContext() in child components to access data</a:t>
            </a:r>
            <a:endParaRPr sz="11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4" name="Google Shape;364;p42"/>
          <p:cNvSpPr txBox="1"/>
          <p:nvPr/>
        </p:nvSpPr>
        <p:spPr>
          <a:xfrm>
            <a:off x="540000" y="3254400"/>
            <a:ext cx="6552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Context API = A teleporter that sends data directly from parent to child components without prop drilling.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3"/>
          <p:cNvSpPr txBox="1"/>
          <p:nvPr/>
        </p:nvSpPr>
        <p:spPr>
          <a:xfrm>
            <a:off x="310900" y="197325"/>
            <a:ext cx="747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</a:t>
            </a:r>
            <a:r>
              <a:rPr lang="en" sz="280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Context api</a:t>
            </a:r>
            <a:endParaRPr sz="28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70" name="Google Shape;370;p43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4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21</a:t>
            </a:fld>
            <a:endParaRPr sz="1000">
              <a:solidFill>
                <a:srgbClr val="595959"/>
              </a:solidFill>
            </a:endParaRPr>
          </a:p>
        </p:txBody>
      </p:sp>
      <p:pic>
        <p:nvPicPr>
          <p:cNvPr id="372" name="Google Shape;372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0900" y="1473225"/>
            <a:ext cx="4372700" cy="3335124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43"/>
          <p:cNvSpPr txBox="1"/>
          <p:nvPr/>
        </p:nvSpPr>
        <p:spPr>
          <a:xfrm>
            <a:off x="342000" y="1014975"/>
            <a:ext cx="1566300" cy="2805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ThemeContext.jsx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374" name="Google Shape;374;p43"/>
          <p:cNvSpPr txBox="1"/>
          <p:nvPr/>
        </p:nvSpPr>
        <p:spPr>
          <a:xfrm>
            <a:off x="5078025" y="1400125"/>
            <a:ext cx="3752100" cy="32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  <a:t>What’s happening here:</a:t>
            </a:r>
            <a:endParaRPr sz="1000" b="1">
              <a:solidFill>
                <a:srgbClr val="1F1F1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Char char="●"/>
            </a:pPr>
            <a:r>
              <a:rPr lang="en" sz="1000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  <a:t>createContext() → creates a new context object (themecontext).</a:t>
            </a:r>
            <a:br>
              <a:rPr lang="en" sz="1000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000">
              <a:solidFill>
                <a:srgbClr val="1F1F1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Char char="●"/>
            </a:pPr>
            <a:r>
              <a:rPr lang="en" sz="1000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  <a:t>useState(false) → keeps track of whether the app is in </a:t>
            </a:r>
            <a:r>
              <a:rPr lang="en" sz="1000" b="1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  <a:t>dark mode</a:t>
            </a:r>
            <a:r>
              <a:rPr lang="en" sz="1000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  <a:t> or </a:t>
            </a:r>
            <a:r>
              <a:rPr lang="en" sz="1000" b="1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  <a:t>light mode</a:t>
            </a:r>
            <a:r>
              <a:rPr lang="en" sz="1000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br>
              <a:rPr lang="en" sz="1000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000">
              <a:solidFill>
                <a:srgbClr val="1F1F1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Char char="●"/>
            </a:pPr>
            <a:r>
              <a:rPr lang="en" sz="1000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  <a:t>changeTheme() → a function that toggles between light and dark theme.</a:t>
            </a:r>
            <a:br>
              <a:rPr lang="en" sz="1000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000">
              <a:solidFill>
                <a:srgbClr val="1F1F1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Char char="●"/>
            </a:pPr>
            <a:r>
              <a:rPr lang="en" sz="1000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  <a:t>value = { darkTheme, setDarkTheme, changeTheme } → all the data and functions we want to share.</a:t>
            </a:r>
            <a:br>
              <a:rPr lang="en" sz="1000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000">
              <a:solidFill>
                <a:srgbClr val="1F1F1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Char char="●"/>
            </a:pPr>
            <a:r>
              <a:rPr lang="en" sz="1000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  <a:t>&lt;themecontext.Provider value={value}&gt; → provides this value to </a:t>
            </a:r>
            <a:r>
              <a:rPr lang="en" sz="1000" b="1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  <a:t>all child components</a:t>
            </a:r>
            <a:r>
              <a:rPr lang="en" sz="1000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  <a:t> inside it.</a:t>
            </a:r>
            <a:endParaRPr sz="1000">
              <a:solidFill>
                <a:srgbClr val="1F1F1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1F1F1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  <a:t>This file is the </a:t>
            </a:r>
            <a:r>
              <a:rPr lang="en" sz="1000" b="1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  <a:t>source of truth</a:t>
            </a:r>
            <a:r>
              <a:rPr lang="en" sz="1000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  <a:t> for theme state and functions.</a:t>
            </a:r>
            <a:endParaRPr sz="1000">
              <a:solidFill>
                <a:srgbClr val="1F1F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375" name="Google Shape;375;p43"/>
          <p:cNvCxnSpPr/>
          <p:nvPr/>
        </p:nvCxnSpPr>
        <p:spPr>
          <a:xfrm flipH="1">
            <a:off x="2736050" y="1744150"/>
            <a:ext cx="2605800" cy="2325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6" name="Google Shape;376;p43"/>
          <p:cNvCxnSpPr/>
          <p:nvPr/>
        </p:nvCxnSpPr>
        <p:spPr>
          <a:xfrm flipH="1">
            <a:off x="3200925" y="2209250"/>
            <a:ext cx="2120400" cy="2256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7" name="Google Shape;377;p43"/>
          <p:cNvCxnSpPr/>
          <p:nvPr/>
        </p:nvCxnSpPr>
        <p:spPr>
          <a:xfrm flipH="1">
            <a:off x="1894550" y="2660675"/>
            <a:ext cx="3447300" cy="138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8" name="Google Shape;378;p43"/>
          <p:cNvCxnSpPr/>
          <p:nvPr/>
        </p:nvCxnSpPr>
        <p:spPr>
          <a:xfrm flipH="1">
            <a:off x="1381500" y="3132600"/>
            <a:ext cx="3933000" cy="1230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9" name="Google Shape;379;p43"/>
          <p:cNvCxnSpPr/>
          <p:nvPr/>
        </p:nvCxnSpPr>
        <p:spPr>
          <a:xfrm flipH="1">
            <a:off x="4432250" y="3734500"/>
            <a:ext cx="875400" cy="888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4"/>
          <p:cNvSpPr txBox="1"/>
          <p:nvPr/>
        </p:nvSpPr>
        <p:spPr>
          <a:xfrm>
            <a:off x="310900" y="197325"/>
            <a:ext cx="747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</a:t>
            </a:r>
            <a:r>
              <a:rPr lang="en" sz="280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Context api</a:t>
            </a:r>
            <a:endParaRPr sz="28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85" name="Google Shape;385;p4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4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22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387" name="Google Shape;387;p44"/>
          <p:cNvSpPr txBox="1"/>
          <p:nvPr/>
        </p:nvSpPr>
        <p:spPr>
          <a:xfrm>
            <a:off x="342000" y="1014975"/>
            <a:ext cx="1566300" cy="2805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App.jsx</a:t>
            </a:r>
            <a:endParaRPr sz="1300">
              <a:solidFill>
                <a:schemeClr val="dk2"/>
              </a:solidFill>
            </a:endParaRPr>
          </a:p>
        </p:txBody>
      </p:sp>
      <p:pic>
        <p:nvPicPr>
          <p:cNvPr id="388" name="Google Shape;388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2000" y="1540425"/>
            <a:ext cx="4229999" cy="24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44"/>
          <p:cNvSpPr txBox="1"/>
          <p:nvPr/>
        </p:nvSpPr>
        <p:spPr>
          <a:xfrm>
            <a:off x="5417075" y="1561575"/>
            <a:ext cx="3310500" cy="24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  <a:t>What’s happening here:</a:t>
            </a:r>
            <a:endParaRPr sz="800" b="1">
              <a:solidFill>
                <a:srgbClr val="1F1F1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800"/>
              <a:buChar char="●"/>
            </a:pPr>
            <a:r>
              <a:rPr lang="en" sz="800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  <a:t>useContext(themecontext) → pulls out the data from the ThemeContext provider.</a:t>
            </a:r>
            <a:br>
              <a:rPr lang="en" sz="800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800">
              <a:solidFill>
                <a:srgbClr val="1F1F1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800"/>
              <a:buChar char="●"/>
            </a:pPr>
            <a:r>
              <a:rPr lang="en" sz="800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  <a:t>{ darkTheme, changeTheme } → directly use the values we provided earlier.</a:t>
            </a:r>
            <a:br>
              <a:rPr lang="en" sz="800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800">
              <a:solidFill>
                <a:srgbClr val="1F1F1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800"/>
              <a:buChar char="●"/>
            </a:pPr>
            <a:r>
              <a:rPr lang="en" sz="800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  <a:t>backgroundColor: darkTheme ? 'black' : 'white' → dynamically changes page color based on theme.</a:t>
            </a:r>
            <a:br>
              <a:rPr lang="en" sz="800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800">
              <a:solidFill>
                <a:srgbClr val="1F1F1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800"/>
              <a:buChar char="●"/>
            </a:pPr>
            <a:r>
              <a:rPr lang="en" sz="800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  <a:t>&lt;button onClick={changeTheme}&gt; → toggles the theme when clicked.</a:t>
            </a:r>
            <a:br>
              <a:rPr lang="en" sz="800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800">
              <a:solidFill>
                <a:srgbClr val="1F1F1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800"/>
              <a:buChar char="●"/>
            </a:pPr>
            <a:r>
              <a:rPr lang="en" sz="800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  <a:t>{darkTheme} → shows the current theme value (true or false).</a:t>
            </a:r>
            <a:br>
              <a:rPr lang="en" sz="800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800">
              <a:solidFill>
                <a:srgbClr val="1F1F1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  <a:t> This file is the </a:t>
            </a:r>
            <a:r>
              <a:rPr lang="en" sz="800" b="1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  <a:t>consumer</a:t>
            </a:r>
            <a:r>
              <a:rPr lang="en" sz="800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  <a:t> that actually </a:t>
            </a:r>
            <a:r>
              <a:rPr lang="en" sz="800" b="1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  <a:t>uses the data</a:t>
            </a:r>
            <a:r>
              <a:rPr lang="en" sz="800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  <a:t> from context.</a:t>
            </a:r>
            <a:endParaRPr sz="800">
              <a:solidFill>
                <a:srgbClr val="1F1F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390" name="Google Shape;390;p44"/>
          <p:cNvCxnSpPr/>
          <p:nvPr/>
        </p:nvCxnSpPr>
        <p:spPr>
          <a:xfrm rot="10800000">
            <a:off x="1354250" y="3016375"/>
            <a:ext cx="4329600" cy="3009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1" name="Google Shape;391;p44"/>
          <p:cNvCxnSpPr/>
          <p:nvPr/>
        </p:nvCxnSpPr>
        <p:spPr>
          <a:xfrm rot="10800000">
            <a:off x="3023150" y="2872575"/>
            <a:ext cx="2694900" cy="822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2" name="Google Shape;392;p44"/>
          <p:cNvCxnSpPr/>
          <p:nvPr/>
        </p:nvCxnSpPr>
        <p:spPr>
          <a:xfrm flipH="1">
            <a:off x="4391075" y="2578600"/>
            <a:ext cx="1299600" cy="1230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3" name="Google Shape;393;p44"/>
          <p:cNvCxnSpPr/>
          <p:nvPr/>
        </p:nvCxnSpPr>
        <p:spPr>
          <a:xfrm flipH="1">
            <a:off x="3488200" y="2216075"/>
            <a:ext cx="2223000" cy="2667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4" name="Google Shape;394;p44"/>
          <p:cNvCxnSpPr/>
          <p:nvPr/>
        </p:nvCxnSpPr>
        <p:spPr>
          <a:xfrm flipH="1">
            <a:off x="3125675" y="1853575"/>
            <a:ext cx="2565000" cy="2256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" name="Google Shape;399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725" y="1623417"/>
            <a:ext cx="4329598" cy="2277507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45"/>
          <p:cNvSpPr txBox="1"/>
          <p:nvPr/>
        </p:nvSpPr>
        <p:spPr>
          <a:xfrm>
            <a:off x="310900" y="197325"/>
            <a:ext cx="747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</a:t>
            </a:r>
            <a:r>
              <a:rPr lang="en" sz="280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Context api</a:t>
            </a:r>
            <a:endParaRPr sz="28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01" name="Google Shape;401;p45" title="KRMU 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4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23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403" name="Google Shape;403;p45"/>
          <p:cNvSpPr txBox="1"/>
          <p:nvPr/>
        </p:nvSpPr>
        <p:spPr>
          <a:xfrm>
            <a:off x="342000" y="1014975"/>
            <a:ext cx="1566300" cy="2805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About.jsx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404" name="Google Shape;404;p45"/>
          <p:cNvSpPr txBox="1"/>
          <p:nvPr/>
        </p:nvSpPr>
        <p:spPr>
          <a:xfrm>
            <a:off x="5417075" y="1561575"/>
            <a:ext cx="3310500" cy="22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  <a:t>What’s happening here:</a:t>
            </a:r>
            <a:endParaRPr sz="800" b="1">
              <a:solidFill>
                <a:srgbClr val="1F1F1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800"/>
              <a:buChar char="●"/>
            </a:pPr>
            <a:r>
              <a:rPr lang="en" sz="800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  <a:t>useContext(themecontext) → pulls out the data from the ThemeContext provider.</a:t>
            </a:r>
            <a:br>
              <a:rPr lang="en" sz="800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800">
              <a:solidFill>
                <a:srgbClr val="1F1F1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800"/>
              <a:buChar char="●"/>
            </a:pPr>
            <a:r>
              <a:rPr lang="en" sz="800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  <a:t>{ darkTheme, changeTheme } → directly use the values we provided earlier.</a:t>
            </a:r>
            <a:br>
              <a:rPr lang="en" sz="800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800">
              <a:solidFill>
                <a:srgbClr val="1F1F1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800"/>
              <a:buChar char="●"/>
            </a:pPr>
            <a:r>
              <a:rPr lang="en" sz="800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  <a:t>backgroundColor: darkTheme ? 'black' : 'white' → dynamically changes page color based on theme.</a:t>
            </a:r>
            <a:br>
              <a:rPr lang="en" sz="800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800">
              <a:solidFill>
                <a:srgbClr val="1F1F1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800"/>
              <a:buChar char="●"/>
            </a:pPr>
            <a:r>
              <a:rPr lang="en" sz="800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  <a:t>&lt;button onClick={changeTheme}&gt; → toggles the theme when clicked.</a:t>
            </a:r>
            <a:br>
              <a:rPr lang="en" sz="800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800">
              <a:solidFill>
                <a:srgbClr val="1F1F1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800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800">
              <a:solidFill>
                <a:srgbClr val="1F1F1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  <a:t>This file is the </a:t>
            </a:r>
            <a:r>
              <a:rPr lang="en" sz="800" b="1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  <a:t>consumer</a:t>
            </a:r>
            <a:r>
              <a:rPr lang="en" sz="800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  <a:t> that actually </a:t>
            </a:r>
            <a:r>
              <a:rPr lang="en" sz="800" b="1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  <a:t>uses the data</a:t>
            </a:r>
            <a:r>
              <a:rPr lang="en" sz="800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  <a:t> from context.</a:t>
            </a:r>
            <a:endParaRPr sz="800">
              <a:solidFill>
                <a:srgbClr val="1F1F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405" name="Google Shape;405;p45"/>
          <p:cNvCxnSpPr/>
          <p:nvPr/>
        </p:nvCxnSpPr>
        <p:spPr>
          <a:xfrm rot="10800000">
            <a:off x="2804450" y="2742675"/>
            <a:ext cx="2913600" cy="2121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6" name="Google Shape;406;p45"/>
          <p:cNvCxnSpPr/>
          <p:nvPr/>
        </p:nvCxnSpPr>
        <p:spPr>
          <a:xfrm flipH="1">
            <a:off x="4664675" y="2578600"/>
            <a:ext cx="1026000" cy="342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7" name="Google Shape;407;p45"/>
          <p:cNvCxnSpPr/>
          <p:nvPr/>
        </p:nvCxnSpPr>
        <p:spPr>
          <a:xfrm flipH="1">
            <a:off x="3720700" y="2216075"/>
            <a:ext cx="1990500" cy="1983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8" name="Google Shape;408;p45"/>
          <p:cNvCxnSpPr/>
          <p:nvPr/>
        </p:nvCxnSpPr>
        <p:spPr>
          <a:xfrm flipH="1">
            <a:off x="3125675" y="1853575"/>
            <a:ext cx="2565000" cy="2256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3" name="Google Shape;413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000" y="1588325"/>
            <a:ext cx="5249048" cy="2501876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46"/>
          <p:cNvSpPr txBox="1"/>
          <p:nvPr/>
        </p:nvSpPr>
        <p:spPr>
          <a:xfrm>
            <a:off x="310900" y="197325"/>
            <a:ext cx="747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</a:t>
            </a:r>
            <a:r>
              <a:rPr lang="en" sz="280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Context api</a:t>
            </a:r>
            <a:endParaRPr sz="28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15" name="Google Shape;415;p46" title="KRMU 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4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24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417" name="Google Shape;417;p46"/>
          <p:cNvSpPr txBox="1"/>
          <p:nvPr/>
        </p:nvSpPr>
        <p:spPr>
          <a:xfrm>
            <a:off x="342000" y="1014975"/>
            <a:ext cx="1566300" cy="2805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Home.jsx</a:t>
            </a:r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7"/>
          <p:cNvSpPr txBox="1"/>
          <p:nvPr/>
        </p:nvSpPr>
        <p:spPr>
          <a:xfrm>
            <a:off x="310900" y="197325"/>
            <a:ext cx="747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</a:t>
            </a:r>
            <a:r>
              <a:rPr lang="en" sz="280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Context api</a:t>
            </a:r>
            <a:endParaRPr sz="28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23" name="Google Shape;423;p4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4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25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425" name="Google Shape;425;p47"/>
          <p:cNvSpPr txBox="1"/>
          <p:nvPr/>
        </p:nvSpPr>
        <p:spPr>
          <a:xfrm>
            <a:off x="362500" y="1014975"/>
            <a:ext cx="1566300" cy="2805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Contact.jsx</a:t>
            </a:r>
            <a:endParaRPr sz="1300">
              <a:solidFill>
                <a:schemeClr val="dk2"/>
              </a:solidFill>
            </a:endParaRPr>
          </a:p>
        </p:txBody>
      </p:sp>
      <p:pic>
        <p:nvPicPr>
          <p:cNvPr id="426" name="Google Shape;426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0900" y="1705225"/>
            <a:ext cx="5319424" cy="253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8"/>
          <p:cNvSpPr txBox="1"/>
          <p:nvPr/>
        </p:nvSpPr>
        <p:spPr>
          <a:xfrm>
            <a:off x="310900" y="197325"/>
            <a:ext cx="747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</a:t>
            </a:r>
            <a:r>
              <a:rPr lang="en" sz="280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Context api</a:t>
            </a:r>
            <a:endParaRPr sz="28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32" name="Google Shape;432;p4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4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26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434" name="Google Shape;434;p48"/>
          <p:cNvSpPr txBox="1"/>
          <p:nvPr/>
        </p:nvSpPr>
        <p:spPr>
          <a:xfrm>
            <a:off x="342000" y="1014975"/>
            <a:ext cx="1566300" cy="2805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index.jsx</a:t>
            </a:r>
            <a:endParaRPr sz="1300">
              <a:solidFill>
                <a:schemeClr val="dk2"/>
              </a:solidFill>
            </a:endParaRPr>
          </a:p>
        </p:txBody>
      </p:sp>
      <p:pic>
        <p:nvPicPr>
          <p:cNvPr id="435" name="Google Shape;435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2000" y="1552800"/>
            <a:ext cx="3741326" cy="2400575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48"/>
          <p:cNvSpPr txBox="1"/>
          <p:nvPr/>
        </p:nvSpPr>
        <p:spPr>
          <a:xfrm>
            <a:off x="5246075" y="2209425"/>
            <a:ext cx="3000000" cy="14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  <a:t>What’s happening here:</a:t>
            </a:r>
            <a:endParaRPr sz="900" b="1">
              <a:solidFill>
                <a:srgbClr val="1F1F1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900"/>
              <a:buChar char="●"/>
            </a:pPr>
            <a:r>
              <a:rPr lang="en" sz="900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  <a:t>We wrap &lt;App /&gt; inside &lt;ThemeContext&gt; provider.</a:t>
            </a:r>
            <a:br>
              <a:rPr lang="en" sz="900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900">
              <a:solidFill>
                <a:srgbClr val="1F1F1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900"/>
              <a:buChar char="●"/>
            </a:pPr>
            <a:r>
              <a:rPr lang="en" sz="900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  <a:t>This ensures that every component inside App can access darkTheme and changeTheme without prop drilling.</a:t>
            </a:r>
            <a:br>
              <a:rPr lang="en" sz="900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900">
              <a:solidFill>
                <a:srgbClr val="1F1F1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  <a:t> In short: This file </a:t>
            </a:r>
            <a:r>
              <a:rPr lang="en" sz="900" b="1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  <a:t>connects everything together</a:t>
            </a:r>
            <a:r>
              <a:rPr lang="en" sz="900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900">
              <a:solidFill>
                <a:srgbClr val="1F1F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437" name="Google Shape;437;p48"/>
          <p:cNvCxnSpPr/>
          <p:nvPr/>
        </p:nvCxnSpPr>
        <p:spPr>
          <a:xfrm flipH="1">
            <a:off x="1087425" y="2510200"/>
            <a:ext cx="4439100" cy="7797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9"/>
          <p:cNvSpPr txBox="1"/>
          <p:nvPr/>
        </p:nvSpPr>
        <p:spPr>
          <a:xfrm>
            <a:off x="310900" y="197325"/>
            <a:ext cx="747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</a:t>
            </a:r>
            <a:r>
              <a:rPr lang="en" sz="280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Context api</a:t>
            </a:r>
            <a:endParaRPr sz="28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43" name="Google Shape;443;p49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4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27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445" name="Google Shape;445;p49"/>
          <p:cNvSpPr txBox="1"/>
          <p:nvPr/>
        </p:nvSpPr>
        <p:spPr>
          <a:xfrm>
            <a:off x="310900" y="1617450"/>
            <a:ext cx="3847800" cy="19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Without Context API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→ Theme is passed manually to every component as props → messy &amp; repetitive.</a:t>
            </a:r>
            <a:b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With Context API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→ Theme is available globally like Wi-Fi → any component can connect and use it directly.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46" name="Google Shape;446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344148"/>
            <a:ext cx="4117452" cy="2744975"/>
          </a:xfrm>
          <a:prstGeom prst="rect">
            <a:avLst/>
          </a:prstGeom>
          <a:noFill/>
          <a:ln>
            <a:noFill/>
          </a:ln>
          <a:effectLst>
            <a:outerShdw blurRad="185738" dist="76200" dir="738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50"/>
          <p:cNvSpPr txBox="1"/>
          <p:nvPr/>
        </p:nvSpPr>
        <p:spPr>
          <a:xfrm>
            <a:off x="310900" y="197325"/>
            <a:ext cx="747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</a:t>
            </a:r>
            <a:r>
              <a:rPr lang="en" sz="280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Coding Questions</a:t>
            </a:r>
            <a:endParaRPr sz="28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52" name="Google Shape;452;p50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50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5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28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455" name="Google Shape;455;p50"/>
          <p:cNvGrpSpPr/>
          <p:nvPr/>
        </p:nvGrpSpPr>
        <p:grpSpPr>
          <a:xfrm>
            <a:off x="310894" y="1014975"/>
            <a:ext cx="6716433" cy="2279525"/>
            <a:chOff x="310900" y="1014975"/>
            <a:chExt cx="6327900" cy="2279525"/>
          </a:xfrm>
        </p:grpSpPr>
        <p:sp>
          <p:nvSpPr>
            <p:cNvPr id="456" name="Google Shape;456;p50"/>
            <p:cNvSpPr txBox="1"/>
            <p:nvPr/>
          </p:nvSpPr>
          <p:spPr>
            <a:xfrm>
              <a:off x="310900" y="1014975"/>
              <a:ext cx="51390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1.  </a:t>
              </a:r>
              <a:r>
                <a:rPr lang="en" sz="1700" b="1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" b="1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Creating and Consuming a Simple Context</a:t>
              </a:r>
              <a:endPara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57" name="Google Shape;457;p50"/>
            <p:cNvSpPr txBox="1"/>
            <p:nvPr/>
          </p:nvSpPr>
          <p:spPr>
            <a:xfrm>
              <a:off x="310900" y="1725200"/>
              <a:ext cx="6327900" cy="15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Task :</a:t>
              </a:r>
              <a:endParaRPr sz="1100">
                <a:solidFill>
                  <a:srgbClr val="000000"/>
                </a:solidFill>
              </a:endParaRPr>
            </a:p>
            <a:p>
              <a:pPr marL="914400" lvl="0" indent="-29845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en" sz="1100">
                  <a:solidFill>
                    <a:schemeClr val="dk1"/>
                  </a:solidFill>
                </a:rPr>
                <a:t> Create a </a:t>
              </a:r>
              <a:r>
                <a:rPr lang="en" sz="1100" b="1">
                  <a:solidFill>
                    <a:schemeClr val="dk1"/>
                  </a:solidFill>
                </a:rPr>
                <a:t>ThemeContext</a:t>
              </a:r>
              <a:r>
                <a:rPr lang="en" sz="1100">
                  <a:solidFill>
                    <a:schemeClr val="dk1"/>
                  </a:solidFill>
                </a:rPr>
                <a:t> that provides a simple string value (e.g., "dark"). In your </a:t>
              </a:r>
              <a:r>
                <a:rPr lang="en" sz="1100" b="1">
                  <a:solidFill>
                    <a:schemeClr val="dk1"/>
                  </a:solidFill>
                </a:rPr>
                <a:t>App</a:t>
              </a:r>
              <a:r>
                <a:rPr lang="en" sz="1100">
                  <a:solidFill>
                    <a:schemeClr val="dk1"/>
                  </a:solidFill>
                </a:rPr>
                <a:t> component, use the </a:t>
              </a:r>
              <a:r>
                <a:rPr lang="en" sz="1100" b="1">
                  <a:solidFill>
                    <a:schemeClr val="dk1"/>
                  </a:solidFill>
                </a:rPr>
                <a:t>ThemeProvider</a:t>
              </a:r>
              <a:r>
                <a:rPr lang="en" sz="1100">
                  <a:solidFill>
                    <a:schemeClr val="dk1"/>
                  </a:solidFill>
                </a:rPr>
                <a:t> to wrap a child component. In the child component, use the </a:t>
              </a:r>
              <a:r>
                <a:rPr lang="en" sz="1100" b="1">
                  <a:solidFill>
                    <a:schemeClr val="dk1"/>
                  </a:solidFill>
                </a:rPr>
                <a:t>useContext</a:t>
              </a:r>
              <a:r>
                <a:rPr lang="en" sz="1100">
                  <a:solidFill>
                    <a:schemeClr val="dk1"/>
                  </a:solidFill>
                </a:rPr>
                <a:t> hook to read and display the theme value.</a:t>
              </a:r>
              <a:endParaRPr sz="1100">
                <a:solidFill>
                  <a:schemeClr val="dk1"/>
                </a:solidFill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endParaRPr sz="1100"/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51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Coding Questions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63" name="Google Shape;463;p51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51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5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29</a:t>
            </a:fld>
            <a:endParaRPr/>
          </a:p>
        </p:txBody>
      </p:sp>
      <p:sp>
        <p:nvSpPr>
          <p:cNvPr id="466" name="Google Shape;466;p51"/>
          <p:cNvSpPr txBox="1"/>
          <p:nvPr/>
        </p:nvSpPr>
        <p:spPr>
          <a:xfrm>
            <a:off x="310900" y="1086300"/>
            <a:ext cx="10497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Solution :</a:t>
            </a:r>
            <a:endParaRPr sz="1700"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7" name="Google Shape;467;p51"/>
          <p:cNvSpPr txBox="1"/>
          <p:nvPr/>
        </p:nvSpPr>
        <p:spPr>
          <a:xfrm>
            <a:off x="1445775" y="4705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src/App.jsx:</a:t>
            </a:r>
            <a:endParaRPr/>
          </a:p>
        </p:txBody>
      </p:sp>
      <p:pic>
        <p:nvPicPr>
          <p:cNvPr id="468" name="Google Shape;468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13000" y="922425"/>
            <a:ext cx="4386439" cy="359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52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Coding Questions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74" name="Google Shape;474;p52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52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5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30</a:t>
            </a:fld>
            <a:endParaRPr/>
          </a:p>
        </p:txBody>
      </p:sp>
      <p:sp>
        <p:nvSpPr>
          <p:cNvPr id="477" name="Google Shape;477;p52"/>
          <p:cNvSpPr txBox="1"/>
          <p:nvPr/>
        </p:nvSpPr>
        <p:spPr>
          <a:xfrm>
            <a:off x="310900" y="1086300"/>
            <a:ext cx="10497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Solution :</a:t>
            </a:r>
            <a:endParaRPr sz="1700"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78" name="Google Shape;478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00625" y="1086300"/>
            <a:ext cx="5309217" cy="1952950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52"/>
          <p:cNvSpPr txBox="1"/>
          <p:nvPr/>
        </p:nvSpPr>
        <p:spPr>
          <a:xfrm>
            <a:off x="1600625" y="3464575"/>
            <a:ext cx="3000000" cy="5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</a:rPr>
              <a:t>src/ThemeContext.js:</a:t>
            </a:r>
            <a:br>
              <a:rPr lang="en" sz="1100" b="1">
                <a:solidFill>
                  <a:schemeClr val="dk1"/>
                </a:solidFill>
              </a:rPr>
            </a:br>
            <a:endParaRPr/>
          </a:p>
        </p:txBody>
      </p:sp>
    </p:spTree>
  </p:cSld>
  <p:clrMapOvr>
    <a:masterClrMapping/>
  </p:clrMapOvr>
  <p:transition spd="med">
    <p:fade thruBlk="1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53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Coding Questions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85" name="Google Shape;485;p53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53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5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31</a:t>
            </a:fld>
            <a:endParaRPr/>
          </a:p>
        </p:txBody>
      </p:sp>
      <p:sp>
        <p:nvSpPr>
          <p:cNvPr id="488" name="Google Shape;488;p53"/>
          <p:cNvSpPr txBox="1"/>
          <p:nvPr/>
        </p:nvSpPr>
        <p:spPr>
          <a:xfrm>
            <a:off x="310900" y="1086300"/>
            <a:ext cx="10497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Solution :</a:t>
            </a:r>
            <a:endParaRPr sz="1700"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89" name="Google Shape;489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39450" y="1086300"/>
            <a:ext cx="4791550" cy="2944574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53"/>
          <p:cNvSpPr txBox="1"/>
          <p:nvPr/>
        </p:nvSpPr>
        <p:spPr>
          <a:xfrm>
            <a:off x="1439450" y="4261950"/>
            <a:ext cx="3000000" cy="5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</a:rPr>
              <a:t>src/ThemedComponent.jsx:</a:t>
            </a:r>
            <a:br>
              <a:rPr lang="en" sz="1100" b="1">
                <a:solidFill>
                  <a:schemeClr val="dk1"/>
                </a:solidFill>
              </a:rPr>
            </a:br>
            <a:endParaRPr/>
          </a:p>
        </p:txBody>
      </p:sp>
    </p:spTree>
  </p:cSld>
  <p:clrMapOvr>
    <a:masterClrMapping/>
  </p:clrMapOvr>
  <p:transition spd="med">
    <p:fade thruBlk="1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54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Coding Questions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96" name="Google Shape;496;p5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54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5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32</a:t>
            </a:fld>
            <a:endParaRPr/>
          </a:p>
        </p:txBody>
      </p:sp>
      <p:sp>
        <p:nvSpPr>
          <p:cNvPr id="499" name="Google Shape;499;p54"/>
          <p:cNvSpPr txBox="1"/>
          <p:nvPr/>
        </p:nvSpPr>
        <p:spPr>
          <a:xfrm>
            <a:off x="310900" y="1086300"/>
            <a:ext cx="10497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Output :</a:t>
            </a:r>
            <a:endParaRPr sz="1700"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00" name="Google Shape;500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98700" y="1238000"/>
            <a:ext cx="4615051" cy="3148249"/>
          </a:xfrm>
          <a:prstGeom prst="rect">
            <a:avLst/>
          </a:prstGeom>
          <a:noFill/>
          <a:ln>
            <a:noFill/>
          </a:ln>
          <a:effectLst>
            <a:outerShdw blurRad="157163" dist="85725" dir="72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 spd="med">
    <p:fade thruBlk="1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55"/>
          <p:cNvSpPr txBox="1">
            <a:spLocks noGrp="1"/>
          </p:cNvSpPr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06" name="Google Shape;506;p5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55"/>
          <p:cNvSpPr txBox="1"/>
          <p:nvPr/>
        </p:nvSpPr>
        <p:spPr>
          <a:xfrm>
            <a:off x="310900" y="1228825"/>
            <a:ext cx="816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</a:t>
            </a:r>
            <a:r>
              <a:rPr lang="en" sz="13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What is "prop drilling" in React?</a:t>
            </a: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sz="3100"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8" name="Google Shape;508;p55"/>
          <p:cNvSpPr txBox="1"/>
          <p:nvPr/>
        </p:nvSpPr>
        <p:spPr>
          <a:xfrm>
            <a:off x="310900" y="1748350"/>
            <a:ext cx="8084700" cy="18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sz="1100">
                <a:solidFill>
                  <a:schemeClr val="dk1"/>
                </a:solidFill>
              </a:rPr>
              <a:t>a) A performance optimization technique. </a:t>
            </a:r>
            <a:endParaRPr sz="1100">
              <a:solidFill>
                <a:schemeClr val="dk1"/>
              </a:solidFill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b) The process of passing props down through multiple layers of nested components. </a:t>
            </a:r>
            <a:endParaRPr sz="1100">
              <a:solidFill>
                <a:schemeClr val="dk1"/>
              </a:solidFill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c) A method for creating new props dynamically. </a:t>
            </a:r>
            <a:endParaRPr sz="1100">
              <a:solidFill>
                <a:schemeClr val="dk1"/>
              </a:solidFill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d) A way to handle errors in props.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09" name="Google Shape;509;p55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5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33</a:t>
            </a:fld>
            <a:endParaRPr/>
          </a:p>
        </p:txBody>
      </p:sp>
      <p:sp>
        <p:nvSpPr>
          <p:cNvPr id="511" name="Google Shape;511;p55"/>
          <p:cNvSpPr txBox="1"/>
          <p:nvPr/>
        </p:nvSpPr>
        <p:spPr>
          <a:xfrm>
            <a:off x="310950" y="3313725"/>
            <a:ext cx="62604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chemeClr val="dk2"/>
                </a:solidFill>
              </a:rPr>
              <a:t>  </a:t>
            </a:r>
            <a:r>
              <a:rPr lang="en" sz="1100">
                <a:solidFill>
                  <a:schemeClr val="dk1"/>
                </a:solidFill>
              </a:rPr>
              <a:t>b) The process of passing props down through multiple layers of nested  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                       components. 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512" name="Google Shape;512;p55"/>
          <p:cNvGrpSpPr/>
          <p:nvPr/>
        </p:nvGrpSpPr>
        <p:grpSpPr>
          <a:xfrm>
            <a:off x="310900" y="3959263"/>
            <a:ext cx="6005825" cy="1092013"/>
            <a:chOff x="310900" y="3959263"/>
            <a:chExt cx="6005825" cy="1092013"/>
          </a:xfrm>
        </p:grpSpPr>
        <p:sp>
          <p:nvSpPr>
            <p:cNvPr id="513" name="Google Shape;513;p55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b="1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514" name="Google Shape;514;p55"/>
            <p:cNvSpPr txBox="1"/>
            <p:nvPr/>
          </p:nvSpPr>
          <p:spPr>
            <a:xfrm>
              <a:off x="1607925" y="3959275"/>
              <a:ext cx="4708800" cy="109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</a:rPr>
                <a:t>Prop drilling occurs when you have to pass data through intermediate components that don't need the data, just to get it to a deeply nested child component that does.</a:t>
              </a:r>
              <a:endParaRPr sz="1100">
                <a:solidFill>
                  <a:schemeClr val="dk1"/>
                </a:solidFill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endParaRPr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56"/>
          <p:cNvSpPr txBox="1">
            <a:spLocks noGrp="1"/>
          </p:cNvSpPr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20" name="Google Shape;520;p5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56"/>
          <p:cNvSpPr txBox="1"/>
          <p:nvPr/>
        </p:nvSpPr>
        <p:spPr>
          <a:xfrm>
            <a:off x="310900" y="1228825"/>
            <a:ext cx="81615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</a:t>
            </a:r>
            <a:r>
              <a:rPr lang="en" sz="13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en" sz="13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What is the primary problem that the Context API solves?</a:t>
            </a: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2" name="Google Shape;522;p56"/>
          <p:cNvSpPr txBox="1"/>
          <p:nvPr/>
        </p:nvSpPr>
        <p:spPr>
          <a:xfrm>
            <a:off x="310900" y="1748350"/>
            <a:ext cx="8084700" cy="19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sz="1100">
                <a:solidFill>
                  <a:schemeClr val="dk1"/>
                </a:solidFill>
              </a:rPr>
              <a:t>a) It makes it easier to style components. </a:t>
            </a:r>
            <a:endParaRPr sz="1100">
              <a:solidFill>
                <a:schemeClr val="dk1"/>
              </a:solidFill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b) It helps you avoid prop drilling by making data available to a tree of components without passing it manually at every level. </a:t>
            </a:r>
            <a:endParaRPr sz="1100">
              <a:solidFill>
                <a:schemeClr val="dk1"/>
              </a:solidFill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c) It replaces the </a:t>
            </a:r>
            <a:r>
              <a:rPr lang="en" sz="1100" b="1">
                <a:solidFill>
                  <a:schemeClr val="dk1"/>
                </a:solidFill>
              </a:rPr>
              <a:t>useState</a:t>
            </a:r>
            <a:r>
              <a:rPr lang="en" sz="1100">
                <a:solidFill>
                  <a:schemeClr val="dk1"/>
                </a:solidFill>
              </a:rPr>
              <a:t> hook for all state management. </a:t>
            </a:r>
            <a:endParaRPr sz="1100">
              <a:solidFill>
                <a:schemeClr val="dk1"/>
              </a:solidFill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d) It allows you to fetch data from an API.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23" name="Google Shape;523;p56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5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34</a:t>
            </a:fld>
            <a:endParaRPr/>
          </a:p>
        </p:txBody>
      </p:sp>
      <p:sp>
        <p:nvSpPr>
          <p:cNvPr id="525" name="Google Shape;525;p56"/>
          <p:cNvSpPr txBox="1"/>
          <p:nvPr/>
        </p:nvSpPr>
        <p:spPr>
          <a:xfrm>
            <a:off x="310950" y="3313725"/>
            <a:ext cx="6260400" cy="6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chemeClr val="dk2"/>
                </a:solidFill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sz="1100">
                <a:solidFill>
                  <a:schemeClr val="dk1"/>
                </a:solidFill>
              </a:rPr>
              <a:t>b) It helps you avoid prop drilling by making data available to a tree of components   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                       without passing it manually at every level.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526" name="Google Shape;526;p56"/>
          <p:cNvGrpSpPr/>
          <p:nvPr/>
        </p:nvGrpSpPr>
        <p:grpSpPr>
          <a:xfrm>
            <a:off x="310900" y="3944925"/>
            <a:ext cx="5953250" cy="1092000"/>
            <a:chOff x="310900" y="3944925"/>
            <a:chExt cx="5953250" cy="1092000"/>
          </a:xfrm>
        </p:grpSpPr>
        <p:sp>
          <p:nvSpPr>
            <p:cNvPr id="527" name="Google Shape;527;p56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b="1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528" name="Google Shape;528;p56"/>
            <p:cNvSpPr txBox="1"/>
            <p:nvPr/>
          </p:nvSpPr>
          <p:spPr>
            <a:xfrm>
              <a:off x="1555350" y="3944925"/>
              <a:ext cx="4708800" cy="109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</a:rPr>
                <a:t> Context provides a way to share values that are considered "global" for a tree of components, like the current user or theme, without passing props down the hierarchy.</a:t>
              </a:r>
              <a:endParaRPr sz="1100">
                <a:solidFill>
                  <a:schemeClr val="dk1"/>
                </a:solidFill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endParaRPr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57"/>
          <p:cNvSpPr txBox="1">
            <a:spLocks noGrp="1"/>
          </p:cNvSpPr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34" name="Google Shape;534;p5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57"/>
          <p:cNvSpPr txBox="1"/>
          <p:nvPr/>
        </p:nvSpPr>
        <p:spPr>
          <a:xfrm>
            <a:off x="310900" y="1228825"/>
            <a:ext cx="81615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</a:t>
            </a:r>
            <a:r>
              <a:rPr lang="en" sz="13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en" sz="1100" b="1">
                <a:solidFill>
                  <a:schemeClr val="dk1"/>
                </a:solidFill>
              </a:rPr>
              <a:t> </a:t>
            </a:r>
            <a:r>
              <a:rPr lang="en" sz="13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Which function is used to create a new Context object?</a:t>
            </a: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6" name="Google Shape;536;p57"/>
          <p:cNvSpPr txBox="1"/>
          <p:nvPr/>
        </p:nvSpPr>
        <p:spPr>
          <a:xfrm>
            <a:off x="310900" y="1748350"/>
            <a:ext cx="8084700" cy="18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sz="1100">
                <a:solidFill>
                  <a:schemeClr val="dk1"/>
                </a:solidFill>
              </a:rPr>
              <a:t>a) React.useState() </a:t>
            </a:r>
            <a:endParaRPr sz="1100">
              <a:solidFill>
                <a:schemeClr val="dk1"/>
              </a:solidFill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b) React.newContext() </a:t>
            </a:r>
            <a:endParaRPr sz="1100">
              <a:solidFill>
                <a:schemeClr val="dk1"/>
              </a:solidFill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c) React.createContext() </a:t>
            </a:r>
            <a:endParaRPr sz="1100">
              <a:solidFill>
                <a:schemeClr val="dk1"/>
              </a:solidFill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d) React.useContext()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37" name="Google Shape;537;p57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538" name="Google Shape;538;p5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35</a:t>
            </a:fld>
            <a:endParaRPr/>
          </a:p>
        </p:txBody>
      </p:sp>
      <p:sp>
        <p:nvSpPr>
          <p:cNvPr id="539" name="Google Shape;539;p57"/>
          <p:cNvSpPr txBox="1"/>
          <p:nvPr/>
        </p:nvSpPr>
        <p:spPr>
          <a:xfrm>
            <a:off x="310950" y="3313725"/>
            <a:ext cx="6260400" cy="6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chemeClr val="dk2"/>
                </a:solidFill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sz="1100">
                <a:solidFill>
                  <a:schemeClr val="dk1"/>
                </a:solidFill>
              </a:rPr>
              <a:t>c) React.createContext() 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540" name="Google Shape;540;p57"/>
          <p:cNvGrpSpPr/>
          <p:nvPr/>
        </p:nvGrpSpPr>
        <p:grpSpPr>
          <a:xfrm>
            <a:off x="310900" y="3959263"/>
            <a:ext cx="6005825" cy="1092013"/>
            <a:chOff x="310900" y="3959263"/>
            <a:chExt cx="6005825" cy="1092013"/>
          </a:xfrm>
        </p:grpSpPr>
        <p:sp>
          <p:nvSpPr>
            <p:cNvPr id="541" name="Google Shape;541;p57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b="1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542" name="Google Shape;542;p57"/>
            <p:cNvSpPr txBox="1"/>
            <p:nvPr/>
          </p:nvSpPr>
          <p:spPr>
            <a:xfrm>
              <a:off x="1607925" y="3959275"/>
              <a:ext cx="4708800" cy="109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chemeClr val="dk1"/>
                  </a:solidFill>
                </a:rPr>
                <a:t>Explanation:</a:t>
              </a:r>
              <a:r>
                <a:rPr lang="en" sz="1100">
                  <a:solidFill>
                    <a:schemeClr val="dk1"/>
                  </a:solidFill>
                </a:rPr>
                <a:t> You start by calling </a:t>
              </a:r>
              <a:r>
                <a:rPr lang="en" sz="1100" b="1">
                  <a:solidFill>
                    <a:schemeClr val="dk1"/>
                  </a:solidFill>
                </a:rPr>
                <a:t>createContext()</a:t>
              </a:r>
              <a:r>
                <a:rPr lang="en" sz="1100">
                  <a:solidFill>
                    <a:schemeClr val="dk1"/>
                  </a:solidFill>
                </a:rPr>
                <a:t> to create a Context object. This object then gives you access to the </a:t>
              </a:r>
              <a:r>
                <a:rPr lang="en" sz="1100" b="1">
                  <a:solidFill>
                    <a:schemeClr val="dk1"/>
                  </a:solidFill>
                </a:rPr>
                <a:t>Provider</a:t>
              </a:r>
              <a:r>
                <a:rPr lang="en" sz="1100">
                  <a:solidFill>
                    <a:schemeClr val="dk1"/>
                  </a:solidFill>
                </a:rPr>
                <a:t> and is used by the consumer hook.</a:t>
              </a:r>
              <a:endParaRPr sz="1100">
                <a:solidFill>
                  <a:schemeClr val="dk1"/>
                </a:solidFill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endParaRPr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58"/>
          <p:cNvSpPr txBox="1">
            <a:spLocks noGrp="1"/>
          </p:cNvSpPr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48" name="Google Shape;548;p5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58"/>
          <p:cNvSpPr txBox="1"/>
          <p:nvPr/>
        </p:nvSpPr>
        <p:spPr>
          <a:xfrm>
            <a:off x="310900" y="1228825"/>
            <a:ext cx="85488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</a:t>
            </a:r>
            <a:r>
              <a:rPr lang="en" sz="13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sz="16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b="1">
                <a:solidFill>
                  <a:schemeClr val="dk1"/>
                </a:solidFill>
              </a:rPr>
              <a:t>How does a component make its context value available to all of its descendants?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chemeClr val="dk1"/>
              </a:solidFill>
            </a:endParaRPr>
          </a:p>
        </p:txBody>
      </p:sp>
      <p:sp>
        <p:nvSpPr>
          <p:cNvPr id="550" name="Google Shape;550;p58"/>
          <p:cNvSpPr txBox="1"/>
          <p:nvPr/>
        </p:nvSpPr>
        <p:spPr>
          <a:xfrm>
            <a:off x="310900" y="1748350"/>
            <a:ext cx="8084700" cy="18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sz="1100">
                <a:solidFill>
                  <a:schemeClr val="dk1"/>
                </a:solidFill>
              </a:rPr>
              <a:t>a) By calling a </a:t>
            </a:r>
            <a:r>
              <a:rPr lang="en" sz="1100" b="1">
                <a:solidFill>
                  <a:schemeClr val="dk1"/>
                </a:solidFill>
              </a:rPr>
              <a:t>provide()</a:t>
            </a:r>
            <a:r>
              <a:rPr lang="en" sz="1100">
                <a:solidFill>
                  <a:schemeClr val="dk1"/>
                </a:solidFill>
              </a:rPr>
              <a:t> function. </a:t>
            </a:r>
            <a:endParaRPr sz="1100">
              <a:solidFill>
                <a:schemeClr val="dk1"/>
              </a:solidFill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b) By returning a special </a:t>
            </a:r>
            <a:r>
              <a:rPr lang="en" sz="1100" b="1">
                <a:solidFill>
                  <a:schemeClr val="dk1"/>
                </a:solidFill>
              </a:rPr>
              <a:t>&lt;Provider&gt;</a:t>
            </a:r>
            <a:r>
              <a:rPr lang="en" sz="1100">
                <a:solidFill>
                  <a:schemeClr val="dk1"/>
                </a:solidFill>
              </a:rPr>
              <a:t> component and passing the data to its </a:t>
            </a:r>
            <a:r>
              <a:rPr lang="en" sz="1100" b="1">
                <a:solidFill>
                  <a:schemeClr val="dk1"/>
                </a:solidFill>
              </a:rPr>
              <a:t>value</a:t>
            </a:r>
            <a:r>
              <a:rPr lang="en" sz="1100">
                <a:solidFill>
                  <a:schemeClr val="dk1"/>
                </a:solidFill>
              </a:rPr>
              <a:t> prop. </a:t>
            </a:r>
            <a:endParaRPr sz="1100">
              <a:solidFill>
                <a:schemeClr val="dk1"/>
              </a:solidFill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c) By setting a global variable. </a:t>
            </a:r>
            <a:endParaRPr sz="1100">
              <a:solidFill>
                <a:schemeClr val="dk1"/>
              </a:solidFill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d) By using the </a:t>
            </a:r>
            <a:r>
              <a:rPr lang="en" sz="1100" b="1">
                <a:solidFill>
                  <a:schemeClr val="dk1"/>
                </a:solidFill>
              </a:rPr>
              <a:t>useProvider()</a:t>
            </a:r>
            <a:r>
              <a:rPr lang="en" sz="1100">
                <a:solidFill>
                  <a:schemeClr val="dk1"/>
                </a:solidFill>
              </a:rPr>
              <a:t> hook.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51" name="Google Shape;551;p58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5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36</a:t>
            </a:fld>
            <a:endParaRPr/>
          </a:p>
        </p:txBody>
      </p:sp>
      <p:sp>
        <p:nvSpPr>
          <p:cNvPr id="553" name="Google Shape;553;p58"/>
          <p:cNvSpPr txBox="1"/>
          <p:nvPr/>
        </p:nvSpPr>
        <p:spPr>
          <a:xfrm>
            <a:off x="310950" y="3313725"/>
            <a:ext cx="62604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chemeClr val="dk2"/>
                </a:solidFill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300">
                <a:solidFill>
                  <a:schemeClr val="dk1"/>
                </a:solidFill>
              </a:rPr>
              <a:t>b) By returning a special </a:t>
            </a:r>
            <a:r>
              <a:rPr lang="en" sz="1300" b="1">
                <a:solidFill>
                  <a:schemeClr val="dk1"/>
                </a:solidFill>
              </a:rPr>
              <a:t>&lt;Provider&gt;</a:t>
            </a:r>
            <a:r>
              <a:rPr lang="en" sz="1300">
                <a:solidFill>
                  <a:schemeClr val="dk1"/>
                </a:solidFill>
              </a:rPr>
              <a:t> component and passing the data  </a:t>
            </a: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                        to its </a:t>
            </a:r>
            <a:r>
              <a:rPr lang="en" sz="1300" b="1">
                <a:solidFill>
                  <a:schemeClr val="dk1"/>
                </a:solidFill>
              </a:rPr>
              <a:t>value</a:t>
            </a:r>
            <a:r>
              <a:rPr lang="en" sz="1300">
                <a:solidFill>
                  <a:schemeClr val="dk1"/>
                </a:solidFill>
              </a:rPr>
              <a:t> prop. </a:t>
            </a: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554" name="Google Shape;554;p58"/>
          <p:cNvGrpSpPr/>
          <p:nvPr/>
        </p:nvGrpSpPr>
        <p:grpSpPr>
          <a:xfrm>
            <a:off x="310900" y="3959263"/>
            <a:ext cx="6005825" cy="1198213"/>
            <a:chOff x="310900" y="3959263"/>
            <a:chExt cx="6005825" cy="1198213"/>
          </a:xfrm>
        </p:grpSpPr>
        <p:sp>
          <p:nvSpPr>
            <p:cNvPr id="555" name="Google Shape;555;p58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b="1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556" name="Google Shape;556;p58"/>
            <p:cNvSpPr txBox="1"/>
            <p:nvPr/>
          </p:nvSpPr>
          <p:spPr>
            <a:xfrm>
              <a:off x="1607925" y="3959275"/>
              <a:ext cx="4708800" cy="119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You must wrap the part of your component tree that needs access to the context with </a:t>
              </a:r>
              <a:r>
                <a:rPr lang="en" sz="1300" b="1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&lt;MyContext.Provider value={...}&gt;</a:t>
              </a:r>
              <a:r>
                <a:rPr lang="en" sz="13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.</a:t>
              </a:r>
              <a:endPara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endParaRPr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59"/>
          <p:cNvSpPr txBox="1">
            <a:spLocks noGrp="1"/>
          </p:cNvSpPr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62" name="Google Shape;562;p59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63" name="Google Shape;563;p59"/>
          <p:cNvSpPr txBox="1"/>
          <p:nvPr/>
        </p:nvSpPr>
        <p:spPr>
          <a:xfrm>
            <a:off x="310900" y="1228825"/>
            <a:ext cx="816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</a:t>
            </a:r>
            <a:r>
              <a:rPr lang="en" sz="13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en" sz="1100" b="1">
                <a:solidFill>
                  <a:schemeClr val="dk1"/>
                </a:solidFill>
              </a:rPr>
              <a:t> </a:t>
            </a:r>
            <a:r>
              <a:rPr lang="en" sz="13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3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How does a functional component consume (read) a value from a context?</a:t>
            </a: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3100"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4" name="Google Shape;564;p59"/>
          <p:cNvSpPr txBox="1"/>
          <p:nvPr/>
        </p:nvSpPr>
        <p:spPr>
          <a:xfrm>
            <a:off x="310900" y="1748350"/>
            <a:ext cx="8084700" cy="18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100">
                <a:solidFill>
                  <a:schemeClr val="dk1"/>
                </a:solidFill>
              </a:rPr>
              <a:t>a) By accepting it as a prop. </a:t>
            </a:r>
            <a:endParaRPr sz="1100">
              <a:solidFill>
                <a:schemeClr val="dk1"/>
              </a:solidFill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b) By using the </a:t>
            </a:r>
            <a:r>
              <a:rPr lang="en" sz="1100" b="1">
                <a:solidFill>
                  <a:schemeClr val="dk1"/>
                </a:solidFill>
              </a:rPr>
              <a:t>useContext</a:t>
            </a:r>
            <a:r>
              <a:rPr lang="en" sz="1100">
                <a:solidFill>
                  <a:schemeClr val="dk1"/>
                </a:solidFill>
              </a:rPr>
              <a:t> hook and passing it the context object. </a:t>
            </a:r>
            <a:endParaRPr sz="1100">
              <a:solidFill>
                <a:schemeClr val="dk1"/>
              </a:solidFill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c) By querying the DOM for the provider. </a:t>
            </a:r>
            <a:endParaRPr sz="1100">
              <a:solidFill>
                <a:schemeClr val="dk1"/>
              </a:solidFill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d) By importing the value directly from the file where the context was created.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65" name="Google Shape;565;p59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5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37</a:t>
            </a:fld>
            <a:endParaRPr/>
          </a:p>
        </p:txBody>
      </p:sp>
      <p:sp>
        <p:nvSpPr>
          <p:cNvPr id="567" name="Google Shape;567;p59"/>
          <p:cNvSpPr txBox="1"/>
          <p:nvPr/>
        </p:nvSpPr>
        <p:spPr>
          <a:xfrm>
            <a:off x="310950" y="3313725"/>
            <a:ext cx="6260400" cy="6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chemeClr val="dk2"/>
                </a:solidFill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100">
                <a:solidFill>
                  <a:schemeClr val="dk1"/>
                </a:solidFill>
              </a:rPr>
              <a:t>b) By using the </a:t>
            </a:r>
            <a:r>
              <a:rPr lang="en" sz="1100" b="1">
                <a:solidFill>
                  <a:schemeClr val="dk1"/>
                </a:solidFill>
              </a:rPr>
              <a:t>useContext</a:t>
            </a:r>
            <a:r>
              <a:rPr lang="en" sz="1100">
                <a:solidFill>
                  <a:schemeClr val="dk1"/>
                </a:solidFill>
              </a:rPr>
              <a:t> hook and passing it the context object. 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568" name="Google Shape;568;p59"/>
          <p:cNvGrpSpPr/>
          <p:nvPr/>
        </p:nvGrpSpPr>
        <p:grpSpPr>
          <a:xfrm>
            <a:off x="310900" y="3959263"/>
            <a:ext cx="6005825" cy="1145113"/>
            <a:chOff x="310900" y="3959263"/>
            <a:chExt cx="6005825" cy="1145113"/>
          </a:xfrm>
        </p:grpSpPr>
        <p:sp>
          <p:nvSpPr>
            <p:cNvPr id="569" name="Google Shape;569;p59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b="1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570" name="Google Shape;570;p59"/>
            <p:cNvSpPr txBox="1"/>
            <p:nvPr/>
          </p:nvSpPr>
          <p:spPr>
            <a:xfrm>
              <a:off x="1607925" y="3959275"/>
              <a:ext cx="4708800" cy="114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</a:rPr>
                <a:t>The </a:t>
              </a:r>
              <a:r>
                <a:rPr lang="en" sz="1200" b="1">
                  <a:solidFill>
                    <a:schemeClr val="dk1"/>
                  </a:solidFill>
                </a:rPr>
                <a:t>useContext(MyContext)</a:t>
              </a:r>
              <a:r>
                <a:rPr lang="en" sz="1200">
                  <a:solidFill>
                    <a:schemeClr val="dk1"/>
                  </a:solidFill>
                </a:rPr>
                <a:t> hook is the standard and simplest way for a component to subscribe to context changes and get the latest context value.</a:t>
              </a:r>
              <a:endParaRPr sz="1200">
                <a:solidFill>
                  <a:schemeClr val="dk1"/>
                </a:solidFill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endParaRPr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60"/>
          <p:cNvSpPr txBox="1">
            <a:spLocks noGrp="1"/>
          </p:cNvSpPr>
          <p:nvPr>
            <p:ph type="title"/>
          </p:nvPr>
        </p:nvSpPr>
        <p:spPr>
          <a:xfrm>
            <a:off x="310896" y="210312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References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76" name="Google Shape;576;p60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p60"/>
          <p:cNvSpPr txBox="1"/>
          <p:nvPr/>
        </p:nvSpPr>
        <p:spPr>
          <a:xfrm>
            <a:off x="358850" y="1181200"/>
            <a:ext cx="8520600" cy="3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MDN Web Docs</a:t>
            </a:r>
            <a:r>
              <a:rPr lang="en" sz="1100" b="1">
                <a:solidFill>
                  <a:schemeClr val="dk1"/>
                </a:solidFill>
              </a:rPr>
              <a:t> : </a:t>
            </a:r>
            <a:r>
              <a:rPr lang="en" sz="1100" i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Comprehensive and official documentation for JS.</a:t>
            </a:r>
            <a:br>
              <a:rPr lang="en" sz="1100" i="1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🔗</a:t>
            </a:r>
            <a:r>
              <a:rPr lang="en" sz="1100" u="sng">
                <a:solidFill>
                  <a:schemeClr val="hlink"/>
                </a:solidFill>
                <a:hlinkClick r:id="rId4"/>
              </a:rPr>
              <a:t>https://developer.mozilla.org/en-US/docs/Web/JavaScript</a:t>
            </a:r>
            <a:endParaRPr sz="1100" u="sng">
              <a:solidFill>
                <a:schemeClr val="hlink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u="sng">
              <a:solidFill>
                <a:schemeClr val="hlink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u="sng">
              <a:solidFill>
                <a:schemeClr val="hlink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u="sng">
              <a:solidFill>
                <a:schemeClr val="hlink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W3Schools – JS Tutorial : </a:t>
            </a:r>
            <a:r>
              <a:rPr lang="en" sz="1100" i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Beginner-friendly JS tutorials with examples and interactive editors.</a:t>
            </a:r>
            <a:br>
              <a:rPr lang="en" sz="1100" i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100">
                <a:solidFill>
                  <a:schemeClr val="dk1"/>
                </a:solidFill>
              </a:rPr>
              <a:t> 🔗</a:t>
            </a:r>
            <a:r>
              <a:rPr lang="en" sz="1100" u="sng">
                <a:solidFill>
                  <a:schemeClr val="hlink"/>
                </a:solidFill>
                <a:hlinkClick r:id="rId5"/>
              </a:rPr>
              <a:t> https://www.w3schools.com/js/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react.dev -</a:t>
            </a:r>
            <a:r>
              <a:rPr lang="en" sz="1100" b="1" i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100" i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comprehensive, tutorial-style website that deeply explores core React concepts, including components, state, effects, and hooks, through interactive examples and in-depth explanations.</a:t>
            </a:r>
            <a:endParaRPr sz="1100" i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🔗</a:t>
            </a:r>
            <a:r>
              <a:rPr lang="en" sz="1100" u="sng">
                <a:solidFill>
                  <a:schemeClr val="hlink"/>
                </a:solidFill>
                <a:hlinkClick r:id="rId6"/>
              </a:rPr>
              <a:t>https://react.dev/</a:t>
            </a:r>
            <a:endParaRPr sz="1100" i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78" name="Google Shape;578;p6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38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" name="Google Shape;583;p61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95600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584" name="Google Shape;584;p61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61"/>
          <p:cNvSpPr txBox="1"/>
          <p:nvPr/>
        </p:nvSpPr>
        <p:spPr>
          <a:xfrm>
            <a:off x="4407400" y="2020825"/>
            <a:ext cx="4636200" cy="5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173034"/>
                </a:solidFill>
              </a:rPr>
              <a:t>Course - Web Development - II</a:t>
            </a:r>
            <a:endParaRPr sz="2400" b="1">
              <a:solidFill>
                <a:srgbClr val="173034"/>
              </a:solidFill>
            </a:endParaRPr>
          </a:p>
        </p:txBody>
      </p:sp>
      <p:grpSp>
        <p:nvGrpSpPr>
          <p:cNvPr id="586" name="Google Shape;586;p61"/>
          <p:cNvGrpSpPr/>
          <p:nvPr/>
        </p:nvGrpSpPr>
        <p:grpSpPr>
          <a:xfrm>
            <a:off x="4572000" y="4881413"/>
            <a:ext cx="1607600" cy="292500"/>
            <a:chOff x="5060775" y="4881413"/>
            <a:chExt cx="1607600" cy="292500"/>
          </a:xfrm>
        </p:grpSpPr>
        <p:sp>
          <p:nvSpPr>
            <p:cNvPr id="587" name="Google Shape;587;p61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</a:rPr>
                <a:t>welcome@krmangalam.edu.in</a:t>
              </a:r>
              <a:endParaRPr sz="900">
                <a:solidFill>
                  <a:schemeClr val="dk1"/>
                </a:solidFill>
              </a:endParaRPr>
            </a:p>
          </p:txBody>
        </p:sp>
        <p:pic>
          <p:nvPicPr>
            <p:cNvPr id="588" name="Google Shape;588;p61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89" name="Google Shape;589;p61"/>
          <p:cNvSpPr txBox="1"/>
          <p:nvPr/>
        </p:nvSpPr>
        <p:spPr>
          <a:xfrm>
            <a:off x="7326500" y="4881425"/>
            <a:ext cx="23400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accent2"/>
                </a:solidFill>
              </a:rPr>
              <a:t>Sohna Road,Gurugram,Haryana 122103</a:t>
            </a:r>
            <a:endParaRPr sz="700">
              <a:solidFill>
                <a:schemeClr val="accent2"/>
              </a:solidFill>
            </a:endParaRPr>
          </a:p>
        </p:txBody>
      </p:sp>
      <p:pic>
        <p:nvPicPr>
          <p:cNvPr id="590" name="Google Shape;590;p61" title="location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29300" y="4959088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61"/>
          <p:cNvSpPr txBox="1">
            <a:spLocks noGrp="1"/>
          </p:cNvSpPr>
          <p:nvPr>
            <p:ph type="sldNum" idx="12"/>
          </p:nvPr>
        </p:nvSpPr>
        <p:spPr>
          <a:xfrm>
            <a:off x="8494883" y="464826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39</a:t>
            </a:fld>
            <a:endParaRPr/>
          </a:p>
        </p:txBody>
      </p:sp>
      <p:sp>
        <p:nvSpPr>
          <p:cNvPr id="592" name="Google Shape;592;p61"/>
          <p:cNvSpPr txBox="1"/>
          <p:nvPr/>
        </p:nvSpPr>
        <p:spPr>
          <a:xfrm>
            <a:off x="1033275" y="1691650"/>
            <a:ext cx="2313000" cy="17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Thanks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For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Watching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93" name="Google Shape;593;p61" title="Untitled (2)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038344" y="2660904"/>
            <a:ext cx="3309826" cy="2000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2044</Words>
  <Application>Microsoft Office PowerPoint</Application>
  <PresentationFormat>On-screen Show (16:9)</PresentationFormat>
  <Paragraphs>253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Roboto Mono</vt:lpstr>
      <vt:lpstr>Roboto Slab</vt:lpstr>
      <vt:lpstr>Poppins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| Coding Questions</vt:lpstr>
      <vt:lpstr>| Coding Questions</vt:lpstr>
      <vt:lpstr>| Coding Questions</vt:lpstr>
      <vt:lpstr>| Coding Questions</vt:lpstr>
      <vt:lpstr>| Check Your Understanding</vt:lpstr>
      <vt:lpstr>| Check Your Understanding</vt:lpstr>
      <vt:lpstr>| Check Your Understanding</vt:lpstr>
      <vt:lpstr>| Check Your Understanding</vt:lpstr>
      <vt:lpstr>| Check Your Understanding</vt:lpstr>
      <vt:lpstr>|  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Love Porwal</cp:lastModifiedBy>
  <cp:revision>1</cp:revision>
  <dcterms:modified xsi:type="dcterms:W3CDTF">2026-03-17T14:58:34Z</dcterms:modified>
</cp:coreProperties>
</file>