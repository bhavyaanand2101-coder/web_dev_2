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Roboto Slab"/>
      <p:regular r:id="rId24"/>
      <p:bold r:id="rId25"/>
    </p:embeddedFont>
    <p:embeddedFont>
      <p:font typeface="Poppins"/>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Slab-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oppins-regular.fntdata"/><Relationship Id="rId25" Type="http://schemas.openxmlformats.org/officeDocument/2006/relationships/font" Target="fonts/RobotoSlab-bold.fntdata"/><Relationship Id="rId28" Type="http://schemas.openxmlformats.org/officeDocument/2006/relationships/font" Target="fonts/Poppins-italic.fntdata"/><Relationship Id="rId27" Type="http://schemas.openxmlformats.org/officeDocument/2006/relationships/font" Target="fonts/Poppins-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bb2bd1157a_0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bb2bd1157a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bb2bd1157a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bb2bd1157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bb2bd1157a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bb2bd1157a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bb2bd1157a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bb2bd1157a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bb2bd1157a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bb2bd1157a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bb2bd1157a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bb2bd1157a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bb2bd1157a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bb2bd1157a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bb2bd1157a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bb2bd1157a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bb2bd1157a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bb2bd1157a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bb2bd1157a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bb2bd1157a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bb2bd1157a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bb2bd1157a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bb2bd1157a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bb2bd1157a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bb2bd1157a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bb2bd1157a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bb2bd1157a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bb2bd1157a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bb2bd1157a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bb2bd1157a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bb2bd1157a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bb2bd1157a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bb2bd1157a_0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bb2bd1157a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bb2bd1157a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bb2bd1157a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image" Target="../media/image6.png"/><Relationship Id="rId6" Type="http://schemas.openxmlformats.org/officeDocument/2006/relationships/image" Target="../media/image12.png"/><Relationship Id="rId7" Type="http://schemas.openxmlformats.org/officeDocument/2006/relationships/image" Target="../media/image26.jpg"/><Relationship Id="rId8" Type="http://schemas.openxmlformats.org/officeDocument/2006/relationships/image" Target="../media/image2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1.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24.png"/><Relationship Id="rId5"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hyperlink" Target="https://developer.mozilla.org/en-US/docs/Web/JavaScript" TargetMode="External"/><Relationship Id="rId5" Type="http://schemas.openxmlformats.org/officeDocument/2006/relationships/hyperlink" Target="https://www.w3schools.com/js/" TargetMode="External"/><Relationship Id="rId6" Type="http://schemas.openxmlformats.org/officeDocument/2006/relationships/hyperlink" Target="https://javascript.info/"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image" Target="../media/image6.png"/><Relationship Id="rId6" Type="http://schemas.openxmlformats.org/officeDocument/2006/relationships/image" Target="../media/image12.png"/><Relationship Id="rId7"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subtle-prism (2).png"/>
          <p:cNvPicPr preferRelativeResize="0"/>
          <p:nvPr/>
        </p:nvPicPr>
        <p:blipFill>
          <a:blip r:embed="rId3">
            <a:alphaModFix/>
          </a:blip>
          <a:stretch>
            <a:fillRect/>
          </a:stretch>
        </p:blipFill>
        <p:spPr>
          <a:xfrm rot="5400050">
            <a:off x="-395563" y="395600"/>
            <a:ext cx="5157175" cy="4365975"/>
          </a:xfrm>
          <a:prstGeom prst="flowChartManualInput">
            <a:avLst/>
          </a:prstGeom>
          <a:noFill/>
          <a:ln>
            <a:noFill/>
          </a:ln>
        </p:spPr>
      </p:pic>
      <p:pic>
        <p:nvPicPr>
          <p:cNvPr id="55" name="Google Shape;55;p13" title="KRMU_Full_heading_Logo-removebg-preview.png"/>
          <p:cNvPicPr preferRelativeResize="0"/>
          <p:nvPr/>
        </p:nvPicPr>
        <p:blipFill>
          <a:blip r:embed="rId4">
            <a:alphaModFix/>
          </a:blip>
          <a:stretch>
            <a:fillRect/>
          </a:stretch>
        </p:blipFill>
        <p:spPr>
          <a:xfrm>
            <a:off x="3806125" y="452500"/>
            <a:ext cx="5337876" cy="1363050"/>
          </a:xfrm>
          <a:prstGeom prst="rect">
            <a:avLst/>
          </a:prstGeom>
          <a:noFill/>
          <a:ln>
            <a:noFill/>
          </a:ln>
        </p:spPr>
      </p:pic>
      <p:sp>
        <p:nvSpPr>
          <p:cNvPr id="56" name="Google Shape;56;p13"/>
          <p:cNvSpPr txBox="1"/>
          <p:nvPr/>
        </p:nvSpPr>
        <p:spPr>
          <a:xfrm>
            <a:off x="4405600" y="2017650"/>
            <a:ext cx="4583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rgbClr val="173034"/>
                </a:solidFill>
              </a:rPr>
              <a:t>Course - Web Development - II </a:t>
            </a:r>
            <a:endParaRPr b="1" sz="2400">
              <a:solidFill>
                <a:srgbClr val="173034"/>
              </a:solidFill>
            </a:endParaRPr>
          </a:p>
        </p:txBody>
      </p:sp>
      <p:grpSp>
        <p:nvGrpSpPr>
          <p:cNvPr id="57" name="Google Shape;57;p13"/>
          <p:cNvGrpSpPr/>
          <p:nvPr/>
        </p:nvGrpSpPr>
        <p:grpSpPr>
          <a:xfrm>
            <a:off x="4572000" y="4882896"/>
            <a:ext cx="1607600" cy="292500"/>
            <a:chOff x="5060775" y="4881413"/>
            <a:chExt cx="1607600" cy="292500"/>
          </a:xfrm>
        </p:grpSpPr>
        <p:sp>
          <p:nvSpPr>
            <p:cNvPr id="58" name="Google Shape;58;p13"/>
            <p:cNvSpPr txBox="1"/>
            <p:nvPr/>
          </p:nvSpPr>
          <p:spPr>
            <a:xfrm>
              <a:off x="5165675" y="4881413"/>
              <a:ext cx="15027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000000"/>
                  </a:solidFill>
                </a:rPr>
                <a:t>welcome@krmangalam.edu.in</a:t>
              </a:r>
              <a:endParaRPr sz="900">
                <a:solidFill>
                  <a:srgbClr val="000000"/>
                </a:solidFill>
              </a:endParaRPr>
            </a:p>
          </p:txBody>
        </p:sp>
        <p:pic>
          <p:nvPicPr>
            <p:cNvPr id="59" name="Google Shape;59;p13" title="email.png"/>
            <p:cNvPicPr preferRelativeResize="0"/>
            <p:nvPr/>
          </p:nvPicPr>
          <p:blipFill>
            <a:blip r:embed="rId5">
              <a:alphaModFix/>
            </a:blip>
            <a:stretch>
              <a:fillRect/>
            </a:stretch>
          </p:blipFill>
          <p:spPr>
            <a:xfrm>
              <a:off x="5060775" y="4966738"/>
              <a:ext cx="137160" cy="137160"/>
            </a:xfrm>
            <a:prstGeom prst="rect">
              <a:avLst/>
            </a:prstGeom>
            <a:noFill/>
            <a:ln>
              <a:noFill/>
            </a:ln>
          </p:spPr>
        </p:pic>
      </p:grpSp>
      <p:grpSp>
        <p:nvGrpSpPr>
          <p:cNvPr id="60" name="Google Shape;60;p13"/>
          <p:cNvGrpSpPr/>
          <p:nvPr/>
        </p:nvGrpSpPr>
        <p:grpSpPr>
          <a:xfrm>
            <a:off x="7229300" y="4881425"/>
            <a:ext cx="1926000" cy="292500"/>
            <a:chOff x="7229300" y="4881425"/>
            <a:chExt cx="1926000" cy="292500"/>
          </a:xfrm>
        </p:grpSpPr>
        <p:sp>
          <p:nvSpPr>
            <p:cNvPr id="61" name="Google Shape;61;p13"/>
            <p:cNvSpPr txBox="1"/>
            <p:nvPr/>
          </p:nvSpPr>
          <p:spPr>
            <a:xfrm>
              <a:off x="7326500" y="4881425"/>
              <a:ext cx="18288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212121"/>
                  </a:solidFill>
                </a:rPr>
                <a:t>Sohna Road,Gurugram,Haryana 122103</a:t>
              </a:r>
              <a:endParaRPr sz="700">
                <a:solidFill>
                  <a:srgbClr val="212121"/>
                </a:solidFill>
              </a:endParaRPr>
            </a:p>
          </p:txBody>
        </p:sp>
        <p:pic>
          <p:nvPicPr>
            <p:cNvPr id="62" name="Google Shape;62;p13" title="location.png"/>
            <p:cNvPicPr preferRelativeResize="0"/>
            <p:nvPr/>
          </p:nvPicPr>
          <p:blipFill>
            <a:blip r:embed="rId6">
              <a:alphaModFix/>
            </a:blip>
            <a:stretch>
              <a:fillRect/>
            </a:stretch>
          </p:blipFill>
          <p:spPr>
            <a:xfrm>
              <a:off x="7229300" y="4965192"/>
              <a:ext cx="137160" cy="137160"/>
            </a:xfrm>
            <a:prstGeom prst="rect">
              <a:avLst/>
            </a:prstGeom>
            <a:noFill/>
            <a:ln>
              <a:noFill/>
            </a:ln>
          </p:spPr>
        </p:pic>
      </p:grpSp>
      <p:pic>
        <p:nvPicPr>
          <p:cNvPr id="63" name="Google Shape;63;p13" title="Wavy_Trv-02_Single-09.jpg"/>
          <p:cNvPicPr preferRelativeResize="0"/>
          <p:nvPr/>
        </p:nvPicPr>
        <p:blipFill>
          <a:blip r:embed="rId7">
            <a:alphaModFix/>
          </a:blip>
          <a:stretch>
            <a:fillRect/>
          </a:stretch>
        </p:blipFill>
        <p:spPr>
          <a:xfrm>
            <a:off x="5450000" y="2536688"/>
            <a:ext cx="2463299" cy="2227850"/>
          </a:xfrm>
          <a:prstGeom prst="rect">
            <a:avLst/>
          </a:prstGeom>
          <a:noFill/>
          <a:ln>
            <a:noFill/>
          </a:ln>
        </p:spPr>
      </p:pic>
      <p:sp>
        <p:nvSpPr>
          <p:cNvPr id="64" name="Google Shape;64;p1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65" name="Google Shape;65;p13"/>
          <p:cNvGrpSpPr/>
          <p:nvPr/>
        </p:nvGrpSpPr>
        <p:grpSpPr>
          <a:xfrm>
            <a:off x="303024" y="1247040"/>
            <a:ext cx="3415942" cy="3185076"/>
            <a:chOff x="309849" y="1233369"/>
            <a:chExt cx="3415942" cy="3239829"/>
          </a:xfrm>
        </p:grpSpPr>
        <p:grpSp>
          <p:nvGrpSpPr>
            <p:cNvPr id="66" name="Google Shape;66;p13"/>
            <p:cNvGrpSpPr/>
            <p:nvPr/>
          </p:nvGrpSpPr>
          <p:grpSpPr>
            <a:xfrm>
              <a:off x="309849" y="1233369"/>
              <a:ext cx="3415942" cy="2387863"/>
              <a:chOff x="788865" y="1515488"/>
              <a:chExt cx="4594407" cy="2387863"/>
            </a:xfrm>
          </p:grpSpPr>
          <p:sp>
            <p:nvSpPr>
              <p:cNvPr id="67" name="Google Shape;67;p13"/>
              <p:cNvSpPr txBox="1"/>
              <p:nvPr/>
            </p:nvSpPr>
            <p:spPr>
              <a:xfrm>
                <a:off x="788865" y="1515488"/>
                <a:ext cx="3197700" cy="61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700">
                    <a:solidFill>
                      <a:srgbClr val="FFFFFF"/>
                    </a:solidFill>
                    <a:latin typeface="Roboto Slab"/>
                    <a:ea typeface="Roboto Slab"/>
                    <a:cs typeface="Roboto Slab"/>
                    <a:sym typeface="Roboto Slab"/>
                  </a:rPr>
                  <a:t>Lecture 17</a:t>
                </a:r>
                <a:r>
                  <a:rPr lang="en" sz="2700">
                    <a:solidFill>
                      <a:srgbClr val="FFFFFF"/>
                    </a:solidFill>
                  </a:rPr>
                  <a:t>:</a:t>
                </a:r>
                <a:endParaRPr sz="2200">
                  <a:solidFill>
                    <a:srgbClr val="FFFFFF"/>
                  </a:solidFill>
                  <a:latin typeface="Roboto Slab"/>
                  <a:ea typeface="Roboto Slab"/>
                  <a:cs typeface="Roboto Slab"/>
                  <a:sym typeface="Roboto Slab"/>
                </a:endParaRPr>
              </a:p>
            </p:txBody>
          </p:sp>
          <p:sp>
            <p:nvSpPr>
              <p:cNvPr id="68" name="Google Shape;68;p13"/>
              <p:cNvSpPr txBox="1"/>
              <p:nvPr/>
            </p:nvSpPr>
            <p:spPr>
              <a:xfrm>
                <a:off x="788875" y="3475300"/>
                <a:ext cx="699000" cy="42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FFFFFF"/>
                    </a:solidFill>
                    <a:latin typeface="Poppins"/>
                    <a:ea typeface="Poppins"/>
                    <a:cs typeface="Poppins"/>
                    <a:sym typeface="Poppins"/>
                  </a:rPr>
                  <a:t>-By</a:t>
                </a:r>
                <a:endParaRPr>
                  <a:solidFill>
                    <a:srgbClr val="FFFFFF"/>
                  </a:solidFill>
                  <a:latin typeface="Poppins"/>
                  <a:ea typeface="Poppins"/>
                  <a:cs typeface="Poppins"/>
                  <a:sym typeface="Poppins"/>
                </a:endParaRPr>
              </a:p>
            </p:txBody>
          </p:sp>
          <p:sp>
            <p:nvSpPr>
              <p:cNvPr id="69" name="Google Shape;69;p13"/>
              <p:cNvSpPr txBox="1"/>
              <p:nvPr/>
            </p:nvSpPr>
            <p:spPr>
              <a:xfrm>
                <a:off x="790272" y="2145213"/>
                <a:ext cx="4593000" cy="9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lang="en" sz="2400">
                    <a:solidFill>
                      <a:srgbClr val="FFFFFF"/>
                    </a:solidFill>
                    <a:latin typeface="Poppins"/>
                    <a:ea typeface="Poppins"/>
                    <a:cs typeface="Poppins"/>
                    <a:sym typeface="Poppins"/>
                  </a:rPr>
                  <a:t>Fetch API</a:t>
                </a:r>
                <a:endParaRPr sz="2400">
                  <a:solidFill>
                    <a:srgbClr val="FFFFFF"/>
                  </a:solidFill>
                  <a:latin typeface="Poppins"/>
                  <a:ea typeface="Poppins"/>
                  <a:cs typeface="Poppins"/>
                  <a:sym typeface="Poppins"/>
                </a:endParaRPr>
              </a:p>
              <a:p>
                <a:pPr indent="0" lvl="0" marL="0" rtl="0" algn="l">
                  <a:spcBef>
                    <a:spcPts val="0"/>
                  </a:spcBef>
                  <a:spcAft>
                    <a:spcPts val="0"/>
                  </a:spcAft>
                  <a:buClr>
                    <a:srgbClr val="000000"/>
                  </a:buClr>
                  <a:buSzPts val="1100"/>
                  <a:buFont typeface="Arial"/>
                  <a:buNone/>
                </a:pPr>
                <a:r>
                  <a:t/>
                </a:r>
                <a:endParaRPr sz="2400">
                  <a:solidFill>
                    <a:srgbClr val="FFFFFF"/>
                  </a:solidFill>
                  <a:latin typeface="Poppins"/>
                  <a:ea typeface="Poppins"/>
                  <a:cs typeface="Poppins"/>
                  <a:sym typeface="Poppins"/>
                </a:endParaRPr>
              </a:p>
            </p:txBody>
          </p:sp>
          <p:sp>
            <p:nvSpPr>
              <p:cNvPr id="70" name="Google Shape;70;p13"/>
              <p:cNvSpPr txBox="1"/>
              <p:nvPr/>
            </p:nvSpPr>
            <p:spPr>
              <a:xfrm>
                <a:off x="1330896" y="3491750"/>
                <a:ext cx="3313200" cy="41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latin typeface="Poppins"/>
                    <a:ea typeface="Poppins"/>
                    <a:cs typeface="Poppins"/>
                    <a:sym typeface="Poppins"/>
                  </a:rPr>
                  <a:t>Instructor Name</a:t>
                </a:r>
                <a:endParaRPr>
                  <a:solidFill>
                    <a:srgbClr val="FFFFFF"/>
                  </a:solidFill>
                  <a:latin typeface="Poppins"/>
                  <a:ea typeface="Poppins"/>
                  <a:cs typeface="Poppins"/>
                  <a:sym typeface="Poppins"/>
                </a:endParaRPr>
              </a:p>
              <a:p>
                <a:pPr indent="0" lvl="0" marL="0" rtl="0" algn="l">
                  <a:spcBef>
                    <a:spcPts val="0"/>
                  </a:spcBef>
                  <a:spcAft>
                    <a:spcPts val="0"/>
                  </a:spcAft>
                  <a:buNone/>
                </a:pPr>
                <a:r>
                  <a:rPr lang="en">
                    <a:solidFill>
                      <a:srgbClr val="FFFFFF"/>
                    </a:solidFill>
                    <a:latin typeface="Poppins"/>
                    <a:ea typeface="Poppins"/>
                    <a:cs typeface="Poppins"/>
                    <a:sym typeface="Poppins"/>
                  </a:rPr>
                  <a:t>Pratik Raj verma</a:t>
                </a:r>
                <a:endParaRPr>
                  <a:solidFill>
                    <a:srgbClr val="FFFFFF"/>
                  </a:solidFill>
                  <a:latin typeface="Poppins"/>
                  <a:ea typeface="Poppins"/>
                  <a:cs typeface="Poppins"/>
                  <a:sym typeface="Poppins"/>
                </a:endParaRPr>
              </a:p>
              <a:p>
                <a:pPr indent="0" lvl="0" marL="0" rtl="0" algn="l">
                  <a:spcBef>
                    <a:spcPts val="0"/>
                  </a:spcBef>
                  <a:spcAft>
                    <a:spcPts val="0"/>
                  </a:spcAft>
                  <a:buNone/>
                </a:pPr>
                <a:r>
                  <a:t/>
                </a:r>
                <a:endParaRPr>
                  <a:solidFill>
                    <a:srgbClr val="FFFFFF"/>
                  </a:solidFill>
                  <a:latin typeface="Poppins"/>
                  <a:ea typeface="Poppins"/>
                  <a:cs typeface="Poppins"/>
                  <a:sym typeface="Poppins"/>
                </a:endParaRPr>
              </a:p>
            </p:txBody>
          </p:sp>
        </p:grpSp>
        <p:pic>
          <p:nvPicPr>
            <p:cNvPr id="71" name="Google Shape;71;p13" title="javascript-logo-javascript-icon-transparent-free-png.png"/>
            <p:cNvPicPr preferRelativeResize="0"/>
            <p:nvPr/>
          </p:nvPicPr>
          <p:blipFill>
            <a:blip r:embed="rId8">
              <a:alphaModFix/>
            </a:blip>
            <a:stretch>
              <a:fillRect/>
            </a:stretch>
          </p:blipFill>
          <p:spPr>
            <a:xfrm>
              <a:off x="1026422" y="3951990"/>
              <a:ext cx="521208" cy="521208"/>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4"/>
          <p:cNvSpPr txBox="1"/>
          <p:nvPr/>
        </p:nvSpPr>
        <p:spPr>
          <a:xfrm>
            <a:off x="311700" y="213250"/>
            <a:ext cx="74709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latin typeface="Poppins"/>
                <a:ea typeface="Poppins"/>
                <a:cs typeface="Poppins"/>
                <a:sym typeface="Poppins"/>
              </a:rPr>
              <a:t>|</a:t>
            </a:r>
            <a:r>
              <a:rPr b="1" lang="en" sz="2800">
                <a:solidFill>
                  <a:srgbClr val="1C4587"/>
                </a:solidFill>
                <a:latin typeface="Poppins"/>
                <a:ea typeface="Poppins"/>
                <a:cs typeface="Poppins"/>
                <a:sym typeface="Poppins"/>
              </a:rPr>
              <a:t>  </a:t>
            </a:r>
            <a:r>
              <a:rPr b="1" lang="en" sz="2800">
                <a:solidFill>
                  <a:srgbClr val="073763"/>
                </a:solidFill>
                <a:latin typeface="Poppins"/>
                <a:ea typeface="Poppins"/>
                <a:cs typeface="Poppins"/>
                <a:sym typeface="Poppins"/>
              </a:rPr>
              <a:t>Table of Contents</a:t>
            </a:r>
            <a:endParaRPr b="1" sz="2800">
              <a:solidFill>
                <a:srgbClr val="073763"/>
              </a:solidFill>
              <a:latin typeface="Poppins"/>
              <a:ea typeface="Poppins"/>
              <a:cs typeface="Poppins"/>
              <a:sym typeface="Poppins"/>
            </a:endParaRPr>
          </a:p>
        </p:txBody>
      </p:sp>
      <p:sp>
        <p:nvSpPr>
          <p:cNvPr id="77" name="Google Shape;77;p14"/>
          <p:cNvSpPr txBox="1"/>
          <p:nvPr/>
        </p:nvSpPr>
        <p:spPr>
          <a:xfrm>
            <a:off x="311700" y="1234700"/>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t/>
            </a:r>
            <a:endParaRPr sz="1800">
              <a:solidFill>
                <a:srgbClr val="273239"/>
              </a:solidFill>
            </a:endParaRPr>
          </a:p>
          <a:p>
            <a:pPr indent="-342900" lvl="0" marL="457200" rtl="0" algn="l">
              <a:lnSpc>
                <a:spcPct val="150000"/>
              </a:lnSpc>
              <a:spcBef>
                <a:spcPts val="1200"/>
              </a:spcBef>
              <a:spcAft>
                <a:spcPts val="0"/>
              </a:spcAft>
              <a:buClr>
                <a:srgbClr val="273239"/>
              </a:buClr>
              <a:buSzPts val="1800"/>
              <a:buChar char="●"/>
            </a:pPr>
            <a:r>
              <a:rPr lang="en" sz="1800">
                <a:solidFill>
                  <a:srgbClr val="273239"/>
                </a:solidFill>
              </a:rPr>
              <a:t>Fetch API</a:t>
            </a:r>
            <a:endParaRPr sz="1800">
              <a:solidFill>
                <a:srgbClr val="273239"/>
              </a:solidFill>
            </a:endParaRPr>
          </a:p>
          <a:p>
            <a:pPr indent="-342900" lvl="0" marL="457200" rtl="0" algn="l">
              <a:lnSpc>
                <a:spcPct val="150000"/>
              </a:lnSpc>
              <a:spcBef>
                <a:spcPts val="0"/>
              </a:spcBef>
              <a:spcAft>
                <a:spcPts val="0"/>
              </a:spcAft>
              <a:buClr>
                <a:srgbClr val="273239"/>
              </a:buClr>
              <a:buSzPts val="1800"/>
              <a:buChar char="●"/>
            </a:pPr>
            <a:r>
              <a:rPr lang="en" sz="1800">
                <a:solidFill>
                  <a:srgbClr val="273239"/>
                </a:solidFill>
              </a:rPr>
              <a:t>References.</a:t>
            </a:r>
            <a:endParaRPr sz="1800">
              <a:solidFill>
                <a:srgbClr val="273239"/>
              </a:solidFill>
            </a:endParaRPr>
          </a:p>
          <a:p>
            <a:pPr indent="-342900" lvl="0" marL="457200" rtl="0" algn="l">
              <a:lnSpc>
                <a:spcPct val="150000"/>
              </a:lnSpc>
              <a:spcBef>
                <a:spcPts val="0"/>
              </a:spcBef>
              <a:spcAft>
                <a:spcPts val="0"/>
              </a:spcAft>
              <a:buClr>
                <a:srgbClr val="273239"/>
              </a:buClr>
              <a:buSzPts val="1800"/>
              <a:buChar char="●"/>
            </a:pPr>
            <a:r>
              <a:rPr lang="en" sz="1800">
                <a:solidFill>
                  <a:srgbClr val="273239"/>
                </a:solidFill>
              </a:rPr>
              <a:t>The End.</a:t>
            </a:r>
            <a:endParaRPr sz="1800">
              <a:solidFill>
                <a:srgbClr val="273239"/>
              </a:solidFill>
            </a:endParaRPr>
          </a:p>
        </p:txBody>
      </p:sp>
      <p:pic>
        <p:nvPicPr>
          <p:cNvPr id="78" name="Google Shape;78;p14"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79" name="Google Shape;79;p1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txBox="1"/>
          <p:nvPr/>
        </p:nvSpPr>
        <p:spPr>
          <a:xfrm>
            <a:off x="311700" y="213250"/>
            <a:ext cx="2652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b="1" lang="en" sz="2200">
                <a:latin typeface="Poppins"/>
                <a:ea typeface="Poppins"/>
                <a:cs typeface="Poppins"/>
                <a:sym typeface="Poppins"/>
              </a:rPr>
              <a:t>|</a:t>
            </a:r>
            <a:r>
              <a:rPr b="1" lang="en" sz="2200">
                <a:solidFill>
                  <a:srgbClr val="1C4587"/>
                </a:solidFill>
                <a:latin typeface="Poppins"/>
                <a:ea typeface="Poppins"/>
                <a:cs typeface="Poppins"/>
                <a:sym typeface="Poppins"/>
              </a:rPr>
              <a:t>  </a:t>
            </a:r>
            <a:endParaRPr b="1" sz="2200">
              <a:solidFill>
                <a:srgbClr val="073763"/>
              </a:solidFill>
              <a:latin typeface="Poppins"/>
              <a:ea typeface="Poppins"/>
              <a:cs typeface="Poppins"/>
              <a:sym typeface="Poppins"/>
            </a:endParaRPr>
          </a:p>
        </p:txBody>
      </p:sp>
      <p:pic>
        <p:nvPicPr>
          <p:cNvPr id="85" name="Google Shape;85;p15"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86" name="Google Shape;86;p1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87" name="Google Shape;87;p15"/>
          <p:cNvSpPr txBox="1"/>
          <p:nvPr/>
        </p:nvSpPr>
        <p:spPr>
          <a:xfrm>
            <a:off x="576075" y="210300"/>
            <a:ext cx="7223700" cy="80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b="1" lang="en">
                <a:solidFill>
                  <a:srgbClr val="073763"/>
                </a:solidFill>
                <a:latin typeface="Poppins"/>
                <a:ea typeface="Poppins"/>
                <a:cs typeface="Poppins"/>
                <a:sym typeface="Poppins"/>
              </a:rPr>
              <a:t>Imagine you go to a restaurant.You call the waiter and ask for your favorite food.The waiter goes to the kitchen, tells the chef, and then brings your food back to your table.Now think about websites… If our frontend (the table) wants something from the backend (the kitchen), do we also have a ‘waiter’ who takes our request and brings back the data? </a:t>
            </a:r>
            <a:endParaRPr b="1">
              <a:solidFill>
                <a:srgbClr val="073763"/>
              </a:solidFill>
              <a:latin typeface="Poppins"/>
              <a:ea typeface="Poppins"/>
              <a:cs typeface="Poppins"/>
              <a:sym typeface="Poppins"/>
            </a:endParaRPr>
          </a:p>
        </p:txBody>
      </p:sp>
      <p:pic>
        <p:nvPicPr>
          <p:cNvPr id="88" name="Google Shape;88;p15"/>
          <p:cNvPicPr preferRelativeResize="0"/>
          <p:nvPr/>
        </p:nvPicPr>
        <p:blipFill>
          <a:blip r:embed="rId4">
            <a:alphaModFix/>
          </a:blip>
          <a:stretch>
            <a:fillRect/>
          </a:stretch>
        </p:blipFill>
        <p:spPr>
          <a:xfrm>
            <a:off x="3044063" y="1717200"/>
            <a:ext cx="3055875" cy="3055875"/>
          </a:xfrm>
          <a:prstGeom prst="rect">
            <a:avLst/>
          </a:prstGeom>
          <a:noFill/>
          <a:ln>
            <a:noFill/>
          </a:ln>
          <a:effectLst>
            <a:outerShdw blurRad="114300" rotWithShape="0" algn="bl" dir="7440000" dist="57150">
              <a:srgbClr val="000000">
                <a:alpha val="50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6"/>
          <p:cNvSpPr txBox="1"/>
          <p:nvPr/>
        </p:nvSpPr>
        <p:spPr>
          <a:xfrm>
            <a:off x="311700" y="213250"/>
            <a:ext cx="2652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b="1" lang="en" sz="2200">
                <a:latin typeface="Poppins"/>
                <a:ea typeface="Poppins"/>
                <a:cs typeface="Poppins"/>
                <a:sym typeface="Poppins"/>
              </a:rPr>
              <a:t>|</a:t>
            </a:r>
            <a:r>
              <a:rPr b="1" lang="en" sz="2200">
                <a:solidFill>
                  <a:srgbClr val="1C4587"/>
                </a:solidFill>
                <a:latin typeface="Poppins"/>
                <a:ea typeface="Poppins"/>
                <a:cs typeface="Poppins"/>
                <a:sym typeface="Poppins"/>
              </a:rPr>
              <a:t>  </a:t>
            </a:r>
            <a:endParaRPr b="1" sz="2200">
              <a:solidFill>
                <a:srgbClr val="073763"/>
              </a:solidFill>
              <a:latin typeface="Poppins"/>
              <a:ea typeface="Poppins"/>
              <a:cs typeface="Poppins"/>
              <a:sym typeface="Poppins"/>
            </a:endParaRPr>
          </a:p>
        </p:txBody>
      </p:sp>
      <p:pic>
        <p:nvPicPr>
          <p:cNvPr id="94" name="Google Shape;94;p16"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95" name="Google Shape;95;p1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96" name="Google Shape;96;p16"/>
          <p:cNvSpPr txBox="1"/>
          <p:nvPr/>
        </p:nvSpPr>
        <p:spPr>
          <a:xfrm>
            <a:off x="576075" y="210300"/>
            <a:ext cx="7223700" cy="80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b="1" lang="en">
                <a:solidFill>
                  <a:srgbClr val="073763"/>
                </a:solidFill>
                <a:latin typeface="Poppins"/>
                <a:ea typeface="Poppins"/>
                <a:cs typeface="Poppins"/>
                <a:sym typeface="Poppins"/>
              </a:rPr>
              <a:t>Imagine you go to a restaurant.You call the waiter and ask for your favorite food.The waiter goes to the kitchen, tells the chef, and then brings your food back to your table.Now think about websites… If our frontend (the table) wants something from the backend (the kitchen), do we also have a ‘waiter’ who takes our request and brings back the data? </a:t>
            </a:r>
            <a:endParaRPr b="1">
              <a:solidFill>
                <a:srgbClr val="073763"/>
              </a:solidFill>
              <a:latin typeface="Poppins"/>
              <a:ea typeface="Poppins"/>
              <a:cs typeface="Poppins"/>
              <a:sym typeface="Poppins"/>
            </a:endParaRPr>
          </a:p>
        </p:txBody>
      </p:sp>
      <p:sp>
        <p:nvSpPr>
          <p:cNvPr id="97" name="Google Shape;97;p16"/>
          <p:cNvSpPr txBox="1"/>
          <p:nvPr/>
        </p:nvSpPr>
        <p:spPr>
          <a:xfrm>
            <a:off x="677700" y="2076550"/>
            <a:ext cx="37707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273239"/>
                </a:solidFill>
                <a:latin typeface="Poppins"/>
                <a:ea typeface="Poppins"/>
                <a:cs typeface="Poppins"/>
                <a:sym typeface="Poppins"/>
              </a:rPr>
              <a:t>Yes, we do! And in JavaScript, that waiter is called the </a:t>
            </a:r>
            <a:r>
              <a:rPr b="1" lang="en">
                <a:solidFill>
                  <a:srgbClr val="273239"/>
                </a:solidFill>
                <a:latin typeface="Poppins"/>
                <a:ea typeface="Poppins"/>
                <a:cs typeface="Poppins"/>
                <a:sym typeface="Poppins"/>
              </a:rPr>
              <a:t>Fetch API</a:t>
            </a:r>
            <a:r>
              <a:rPr lang="en">
                <a:solidFill>
                  <a:srgbClr val="273239"/>
                </a:solidFill>
                <a:latin typeface="Poppins"/>
                <a:ea typeface="Poppins"/>
                <a:cs typeface="Poppins"/>
                <a:sym typeface="Poppins"/>
              </a:rPr>
              <a:t>.</a:t>
            </a:r>
            <a:endParaRPr>
              <a:solidFill>
                <a:srgbClr val="273239"/>
              </a:solidFill>
              <a:latin typeface="Poppins"/>
              <a:ea typeface="Poppins"/>
              <a:cs typeface="Poppins"/>
              <a:sym typeface="Poppins"/>
            </a:endParaRPr>
          </a:p>
          <a:p>
            <a:pPr indent="0" lvl="0" marL="0" rtl="0" algn="l">
              <a:spcBef>
                <a:spcPts val="0"/>
              </a:spcBef>
              <a:spcAft>
                <a:spcPts val="0"/>
              </a:spcAft>
              <a:buNone/>
            </a:pPr>
            <a:r>
              <a:t/>
            </a:r>
            <a:endParaRPr>
              <a:solidFill>
                <a:srgbClr val="273239"/>
              </a:solidFill>
              <a:latin typeface="Poppins"/>
              <a:ea typeface="Poppins"/>
              <a:cs typeface="Poppins"/>
              <a:sym typeface="Poppins"/>
            </a:endParaRPr>
          </a:p>
          <a:p>
            <a:pPr indent="0" lvl="0" marL="0" rtl="0" algn="l">
              <a:spcBef>
                <a:spcPts val="0"/>
              </a:spcBef>
              <a:spcAft>
                <a:spcPts val="0"/>
              </a:spcAft>
              <a:buNone/>
            </a:pPr>
            <a:r>
              <a:t/>
            </a:r>
            <a:endParaRPr>
              <a:solidFill>
                <a:srgbClr val="273239"/>
              </a:solidFill>
              <a:latin typeface="Poppins"/>
              <a:ea typeface="Poppins"/>
              <a:cs typeface="Poppins"/>
              <a:sym typeface="Poppins"/>
            </a:endParaRPr>
          </a:p>
          <a:p>
            <a:pPr indent="0" lvl="0" marL="0" rtl="0" algn="l">
              <a:spcBef>
                <a:spcPts val="0"/>
              </a:spcBef>
              <a:spcAft>
                <a:spcPts val="0"/>
              </a:spcAft>
              <a:buNone/>
            </a:pPr>
            <a:r>
              <a:rPr lang="en">
                <a:solidFill>
                  <a:srgbClr val="273239"/>
                </a:solidFill>
                <a:latin typeface="Poppins"/>
                <a:ea typeface="Poppins"/>
                <a:cs typeface="Poppins"/>
                <a:sym typeface="Poppins"/>
              </a:rPr>
              <a:t>It takes our request to the server, waits for the response, and brings back the data we need</a:t>
            </a:r>
            <a:endParaRPr>
              <a:solidFill>
                <a:srgbClr val="273239"/>
              </a:solidFill>
              <a:latin typeface="Poppins"/>
              <a:ea typeface="Poppins"/>
              <a:cs typeface="Poppins"/>
              <a:sym typeface="Poppins"/>
            </a:endParaRPr>
          </a:p>
        </p:txBody>
      </p:sp>
      <p:pic>
        <p:nvPicPr>
          <p:cNvPr id="98" name="Google Shape;98;p16"/>
          <p:cNvPicPr preferRelativeResize="0"/>
          <p:nvPr/>
        </p:nvPicPr>
        <p:blipFill rotWithShape="1">
          <a:blip r:embed="rId4">
            <a:alphaModFix/>
          </a:blip>
          <a:srcRect b="7884" l="5157" r="5148" t="2421"/>
          <a:stretch/>
        </p:blipFill>
        <p:spPr>
          <a:xfrm>
            <a:off x="4897950" y="1991089"/>
            <a:ext cx="3382049" cy="18641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7"/>
          <p:cNvSpPr txBox="1"/>
          <p:nvPr/>
        </p:nvSpPr>
        <p:spPr>
          <a:xfrm>
            <a:off x="310900" y="197325"/>
            <a:ext cx="747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Poppins"/>
                <a:ea typeface="Poppins"/>
                <a:cs typeface="Poppins"/>
                <a:sym typeface="Poppins"/>
              </a:rPr>
              <a:t>|</a:t>
            </a:r>
            <a:r>
              <a:rPr lang="en" sz="2800">
                <a:solidFill>
                  <a:srgbClr val="000000"/>
                </a:solidFill>
              </a:rPr>
              <a:t> </a:t>
            </a:r>
            <a:r>
              <a:rPr b="1" lang="en" sz="2800">
                <a:solidFill>
                  <a:srgbClr val="073763"/>
                </a:solidFill>
                <a:latin typeface="Poppins"/>
                <a:ea typeface="Poppins"/>
                <a:cs typeface="Poppins"/>
                <a:sym typeface="Poppins"/>
              </a:rPr>
              <a:t> Fetch API</a:t>
            </a:r>
            <a:endParaRPr b="1" sz="4200">
              <a:solidFill>
                <a:srgbClr val="073763"/>
              </a:solidFill>
              <a:latin typeface="Poppins"/>
              <a:ea typeface="Poppins"/>
              <a:cs typeface="Poppins"/>
              <a:sym typeface="Poppins"/>
            </a:endParaRPr>
          </a:p>
        </p:txBody>
      </p:sp>
      <p:pic>
        <p:nvPicPr>
          <p:cNvPr id="104" name="Google Shape;104;p17"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sp>
        <p:nvSpPr>
          <p:cNvPr id="105" name="Google Shape;105;p1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06" name="Google Shape;106;p17"/>
          <p:cNvSpPr txBox="1"/>
          <p:nvPr/>
        </p:nvSpPr>
        <p:spPr>
          <a:xfrm>
            <a:off x="310900" y="1288800"/>
            <a:ext cx="5065500" cy="2747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Poppins"/>
                <a:ea typeface="Poppins"/>
                <a:cs typeface="Poppins"/>
                <a:sym typeface="Poppins"/>
              </a:rPr>
              <a:t>Fetch API is a tool built into JavaScript that allows us to </a:t>
            </a:r>
            <a:r>
              <a:rPr b="1" lang="en">
                <a:solidFill>
                  <a:schemeClr val="dk1"/>
                </a:solidFill>
                <a:latin typeface="Poppins"/>
                <a:ea typeface="Poppins"/>
                <a:cs typeface="Poppins"/>
                <a:sym typeface="Poppins"/>
              </a:rPr>
              <a:t>get data from the internet or send data to a server</a:t>
            </a:r>
            <a:r>
              <a:rPr lang="en">
                <a:solidFill>
                  <a:schemeClr val="dk1"/>
                </a:solidFill>
                <a:latin typeface="Poppins"/>
                <a:ea typeface="Poppins"/>
                <a:cs typeface="Poppins"/>
                <a:sym typeface="Poppins"/>
              </a:rPr>
              <a:t>.</a:t>
            </a:r>
            <a:endParaRPr>
              <a:solidFill>
                <a:schemeClr val="dk1"/>
              </a:solidFill>
              <a:latin typeface="Poppins"/>
              <a:ea typeface="Poppins"/>
              <a:cs typeface="Poppins"/>
              <a:sym typeface="Poppins"/>
            </a:endParaRPr>
          </a:p>
          <a:p>
            <a:pPr indent="0" lvl="0" marL="0" rtl="0" algn="l">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lang="en">
                <a:solidFill>
                  <a:schemeClr val="dk1"/>
                </a:solidFill>
                <a:latin typeface="Poppins"/>
                <a:ea typeface="Poppins"/>
                <a:cs typeface="Poppins"/>
                <a:sym typeface="Poppins"/>
              </a:rPr>
              <a:t>The </a:t>
            </a:r>
            <a:r>
              <a:rPr b="1" lang="en">
                <a:solidFill>
                  <a:schemeClr val="dk1"/>
                </a:solidFill>
                <a:latin typeface="Poppins"/>
                <a:ea typeface="Poppins"/>
                <a:cs typeface="Poppins"/>
                <a:sym typeface="Poppins"/>
              </a:rPr>
              <a:t>fetch()</a:t>
            </a:r>
            <a:r>
              <a:rPr lang="en">
                <a:solidFill>
                  <a:schemeClr val="dk1"/>
                </a:solidFill>
                <a:latin typeface="Poppins"/>
                <a:ea typeface="Poppins"/>
                <a:cs typeface="Poppins"/>
                <a:sym typeface="Poppins"/>
              </a:rPr>
              <a:t> function is the primary interface for making HTTP requests. It takes the URL of the </a:t>
            </a:r>
            <a:r>
              <a:rPr b="1" lang="en">
                <a:solidFill>
                  <a:schemeClr val="dk1"/>
                </a:solidFill>
                <a:latin typeface="Poppins"/>
                <a:ea typeface="Poppins"/>
                <a:cs typeface="Poppins"/>
                <a:sym typeface="Poppins"/>
              </a:rPr>
              <a:t>resource as an argument</a:t>
            </a:r>
            <a:r>
              <a:rPr lang="en">
                <a:solidFill>
                  <a:schemeClr val="dk1"/>
                </a:solidFill>
                <a:latin typeface="Poppins"/>
                <a:ea typeface="Poppins"/>
                <a:cs typeface="Poppins"/>
                <a:sym typeface="Poppins"/>
              </a:rPr>
              <a:t> which you want to fetch </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lang="en">
                <a:solidFill>
                  <a:schemeClr val="dk1"/>
                </a:solidFill>
                <a:latin typeface="Poppins"/>
                <a:ea typeface="Poppins"/>
                <a:cs typeface="Poppins"/>
                <a:sym typeface="Poppins"/>
              </a:rPr>
              <a:t>It returns a </a:t>
            </a:r>
            <a:r>
              <a:rPr b="1" lang="en">
                <a:solidFill>
                  <a:schemeClr val="dk1"/>
                </a:solidFill>
                <a:latin typeface="Poppins"/>
                <a:ea typeface="Poppins"/>
                <a:cs typeface="Poppins"/>
                <a:sym typeface="Poppins"/>
              </a:rPr>
              <a:t>Promise</a:t>
            </a:r>
            <a:r>
              <a:rPr lang="en">
                <a:solidFill>
                  <a:schemeClr val="dk1"/>
                </a:solidFill>
                <a:latin typeface="Poppins"/>
                <a:ea typeface="Poppins"/>
                <a:cs typeface="Poppins"/>
                <a:sym typeface="Poppins"/>
              </a:rPr>
              <a:t> that resolves to the </a:t>
            </a:r>
            <a:r>
              <a:rPr b="1" lang="en">
                <a:solidFill>
                  <a:schemeClr val="dk1"/>
                </a:solidFill>
                <a:latin typeface="Poppins"/>
                <a:ea typeface="Poppins"/>
                <a:cs typeface="Poppins"/>
                <a:sym typeface="Poppins"/>
              </a:rPr>
              <a:t>Response</a:t>
            </a:r>
            <a:r>
              <a:rPr lang="en">
                <a:solidFill>
                  <a:schemeClr val="dk1"/>
                </a:solidFill>
                <a:latin typeface="Poppins"/>
                <a:ea typeface="Poppins"/>
                <a:cs typeface="Poppins"/>
                <a:sym typeface="Poppins"/>
              </a:rPr>
              <a:t> object</a:t>
            </a:r>
            <a:endParaRPr>
              <a:solidFill>
                <a:schemeClr val="dk1"/>
              </a:solidFill>
              <a:latin typeface="Poppins"/>
              <a:ea typeface="Poppins"/>
              <a:cs typeface="Poppins"/>
              <a:sym typeface="Poppins"/>
            </a:endParaRPr>
          </a:p>
          <a:p>
            <a:pPr indent="0" lvl="0" marL="0" rtl="0" algn="l">
              <a:spcBef>
                <a:spcPts val="1200"/>
              </a:spcBef>
              <a:spcAft>
                <a:spcPts val="0"/>
              </a:spcAft>
              <a:buNone/>
            </a:pPr>
            <a:r>
              <a:t/>
            </a:r>
            <a:endParaRPr>
              <a:solidFill>
                <a:schemeClr val="dk1"/>
              </a:solidFill>
              <a:latin typeface="Poppins"/>
              <a:ea typeface="Poppins"/>
              <a:cs typeface="Poppins"/>
              <a:sym typeface="Poppins"/>
            </a:endParaRPr>
          </a:p>
        </p:txBody>
      </p:sp>
      <p:pic>
        <p:nvPicPr>
          <p:cNvPr id="107" name="Google Shape;107;p17"/>
          <p:cNvPicPr preferRelativeResize="0"/>
          <p:nvPr/>
        </p:nvPicPr>
        <p:blipFill>
          <a:blip r:embed="rId4">
            <a:alphaModFix/>
          </a:blip>
          <a:stretch>
            <a:fillRect/>
          </a:stretch>
        </p:blipFill>
        <p:spPr>
          <a:xfrm>
            <a:off x="5518775" y="1815500"/>
            <a:ext cx="3250325" cy="1874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8"/>
          <p:cNvSpPr txBox="1"/>
          <p:nvPr/>
        </p:nvSpPr>
        <p:spPr>
          <a:xfrm>
            <a:off x="296500" y="204525"/>
            <a:ext cx="747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Poppins"/>
                <a:ea typeface="Poppins"/>
                <a:cs typeface="Poppins"/>
                <a:sym typeface="Poppins"/>
              </a:rPr>
              <a:t>|</a:t>
            </a:r>
            <a:r>
              <a:rPr lang="en" sz="2800">
                <a:solidFill>
                  <a:srgbClr val="000000"/>
                </a:solidFill>
              </a:rPr>
              <a:t> </a:t>
            </a:r>
            <a:r>
              <a:rPr b="1" lang="en" sz="2800">
                <a:solidFill>
                  <a:srgbClr val="073763"/>
                </a:solidFill>
                <a:latin typeface="Poppins"/>
                <a:ea typeface="Poppins"/>
                <a:cs typeface="Poppins"/>
                <a:sym typeface="Poppins"/>
              </a:rPr>
              <a:t> Fetch API</a:t>
            </a:r>
            <a:endParaRPr b="1" sz="4200">
              <a:solidFill>
                <a:srgbClr val="073763"/>
              </a:solidFill>
              <a:latin typeface="Poppins"/>
              <a:ea typeface="Poppins"/>
              <a:cs typeface="Poppins"/>
              <a:sym typeface="Poppins"/>
            </a:endParaRPr>
          </a:p>
        </p:txBody>
      </p:sp>
      <p:pic>
        <p:nvPicPr>
          <p:cNvPr id="113" name="Google Shape;113;p18"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sp>
        <p:nvSpPr>
          <p:cNvPr id="114" name="Google Shape;114;p1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pic>
        <p:nvPicPr>
          <p:cNvPr id="115" name="Google Shape;115;p18"/>
          <p:cNvPicPr preferRelativeResize="0"/>
          <p:nvPr/>
        </p:nvPicPr>
        <p:blipFill>
          <a:blip r:embed="rId4">
            <a:alphaModFix/>
          </a:blip>
          <a:stretch>
            <a:fillRect/>
          </a:stretch>
        </p:blipFill>
        <p:spPr>
          <a:xfrm>
            <a:off x="986400" y="1840325"/>
            <a:ext cx="4995768" cy="1819621"/>
          </a:xfrm>
          <a:prstGeom prst="rect">
            <a:avLst/>
          </a:prstGeom>
          <a:noFill/>
          <a:ln>
            <a:noFill/>
          </a:ln>
        </p:spPr>
      </p:pic>
      <p:sp>
        <p:nvSpPr>
          <p:cNvPr id="116" name="Google Shape;116;p18"/>
          <p:cNvSpPr txBox="1"/>
          <p:nvPr/>
        </p:nvSpPr>
        <p:spPr>
          <a:xfrm>
            <a:off x="4383950" y="1138075"/>
            <a:ext cx="676800" cy="273600"/>
          </a:xfrm>
          <a:prstGeom prst="rect">
            <a:avLst/>
          </a:prstGeom>
          <a:solidFill>
            <a:srgbClr val="FCE5C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Poppins"/>
                <a:ea typeface="Poppins"/>
                <a:cs typeface="Poppins"/>
                <a:sym typeface="Poppins"/>
              </a:rPr>
              <a:t>API url</a:t>
            </a:r>
            <a:endParaRPr sz="1000">
              <a:solidFill>
                <a:schemeClr val="dk2"/>
              </a:solidFill>
              <a:latin typeface="Poppins"/>
              <a:ea typeface="Poppins"/>
              <a:cs typeface="Poppins"/>
              <a:sym typeface="Poppins"/>
            </a:endParaRPr>
          </a:p>
        </p:txBody>
      </p:sp>
      <p:cxnSp>
        <p:nvCxnSpPr>
          <p:cNvPr id="117" name="Google Shape;117;p18"/>
          <p:cNvCxnSpPr>
            <a:stCxn id="116" idx="2"/>
          </p:cNvCxnSpPr>
          <p:nvPr/>
        </p:nvCxnSpPr>
        <p:spPr>
          <a:xfrm flipH="1">
            <a:off x="4716050" y="1411675"/>
            <a:ext cx="6300" cy="1021800"/>
          </a:xfrm>
          <a:prstGeom prst="straightConnector1">
            <a:avLst/>
          </a:prstGeom>
          <a:noFill/>
          <a:ln cap="flat" cmpd="sng" w="9050">
            <a:solidFill>
              <a:srgbClr val="FF0000"/>
            </a:solidFill>
            <a:prstDash val="solid"/>
            <a:round/>
            <a:headEnd len="med" w="med" type="none"/>
            <a:tailEnd len="med" w="med" type="triangle"/>
          </a:ln>
        </p:spPr>
      </p:cxnSp>
      <p:sp>
        <p:nvSpPr>
          <p:cNvPr id="118" name="Google Shape;118;p18"/>
          <p:cNvSpPr txBox="1"/>
          <p:nvPr/>
        </p:nvSpPr>
        <p:spPr>
          <a:xfrm>
            <a:off x="1061402" y="4356917"/>
            <a:ext cx="2621400" cy="342300"/>
          </a:xfrm>
          <a:prstGeom prst="rect">
            <a:avLst/>
          </a:prstGeom>
          <a:solidFill>
            <a:srgbClr val="FCE5CD"/>
          </a:solidFill>
          <a:ln>
            <a:noFill/>
          </a:ln>
        </p:spPr>
        <p:txBody>
          <a:bodyPr anchorCtr="0" anchor="t" bIns="86900" lIns="86900" spcFirstLastPara="1" rIns="86900" wrap="square" tIns="86900">
            <a:noAutofit/>
          </a:bodyPr>
          <a:lstStyle/>
          <a:p>
            <a:pPr indent="0" lvl="0" marL="0" rtl="0" algn="l">
              <a:spcBef>
                <a:spcPts val="0"/>
              </a:spcBef>
              <a:spcAft>
                <a:spcPts val="0"/>
              </a:spcAft>
              <a:buClr>
                <a:schemeClr val="dk1"/>
              </a:buClr>
              <a:buSzPts val="1100"/>
              <a:buFont typeface="Arial"/>
              <a:buNone/>
            </a:pPr>
            <a:r>
              <a:rPr lang="en" sz="1045">
                <a:solidFill>
                  <a:schemeClr val="dk2"/>
                </a:solidFill>
              </a:rPr>
              <a:t> waits to convert it into JavaScript object.</a:t>
            </a:r>
            <a:br>
              <a:rPr lang="en" sz="1711">
                <a:solidFill>
                  <a:schemeClr val="dk2"/>
                </a:solidFill>
              </a:rPr>
            </a:br>
            <a:endParaRPr sz="1711">
              <a:solidFill>
                <a:schemeClr val="dk2"/>
              </a:solidFill>
            </a:endParaRPr>
          </a:p>
          <a:p>
            <a:pPr indent="0" lvl="0" marL="0" rtl="0" algn="l">
              <a:spcBef>
                <a:spcPts val="0"/>
              </a:spcBef>
              <a:spcAft>
                <a:spcPts val="0"/>
              </a:spcAft>
              <a:buNone/>
            </a:pPr>
            <a:r>
              <a:t/>
            </a:r>
            <a:endParaRPr sz="1711">
              <a:solidFill>
                <a:schemeClr val="dk2"/>
              </a:solidFill>
            </a:endParaRPr>
          </a:p>
        </p:txBody>
      </p:sp>
      <p:cxnSp>
        <p:nvCxnSpPr>
          <p:cNvPr id="119" name="Google Shape;119;p18"/>
          <p:cNvCxnSpPr>
            <a:stCxn id="118" idx="0"/>
          </p:cNvCxnSpPr>
          <p:nvPr/>
        </p:nvCxnSpPr>
        <p:spPr>
          <a:xfrm rot="10800000">
            <a:off x="2368802" y="2635217"/>
            <a:ext cx="3300" cy="1721700"/>
          </a:xfrm>
          <a:prstGeom prst="straightConnector1">
            <a:avLst/>
          </a:prstGeom>
          <a:noFill/>
          <a:ln cap="flat" cmpd="sng" w="9050">
            <a:solidFill>
              <a:srgbClr val="FF0000"/>
            </a:solidFill>
            <a:prstDash val="solid"/>
            <a:round/>
            <a:headEnd len="med" w="med" type="none"/>
            <a:tailEnd len="med" w="med" type="triangle"/>
          </a:ln>
        </p:spPr>
      </p:cxnSp>
      <p:sp>
        <p:nvSpPr>
          <p:cNvPr id="120" name="Google Shape;120;p18"/>
          <p:cNvSpPr txBox="1"/>
          <p:nvPr/>
        </p:nvSpPr>
        <p:spPr>
          <a:xfrm>
            <a:off x="1900201" y="1103725"/>
            <a:ext cx="1404600" cy="342300"/>
          </a:xfrm>
          <a:prstGeom prst="rect">
            <a:avLst/>
          </a:prstGeom>
          <a:solidFill>
            <a:srgbClr val="FCE5CD"/>
          </a:solidFill>
          <a:ln>
            <a:noFill/>
          </a:ln>
        </p:spPr>
        <p:txBody>
          <a:bodyPr anchorCtr="0" anchor="t" bIns="86900" lIns="86900" spcFirstLastPara="1" rIns="86900" wrap="square" tIns="86900">
            <a:noAutofit/>
          </a:bodyPr>
          <a:lstStyle/>
          <a:p>
            <a:pPr indent="0" lvl="0" marL="0" rtl="0" algn="l">
              <a:spcBef>
                <a:spcPts val="0"/>
              </a:spcBef>
              <a:spcAft>
                <a:spcPts val="0"/>
              </a:spcAft>
              <a:buNone/>
            </a:pPr>
            <a:r>
              <a:rPr lang="en" sz="1045">
                <a:solidFill>
                  <a:schemeClr val="dk2"/>
                </a:solidFill>
              </a:rPr>
              <a:t>Waiting for response</a:t>
            </a:r>
            <a:br>
              <a:rPr lang="en" sz="1711">
                <a:solidFill>
                  <a:schemeClr val="dk2"/>
                </a:solidFill>
              </a:rPr>
            </a:br>
            <a:endParaRPr sz="1711">
              <a:solidFill>
                <a:schemeClr val="dk2"/>
              </a:solidFill>
            </a:endParaRPr>
          </a:p>
          <a:p>
            <a:pPr indent="0" lvl="0" marL="0" rtl="0" algn="l">
              <a:spcBef>
                <a:spcPts val="0"/>
              </a:spcBef>
              <a:spcAft>
                <a:spcPts val="0"/>
              </a:spcAft>
              <a:buNone/>
            </a:pPr>
            <a:r>
              <a:t/>
            </a:r>
            <a:endParaRPr sz="1711">
              <a:solidFill>
                <a:schemeClr val="dk2"/>
              </a:solidFill>
            </a:endParaRPr>
          </a:p>
        </p:txBody>
      </p:sp>
      <p:cxnSp>
        <p:nvCxnSpPr>
          <p:cNvPr id="121" name="Google Shape;121;p18"/>
          <p:cNvCxnSpPr>
            <a:stCxn id="120" idx="2"/>
          </p:cNvCxnSpPr>
          <p:nvPr/>
        </p:nvCxnSpPr>
        <p:spPr>
          <a:xfrm flipH="1">
            <a:off x="2584801" y="1446025"/>
            <a:ext cx="17700" cy="98760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9"/>
          <p:cNvSpPr txBox="1"/>
          <p:nvPr/>
        </p:nvSpPr>
        <p:spPr>
          <a:xfrm>
            <a:off x="310900" y="197325"/>
            <a:ext cx="747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Poppins"/>
                <a:ea typeface="Poppins"/>
                <a:cs typeface="Poppins"/>
                <a:sym typeface="Poppins"/>
              </a:rPr>
              <a:t>|</a:t>
            </a:r>
            <a:r>
              <a:rPr lang="en" sz="2800">
                <a:solidFill>
                  <a:srgbClr val="000000"/>
                </a:solidFill>
              </a:rPr>
              <a:t> </a:t>
            </a:r>
            <a:r>
              <a:rPr b="1" lang="en" sz="2800">
                <a:solidFill>
                  <a:srgbClr val="073763"/>
                </a:solidFill>
                <a:latin typeface="Poppins"/>
                <a:ea typeface="Poppins"/>
                <a:cs typeface="Poppins"/>
                <a:sym typeface="Poppins"/>
              </a:rPr>
              <a:t> Fetch API</a:t>
            </a:r>
            <a:endParaRPr b="1" sz="4200">
              <a:solidFill>
                <a:srgbClr val="073763"/>
              </a:solidFill>
              <a:latin typeface="Poppins"/>
              <a:ea typeface="Poppins"/>
              <a:cs typeface="Poppins"/>
              <a:sym typeface="Poppins"/>
            </a:endParaRPr>
          </a:p>
        </p:txBody>
      </p:sp>
      <p:pic>
        <p:nvPicPr>
          <p:cNvPr id="127" name="Google Shape;127;p19"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sp>
        <p:nvSpPr>
          <p:cNvPr id="128" name="Google Shape;128;p1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pic>
        <p:nvPicPr>
          <p:cNvPr id="129" name="Google Shape;129;p19"/>
          <p:cNvPicPr preferRelativeResize="0"/>
          <p:nvPr/>
        </p:nvPicPr>
        <p:blipFill>
          <a:blip r:embed="rId4">
            <a:alphaModFix/>
          </a:blip>
          <a:stretch>
            <a:fillRect/>
          </a:stretch>
        </p:blipFill>
        <p:spPr>
          <a:xfrm>
            <a:off x="500700" y="1855725"/>
            <a:ext cx="5482499" cy="2628900"/>
          </a:xfrm>
          <a:prstGeom prst="rect">
            <a:avLst/>
          </a:prstGeom>
          <a:noFill/>
          <a:ln>
            <a:noFill/>
          </a:ln>
        </p:spPr>
      </p:pic>
      <p:sp>
        <p:nvSpPr>
          <p:cNvPr id="130" name="Google Shape;130;p19"/>
          <p:cNvSpPr txBox="1"/>
          <p:nvPr/>
        </p:nvSpPr>
        <p:spPr>
          <a:xfrm>
            <a:off x="2671200" y="1324800"/>
            <a:ext cx="792000" cy="259200"/>
          </a:xfrm>
          <a:prstGeom prst="rect">
            <a:avLst/>
          </a:prstGeom>
          <a:solidFill>
            <a:srgbClr val="FCE5C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dk2"/>
                </a:solidFill>
                <a:latin typeface="Poppins"/>
                <a:ea typeface="Poppins"/>
                <a:cs typeface="Poppins"/>
                <a:sym typeface="Poppins"/>
              </a:rPr>
              <a:t>Output</a:t>
            </a:r>
            <a:endParaRPr sz="1300">
              <a:solidFill>
                <a:schemeClr val="dk2"/>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0"/>
          <p:cNvSpPr txBox="1"/>
          <p:nvPr/>
        </p:nvSpPr>
        <p:spPr>
          <a:xfrm>
            <a:off x="310900" y="197325"/>
            <a:ext cx="747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Poppins"/>
                <a:ea typeface="Poppins"/>
                <a:cs typeface="Poppins"/>
                <a:sym typeface="Poppins"/>
              </a:rPr>
              <a:t>|</a:t>
            </a:r>
            <a:r>
              <a:rPr lang="en" sz="2800">
                <a:solidFill>
                  <a:srgbClr val="000000"/>
                </a:solidFill>
              </a:rPr>
              <a:t> </a:t>
            </a:r>
            <a:r>
              <a:rPr b="1" lang="en" sz="2800">
                <a:solidFill>
                  <a:srgbClr val="073763"/>
                </a:solidFill>
                <a:latin typeface="Poppins"/>
                <a:ea typeface="Poppins"/>
                <a:cs typeface="Poppins"/>
                <a:sym typeface="Poppins"/>
              </a:rPr>
              <a:t> Fetch API</a:t>
            </a:r>
            <a:endParaRPr b="1" sz="4200">
              <a:solidFill>
                <a:srgbClr val="073763"/>
              </a:solidFill>
              <a:latin typeface="Poppins"/>
              <a:ea typeface="Poppins"/>
              <a:cs typeface="Poppins"/>
              <a:sym typeface="Poppins"/>
            </a:endParaRPr>
          </a:p>
        </p:txBody>
      </p:sp>
      <p:pic>
        <p:nvPicPr>
          <p:cNvPr id="136" name="Google Shape;136;p20"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sp>
        <p:nvSpPr>
          <p:cNvPr id="137" name="Google Shape;137;p2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38" name="Google Shape;138;p20"/>
          <p:cNvSpPr txBox="1"/>
          <p:nvPr/>
        </p:nvSpPr>
        <p:spPr>
          <a:xfrm>
            <a:off x="310900" y="1382400"/>
            <a:ext cx="71340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273239"/>
                </a:solidFill>
                <a:latin typeface="Poppins"/>
                <a:ea typeface="Poppins"/>
                <a:cs typeface="Poppins"/>
                <a:sym typeface="Poppins"/>
              </a:rPr>
              <a:t>When we use fetch, data can travel in </a:t>
            </a:r>
            <a:r>
              <a:rPr b="1" lang="en">
                <a:solidFill>
                  <a:srgbClr val="273239"/>
                </a:solidFill>
                <a:latin typeface="Poppins"/>
                <a:ea typeface="Poppins"/>
                <a:cs typeface="Poppins"/>
                <a:sym typeface="Poppins"/>
              </a:rPr>
              <a:t>two directions</a:t>
            </a:r>
            <a:r>
              <a:rPr lang="en">
                <a:solidFill>
                  <a:srgbClr val="273239"/>
                </a:solidFill>
                <a:latin typeface="Poppins"/>
                <a:ea typeface="Poppins"/>
                <a:cs typeface="Poppins"/>
                <a:sym typeface="Poppins"/>
              </a:rPr>
              <a:t>:</a:t>
            </a:r>
            <a:endParaRPr>
              <a:solidFill>
                <a:srgbClr val="273239"/>
              </a:solidFill>
              <a:latin typeface="Poppins"/>
              <a:ea typeface="Poppins"/>
              <a:cs typeface="Poppins"/>
              <a:sym typeface="Poppins"/>
            </a:endParaRPr>
          </a:p>
          <a:p>
            <a:pPr indent="0" lvl="0" marL="0" rtl="0" algn="l">
              <a:spcBef>
                <a:spcPts val="0"/>
              </a:spcBef>
              <a:spcAft>
                <a:spcPts val="0"/>
              </a:spcAft>
              <a:buNone/>
            </a:pPr>
            <a:r>
              <a:t/>
            </a:r>
            <a:endParaRPr>
              <a:solidFill>
                <a:srgbClr val="273239"/>
              </a:solidFill>
              <a:latin typeface="Poppins"/>
              <a:ea typeface="Poppins"/>
              <a:cs typeface="Poppins"/>
              <a:sym typeface="Poppins"/>
            </a:endParaRPr>
          </a:p>
          <a:p>
            <a:pPr indent="0" lvl="0" marL="457200" rtl="0" algn="l">
              <a:spcBef>
                <a:spcPts val="0"/>
              </a:spcBef>
              <a:spcAft>
                <a:spcPts val="0"/>
              </a:spcAft>
              <a:buNone/>
            </a:pPr>
            <a:r>
              <a:rPr lang="en">
                <a:solidFill>
                  <a:srgbClr val="273239"/>
                </a:solidFill>
                <a:latin typeface="Poppins"/>
                <a:ea typeface="Poppins"/>
                <a:cs typeface="Poppins"/>
                <a:sym typeface="Poppins"/>
              </a:rPr>
              <a:t>1️⃣ From </a:t>
            </a:r>
            <a:r>
              <a:rPr b="1" lang="en">
                <a:solidFill>
                  <a:srgbClr val="273239"/>
                </a:solidFill>
                <a:latin typeface="Poppins"/>
                <a:ea typeface="Poppins"/>
                <a:cs typeface="Poppins"/>
                <a:sym typeface="Poppins"/>
              </a:rPr>
              <a:t>backend → frontend</a:t>
            </a:r>
            <a:r>
              <a:rPr lang="en">
                <a:solidFill>
                  <a:srgbClr val="273239"/>
                </a:solidFill>
                <a:latin typeface="Poppins"/>
                <a:ea typeface="Poppins"/>
                <a:cs typeface="Poppins"/>
                <a:sym typeface="Poppins"/>
              </a:rPr>
              <a:t>  : </a:t>
            </a:r>
            <a:r>
              <a:rPr b="1" lang="en">
                <a:solidFill>
                  <a:srgbClr val="273239"/>
                </a:solidFill>
                <a:latin typeface="Poppins"/>
                <a:ea typeface="Poppins"/>
                <a:cs typeface="Poppins"/>
                <a:sym typeface="Poppins"/>
              </a:rPr>
              <a:t>GET Request</a:t>
            </a:r>
            <a:endParaRPr b="1">
              <a:solidFill>
                <a:srgbClr val="273239"/>
              </a:solidFill>
              <a:latin typeface="Poppins"/>
              <a:ea typeface="Poppins"/>
              <a:cs typeface="Poppins"/>
              <a:sym typeface="Poppins"/>
            </a:endParaRPr>
          </a:p>
          <a:p>
            <a:pPr indent="0" lvl="0" marL="457200" rtl="0" algn="l">
              <a:spcBef>
                <a:spcPts val="0"/>
              </a:spcBef>
              <a:spcAft>
                <a:spcPts val="0"/>
              </a:spcAft>
              <a:buNone/>
            </a:pPr>
            <a:r>
              <a:t/>
            </a:r>
            <a:endParaRPr>
              <a:solidFill>
                <a:srgbClr val="273239"/>
              </a:solidFill>
              <a:latin typeface="Poppins"/>
              <a:ea typeface="Poppins"/>
              <a:cs typeface="Poppins"/>
              <a:sym typeface="Poppins"/>
            </a:endParaRPr>
          </a:p>
          <a:p>
            <a:pPr indent="0" lvl="0" marL="457200" rtl="0" algn="l">
              <a:spcBef>
                <a:spcPts val="0"/>
              </a:spcBef>
              <a:spcAft>
                <a:spcPts val="0"/>
              </a:spcAft>
              <a:buNone/>
            </a:pPr>
            <a:r>
              <a:rPr lang="en">
                <a:solidFill>
                  <a:srgbClr val="273239"/>
                </a:solidFill>
                <a:latin typeface="Poppins"/>
                <a:ea typeface="Poppins"/>
                <a:cs typeface="Poppins"/>
                <a:sym typeface="Poppins"/>
              </a:rPr>
              <a:t>	</a:t>
            </a:r>
            <a:r>
              <a:rPr lang="en">
                <a:solidFill>
                  <a:schemeClr val="dk1"/>
                </a:solidFill>
                <a:latin typeface="Poppins"/>
                <a:ea typeface="Poppins"/>
                <a:cs typeface="Poppins"/>
                <a:sym typeface="Poppins"/>
              </a:rPr>
              <a:t>The </a:t>
            </a:r>
            <a:r>
              <a:rPr b="1" lang="en">
                <a:solidFill>
                  <a:schemeClr val="dk1"/>
                </a:solidFill>
                <a:latin typeface="Poppins"/>
                <a:ea typeface="Poppins"/>
                <a:cs typeface="Poppins"/>
                <a:sym typeface="Poppins"/>
              </a:rPr>
              <a:t>frontend</a:t>
            </a:r>
            <a:r>
              <a:rPr lang="en">
                <a:solidFill>
                  <a:schemeClr val="dk1"/>
                </a:solidFill>
                <a:latin typeface="Poppins"/>
                <a:ea typeface="Poppins"/>
                <a:cs typeface="Poppins"/>
                <a:sym typeface="Poppins"/>
              </a:rPr>
              <a:t> (browser or app) sends a </a:t>
            </a:r>
            <a:r>
              <a:rPr b="1" lang="en">
                <a:solidFill>
                  <a:schemeClr val="dk1"/>
                </a:solidFill>
                <a:latin typeface="Poppins"/>
                <a:ea typeface="Poppins"/>
                <a:cs typeface="Poppins"/>
                <a:sym typeface="Poppins"/>
              </a:rPr>
              <a:t>GET request</a:t>
            </a:r>
            <a:r>
              <a:rPr lang="en">
                <a:solidFill>
                  <a:schemeClr val="dk1"/>
                </a:solidFill>
                <a:latin typeface="Poppins"/>
                <a:ea typeface="Poppins"/>
                <a:cs typeface="Poppins"/>
                <a:sym typeface="Poppins"/>
              </a:rPr>
              <a:t> to the </a:t>
            </a:r>
            <a:endParaRPr>
              <a:solidFill>
                <a:schemeClr val="dk1"/>
              </a:solidFill>
              <a:latin typeface="Poppins"/>
              <a:ea typeface="Poppins"/>
              <a:cs typeface="Poppins"/>
              <a:sym typeface="Poppins"/>
            </a:endParaRPr>
          </a:p>
          <a:p>
            <a:pPr indent="0" lvl="0" marL="457200" rtl="0" algn="l">
              <a:spcBef>
                <a:spcPts val="0"/>
              </a:spcBef>
              <a:spcAft>
                <a:spcPts val="0"/>
              </a:spcAft>
              <a:buNone/>
            </a:pPr>
            <a:r>
              <a:rPr b="1" lang="en">
                <a:solidFill>
                  <a:schemeClr val="dk1"/>
                </a:solidFill>
                <a:latin typeface="Poppins"/>
                <a:ea typeface="Poppins"/>
                <a:cs typeface="Poppins"/>
                <a:sym typeface="Poppins"/>
              </a:rPr>
              <a:t>            backend</a:t>
            </a:r>
            <a:r>
              <a:rPr lang="en">
                <a:solidFill>
                  <a:schemeClr val="dk1"/>
                </a:solidFill>
                <a:latin typeface="Poppins"/>
                <a:ea typeface="Poppins"/>
                <a:cs typeface="Poppins"/>
                <a:sym typeface="Poppins"/>
              </a:rPr>
              <a:t> asking for data.</a:t>
            </a:r>
            <a:endParaRPr>
              <a:solidFill>
                <a:schemeClr val="dk1"/>
              </a:solidFill>
              <a:latin typeface="Poppins"/>
              <a:ea typeface="Poppins"/>
              <a:cs typeface="Poppins"/>
              <a:sym typeface="Poppins"/>
            </a:endParaRPr>
          </a:p>
          <a:p>
            <a:pPr indent="457200" lvl="0" marL="914400" rtl="0" algn="l">
              <a:spcBef>
                <a:spcPts val="0"/>
              </a:spcBef>
              <a:spcAft>
                <a:spcPts val="0"/>
              </a:spcAft>
              <a:buNone/>
            </a:pPr>
            <a:r>
              <a:rPr lang="en">
                <a:solidFill>
                  <a:schemeClr val="dk1"/>
                </a:solidFill>
                <a:latin typeface="Poppins"/>
                <a:ea typeface="Poppins"/>
                <a:cs typeface="Poppins"/>
                <a:sym typeface="Poppins"/>
              </a:rPr>
              <a:t> </a:t>
            </a:r>
            <a:endParaRPr sz="1700">
              <a:solidFill>
                <a:srgbClr val="273239"/>
              </a:solidFill>
              <a:latin typeface="Poppins"/>
              <a:ea typeface="Poppins"/>
              <a:cs typeface="Poppins"/>
              <a:sym typeface="Poppins"/>
            </a:endParaRPr>
          </a:p>
          <a:p>
            <a:pPr indent="0" lvl="0" marL="457200" rtl="0" algn="l">
              <a:spcBef>
                <a:spcPts val="0"/>
              </a:spcBef>
              <a:spcAft>
                <a:spcPts val="0"/>
              </a:spcAft>
              <a:buNone/>
            </a:pPr>
            <a:r>
              <a:t/>
            </a:r>
            <a:endParaRPr>
              <a:solidFill>
                <a:srgbClr val="273239"/>
              </a:solidFill>
              <a:latin typeface="Poppins"/>
              <a:ea typeface="Poppins"/>
              <a:cs typeface="Poppins"/>
              <a:sym typeface="Poppins"/>
            </a:endParaRPr>
          </a:p>
          <a:p>
            <a:pPr indent="0" lvl="0" marL="457200" rtl="0" algn="l">
              <a:spcBef>
                <a:spcPts val="0"/>
              </a:spcBef>
              <a:spcAft>
                <a:spcPts val="0"/>
              </a:spcAft>
              <a:buNone/>
            </a:pPr>
            <a:r>
              <a:rPr lang="en">
                <a:solidFill>
                  <a:srgbClr val="273239"/>
                </a:solidFill>
                <a:latin typeface="Poppins"/>
                <a:ea typeface="Poppins"/>
                <a:cs typeface="Poppins"/>
                <a:sym typeface="Poppins"/>
              </a:rPr>
              <a:t>2️⃣ From </a:t>
            </a:r>
            <a:r>
              <a:rPr b="1" lang="en">
                <a:solidFill>
                  <a:srgbClr val="273239"/>
                </a:solidFill>
                <a:latin typeface="Poppins"/>
                <a:ea typeface="Poppins"/>
                <a:cs typeface="Poppins"/>
                <a:sym typeface="Poppins"/>
              </a:rPr>
              <a:t>frontend → backend</a:t>
            </a:r>
            <a:r>
              <a:rPr lang="en">
                <a:solidFill>
                  <a:srgbClr val="273239"/>
                </a:solidFill>
                <a:latin typeface="Poppins"/>
                <a:ea typeface="Poppins"/>
                <a:cs typeface="Poppins"/>
                <a:sym typeface="Poppins"/>
              </a:rPr>
              <a:t>  : </a:t>
            </a:r>
            <a:r>
              <a:rPr b="1" lang="en">
                <a:solidFill>
                  <a:srgbClr val="273239"/>
                </a:solidFill>
                <a:latin typeface="Poppins"/>
                <a:ea typeface="Poppins"/>
                <a:cs typeface="Poppins"/>
                <a:sym typeface="Poppins"/>
              </a:rPr>
              <a:t>POST</a:t>
            </a:r>
            <a:r>
              <a:rPr lang="en">
                <a:solidFill>
                  <a:srgbClr val="273239"/>
                </a:solidFill>
                <a:latin typeface="Poppins"/>
                <a:ea typeface="Poppins"/>
                <a:cs typeface="Poppins"/>
                <a:sym typeface="Poppins"/>
              </a:rPr>
              <a:t> </a:t>
            </a:r>
            <a:r>
              <a:rPr b="1" lang="en">
                <a:solidFill>
                  <a:srgbClr val="273239"/>
                </a:solidFill>
                <a:latin typeface="Poppins"/>
                <a:ea typeface="Poppins"/>
                <a:cs typeface="Poppins"/>
                <a:sym typeface="Poppins"/>
              </a:rPr>
              <a:t>Request</a:t>
            </a:r>
            <a:endParaRPr b="1">
              <a:solidFill>
                <a:srgbClr val="273239"/>
              </a:solidFill>
              <a:latin typeface="Poppins"/>
              <a:ea typeface="Poppins"/>
              <a:cs typeface="Poppins"/>
              <a:sym typeface="Poppins"/>
            </a:endParaRPr>
          </a:p>
          <a:p>
            <a:pPr indent="0" lvl="0" marL="457200" rtl="0" algn="l">
              <a:spcBef>
                <a:spcPts val="0"/>
              </a:spcBef>
              <a:spcAft>
                <a:spcPts val="0"/>
              </a:spcAft>
              <a:buNone/>
            </a:pPr>
            <a:r>
              <a:t/>
            </a:r>
            <a:endParaRPr>
              <a:solidFill>
                <a:srgbClr val="273239"/>
              </a:solidFill>
              <a:latin typeface="Poppins"/>
              <a:ea typeface="Poppins"/>
              <a:cs typeface="Poppins"/>
              <a:sym typeface="Poppins"/>
            </a:endParaRPr>
          </a:p>
          <a:p>
            <a:pPr indent="0" lvl="0" marL="914400" rtl="0" algn="l">
              <a:spcBef>
                <a:spcPts val="0"/>
              </a:spcBef>
              <a:spcAft>
                <a:spcPts val="0"/>
              </a:spcAft>
              <a:buNone/>
            </a:pPr>
            <a:r>
              <a:rPr lang="en">
                <a:solidFill>
                  <a:schemeClr val="dk1"/>
                </a:solidFill>
                <a:latin typeface="Poppins"/>
                <a:ea typeface="Poppins"/>
                <a:cs typeface="Poppins"/>
                <a:sym typeface="Poppins"/>
              </a:rPr>
              <a:t>The </a:t>
            </a:r>
            <a:r>
              <a:rPr b="1" lang="en">
                <a:solidFill>
                  <a:schemeClr val="dk1"/>
                </a:solidFill>
                <a:latin typeface="Poppins"/>
                <a:ea typeface="Poppins"/>
                <a:cs typeface="Poppins"/>
                <a:sym typeface="Poppins"/>
              </a:rPr>
              <a:t>frontend</a:t>
            </a:r>
            <a:r>
              <a:rPr lang="en">
                <a:solidFill>
                  <a:schemeClr val="dk1"/>
                </a:solidFill>
                <a:latin typeface="Poppins"/>
                <a:ea typeface="Poppins"/>
                <a:cs typeface="Poppins"/>
                <a:sym typeface="Poppins"/>
              </a:rPr>
              <a:t> (browser or app) sends data to the </a:t>
            </a:r>
            <a:r>
              <a:rPr b="1" lang="en">
                <a:solidFill>
                  <a:schemeClr val="dk1"/>
                </a:solidFill>
                <a:latin typeface="Poppins"/>
                <a:ea typeface="Poppins"/>
                <a:cs typeface="Poppins"/>
                <a:sym typeface="Poppins"/>
              </a:rPr>
              <a:t>backend</a:t>
            </a:r>
            <a:r>
              <a:rPr lang="en">
                <a:solidFill>
                  <a:schemeClr val="dk1"/>
                </a:solidFill>
                <a:latin typeface="Poppins"/>
                <a:ea typeface="Poppins"/>
                <a:cs typeface="Poppins"/>
                <a:sym typeface="Poppins"/>
              </a:rPr>
              <a:t> using a </a:t>
            </a:r>
            <a:r>
              <a:rPr b="1" lang="en">
                <a:solidFill>
                  <a:schemeClr val="dk1"/>
                </a:solidFill>
                <a:latin typeface="Poppins"/>
                <a:ea typeface="Poppins"/>
                <a:cs typeface="Poppins"/>
                <a:sym typeface="Poppins"/>
              </a:rPr>
              <a:t>POST request</a:t>
            </a:r>
            <a:r>
              <a:rPr lang="en">
                <a:solidFill>
                  <a:schemeClr val="dk1"/>
                </a:solidFill>
                <a:latin typeface="Poppins"/>
                <a:ea typeface="Poppins"/>
                <a:cs typeface="Poppins"/>
                <a:sym typeface="Poppins"/>
              </a:rPr>
              <a:t>, usually to create or update something on the server.</a:t>
            </a:r>
            <a:endParaRPr sz="1700">
              <a:solidFill>
                <a:srgbClr val="273239"/>
              </a:solidFill>
              <a:latin typeface="Poppins"/>
              <a:ea typeface="Poppins"/>
              <a:cs typeface="Poppins"/>
              <a:sym typeface="Poppins"/>
            </a:endParaRPr>
          </a:p>
          <a:p>
            <a:pPr indent="0" lvl="0" marL="914400" rtl="0" algn="l">
              <a:spcBef>
                <a:spcPts val="0"/>
              </a:spcBef>
              <a:spcAft>
                <a:spcPts val="0"/>
              </a:spcAft>
              <a:buNone/>
            </a:pPr>
            <a:r>
              <a:t/>
            </a:r>
            <a:endParaRPr>
              <a:solidFill>
                <a:srgbClr val="273239"/>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1"/>
          <p:cNvSpPr txBox="1"/>
          <p:nvPr/>
        </p:nvSpPr>
        <p:spPr>
          <a:xfrm>
            <a:off x="310900" y="197325"/>
            <a:ext cx="7470600" cy="5727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2800">
                <a:solidFill>
                  <a:srgbClr val="000000"/>
                </a:solidFill>
                <a:latin typeface="Poppins"/>
                <a:ea typeface="Poppins"/>
                <a:cs typeface="Poppins"/>
                <a:sym typeface="Poppins"/>
              </a:rPr>
              <a:t>|</a:t>
            </a:r>
            <a:r>
              <a:rPr lang="en" sz="2800">
                <a:solidFill>
                  <a:srgbClr val="000000"/>
                </a:solidFill>
              </a:rPr>
              <a:t> </a:t>
            </a:r>
            <a:r>
              <a:rPr b="1" lang="en" sz="3000">
                <a:solidFill>
                  <a:srgbClr val="073763"/>
                </a:solidFill>
                <a:latin typeface="Poppins"/>
                <a:ea typeface="Poppins"/>
                <a:cs typeface="Poppins"/>
                <a:sym typeface="Poppins"/>
              </a:rPr>
              <a:t> </a:t>
            </a:r>
            <a:r>
              <a:rPr b="1" lang="en" sz="2500">
                <a:solidFill>
                  <a:srgbClr val="073763"/>
                </a:solidFill>
                <a:latin typeface="Poppins"/>
                <a:ea typeface="Poppins"/>
                <a:cs typeface="Poppins"/>
                <a:sym typeface="Poppins"/>
              </a:rPr>
              <a:t>GET request</a:t>
            </a:r>
            <a:endParaRPr b="1" sz="2500">
              <a:solidFill>
                <a:srgbClr val="073763"/>
              </a:solidFill>
              <a:latin typeface="Poppins"/>
              <a:ea typeface="Poppins"/>
              <a:cs typeface="Poppins"/>
              <a:sym typeface="Poppins"/>
            </a:endParaRPr>
          </a:p>
        </p:txBody>
      </p:sp>
      <p:pic>
        <p:nvPicPr>
          <p:cNvPr id="144" name="Google Shape;144;p21"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sp>
        <p:nvSpPr>
          <p:cNvPr id="145" name="Google Shape;145;p2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46" name="Google Shape;146;p21"/>
          <p:cNvSpPr txBox="1"/>
          <p:nvPr/>
        </p:nvSpPr>
        <p:spPr>
          <a:xfrm>
            <a:off x="310900" y="1178588"/>
            <a:ext cx="4880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Poppins"/>
                <a:ea typeface="Poppins"/>
                <a:cs typeface="Poppins"/>
                <a:sym typeface="Poppins"/>
              </a:rPr>
              <a:t>Used when we </a:t>
            </a:r>
            <a:r>
              <a:rPr b="1" lang="en">
                <a:solidFill>
                  <a:schemeClr val="dk1"/>
                </a:solidFill>
                <a:latin typeface="Poppins"/>
                <a:ea typeface="Poppins"/>
                <a:cs typeface="Poppins"/>
                <a:sym typeface="Poppins"/>
              </a:rPr>
              <a:t>want to get something</a:t>
            </a:r>
            <a:r>
              <a:rPr lang="en">
                <a:solidFill>
                  <a:schemeClr val="dk1"/>
                </a:solidFill>
                <a:latin typeface="Poppins"/>
                <a:ea typeface="Poppins"/>
                <a:cs typeface="Poppins"/>
                <a:sym typeface="Poppins"/>
              </a:rPr>
              <a:t> from the backend.</a:t>
            </a:r>
            <a:endParaRPr>
              <a:latin typeface="Poppins"/>
              <a:ea typeface="Poppins"/>
              <a:cs typeface="Poppins"/>
              <a:sym typeface="Poppins"/>
            </a:endParaRPr>
          </a:p>
        </p:txBody>
      </p:sp>
      <p:pic>
        <p:nvPicPr>
          <p:cNvPr id="147" name="Google Shape;147;p21"/>
          <p:cNvPicPr preferRelativeResize="0"/>
          <p:nvPr/>
        </p:nvPicPr>
        <p:blipFill>
          <a:blip r:embed="rId4">
            <a:alphaModFix/>
          </a:blip>
          <a:stretch>
            <a:fillRect/>
          </a:stretch>
        </p:blipFill>
        <p:spPr>
          <a:xfrm>
            <a:off x="378900" y="2332338"/>
            <a:ext cx="3908301" cy="1641176"/>
          </a:xfrm>
          <a:prstGeom prst="rect">
            <a:avLst/>
          </a:prstGeom>
          <a:noFill/>
          <a:ln>
            <a:noFill/>
          </a:ln>
        </p:spPr>
      </p:pic>
      <p:pic>
        <p:nvPicPr>
          <p:cNvPr id="148" name="Google Shape;148;p21"/>
          <p:cNvPicPr preferRelativeResize="0"/>
          <p:nvPr/>
        </p:nvPicPr>
        <p:blipFill>
          <a:blip r:embed="rId5">
            <a:alphaModFix/>
          </a:blip>
          <a:stretch>
            <a:fillRect/>
          </a:stretch>
        </p:blipFill>
        <p:spPr>
          <a:xfrm>
            <a:off x="5051100" y="2485926"/>
            <a:ext cx="3714000" cy="1334000"/>
          </a:xfrm>
          <a:prstGeom prst="rect">
            <a:avLst/>
          </a:prstGeom>
          <a:noFill/>
          <a:ln>
            <a:noFill/>
          </a:ln>
        </p:spPr>
      </p:pic>
      <p:cxnSp>
        <p:nvCxnSpPr>
          <p:cNvPr id="149" name="Google Shape;149;p21"/>
          <p:cNvCxnSpPr>
            <a:stCxn id="147" idx="3"/>
            <a:endCxn id="148" idx="1"/>
          </p:cNvCxnSpPr>
          <p:nvPr/>
        </p:nvCxnSpPr>
        <p:spPr>
          <a:xfrm>
            <a:off x="4287201" y="3152925"/>
            <a:ext cx="763800" cy="0"/>
          </a:xfrm>
          <a:prstGeom prst="straightConnector1">
            <a:avLst/>
          </a:prstGeom>
          <a:noFill/>
          <a:ln cap="flat" cmpd="sng" w="9525">
            <a:solidFill>
              <a:srgbClr val="FF0000"/>
            </a:solidFill>
            <a:prstDash val="solid"/>
            <a:round/>
            <a:headEnd len="med" w="med" type="none"/>
            <a:tailEnd len="med" w="med" type="triangle"/>
          </a:ln>
        </p:spPr>
      </p:cxnSp>
      <p:sp>
        <p:nvSpPr>
          <p:cNvPr id="150" name="Google Shape;150;p21"/>
          <p:cNvSpPr txBox="1"/>
          <p:nvPr/>
        </p:nvSpPr>
        <p:spPr>
          <a:xfrm>
            <a:off x="6526200" y="2073750"/>
            <a:ext cx="763800" cy="258600"/>
          </a:xfrm>
          <a:prstGeom prst="rect">
            <a:avLst/>
          </a:prstGeom>
          <a:solidFill>
            <a:srgbClr val="FCE5C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dk2"/>
                </a:solidFill>
              </a:rPr>
              <a:t>Output</a:t>
            </a:r>
            <a:endParaRPr sz="15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2"/>
          <p:cNvSpPr txBox="1"/>
          <p:nvPr/>
        </p:nvSpPr>
        <p:spPr>
          <a:xfrm>
            <a:off x="310900" y="197325"/>
            <a:ext cx="747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Poppins"/>
                <a:ea typeface="Poppins"/>
                <a:cs typeface="Poppins"/>
                <a:sym typeface="Poppins"/>
              </a:rPr>
              <a:t>|</a:t>
            </a:r>
            <a:r>
              <a:rPr lang="en" sz="2800">
                <a:solidFill>
                  <a:srgbClr val="000000"/>
                </a:solidFill>
              </a:rPr>
              <a:t> </a:t>
            </a:r>
            <a:r>
              <a:rPr b="1" lang="en" sz="2800">
                <a:solidFill>
                  <a:srgbClr val="073763"/>
                </a:solidFill>
                <a:latin typeface="Poppins"/>
                <a:ea typeface="Poppins"/>
                <a:cs typeface="Poppins"/>
                <a:sym typeface="Poppins"/>
              </a:rPr>
              <a:t>Coding Questions</a:t>
            </a:r>
            <a:endParaRPr b="1" sz="2800">
              <a:solidFill>
                <a:srgbClr val="073763"/>
              </a:solidFill>
              <a:latin typeface="Poppins"/>
              <a:ea typeface="Poppins"/>
              <a:cs typeface="Poppins"/>
              <a:sym typeface="Poppins"/>
            </a:endParaRPr>
          </a:p>
        </p:txBody>
      </p:sp>
      <p:pic>
        <p:nvPicPr>
          <p:cNvPr id="156" name="Google Shape;156;p22"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pic>
        <p:nvPicPr>
          <p:cNvPr id="157" name="Google Shape;157;p22" title="question-and-answer-illustration-download-in-svg-png-gif-file-formats--answers-faq-comments-chatting-business-pack-people-illustrations-4257057.png"/>
          <p:cNvPicPr preferRelativeResize="0"/>
          <p:nvPr/>
        </p:nvPicPr>
        <p:blipFill>
          <a:blip r:embed="rId4">
            <a:alphaModFix/>
          </a:blip>
          <a:stretch>
            <a:fillRect/>
          </a:stretch>
        </p:blipFill>
        <p:spPr>
          <a:xfrm>
            <a:off x="6051839" y="3027775"/>
            <a:ext cx="3001612" cy="2001075"/>
          </a:xfrm>
          <a:prstGeom prst="rect">
            <a:avLst/>
          </a:prstGeom>
          <a:noFill/>
          <a:ln>
            <a:noFill/>
          </a:ln>
        </p:spPr>
      </p:pic>
      <p:sp>
        <p:nvSpPr>
          <p:cNvPr id="158" name="Google Shape;158;p2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159" name="Google Shape;159;p22"/>
          <p:cNvGrpSpPr/>
          <p:nvPr/>
        </p:nvGrpSpPr>
        <p:grpSpPr>
          <a:xfrm>
            <a:off x="310894" y="1014975"/>
            <a:ext cx="6716433" cy="3382325"/>
            <a:chOff x="310900" y="1014975"/>
            <a:chExt cx="6327900" cy="3382325"/>
          </a:xfrm>
        </p:grpSpPr>
        <p:sp>
          <p:nvSpPr>
            <p:cNvPr id="160" name="Google Shape;160;p22"/>
            <p:cNvSpPr txBox="1"/>
            <p:nvPr/>
          </p:nvSpPr>
          <p:spPr>
            <a:xfrm>
              <a:off x="310900" y="1014975"/>
              <a:ext cx="5139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273239"/>
                  </a:solidFill>
                  <a:latin typeface="Poppins"/>
                  <a:ea typeface="Poppins"/>
                  <a:cs typeface="Poppins"/>
                  <a:sym typeface="Poppins"/>
                </a:rPr>
                <a:t>1.   </a:t>
              </a:r>
              <a:r>
                <a:rPr b="1" lang="en">
                  <a:solidFill>
                    <a:schemeClr val="dk1"/>
                  </a:solidFill>
                </a:rPr>
                <a:t> Simple GET Request with fetch and await</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rgbClr val="273239"/>
                </a:solidFill>
                <a:latin typeface="Poppins"/>
                <a:ea typeface="Poppins"/>
                <a:cs typeface="Poppins"/>
                <a:sym typeface="Poppins"/>
              </a:endParaRPr>
            </a:p>
          </p:txBody>
        </p:sp>
        <p:sp>
          <p:nvSpPr>
            <p:cNvPr id="161" name="Google Shape;161;p22"/>
            <p:cNvSpPr txBox="1"/>
            <p:nvPr/>
          </p:nvSpPr>
          <p:spPr>
            <a:xfrm>
              <a:off x="310900" y="1725200"/>
              <a:ext cx="6327900" cy="2672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a:solidFill>
                    <a:srgbClr val="273239"/>
                  </a:solidFill>
                  <a:latin typeface="Poppins"/>
                  <a:ea typeface="Poppins"/>
                  <a:cs typeface="Poppins"/>
                  <a:sym typeface="Poppins"/>
                </a:rPr>
                <a:t>Task :</a:t>
              </a:r>
              <a:endParaRPr>
                <a:solidFill>
                  <a:srgbClr val="000000"/>
                </a:solidFill>
              </a:endParaRPr>
            </a:p>
            <a:p>
              <a:pPr indent="-317500" lvl="0" marL="914400" rtl="0" algn="l">
                <a:lnSpc>
                  <a:spcPct val="115000"/>
                </a:lnSpc>
                <a:spcBef>
                  <a:spcPts val="1200"/>
                </a:spcBef>
                <a:spcAft>
                  <a:spcPts val="0"/>
                </a:spcAft>
                <a:buClr>
                  <a:schemeClr val="dk1"/>
                </a:buClr>
                <a:buSzPts val="1400"/>
                <a:buAutoNum type="arabicPeriod"/>
              </a:pPr>
              <a:r>
                <a:rPr lang="en">
                  <a:solidFill>
                    <a:schemeClr val="dk1"/>
                  </a:solidFill>
                </a:rPr>
                <a:t>Write an</a:t>
              </a:r>
              <a:r>
                <a:rPr b="1" lang="en">
                  <a:solidFill>
                    <a:schemeClr val="dk1"/>
                  </a:solidFill>
                </a:rPr>
                <a:t> async</a:t>
              </a:r>
              <a:r>
                <a:rPr lang="en">
                  <a:solidFill>
                    <a:schemeClr val="dk1"/>
                  </a:solidFill>
                </a:rPr>
                <a:t> function </a:t>
              </a:r>
              <a:r>
                <a:rPr b="1" lang="en">
                  <a:solidFill>
                    <a:schemeClr val="dk1"/>
                  </a:solidFill>
                </a:rPr>
                <a:t>getTodo</a:t>
              </a:r>
              <a:r>
                <a:rPr lang="en">
                  <a:solidFill>
                    <a:schemeClr val="dk1"/>
                  </a:solidFill>
                </a:rPr>
                <a:t>. Inside the function, use </a:t>
              </a:r>
              <a:r>
                <a:rPr b="1" lang="en">
                  <a:solidFill>
                    <a:schemeClr val="dk1"/>
                  </a:solidFill>
                </a:rPr>
                <a:t>fetch</a:t>
              </a:r>
              <a:r>
                <a:rPr lang="en">
                  <a:solidFill>
                    <a:schemeClr val="dk1"/>
                  </a:solidFill>
                </a:rPr>
                <a:t> and </a:t>
              </a:r>
              <a:r>
                <a:rPr b="1" lang="en">
                  <a:solidFill>
                    <a:schemeClr val="dk1"/>
                  </a:solidFill>
                </a:rPr>
                <a:t>await</a:t>
              </a:r>
              <a:r>
                <a:rPr lang="en">
                  <a:solidFill>
                    <a:schemeClr val="dk1"/>
                  </a:solidFill>
                </a:rPr>
                <a:t> to get data for a single "todo" item from the URL: </a:t>
              </a:r>
              <a:r>
                <a:rPr b="1" lang="en">
                  <a:solidFill>
                    <a:schemeClr val="dk1"/>
                  </a:solidFill>
                </a:rPr>
                <a:t>https://jsonplaceholder.typicode.com/todos/1</a:t>
              </a:r>
              <a:r>
                <a:rPr lang="en">
                  <a:solidFill>
                    <a:schemeClr val="dk1"/>
                  </a:solidFill>
                </a:rPr>
                <a:t>. After getting the response, use </a:t>
              </a:r>
              <a:r>
                <a:rPr b="1" lang="en">
                  <a:solidFill>
                    <a:schemeClr val="dk1"/>
                  </a:solidFill>
                </a:rPr>
                <a:t>await</a:t>
              </a:r>
              <a:r>
                <a:rPr lang="en">
                  <a:solidFill>
                    <a:schemeClr val="dk1"/>
                  </a:solidFill>
                </a:rPr>
                <a:t> again on the </a:t>
              </a:r>
              <a:r>
                <a:rPr b="1" lang="en">
                  <a:solidFill>
                    <a:schemeClr val="dk1"/>
                  </a:solidFill>
                </a:rPr>
                <a:t>response.json()</a:t>
              </a:r>
              <a:r>
                <a:rPr lang="en">
                  <a:solidFill>
                    <a:schemeClr val="dk1"/>
                  </a:solidFill>
                </a:rPr>
                <a:t> method to parse the data. Finally, log the parsed data.</a:t>
              </a:r>
              <a:endParaRPr>
                <a:solidFill>
                  <a:schemeClr val="dk1"/>
                </a:solidFill>
              </a:endParaRPr>
            </a:p>
            <a:p>
              <a:pPr indent="0" lvl="0" marL="914400" rtl="0" algn="l">
                <a:lnSpc>
                  <a:spcPct val="115000"/>
                </a:lnSpc>
                <a:spcBef>
                  <a:spcPts val="1200"/>
                </a:spcBef>
                <a:spcAft>
                  <a:spcPts val="0"/>
                </a:spcAft>
                <a:buNone/>
              </a:pPr>
              <a:r>
                <a:t/>
              </a:r>
              <a:endParaRPr>
                <a:solidFill>
                  <a:schemeClr val="dk1"/>
                </a:solidFill>
              </a:endParaRPr>
            </a:p>
            <a:p>
              <a:pPr indent="0" lvl="0" marL="0" rtl="0" algn="l">
                <a:lnSpc>
                  <a:spcPct val="150000"/>
                </a:lnSpc>
                <a:spcBef>
                  <a:spcPts val="1200"/>
                </a:spcBef>
                <a:spcAft>
                  <a:spcPts val="1000"/>
                </a:spcAft>
                <a:buNone/>
              </a:pPr>
              <a:r>
                <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3"/>
          <p:cNvSpPr txBox="1"/>
          <p:nvPr/>
        </p:nvSpPr>
        <p:spPr>
          <a:xfrm>
            <a:off x="310900" y="197325"/>
            <a:ext cx="747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Poppins"/>
                <a:ea typeface="Poppins"/>
                <a:cs typeface="Poppins"/>
                <a:sym typeface="Poppins"/>
              </a:rPr>
              <a:t>|</a:t>
            </a:r>
            <a:r>
              <a:rPr lang="en" sz="2800">
                <a:solidFill>
                  <a:srgbClr val="000000"/>
                </a:solidFill>
              </a:rPr>
              <a:t> </a:t>
            </a:r>
            <a:r>
              <a:rPr b="1" lang="en" sz="2800">
                <a:solidFill>
                  <a:srgbClr val="073763"/>
                </a:solidFill>
                <a:latin typeface="Poppins"/>
                <a:ea typeface="Poppins"/>
                <a:cs typeface="Poppins"/>
                <a:sym typeface="Poppins"/>
              </a:rPr>
              <a:t>Coding Questions</a:t>
            </a:r>
            <a:endParaRPr b="1" sz="2800">
              <a:solidFill>
                <a:srgbClr val="073763"/>
              </a:solidFill>
              <a:latin typeface="Poppins"/>
              <a:ea typeface="Poppins"/>
              <a:cs typeface="Poppins"/>
              <a:sym typeface="Poppins"/>
            </a:endParaRPr>
          </a:p>
        </p:txBody>
      </p:sp>
      <p:pic>
        <p:nvPicPr>
          <p:cNvPr id="167" name="Google Shape;167;p23"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pic>
        <p:nvPicPr>
          <p:cNvPr id="168" name="Google Shape;168;p23" title="question-and-answer-illustration-download-in-svg-png-gif-file-formats--answers-faq-comments-chatting-business-pack-people-illustrations-4257057.png"/>
          <p:cNvPicPr preferRelativeResize="0"/>
          <p:nvPr/>
        </p:nvPicPr>
        <p:blipFill>
          <a:blip r:embed="rId4">
            <a:alphaModFix/>
          </a:blip>
          <a:stretch>
            <a:fillRect/>
          </a:stretch>
        </p:blipFill>
        <p:spPr>
          <a:xfrm>
            <a:off x="6051839" y="3027775"/>
            <a:ext cx="3001612" cy="2001075"/>
          </a:xfrm>
          <a:prstGeom prst="rect">
            <a:avLst/>
          </a:prstGeom>
          <a:noFill/>
          <a:ln>
            <a:noFill/>
          </a:ln>
        </p:spPr>
      </p:pic>
      <p:sp>
        <p:nvSpPr>
          <p:cNvPr id="169" name="Google Shape;169;p2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70" name="Google Shape;170;p23"/>
          <p:cNvSpPr txBox="1"/>
          <p:nvPr/>
        </p:nvSpPr>
        <p:spPr>
          <a:xfrm>
            <a:off x="310900" y="1086300"/>
            <a:ext cx="1049700" cy="356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
                <a:solidFill>
                  <a:srgbClr val="273239"/>
                </a:solidFill>
                <a:latin typeface="Poppins"/>
                <a:ea typeface="Poppins"/>
                <a:cs typeface="Poppins"/>
                <a:sym typeface="Poppins"/>
              </a:rPr>
              <a:t>Solution :</a:t>
            </a:r>
            <a:endParaRPr b="1" sz="1700">
              <a:solidFill>
                <a:srgbClr val="273239"/>
              </a:solidFill>
              <a:latin typeface="Poppins"/>
              <a:ea typeface="Poppins"/>
              <a:cs typeface="Poppins"/>
              <a:sym typeface="Poppins"/>
            </a:endParaRPr>
          </a:p>
        </p:txBody>
      </p:sp>
      <p:pic>
        <p:nvPicPr>
          <p:cNvPr id="171" name="Google Shape;171;p23"/>
          <p:cNvPicPr preferRelativeResize="0"/>
          <p:nvPr/>
        </p:nvPicPr>
        <p:blipFill>
          <a:blip r:embed="rId5">
            <a:alphaModFix/>
          </a:blip>
          <a:stretch>
            <a:fillRect/>
          </a:stretch>
        </p:blipFill>
        <p:spPr>
          <a:xfrm>
            <a:off x="310900" y="1662200"/>
            <a:ext cx="5747038" cy="277904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4"/>
          <p:cNvSpPr txBox="1"/>
          <p:nvPr/>
        </p:nvSpPr>
        <p:spPr>
          <a:xfrm>
            <a:off x="310900" y="197325"/>
            <a:ext cx="747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Poppins"/>
                <a:ea typeface="Poppins"/>
                <a:cs typeface="Poppins"/>
                <a:sym typeface="Poppins"/>
              </a:rPr>
              <a:t>|</a:t>
            </a:r>
            <a:r>
              <a:rPr lang="en" sz="2800">
                <a:solidFill>
                  <a:srgbClr val="000000"/>
                </a:solidFill>
              </a:rPr>
              <a:t> </a:t>
            </a:r>
            <a:r>
              <a:rPr b="1" lang="en" sz="2800">
                <a:solidFill>
                  <a:srgbClr val="073763"/>
                </a:solidFill>
                <a:latin typeface="Poppins"/>
                <a:ea typeface="Poppins"/>
                <a:cs typeface="Poppins"/>
                <a:sym typeface="Poppins"/>
              </a:rPr>
              <a:t>Coding Questions</a:t>
            </a:r>
            <a:endParaRPr b="1" sz="2800">
              <a:solidFill>
                <a:srgbClr val="073763"/>
              </a:solidFill>
              <a:latin typeface="Poppins"/>
              <a:ea typeface="Poppins"/>
              <a:cs typeface="Poppins"/>
              <a:sym typeface="Poppins"/>
            </a:endParaRPr>
          </a:p>
        </p:txBody>
      </p:sp>
      <p:pic>
        <p:nvPicPr>
          <p:cNvPr id="177" name="Google Shape;177;p24"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pic>
        <p:nvPicPr>
          <p:cNvPr id="178" name="Google Shape;178;p24" title="question-and-answer-illustration-download-in-svg-png-gif-file-formats--answers-faq-comments-chatting-business-pack-people-illustrations-4257057.png"/>
          <p:cNvPicPr preferRelativeResize="0"/>
          <p:nvPr/>
        </p:nvPicPr>
        <p:blipFill>
          <a:blip r:embed="rId4">
            <a:alphaModFix/>
          </a:blip>
          <a:stretch>
            <a:fillRect/>
          </a:stretch>
        </p:blipFill>
        <p:spPr>
          <a:xfrm>
            <a:off x="6051839" y="3027775"/>
            <a:ext cx="3001612" cy="2001075"/>
          </a:xfrm>
          <a:prstGeom prst="rect">
            <a:avLst/>
          </a:prstGeom>
          <a:noFill/>
          <a:ln>
            <a:noFill/>
          </a:ln>
        </p:spPr>
      </p:pic>
      <p:sp>
        <p:nvSpPr>
          <p:cNvPr id="179" name="Google Shape;179;p2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80" name="Google Shape;180;p24"/>
          <p:cNvSpPr txBox="1"/>
          <p:nvPr/>
        </p:nvSpPr>
        <p:spPr>
          <a:xfrm>
            <a:off x="310900" y="1086300"/>
            <a:ext cx="1049700" cy="356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
                <a:solidFill>
                  <a:srgbClr val="273239"/>
                </a:solidFill>
                <a:latin typeface="Poppins"/>
                <a:ea typeface="Poppins"/>
                <a:cs typeface="Poppins"/>
                <a:sym typeface="Poppins"/>
              </a:rPr>
              <a:t>Output :</a:t>
            </a:r>
            <a:endParaRPr b="1" sz="1700">
              <a:solidFill>
                <a:srgbClr val="273239"/>
              </a:solidFill>
              <a:latin typeface="Poppins"/>
              <a:ea typeface="Poppins"/>
              <a:cs typeface="Poppins"/>
              <a:sym typeface="Poppins"/>
            </a:endParaRPr>
          </a:p>
        </p:txBody>
      </p:sp>
      <p:pic>
        <p:nvPicPr>
          <p:cNvPr id="181" name="Google Shape;181;p24"/>
          <p:cNvPicPr preferRelativeResize="0"/>
          <p:nvPr/>
        </p:nvPicPr>
        <p:blipFill>
          <a:blip r:embed="rId5">
            <a:alphaModFix/>
          </a:blip>
          <a:stretch>
            <a:fillRect/>
          </a:stretch>
        </p:blipFill>
        <p:spPr>
          <a:xfrm>
            <a:off x="310900" y="1759275"/>
            <a:ext cx="6118799" cy="2051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5"/>
          <p:cNvSpPr txBox="1"/>
          <p:nvPr/>
        </p:nvSpPr>
        <p:spPr>
          <a:xfrm>
            <a:off x="310900" y="197325"/>
            <a:ext cx="7470600" cy="5727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2800">
                <a:solidFill>
                  <a:srgbClr val="000000"/>
                </a:solidFill>
                <a:latin typeface="Poppins"/>
                <a:ea typeface="Poppins"/>
                <a:cs typeface="Poppins"/>
                <a:sym typeface="Poppins"/>
              </a:rPr>
              <a:t>|</a:t>
            </a:r>
            <a:r>
              <a:rPr lang="en" sz="2800">
                <a:solidFill>
                  <a:srgbClr val="000000"/>
                </a:solidFill>
              </a:rPr>
              <a:t> </a:t>
            </a:r>
            <a:r>
              <a:rPr b="1" lang="en" sz="3000">
                <a:solidFill>
                  <a:srgbClr val="073763"/>
                </a:solidFill>
                <a:latin typeface="Poppins"/>
                <a:ea typeface="Poppins"/>
                <a:cs typeface="Poppins"/>
                <a:sym typeface="Poppins"/>
              </a:rPr>
              <a:t> </a:t>
            </a:r>
            <a:r>
              <a:rPr b="1" lang="en" sz="2500">
                <a:solidFill>
                  <a:srgbClr val="073763"/>
                </a:solidFill>
                <a:latin typeface="Poppins"/>
                <a:ea typeface="Poppins"/>
                <a:cs typeface="Poppins"/>
                <a:sym typeface="Poppins"/>
              </a:rPr>
              <a:t>POST request</a:t>
            </a:r>
            <a:endParaRPr b="1" sz="2500">
              <a:solidFill>
                <a:srgbClr val="073763"/>
              </a:solidFill>
              <a:latin typeface="Poppins"/>
              <a:ea typeface="Poppins"/>
              <a:cs typeface="Poppins"/>
              <a:sym typeface="Poppins"/>
            </a:endParaRPr>
          </a:p>
        </p:txBody>
      </p:sp>
      <p:pic>
        <p:nvPicPr>
          <p:cNvPr id="187" name="Google Shape;187;p25"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sp>
        <p:nvSpPr>
          <p:cNvPr id="188" name="Google Shape;188;p2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89" name="Google Shape;189;p25"/>
          <p:cNvSpPr txBox="1"/>
          <p:nvPr/>
        </p:nvSpPr>
        <p:spPr>
          <a:xfrm>
            <a:off x="310900" y="892500"/>
            <a:ext cx="5175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solidFill>
                  <a:schemeClr val="dk1"/>
                </a:solidFill>
                <a:latin typeface="Poppins"/>
                <a:ea typeface="Poppins"/>
                <a:cs typeface="Poppins"/>
                <a:sym typeface="Poppins"/>
              </a:rPr>
              <a:t>Used when we </a:t>
            </a:r>
            <a:r>
              <a:rPr b="1" lang="en">
                <a:solidFill>
                  <a:schemeClr val="dk1"/>
                </a:solidFill>
                <a:latin typeface="Poppins"/>
                <a:ea typeface="Poppins"/>
                <a:cs typeface="Poppins"/>
                <a:sym typeface="Poppins"/>
              </a:rPr>
              <a:t>want to send data </a:t>
            </a:r>
            <a:r>
              <a:rPr lang="en">
                <a:solidFill>
                  <a:schemeClr val="dk1"/>
                </a:solidFill>
                <a:latin typeface="Poppins"/>
                <a:ea typeface="Poppins"/>
                <a:cs typeface="Poppins"/>
                <a:sym typeface="Poppins"/>
              </a:rPr>
              <a:t>from frontend to backend.</a:t>
            </a:r>
            <a:endParaRPr/>
          </a:p>
        </p:txBody>
      </p:sp>
      <p:pic>
        <p:nvPicPr>
          <p:cNvPr id="190" name="Google Shape;190;p25"/>
          <p:cNvPicPr preferRelativeResize="0"/>
          <p:nvPr/>
        </p:nvPicPr>
        <p:blipFill>
          <a:blip r:embed="rId4">
            <a:alphaModFix/>
          </a:blip>
          <a:stretch>
            <a:fillRect/>
          </a:stretch>
        </p:blipFill>
        <p:spPr>
          <a:xfrm>
            <a:off x="368400" y="1630575"/>
            <a:ext cx="4403983" cy="3208123"/>
          </a:xfrm>
          <a:prstGeom prst="rect">
            <a:avLst/>
          </a:prstGeom>
          <a:noFill/>
          <a:ln>
            <a:noFill/>
          </a:ln>
        </p:spPr>
      </p:pic>
      <p:pic>
        <p:nvPicPr>
          <p:cNvPr id="191" name="Google Shape;191;p25"/>
          <p:cNvPicPr preferRelativeResize="0"/>
          <p:nvPr/>
        </p:nvPicPr>
        <p:blipFill>
          <a:blip r:embed="rId5">
            <a:alphaModFix/>
          </a:blip>
          <a:stretch>
            <a:fillRect/>
          </a:stretch>
        </p:blipFill>
        <p:spPr>
          <a:xfrm>
            <a:off x="5673600" y="2649500"/>
            <a:ext cx="3182400" cy="1398425"/>
          </a:xfrm>
          <a:prstGeom prst="rect">
            <a:avLst/>
          </a:prstGeom>
          <a:noFill/>
          <a:ln>
            <a:noFill/>
          </a:ln>
        </p:spPr>
      </p:pic>
      <p:cxnSp>
        <p:nvCxnSpPr>
          <p:cNvPr id="192" name="Google Shape;192;p25"/>
          <p:cNvCxnSpPr>
            <a:stCxn id="190" idx="3"/>
          </p:cNvCxnSpPr>
          <p:nvPr/>
        </p:nvCxnSpPr>
        <p:spPr>
          <a:xfrm flipH="1" rot="10800000">
            <a:off x="4772383" y="3232837"/>
            <a:ext cx="829200" cy="18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6"/>
          <p:cNvSpPr txBox="1"/>
          <p:nvPr/>
        </p:nvSpPr>
        <p:spPr>
          <a:xfrm>
            <a:off x="310900" y="197325"/>
            <a:ext cx="7470600" cy="5727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2800">
                <a:solidFill>
                  <a:srgbClr val="000000"/>
                </a:solidFill>
                <a:latin typeface="Poppins"/>
                <a:ea typeface="Poppins"/>
                <a:cs typeface="Poppins"/>
                <a:sym typeface="Poppins"/>
              </a:rPr>
              <a:t>|</a:t>
            </a:r>
            <a:r>
              <a:rPr lang="en" sz="2800">
                <a:solidFill>
                  <a:srgbClr val="000000"/>
                </a:solidFill>
              </a:rPr>
              <a:t> </a:t>
            </a:r>
            <a:r>
              <a:rPr b="1" lang="en" sz="3000">
                <a:solidFill>
                  <a:srgbClr val="073763"/>
                </a:solidFill>
                <a:latin typeface="Poppins"/>
                <a:ea typeface="Poppins"/>
                <a:cs typeface="Poppins"/>
                <a:sym typeface="Poppins"/>
              </a:rPr>
              <a:t> </a:t>
            </a:r>
            <a:r>
              <a:rPr b="1" lang="en" sz="2500">
                <a:solidFill>
                  <a:srgbClr val="073763"/>
                </a:solidFill>
                <a:latin typeface="Poppins"/>
                <a:ea typeface="Poppins"/>
                <a:cs typeface="Poppins"/>
                <a:sym typeface="Poppins"/>
              </a:rPr>
              <a:t>POST request</a:t>
            </a:r>
            <a:endParaRPr b="1" sz="2500">
              <a:solidFill>
                <a:srgbClr val="073763"/>
              </a:solidFill>
              <a:latin typeface="Poppins"/>
              <a:ea typeface="Poppins"/>
              <a:cs typeface="Poppins"/>
              <a:sym typeface="Poppins"/>
            </a:endParaRPr>
          </a:p>
        </p:txBody>
      </p:sp>
      <p:pic>
        <p:nvPicPr>
          <p:cNvPr id="198" name="Google Shape;198;p26"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sp>
        <p:nvSpPr>
          <p:cNvPr id="199" name="Google Shape;199;p2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00" name="Google Shape;200;p26"/>
          <p:cNvSpPr txBox="1"/>
          <p:nvPr/>
        </p:nvSpPr>
        <p:spPr>
          <a:xfrm>
            <a:off x="310900" y="1180800"/>
            <a:ext cx="6112800" cy="3178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a:solidFill>
                  <a:srgbClr val="273239"/>
                </a:solidFill>
                <a:latin typeface="Poppins"/>
                <a:ea typeface="Poppins"/>
                <a:cs typeface="Poppins"/>
                <a:sym typeface="Poppins"/>
              </a:rPr>
              <a:t>fetch()</a:t>
            </a:r>
            <a:r>
              <a:rPr lang="en">
                <a:solidFill>
                  <a:srgbClr val="273239"/>
                </a:solidFill>
                <a:latin typeface="Poppins"/>
                <a:ea typeface="Poppins"/>
                <a:cs typeface="Poppins"/>
                <a:sym typeface="Poppins"/>
              </a:rPr>
              <a:t> sends a </a:t>
            </a:r>
            <a:r>
              <a:rPr b="1" lang="en">
                <a:solidFill>
                  <a:srgbClr val="273239"/>
                </a:solidFill>
                <a:latin typeface="Poppins"/>
                <a:ea typeface="Poppins"/>
                <a:cs typeface="Poppins"/>
                <a:sym typeface="Poppins"/>
              </a:rPr>
              <a:t>POST request</a:t>
            </a:r>
            <a:r>
              <a:rPr lang="en">
                <a:solidFill>
                  <a:srgbClr val="273239"/>
                </a:solidFill>
                <a:latin typeface="Poppins"/>
                <a:ea typeface="Poppins"/>
                <a:cs typeface="Poppins"/>
                <a:sym typeface="Poppins"/>
              </a:rPr>
              <a:t> to the server with:</a:t>
            </a:r>
            <a:endParaRPr>
              <a:solidFill>
                <a:srgbClr val="273239"/>
              </a:solidFill>
              <a:latin typeface="Poppins"/>
              <a:ea typeface="Poppins"/>
              <a:cs typeface="Poppins"/>
              <a:sym typeface="Poppins"/>
            </a:endParaRPr>
          </a:p>
          <a:p>
            <a:pPr indent="-317500" lvl="0" marL="457200" rtl="0" algn="l">
              <a:lnSpc>
                <a:spcPct val="115000"/>
              </a:lnSpc>
              <a:spcBef>
                <a:spcPts val="1200"/>
              </a:spcBef>
              <a:spcAft>
                <a:spcPts val="0"/>
              </a:spcAft>
              <a:buClr>
                <a:srgbClr val="273239"/>
              </a:buClr>
              <a:buSzPts val="1400"/>
              <a:buChar char="●"/>
            </a:pPr>
            <a:r>
              <a:rPr b="1" lang="en">
                <a:solidFill>
                  <a:srgbClr val="273239"/>
                </a:solidFill>
                <a:latin typeface="Poppins"/>
                <a:ea typeface="Poppins"/>
                <a:cs typeface="Poppins"/>
                <a:sym typeface="Poppins"/>
              </a:rPr>
              <a:t>method </a:t>
            </a:r>
            <a:r>
              <a:rPr lang="en">
                <a:solidFill>
                  <a:srgbClr val="273239"/>
                </a:solidFill>
                <a:latin typeface="Poppins"/>
                <a:ea typeface="Poppins"/>
                <a:cs typeface="Poppins"/>
                <a:sym typeface="Poppins"/>
              </a:rPr>
              <a:t>= "POST" This tells the server that we are  sending data (not just requesting it)</a:t>
            </a:r>
            <a:endParaRPr>
              <a:solidFill>
                <a:srgbClr val="273239"/>
              </a:solidFill>
              <a:latin typeface="Poppins"/>
              <a:ea typeface="Poppins"/>
              <a:cs typeface="Poppins"/>
              <a:sym typeface="Poppins"/>
            </a:endParaRPr>
          </a:p>
          <a:p>
            <a:pPr indent="0" lvl="0" marL="0" rtl="0" algn="l">
              <a:lnSpc>
                <a:spcPct val="100000"/>
              </a:lnSpc>
              <a:spcBef>
                <a:spcPts val="0"/>
              </a:spcBef>
              <a:spcAft>
                <a:spcPts val="0"/>
              </a:spcAft>
              <a:buNone/>
            </a:pPr>
            <a:r>
              <a:t/>
            </a:r>
            <a:endParaRPr>
              <a:solidFill>
                <a:srgbClr val="273239"/>
              </a:solidFill>
              <a:latin typeface="Poppins"/>
              <a:ea typeface="Poppins"/>
              <a:cs typeface="Poppins"/>
              <a:sym typeface="Poppins"/>
            </a:endParaRPr>
          </a:p>
          <a:p>
            <a:pPr indent="-317500" lvl="0" marL="457200" rtl="0" algn="l">
              <a:lnSpc>
                <a:spcPct val="100000"/>
              </a:lnSpc>
              <a:spcBef>
                <a:spcPts val="1200"/>
              </a:spcBef>
              <a:spcAft>
                <a:spcPts val="0"/>
              </a:spcAft>
              <a:buClr>
                <a:srgbClr val="273239"/>
              </a:buClr>
              <a:buSzPts val="1400"/>
              <a:buChar char="●"/>
            </a:pPr>
            <a:r>
              <a:rPr b="1" lang="en">
                <a:solidFill>
                  <a:srgbClr val="273239"/>
                </a:solidFill>
                <a:latin typeface="Poppins"/>
                <a:ea typeface="Poppins"/>
                <a:cs typeface="Poppins"/>
                <a:sym typeface="Poppins"/>
              </a:rPr>
              <a:t>headers </a:t>
            </a:r>
            <a:r>
              <a:rPr lang="en">
                <a:solidFill>
                  <a:srgbClr val="273239"/>
                </a:solidFill>
                <a:latin typeface="Poppins"/>
                <a:ea typeface="Poppins"/>
                <a:cs typeface="Poppins"/>
                <a:sym typeface="Poppins"/>
              </a:rPr>
              <a:t>= </a:t>
            </a:r>
            <a:r>
              <a:rPr lang="en">
                <a:solidFill>
                  <a:schemeClr val="dk1"/>
                </a:solidFill>
                <a:latin typeface="Poppins"/>
                <a:ea typeface="Poppins"/>
                <a:cs typeface="Poppins"/>
                <a:sym typeface="Poppins"/>
              </a:rPr>
              <a:t>These are extra instructions for the server. In this case, we tell the server that the data we’re sending is in </a:t>
            </a:r>
            <a:r>
              <a:rPr b="1" lang="en">
                <a:solidFill>
                  <a:schemeClr val="dk1"/>
                </a:solidFill>
                <a:latin typeface="Poppins"/>
                <a:ea typeface="Poppins"/>
                <a:cs typeface="Poppins"/>
                <a:sym typeface="Poppins"/>
              </a:rPr>
              <a:t>JSON format</a:t>
            </a:r>
            <a:br>
              <a:rPr lang="en">
                <a:solidFill>
                  <a:srgbClr val="273239"/>
                </a:solidFill>
                <a:latin typeface="Poppins"/>
                <a:ea typeface="Poppins"/>
                <a:cs typeface="Poppins"/>
                <a:sym typeface="Poppins"/>
              </a:rPr>
            </a:br>
            <a:endParaRPr>
              <a:solidFill>
                <a:srgbClr val="273239"/>
              </a:solidFill>
              <a:latin typeface="Poppins"/>
              <a:ea typeface="Poppins"/>
              <a:cs typeface="Poppins"/>
              <a:sym typeface="Poppins"/>
            </a:endParaRPr>
          </a:p>
          <a:p>
            <a:pPr indent="-317500" lvl="0" marL="457200" rtl="0" algn="l">
              <a:lnSpc>
                <a:spcPct val="115000"/>
              </a:lnSpc>
              <a:spcBef>
                <a:spcPts val="1200"/>
              </a:spcBef>
              <a:spcAft>
                <a:spcPts val="0"/>
              </a:spcAft>
              <a:buClr>
                <a:srgbClr val="273239"/>
              </a:buClr>
              <a:buSzPts val="1400"/>
              <a:buChar char="●"/>
            </a:pPr>
            <a:r>
              <a:rPr b="1" lang="en">
                <a:solidFill>
                  <a:srgbClr val="273239"/>
                </a:solidFill>
                <a:latin typeface="Poppins"/>
                <a:ea typeface="Poppins"/>
                <a:cs typeface="Poppins"/>
                <a:sym typeface="Poppins"/>
              </a:rPr>
              <a:t>body </a:t>
            </a:r>
            <a:r>
              <a:rPr lang="en">
                <a:solidFill>
                  <a:srgbClr val="273239"/>
                </a:solidFill>
                <a:latin typeface="Poppins"/>
                <a:ea typeface="Poppins"/>
                <a:cs typeface="Poppins"/>
                <a:sym typeface="Poppins"/>
              </a:rPr>
              <a:t>= </a:t>
            </a:r>
            <a:r>
              <a:rPr lang="en">
                <a:solidFill>
                  <a:schemeClr val="dk1"/>
                </a:solidFill>
                <a:latin typeface="Poppins"/>
                <a:ea typeface="Poppins"/>
                <a:cs typeface="Poppins"/>
                <a:sym typeface="Poppins"/>
              </a:rPr>
              <a:t>This is the </a:t>
            </a:r>
            <a:r>
              <a:rPr b="1" lang="en">
                <a:solidFill>
                  <a:schemeClr val="dk1"/>
                </a:solidFill>
                <a:latin typeface="Poppins"/>
                <a:ea typeface="Poppins"/>
                <a:cs typeface="Poppins"/>
                <a:sym typeface="Poppins"/>
              </a:rPr>
              <a:t>actual data</a:t>
            </a:r>
            <a:r>
              <a:rPr lang="en">
                <a:solidFill>
                  <a:schemeClr val="dk1"/>
                </a:solidFill>
                <a:latin typeface="Poppins"/>
                <a:ea typeface="Poppins"/>
                <a:cs typeface="Poppins"/>
                <a:sym typeface="Poppins"/>
              </a:rPr>
              <a:t> we are sending to the server. We write it in </a:t>
            </a:r>
            <a:r>
              <a:rPr b="1" lang="en">
                <a:solidFill>
                  <a:schemeClr val="dk1"/>
                </a:solidFill>
                <a:latin typeface="Poppins"/>
                <a:ea typeface="Poppins"/>
                <a:cs typeface="Poppins"/>
                <a:sym typeface="Poppins"/>
              </a:rPr>
              <a:t>JSON format</a:t>
            </a:r>
            <a:r>
              <a:rPr lang="en">
                <a:solidFill>
                  <a:schemeClr val="dk1"/>
                </a:solidFill>
                <a:latin typeface="Poppins"/>
                <a:ea typeface="Poppins"/>
                <a:cs typeface="Poppins"/>
                <a:sym typeface="Poppins"/>
              </a:rPr>
              <a:t> so that both the frontend and backend can understand it.</a:t>
            </a:r>
            <a:endParaRPr sz="1700">
              <a:solidFill>
                <a:srgbClr val="273239"/>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7"/>
          <p:cNvSpPr txBox="1"/>
          <p:nvPr/>
        </p:nvSpPr>
        <p:spPr>
          <a:xfrm>
            <a:off x="310900" y="210300"/>
            <a:ext cx="747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Poppins"/>
                <a:ea typeface="Poppins"/>
                <a:cs typeface="Poppins"/>
                <a:sym typeface="Poppins"/>
              </a:rPr>
              <a:t>|</a:t>
            </a:r>
            <a:r>
              <a:rPr lang="en" sz="2800">
                <a:solidFill>
                  <a:srgbClr val="000000"/>
                </a:solidFill>
              </a:rPr>
              <a:t> </a:t>
            </a:r>
            <a:r>
              <a:rPr b="1" lang="en" sz="2800">
                <a:solidFill>
                  <a:srgbClr val="073763"/>
                </a:solidFill>
                <a:latin typeface="Poppins"/>
                <a:ea typeface="Poppins"/>
                <a:cs typeface="Poppins"/>
                <a:sym typeface="Poppins"/>
              </a:rPr>
              <a:t>Check Your Understanding</a:t>
            </a:r>
            <a:endParaRPr b="1" sz="2800">
              <a:solidFill>
                <a:srgbClr val="073763"/>
              </a:solidFill>
              <a:latin typeface="Poppins"/>
              <a:ea typeface="Poppins"/>
              <a:cs typeface="Poppins"/>
              <a:sym typeface="Poppins"/>
            </a:endParaRPr>
          </a:p>
        </p:txBody>
      </p:sp>
      <p:pic>
        <p:nvPicPr>
          <p:cNvPr id="206" name="Google Shape;206;p27"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sp>
        <p:nvSpPr>
          <p:cNvPr id="207" name="Google Shape;207;p27"/>
          <p:cNvSpPr txBox="1"/>
          <p:nvPr/>
        </p:nvSpPr>
        <p:spPr>
          <a:xfrm>
            <a:off x="310900" y="1228825"/>
            <a:ext cx="81615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273239"/>
                </a:solidFill>
                <a:latin typeface="Poppins"/>
                <a:ea typeface="Poppins"/>
                <a:cs typeface="Poppins"/>
                <a:sym typeface="Poppins"/>
              </a:rPr>
              <a:t>Question : </a:t>
            </a:r>
            <a:r>
              <a:rPr b="1" lang="en" sz="1300">
                <a:solidFill>
                  <a:srgbClr val="273239"/>
                </a:solidFill>
                <a:latin typeface="Poppins"/>
                <a:ea typeface="Poppins"/>
                <a:cs typeface="Poppins"/>
                <a:sym typeface="Poppins"/>
              </a:rPr>
              <a:t>   </a:t>
            </a:r>
            <a:r>
              <a:rPr b="1" lang="en" sz="1100">
                <a:solidFill>
                  <a:srgbClr val="000000"/>
                </a:solidFill>
              </a:rPr>
              <a:t> </a:t>
            </a:r>
            <a:r>
              <a:rPr b="1" lang="en">
                <a:solidFill>
                  <a:schemeClr val="dk1"/>
                </a:solidFill>
              </a:rPr>
              <a:t>What does the fetch() function return?</a:t>
            </a:r>
            <a:r>
              <a:rPr lang="en">
                <a:solidFill>
                  <a:schemeClr val="dk1"/>
                </a:solidFill>
              </a:rPr>
              <a:t> </a:t>
            </a:r>
            <a:endParaRPr>
              <a:solidFill>
                <a:schemeClr val="dk1"/>
              </a:solidFill>
            </a:endParaRPr>
          </a:p>
          <a:p>
            <a:pPr indent="0" lvl="0" marL="0" rtl="0" algn="l">
              <a:spcBef>
                <a:spcPts val="0"/>
              </a:spcBef>
              <a:spcAft>
                <a:spcPts val="0"/>
              </a:spcAft>
              <a:buNone/>
            </a:pPr>
            <a:r>
              <a:t/>
            </a:r>
            <a:endParaRPr b="1" sz="1300">
              <a:solidFill>
                <a:srgbClr val="273239"/>
              </a:solidFill>
              <a:latin typeface="Poppins"/>
              <a:ea typeface="Poppins"/>
              <a:cs typeface="Poppins"/>
              <a:sym typeface="Poppins"/>
            </a:endParaRPr>
          </a:p>
        </p:txBody>
      </p:sp>
      <p:sp>
        <p:nvSpPr>
          <p:cNvPr id="208" name="Google Shape;208;p27"/>
          <p:cNvSpPr txBox="1"/>
          <p:nvPr/>
        </p:nvSpPr>
        <p:spPr>
          <a:xfrm>
            <a:off x="310900" y="1748350"/>
            <a:ext cx="8084700" cy="196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rgbClr val="000000"/>
              </a:buClr>
              <a:buSzPts val="1100"/>
              <a:buFont typeface="Arial"/>
              <a:buNone/>
            </a:pPr>
            <a:r>
              <a:rPr b="1" lang="en">
                <a:solidFill>
                  <a:srgbClr val="273239"/>
                </a:solidFill>
                <a:latin typeface="Poppins"/>
                <a:ea typeface="Poppins"/>
                <a:cs typeface="Poppins"/>
                <a:sym typeface="Poppins"/>
              </a:rPr>
              <a:t>Options    :</a:t>
            </a:r>
            <a:r>
              <a:rPr lang="en" sz="1100">
                <a:solidFill>
                  <a:srgbClr val="000000"/>
                </a:solidFill>
                <a:latin typeface="Poppins"/>
                <a:ea typeface="Poppins"/>
                <a:cs typeface="Poppins"/>
                <a:sym typeface="Poppins"/>
              </a:rPr>
              <a:t> </a:t>
            </a:r>
            <a:r>
              <a:rPr lang="en">
                <a:solidFill>
                  <a:srgbClr val="000000"/>
                </a:solidFill>
                <a:latin typeface="Poppins"/>
                <a:ea typeface="Poppins"/>
                <a:cs typeface="Poppins"/>
                <a:sym typeface="Poppins"/>
              </a:rPr>
              <a:t> </a:t>
            </a:r>
            <a:r>
              <a:rPr lang="en">
                <a:solidFill>
                  <a:schemeClr val="dk1"/>
                </a:solidFill>
              </a:rPr>
              <a:t>a) The JSON data directly. </a:t>
            </a:r>
            <a:endParaRPr>
              <a:solidFill>
                <a:schemeClr val="dk1"/>
              </a:solidFill>
            </a:endParaRPr>
          </a:p>
          <a:p>
            <a:pPr indent="0" lvl="0" marL="914400" rtl="0" algn="l">
              <a:lnSpc>
                <a:spcPct val="115000"/>
              </a:lnSpc>
              <a:spcBef>
                <a:spcPts val="1200"/>
              </a:spcBef>
              <a:spcAft>
                <a:spcPts val="0"/>
              </a:spcAft>
              <a:buClr>
                <a:schemeClr val="dk1"/>
              </a:buClr>
              <a:buSzPts val="1100"/>
              <a:buFont typeface="Arial"/>
              <a:buNone/>
            </a:pPr>
            <a:r>
              <a:rPr lang="en">
                <a:solidFill>
                  <a:schemeClr val="dk1"/>
                </a:solidFill>
              </a:rPr>
              <a:t>b) A Promise that resolves to the </a:t>
            </a:r>
            <a:r>
              <a:rPr b="1" lang="en">
                <a:solidFill>
                  <a:schemeClr val="dk1"/>
                </a:solidFill>
              </a:rPr>
              <a:t>Response</a:t>
            </a:r>
            <a:r>
              <a:rPr lang="en">
                <a:solidFill>
                  <a:schemeClr val="dk1"/>
                </a:solidFill>
              </a:rPr>
              <a:t> object. </a:t>
            </a:r>
            <a:endParaRPr>
              <a:solidFill>
                <a:schemeClr val="dk1"/>
              </a:solidFill>
            </a:endParaRPr>
          </a:p>
          <a:p>
            <a:pPr indent="0" lvl="0" marL="914400" rtl="0" algn="l">
              <a:lnSpc>
                <a:spcPct val="115000"/>
              </a:lnSpc>
              <a:spcBef>
                <a:spcPts val="1200"/>
              </a:spcBef>
              <a:spcAft>
                <a:spcPts val="0"/>
              </a:spcAft>
              <a:buClr>
                <a:schemeClr val="dk1"/>
              </a:buClr>
              <a:buSzPts val="1100"/>
              <a:buFont typeface="Arial"/>
              <a:buNone/>
            </a:pPr>
            <a:r>
              <a:rPr lang="en">
                <a:solidFill>
                  <a:schemeClr val="dk1"/>
                </a:solidFill>
              </a:rPr>
              <a:t>c) A callback function. </a:t>
            </a:r>
            <a:endParaRPr>
              <a:solidFill>
                <a:schemeClr val="dk1"/>
              </a:solidFill>
            </a:endParaRPr>
          </a:p>
          <a:p>
            <a:pPr indent="0" lvl="0" marL="914400" rtl="0" algn="l">
              <a:lnSpc>
                <a:spcPct val="115000"/>
              </a:lnSpc>
              <a:spcBef>
                <a:spcPts val="1200"/>
              </a:spcBef>
              <a:spcAft>
                <a:spcPts val="0"/>
              </a:spcAft>
              <a:buClr>
                <a:schemeClr val="dk1"/>
              </a:buClr>
              <a:buSzPts val="1100"/>
              <a:buFont typeface="Arial"/>
              <a:buNone/>
            </a:pPr>
            <a:r>
              <a:rPr lang="en">
                <a:solidFill>
                  <a:schemeClr val="dk1"/>
                </a:solidFill>
              </a:rPr>
              <a:t>d)</a:t>
            </a:r>
            <a:r>
              <a:rPr b="1" lang="en">
                <a:solidFill>
                  <a:schemeClr val="dk1"/>
                </a:solidFill>
              </a:rPr>
              <a:t> null</a:t>
            </a:r>
            <a:r>
              <a:rPr lang="en">
                <a:solidFill>
                  <a:schemeClr val="dk1"/>
                </a:solidFill>
              </a:rPr>
              <a:t> if the request fails.</a:t>
            </a:r>
            <a:endParaRPr>
              <a:solidFill>
                <a:schemeClr val="dk1"/>
              </a:solidFill>
            </a:endParaRPr>
          </a:p>
          <a:p>
            <a:pPr indent="0" lvl="0" marL="0" rtl="0" algn="l">
              <a:lnSpc>
                <a:spcPct val="115000"/>
              </a:lnSpc>
              <a:spcBef>
                <a:spcPts val="1200"/>
              </a:spcBef>
              <a:spcAft>
                <a:spcPts val="1200"/>
              </a:spcAft>
              <a:buClr>
                <a:srgbClr val="000000"/>
              </a:buClr>
              <a:buSzPts val="1100"/>
              <a:buFont typeface="Arial"/>
              <a:buNone/>
            </a:pPr>
            <a:r>
              <a:t/>
            </a:r>
            <a:endParaRPr sz="1100">
              <a:latin typeface="Poppins"/>
              <a:ea typeface="Poppins"/>
              <a:cs typeface="Poppins"/>
              <a:sym typeface="Poppins"/>
            </a:endParaRPr>
          </a:p>
        </p:txBody>
      </p:sp>
      <p:pic>
        <p:nvPicPr>
          <p:cNvPr id="209" name="Google Shape;209;p27" title="question-and-answer-illustration-download-in-svg-png-gif-file-formats--answers-faq-comments-chatting-business-pack-people-illustrations-4257057.png"/>
          <p:cNvPicPr preferRelativeResize="0"/>
          <p:nvPr/>
        </p:nvPicPr>
        <p:blipFill>
          <a:blip r:embed="rId4">
            <a:alphaModFix/>
          </a:blip>
          <a:stretch>
            <a:fillRect/>
          </a:stretch>
        </p:blipFill>
        <p:spPr>
          <a:xfrm>
            <a:off x="6051839" y="3027775"/>
            <a:ext cx="3001612" cy="2001075"/>
          </a:xfrm>
          <a:prstGeom prst="rect">
            <a:avLst/>
          </a:prstGeom>
          <a:noFill/>
          <a:ln>
            <a:noFill/>
          </a:ln>
        </p:spPr>
      </p:pic>
      <p:sp>
        <p:nvSpPr>
          <p:cNvPr id="210" name="Google Shape;210;p2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11" name="Google Shape;211;p27"/>
          <p:cNvSpPr txBox="1"/>
          <p:nvPr/>
        </p:nvSpPr>
        <p:spPr>
          <a:xfrm>
            <a:off x="310950" y="3313725"/>
            <a:ext cx="62604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273239"/>
                </a:solidFill>
                <a:latin typeface="Poppins"/>
                <a:ea typeface="Poppins"/>
                <a:cs typeface="Poppins"/>
                <a:sym typeface="Poppins"/>
              </a:rPr>
              <a:t>Answer :</a:t>
            </a:r>
            <a:r>
              <a:rPr lang="en" sz="1800">
                <a:solidFill>
                  <a:srgbClr val="595959"/>
                </a:solidFill>
              </a:rPr>
              <a:t>  </a:t>
            </a:r>
            <a:r>
              <a:rPr lang="en" sz="1100">
                <a:solidFill>
                  <a:srgbClr val="000000"/>
                </a:solidFill>
                <a:latin typeface="Poppins"/>
                <a:ea typeface="Poppins"/>
                <a:cs typeface="Poppins"/>
                <a:sym typeface="Poppins"/>
              </a:rPr>
              <a:t>  </a:t>
            </a:r>
            <a:r>
              <a:rPr lang="en">
                <a:solidFill>
                  <a:schemeClr val="dk1"/>
                </a:solidFill>
              </a:rPr>
              <a:t>b) A Promise that resolves to the </a:t>
            </a:r>
            <a:r>
              <a:rPr b="1" lang="en">
                <a:solidFill>
                  <a:schemeClr val="dk1"/>
                </a:solidFill>
              </a:rPr>
              <a:t>Response</a:t>
            </a:r>
            <a:r>
              <a:rPr lang="en">
                <a:solidFill>
                  <a:schemeClr val="dk1"/>
                </a:solidFill>
              </a:rPr>
              <a:t> object. </a:t>
            </a:r>
            <a:endParaRPr>
              <a:solidFill>
                <a:schemeClr val="dk1"/>
              </a:solidFill>
            </a:endParaRPr>
          </a:p>
          <a:p>
            <a:pPr indent="0" lvl="0" marL="0" rtl="0" algn="l">
              <a:spcBef>
                <a:spcPts val="0"/>
              </a:spcBef>
              <a:spcAft>
                <a:spcPts val="0"/>
              </a:spcAft>
              <a:buNone/>
            </a:pPr>
            <a:r>
              <a:t/>
            </a:r>
            <a:endParaRPr sz="1100">
              <a:latin typeface="Poppins"/>
              <a:ea typeface="Poppins"/>
              <a:cs typeface="Poppins"/>
              <a:sym typeface="Poppins"/>
            </a:endParaRPr>
          </a:p>
        </p:txBody>
      </p:sp>
      <p:grpSp>
        <p:nvGrpSpPr>
          <p:cNvPr id="212" name="Google Shape;212;p27"/>
          <p:cNvGrpSpPr/>
          <p:nvPr/>
        </p:nvGrpSpPr>
        <p:grpSpPr>
          <a:xfrm>
            <a:off x="310900" y="3959263"/>
            <a:ext cx="6005825" cy="1545313"/>
            <a:chOff x="310900" y="3959263"/>
            <a:chExt cx="6005825" cy="1545313"/>
          </a:xfrm>
        </p:grpSpPr>
        <p:sp>
          <p:nvSpPr>
            <p:cNvPr id="213" name="Google Shape;213;p27"/>
            <p:cNvSpPr txBox="1"/>
            <p:nvPr/>
          </p:nvSpPr>
          <p:spPr>
            <a:xfrm>
              <a:off x="310900" y="3959263"/>
              <a:ext cx="13359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Clr>
                  <a:srgbClr val="000000"/>
                </a:buClr>
                <a:buSzPts val="1100"/>
                <a:buFont typeface="Arial"/>
                <a:buNone/>
              </a:pPr>
              <a:r>
                <a:rPr b="1" lang="en">
                  <a:solidFill>
                    <a:srgbClr val="273239"/>
                  </a:solidFill>
                  <a:latin typeface="Poppins"/>
                  <a:ea typeface="Poppins"/>
                  <a:cs typeface="Poppins"/>
                  <a:sym typeface="Poppins"/>
                </a:rPr>
                <a:t>Explanation:</a:t>
              </a:r>
              <a:endParaRPr sz="1800">
                <a:solidFill>
                  <a:srgbClr val="595959"/>
                </a:solidFill>
              </a:endParaRPr>
            </a:p>
          </p:txBody>
        </p:sp>
        <p:sp>
          <p:nvSpPr>
            <p:cNvPr id="214" name="Google Shape;214;p27"/>
            <p:cNvSpPr txBox="1"/>
            <p:nvPr/>
          </p:nvSpPr>
          <p:spPr>
            <a:xfrm>
              <a:off x="1607925" y="3959275"/>
              <a:ext cx="4708800" cy="154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a:solidFill>
                    <a:schemeClr val="dk1"/>
                  </a:solidFill>
                </a:rPr>
                <a:t>fetch()</a:t>
              </a:r>
              <a:r>
                <a:rPr lang="en">
                  <a:solidFill>
                    <a:schemeClr val="dk1"/>
                  </a:solidFill>
                </a:rPr>
                <a:t> initiates a network request and immediately returns a promise. This promise doesn't contain the data itself but a </a:t>
              </a:r>
              <a:r>
                <a:rPr b="1" lang="en">
                  <a:solidFill>
                    <a:schemeClr val="dk1"/>
                  </a:solidFill>
                </a:rPr>
                <a:t>Response</a:t>
              </a:r>
              <a:r>
                <a:rPr lang="en">
                  <a:solidFill>
                    <a:schemeClr val="dk1"/>
                  </a:solidFill>
                </a:rPr>
                <a:t> object that has methods to access the data.</a:t>
              </a:r>
              <a:endParaRPr>
                <a:solidFill>
                  <a:schemeClr val="dk1"/>
                </a:solidFill>
              </a:endParaRPr>
            </a:p>
            <a:p>
              <a:pPr indent="0" lvl="0" marL="0" rtl="0" algn="l">
                <a:lnSpc>
                  <a:spcPct val="115000"/>
                </a:lnSpc>
                <a:spcBef>
                  <a:spcPts val="1200"/>
                </a:spcBef>
                <a:spcAft>
                  <a:spcPts val="1200"/>
                </a:spcAft>
                <a:buNone/>
              </a:pPr>
              <a:r>
                <a:t/>
              </a:r>
              <a:endParaRPr>
                <a:latin typeface="Poppins"/>
                <a:ea typeface="Poppins"/>
                <a:cs typeface="Poppins"/>
                <a:sym typeface="Poppins"/>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8"/>
          <p:cNvSpPr txBox="1"/>
          <p:nvPr/>
        </p:nvSpPr>
        <p:spPr>
          <a:xfrm>
            <a:off x="310900" y="210300"/>
            <a:ext cx="747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Poppins"/>
                <a:ea typeface="Poppins"/>
                <a:cs typeface="Poppins"/>
                <a:sym typeface="Poppins"/>
              </a:rPr>
              <a:t>|</a:t>
            </a:r>
            <a:r>
              <a:rPr lang="en" sz="2800">
                <a:solidFill>
                  <a:srgbClr val="000000"/>
                </a:solidFill>
              </a:rPr>
              <a:t> </a:t>
            </a:r>
            <a:r>
              <a:rPr b="1" lang="en" sz="2800">
                <a:solidFill>
                  <a:srgbClr val="073763"/>
                </a:solidFill>
                <a:latin typeface="Poppins"/>
                <a:ea typeface="Poppins"/>
                <a:cs typeface="Poppins"/>
                <a:sym typeface="Poppins"/>
              </a:rPr>
              <a:t>Check Your Understanding</a:t>
            </a:r>
            <a:endParaRPr b="1" sz="2800">
              <a:solidFill>
                <a:srgbClr val="073763"/>
              </a:solidFill>
              <a:latin typeface="Poppins"/>
              <a:ea typeface="Poppins"/>
              <a:cs typeface="Poppins"/>
              <a:sym typeface="Poppins"/>
            </a:endParaRPr>
          </a:p>
        </p:txBody>
      </p:sp>
      <p:pic>
        <p:nvPicPr>
          <p:cNvPr id="220" name="Google Shape;220;p28"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sp>
        <p:nvSpPr>
          <p:cNvPr id="221" name="Google Shape;221;p28"/>
          <p:cNvSpPr txBox="1"/>
          <p:nvPr/>
        </p:nvSpPr>
        <p:spPr>
          <a:xfrm>
            <a:off x="310900" y="965525"/>
            <a:ext cx="81615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273239"/>
                </a:solidFill>
                <a:latin typeface="Poppins"/>
                <a:ea typeface="Poppins"/>
                <a:cs typeface="Poppins"/>
                <a:sym typeface="Poppins"/>
              </a:rPr>
              <a:t>Question : </a:t>
            </a:r>
            <a:r>
              <a:rPr b="1" lang="en" sz="1300">
                <a:solidFill>
                  <a:srgbClr val="273239"/>
                </a:solidFill>
                <a:latin typeface="Poppins"/>
                <a:ea typeface="Poppins"/>
                <a:cs typeface="Poppins"/>
                <a:sym typeface="Poppins"/>
              </a:rPr>
              <a:t> </a:t>
            </a:r>
            <a:r>
              <a:rPr b="1" lang="en">
                <a:solidFill>
                  <a:srgbClr val="273239"/>
                </a:solidFill>
                <a:latin typeface="Poppins"/>
                <a:ea typeface="Poppins"/>
                <a:cs typeface="Poppins"/>
                <a:sym typeface="Poppins"/>
              </a:rPr>
              <a:t> </a:t>
            </a:r>
            <a:r>
              <a:rPr b="1" lang="en">
                <a:solidFill>
                  <a:schemeClr val="dk1"/>
                </a:solidFill>
              </a:rPr>
              <a:t>When using fetch, what does the response.json() method do?</a:t>
            </a:r>
            <a:r>
              <a:rPr lang="en">
                <a:solidFill>
                  <a:schemeClr val="dk1"/>
                </a:solidFill>
              </a:rPr>
              <a:t> </a:t>
            </a:r>
            <a:endParaRPr>
              <a:solidFill>
                <a:schemeClr val="dk1"/>
              </a:solidFill>
            </a:endParaRPr>
          </a:p>
          <a:p>
            <a:pPr indent="0" lvl="0" marL="0" rtl="0" algn="l">
              <a:spcBef>
                <a:spcPts val="0"/>
              </a:spcBef>
              <a:spcAft>
                <a:spcPts val="0"/>
              </a:spcAft>
              <a:buNone/>
            </a:pPr>
            <a:r>
              <a:t/>
            </a:r>
            <a:endParaRPr b="1" sz="1300">
              <a:solidFill>
                <a:srgbClr val="273239"/>
              </a:solidFill>
              <a:latin typeface="Poppins"/>
              <a:ea typeface="Poppins"/>
              <a:cs typeface="Poppins"/>
              <a:sym typeface="Poppins"/>
            </a:endParaRPr>
          </a:p>
        </p:txBody>
      </p:sp>
      <p:sp>
        <p:nvSpPr>
          <p:cNvPr id="222" name="Google Shape;222;p28"/>
          <p:cNvSpPr txBox="1"/>
          <p:nvPr/>
        </p:nvSpPr>
        <p:spPr>
          <a:xfrm>
            <a:off x="349300" y="1365850"/>
            <a:ext cx="8084700" cy="220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rgbClr val="000000"/>
              </a:buClr>
              <a:buSzPts val="1100"/>
              <a:buFont typeface="Arial"/>
              <a:buNone/>
            </a:pPr>
            <a:r>
              <a:rPr b="1" lang="en">
                <a:solidFill>
                  <a:srgbClr val="273239"/>
                </a:solidFill>
                <a:latin typeface="Poppins"/>
                <a:ea typeface="Poppins"/>
                <a:cs typeface="Poppins"/>
                <a:sym typeface="Poppins"/>
              </a:rPr>
              <a:t>Options    :</a:t>
            </a:r>
            <a:r>
              <a:rPr lang="en">
                <a:solidFill>
                  <a:srgbClr val="000000"/>
                </a:solidFill>
                <a:latin typeface="Poppins"/>
                <a:ea typeface="Poppins"/>
                <a:cs typeface="Poppins"/>
                <a:sym typeface="Poppins"/>
              </a:rPr>
              <a:t> </a:t>
            </a:r>
            <a:r>
              <a:rPr lang="en">
                <a:solidFill>
                  <a:schemeClr val="dk1"/>
                </a:solidFill>
              </a:rPr>
              <a:t>a) It converts a JavaScript object into a JSON string. </a:t>
            </a:r>
            <a:endParaRPr>
              <a:solidFill>
                <a:schemeClr val="dk1"/>
              </a:solidFill>
            </a:endParaRPr>
          </a:p>
          <a:p>
            <a:pPr indent="0" lvl="0" marL="914400" rtl="0" algn="l">
              <a:lnSpc>
                <a:spcPct val="115000"/>
              </a:lnSpc>
              <a:spcBef>
                <a:spcPts val="1200"/>
              </a:spcBef>
              <a:spcAft>
                <a:spcPts val="0"/>
              </a:spcAft>
              <a:buClr>
                <a:schemeClr val="dk1"/>
              </a:buClr>
              <a:buSzPts val="1100"/>
              <a:buFont typeface="Arial"/>
              <a:buNone/>
            </a:pPr>
            <a:r>
              <a:rPr lang="en">
                <a:solidFill>
                  <a:schemeClr val="dk1"/>
                </a:solidFill>
              </a:rPr>
              <a:t>b) It immediately returns the JSON data from the response. </a:t>
            </a:r>
            <a:endParaRPr>
              <a:solidFill>
                <a:schemeClr val="dk1"/>
              </a:solidFill>
            </a:endParaRPr>
          </a:p>
          <a:p>
            <a:pPr indent="0" lvl="0" marL="914400" rtl="0" algn="l">
              <a:lnSpc>
                <a:spcPct val="115000"/>
              </a:lnSpc>
              <a:spcBef>
                <a:spcPts val="1200"/>
              </a:spcBef>
              <a:spcAft>
                <a:spcPts val="0"/>
              </a:spcAft>
              <a:buClr>
                <a:schemeClr val="dk1"/>
              </a:buClr>
              <a:buSzPts val="1100"/>
              <a:buFont typeface="Arial"/>
              <a:buNone/>
            </a:pPr>
            <a:r>
              <a:rPr lang="en">
                <a:solidFill>
                  <a:schemeClr val="dk1"/>
                </a:solidFill>
              </a:rPr>
              <a:t>c) It returns a Promise that resolves with the result of parsing the response body text as      JSON. </a:t>
            </a:r>
            <a:endParaRPr>
              <a:solidFill>
                <a:schemeClr val="dk1"/>
              </a:solidFill>
            </a:endParaRPr>
          </a:p>
          <a:p>
            <a:pPr indent="0" lvl="0" marL="914400" rtl="0" algn="l">
              <a:lnSpc>
                <a:spcPct val="115000"/>
              </a:lnSpc>
              <a:spcBef>
                <a:spcPts val="1200"/>
              </a:spcBef>
              <a:spcAft>
                <a:spcPts val="0"/>
              </a:spcAft>
              <a:buClr>
                <a:schemeClr val="dk1"/>
              </a:buClr>
              <a:buSzPts val="1100"/>
              <a:buFont typeface="Arial"/>
              <a:buNone/>
            </a:pPr>
            <a:r>
              <a:rPr lang="en">
                <a:solidFill>
                  <a:schemeClr val="dk1"/>
                </a:solidFill>
              </a:rPr>
              <a:t>d) It checks if the response is valid JSON.</a:t>
            </a:r>
            <a:endParaRPr>
              <a:solidFill>
                <a:schemeClr val="dk1"/>
              </a:solidFill>
            </a:endParaRPr>
          </a:p>
          <a:p>
            <a:pPr indent="0" lvl="0" marL="0" rtl="0" algn="l">
              <a:lnSpc>
                <a:spcPct val="115000"/>
              </a:lnSpc>
              <a:spcBef>
                <a:spcPts val="1200"/>
              </a:spcBef>
              <a:spcAft>
                <a:spcPts val="1200"/>
              </a:spcAft>
              <a:buClr>
                <a:srgbClr val="000000"/>
              </a:buClr>
              <a:buSzPts val="1100"/>
              <a:buFont typeface="Arial"/>
              <a:buNone/>
            </a:pPr>
            <a:r>
              <a:t/>
            </a:r>
            <a:endParaRPr sz="1100">
              <a:latin typeface="Poppins"/>
              <a:ea typeface="Poppins"/>
              <a:cs typeface="Poppins"/>
              <a:sym typeface="Poppins"/>
            </a:endParaRPr>
          </a:p>
        </p:txBody>
      </p:sp>
      <p:pic>
        <p:nvPicPr>
          <p:cNvPr id="223" name="Google Shape;223;p28" title="question-and-answer-illustration-download-in-svg-png-gif-file-formats--answers-faq-comments-chatting-business-pack-people-illustrations-4257057.png"/>
          <p:cNvPicPr preferRelativeResize="0"/>
          <p:nvPr/>
        </p:nvPicPr>
        <p:blipFill>
          <a:blip r:embed="rId4">
            <a:alphaModFix/>
          </a:blip>
          <a:stretch>
            <a:fillRect/>
          </a:stretch>
        </p:blipFill>
        <p:spPr>
          <a:xfrm>
            <a:off x="6051839" y="3027775"/>
            <a:ext cx="3001612" cy="2001075"/>
          </a:xfrm>
          <a:prstGeom prst="rect">
            <a:avLst/>
          </a:prstGeom>
          <a:noFill/>
          <a:ln>
            <a:noFill/>
          </a:ln>
        </p:spPr>
      </p:pic>
      <p:sp>
        <p:nvSpPr>
          <p:cNvPr id="224" name="Google Shape;224;p2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25" name="Google Shape;225;p28"/>
          <p:cNvSpPr txBox="1"/>
          <p:nvPr/>
        </p:nvSpPr>
        <p:spPr>
          <a:xfrm>
            <a:off x="349300" y="3188100"/>
            <a:ext cx="6260400" cy="846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273239"/>
                </a:solidFill>
                <a:latin typeface="Poppins"/>
                <a:ea typeface="Poppins"/>
                <a:cs typeface="Poppins"/>
                <a:sym typeface="Poppins"/>
              </a:rPr>
              <a:t>Answer :</a:t>
            </a:r>
            <a:r>
              <a:rPr lang="en" sz="1800">
                <a:solidFill>
                  <a:srgbClr val="595959"/>
                </a:solidFill>
              </a:rPr>
              <a:t>  </a:t>
            </a:r>
            <a:r>
              <a:rPr lang="en" sz="1100">
                <a:solidFill>
                  <a:srgbClr val="000000"/>
                </a:solidFill>
                <a:latin typeface="Poppins"/>
                <a:ea typeface="Poppins"/>
                <a:cs typeface="Poppins"/>
                <a:sym typeface="Poppins"/>
              </a:rPr>
              <a:t> </a:t>
            </a:r>
            <a:r>
              <a:rPr lang="en">
                <a:solidFill>
                  <a:schemeClr val="dk1"/>
                </a:solidFill>
              </a:rPr>
              <a:t>c) It returns a Promise that resolves with the result of parsing the </a:t>
            </a:r>
            <a:endParaRPr>
              <a:solidFill>
                <a:schemeClr val="dk1"/>
              </a:solidFill>
            </a:endParaRPr>
          </a:p>
          <a:p>
            <a:pPr indent="0" lvl="0" marL="0" rtl="0" algn="l">
              <a:spcBef>
                <a:spcPts val="0"/>
              </a:spcBef>
              <a:spcAft>
                <a:spcPts val="0"/>
              </a:spcAft>
              <a:buNone/>
            </a:pPr>
            <a:r>
              <a:rPr lang="en">
                <a:solidFill>
                  <a:schemeClr val="dk1"/>
                </a:solidFill>
              </a:rPr>
              <a:t>                   response body text as JSON. </a:t>
            </a:r>
            <a:endParaRPr>
              <a:solidFill>
                <a:schemeClr val="dk1"/>
              </a:solidFill>
            </a:endParaRPr>
          </a:p>
          <a:p>
            <a:pPr indent="0" lvl="0" marL="0" rtl="0" algn="l">
              <a:spcBef>
                <a:spcPts val="0"/>
              </a:spcBef>
              <a:spcAft>
                <a:spcPts val="0"/>
              </a:spcAft>
              <a:buNone/>
            </a:pPr>
            <a:r>
              <a:t/>
            </a:r>
            <a:endParaRPr sz="1100">
              <a:latin typeface="Poppins"/>
              <a:ea typeface="Poppins"/>
              <a:cs typeface="Poppins"/>
              <a:sym typeface="Poppins"/>
            </a:endParaRPr>
          </a:p>
        </p:txBody>
      </p:sp>
      <p:grpSp>
        <p:nvGrpSpPr>
          <p:cNvPr id="226" name="Google Shape;226;p28"/>
          <p:cNvGrpSpPr/>
          <p:nvPr/>
        </p:nvGrpSpPr>
        <p:grpSpPr>
          <a:xfrm>
            <a:off x="215475" y="3917113"/>
            <a:ext cx="6044700" cy="1545313"/>
            <a:chOff x="310900" y="3766488"/>
            <a:chExt cx="6044700" cy="1545313"/>
          </a:xfrm>
        </p:grpSpPr>
        <p:sp>
          <p:nvSpPr>
            <p:cNvPr id="227" name="Google Shape;227;p28"/>
            <p:cNvSpPr txBox="1"/>
            <p:nvPr/>
          </p:nvSpPr>
          <p:spPr>
            <a:xfrm>
              <a:off x="310900" y="3766488"/>
              <a:ext cx="13359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Clr>
                  <a:srgbClr val="000000"/>
                </a:buClr>
                <a:buSzPts val="1100"/>
                <a:buFont typeface="Arial"/>
                <a:buNone/>
              </a:pPr>
              <a:r>
                <a:rPr b="1" lang="en">
                  <a:solidFill>
                    <a:srgbClr val="273239"/>
                  </a:solidFill>
                  <a:latin typeface="Poppins"/>
                  <a:ea typeface="Poppins"/>
                  <a:cs typeface="Poppins"/>
                  <a:sym typeface="Poppins"/>
                </a:rPr>
                <a:t>Explanation:</a:t>
              </a:r>
              <a:endParaRPr sz="1800">
                <a:solidFill>
                  <a:srgbClr val="595959"/>
                </a:solidFill>
              </a:endParaRPr>
            </a:p>
          </p:txBody>
        </p:sp>
        <p:sp>
          <p:nvSpPr>
            <p:cNvPr id="228" name="Google Shape;228;p28"/>
            <p:cNvSpPr txBox="1"/>
            <p:nvPr/>
          </p:nvSpPr>
          <p:spPr>
            <a:xfrm>
              <a:off x="1646800" y="3766500"/>
              <a:ext cx="4708800" cy="154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a:solidFill>
                    <a:schemeClr val="dk1"/>
                  </a:solidFill>
                </a:rPr>
                <a:t>Reading the response body is also an asynchronous operation. </a:t>
              </a:r>
              <a:r>
                <a:rPr b="1" lang="en">
                  <a:solidFill>
                    <a:schemeClr val="dk1"/>
                  </a:solidFill>
                </a:rPr>
                <a:t>response.json()</a:t>
              </a:r>
              <a:r>
                <a:rPr lang="en">
                  <a:solidFill>
                    <a:schemeClr val="dk1"/>
                  </a:solidFill>
                </a:rPr>
                <a:t> starts the process and returns a promise that resolves once the body has been fully read and parsed into a JavaScript object.</a:t>
              </a:r>
              <a:endParaRPr>
                <a:solidFill>
                  <a:schemeClr val="dk1"/>
                </a:solidFill>
              </a:endParaRPr>
            </a:p>
            <a:p>
              <a:pPr indent="0" lvl="0" marL="0" rtl="0" algn="l">
                <a:lnSpc>
                  <a:spcPct val="115000"/>
                </a:lnSpc>
                <a:spcBef>
                  <a:spcPts val="1200"/>
                </a:spcBef>
                <a:spcAft>
                  <a:spcPts val="1200"/>
                </a:spcAft>
                <a:buNone/>
              </a:pPr>
              <a:r>
                <a:t/>
              </a:r>
              <a:endParaRPr>
                <a:latin typeface="Poppins"/>
                <a:ea typeface="Poppins"/>
                <a:cs typeface="Poppins"/>
                <a:sym typeface="Poppins"/>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9"/>
          <p:cNvSpPr txBox="1"/>
          <p:nvPr/>
        </p:nvSpPr>
        <p:spPr>
          <a:xfrm>
            <a:off x="310896" y="210312"/>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Poppins"/>
                <a:ea typeface="Poppins"/>
                <a:cs typeface="Poppins"/>
                <a:sym typeface="Poppins"/>
              </a:rPr>
              <a:t>|</a:t>
            </a:r>
            <a:r>
              <a:rPr lang="en" sz="2800">
                <a:solidFill>
                  <a:srgbClr val="000000"/>
                </a:solidFill>
              </a:rPr>
              <a:t>  </a:t>
            </a:r>
            <a:r>
              <a:rPr b="1" lang="en" sz="2800">
                <a:solidFill>
                  <a:srgbClr val="073763"/>
                </a:solidFill>
                <a:latin typeface="Poppins"/>
                <a:ea typeface="Poppins"/>
                <a:cs typeface="Poppins"/>
                <a:sym typeface="Poppins"/>
              </a:rPr>
              <a:t>References</a:t>
            </a:r>
            <a:endParaRPr b="1" sz="2800">
              <a:solidFill>
                <a:srgbClr val="073763"/>
              </a:solidFill>
              <a:latin typeface="Poppins"/>
              <a:ea typeface="Poppins"/>
              <a:cs typeface="Poppins"/>
              <a:sym typeface="Poppins"/>
            </a:endParaRPr>
          </a:p>
        </p:txBody>
      </p:sp>
      <p:pic>
        <p:nvPicPr>
          <p:cNvPr id="234" name="Google Shape;234;p29"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sp>
        <p:nvSpPr>
          <p:cNvPr id="235" name="Google Shape;235;p29"/>
          <p:cNvSpPr txBox="1"/>
          <p:nvPr/>
        </p:nvSpPr>
        <p:spPr>
          <a:xfrm>
            <a:off x="358850" y="1181200"/>
            <a:ext cx="8520600" cy="34380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SzPts val="1100"/>
              <a:buChar char="●"/>
            </a:pPr>
            <a:r>
              <a:rPr b="1" lang="en" sz="1100">
                <a:solidFill>
                  <a:srgbClr val="000000"/>
                </a:solidFill>
                <a:latin typeface="Poppins"/>
                <a:ea typeface="Poppins"/>
                <a:cs typeface="Poppins"/>
                <a:sym typeface="Poppins"/>
              </a:rPr>
              <a:t>MDN Web Docs</a:t>
            </a:r>
            <a:r>
              <a:rPr b="1" lang="en" sz="1100">
                <a:solidFill>
                  <a:srgbClr val="000000"/>
                </a:solidFill>
              </a:rPr>
              <a:t> : </a:t>
            </a:r>
            <a:r>
              <a:rPr i="1" lang="en" sz="1100">
                <a:solidFill>
                  <a:srgbClr val="000000"/>
                </a:solidFill>
                <a:latin typeface="Poppins"/>
                <a:ea typeface="Poppins"/>
                <a:cs typeface="Poppins"/>
                <a:sym typeface="Poppins"/>
              </a:rPr>
              <a:t>Comprehensive and official documentation for JS.</a:t>
            </a:r>
            <a:br>
              <a:rPr i="1" lang="en" sz="1100">
                <a:solidFill>
                  <a:srgbClr val="000000"/>
                </a:solidFill>
              </a:rPr>
            </a:br>
            <a:r>
              <a:rPr lang="en" sz="1100">
                <a:solidFill>
                  <a:srgbClr val="000000"/>
                </a:solidFill>
              </a:rPr>
              <a:t> 🔗</a:t>
            </a:r>
            <a:r>
              <a:rPr lang="en" sz="1100" u="sng">
                <a:solidFill>
                  <a:srgbClr val="0097A7"/>
                </a:solidFill>
                <a:hlinkClick r:id="rId4">
                  <a:extLst>
                    <a:ext uri="{A12FA001-AC4F-418D-AE19-62706E023703}">
                      <ahyp:hlinkClr val="tx"/>
                    </a:ext>
                  </a:extLst>
                </a:hlinkClick>
              </a:rPr>
              <a:t>https://developer.mozilla.org/en-US/docs/Web/JavaScript</a:t>
            </a:r>
            <a:endParaRPr sz="1100" u="sng">
              <a:solidFill>
                <a:srgbClr val="0097A7"/>
              </a:solidFill>
            </a:endParaRPr>
          </a:p>
          <a:p>
            <a:pPr indent="0" lvl="0" marL="457200" rtl="0" algn="l">
              <a:lnSpc>
                <a:spcPct val="115000"/>
              </a:lnSpc>
              <a:spcBef>
                <a:spcPts val="0"/>
              </a:spcBef>
              <a:spcAft>
                <a:spcPts val="0"/>
              </a:spcAft>
              <a:buNone/>
            </a:pPr>
            <a:r>
              <a:t/>
            </a:r>
            <a:endParaRPr sz="1100" u="sng">
              <a:solidFill>
                <a:srgbClr val="0097A7"/>
              </a:solidFill>
            </a:endParaRPr>
          </a:p>
          <a:p>
            <a:pPr indent="0" lvl="0" marL="457200" rtl="0" algn="l">
              <a:lnSpc>
                <a:spcPct val="115000"/>
              </a:lnSpc>
              <a:spcBef>
                <a:spcPts val="0"/>
              </a:spcBef>
              <a:spcAft>
                <a:spcPts val="0"/>
              </a:spcAft>
              <a:buNone/>
            </a:pPr>
            <a:r>
              <a:t/>
            </a:r>
            <a:endParaRPr sz="1100" u="sng">
              <a:solidFill>
                <a:srgbClr val="0097A7"/>
              </a:solidFill>
            </a:endParaRPr>
          </a:p>
          <a:p>
            <a:pPr indent="0" lvl="0" marL="457200" rtl="0" algn="l">
              <a:lnSpc>
                <a:spcPct val="115000"/>
              </a:lnSpc>
              <a:spcBef>
                <a:spcPts val="0"/>
              </a:spcBef>
              <a:spcAft>
                <a:spcPts val="0"/>
              </a:spcAft>
              <a:buNone/>
            </a:pPr>
            <a:r>
              <a:t/>
            </a:r>
            <a:endParaRPr sz="1100" u="sng">
              <a:solidFill>
                <a:srgbClr val="0097A7"/>
              </a:solidFill>
            </a:endParaRPr>
          </a:p>
          <a:p>
            <a:pPr indent="-298450" lvl="0" marL="457200" rtl="0" algn="l">
              <a:lnSpc>
                <a:spcPct val="115000"/>
              </a:lnSpc>
              <a:spcBef>
                <a:spcPts val="0"/>
              </a:spcBef>
              <a:spcAft>
                <a:spcPts val="0"/>
              </a:spcAft>
              <a:buClr>
                <a:srgbClr val="000000"/>
              </a:buClr>
              <a:buSzPts val="1100"/>
              <a:buChar char="●"/>
            </a:pPr>
            <a:r>
              <a:rPr b="1" lang="en" sz="1100">
                <a:solidFill>
                  <a:srgbClr val="000000"/>
                </a:solidFill>
                <a:latin typeface="Poppins"/>
                <a:ea typeface="Poppins"/>
                <a:cs typeface="Poppins"/>
                <a:sym typeface="Poppins"/>
              </a:rPr>
              <a:t>W3Schools – JS Tutorial : </a:t>
            </a:r>
            <a:r>
              <a:rPr i="1" lang="en" sz="1100">
                <a:solidFill>
                  <a:srgbClr val="000000"/>
                </a:solidFill>
                <a:latin typeface="Poppins"/>
                <a:ea typeface="Poppins"/>
                <a:cs typeface="Poppins"/>
                <a:sym typeface="Poppins"/>
              </a:rPr>
              <a:t>Beginner-friendly JS tutorials with examples and interactive editors.</a:t>
            </a:r>
            <a:br>
              <a:rPr i="1" lang="en" sz="1100">
                <a:solidFill>
                  <a:srgbClr val="000000"/>
                </a:solidFill>
                <a:latin typeface="Poppins"/>
                <a:ea typeface="Poppins"/>
                <a:cs typeface="Poppins"/>
                <a:sym typeface="Poppins"/>
              </a:rPr>
            </a:br>
            <a:r>
              <a:rPr lang="en" sz="1100">
                <a:solidFill>
                  <a:srgbClr val="000000"/>
                </a:solidFill>
              </a:rPr>
              <a:t> 🔗</a:t>
            </a:r>
            <a:r>
              <a:rPr lang="en" sz="1100" u="sng">
                <a:solidFill>
                  <a:srgbClr val="0097A7"/>
                </a:solidFill>
                <a:hlinkClick r:id="rId5">
                  <a:extLst>
                    <a:ext uri="{A12FA001-AC4F-418D-AE19-62706E023703}">
                      <ahyp:hlinkClr val="tx"/>
                    </a:ext>
                  </a:extLst>
                </a:hlinkClick>
              </a:rPr>
              <a:t> https://www.w3schools.com/js/</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298450" lvl="0" marL="457200" rtl="0" algn="l">
              <a:lnSpc>
                <a:spcPct val="115000"/>
              </a:lnSpc>
              <a:spcBef>
                <a:spcPts val="0"/>
              </a:spcBef>
              <a:spcAft>
                <a:spcPts val="0"/>
              </a:spcAft>
              <a:buClr>
                <a:srgbClr val="000000"/>
              </a:buClr>
              <a:buSzPts val="1100"/>
              <a:buChar char="●"/>
            </a:pPr>
            <a:r>
              <a:rPr b="1" lang="en" sz="1100">
                <a:solidFill>
                  <a:srgbClr val="000000"/>
                </a:solidFill>
                <a:latin typeface="Poppins"/>
                <a:ea typeface="Poppins"/>
                <a:cs typeface="Poppins"/>
                <a:sym typeface="Poppins"/>
              </a:rPr>
              <a:t>JavaScript.info -</a:t>
            </a:r>
            <a:r>
              <a:rPr b="1" i="1" lang="en" sz="1100">
                <a:solidFill>
                  <a:srgbClr val="000000"/>
                </a:solidFill>
                <a:latin typeface="Poppins"/>
                <a:ea typeface="Poppins"/>
                <a:cs typeface="Poppins"/>
                <a:sym typeface="Poppins"/>
              </a:rPr>
              <a:t> </a:t>
            </a:r>
            <a:r>
              <a:rPr i="1" lang="en" sz="1100">
                <a:solidFill>
                  <a:srgbClr val="000000"/>
                </a:solidFill>
                <a:latin typeface="Poppins"/>
                <a:ea typeface="Poppins"/>
                <a:cs typeface="Poppins"/>
                <a:sym typeface="Poppins"/>
              </a:rPr>
              <a:t>A </a:t>
            </a:r>
            <a:r>
              <a:rPr b="1" i="1" lang="en" sz="1100">
                <a:solidFill>
                  <a:srgbClr val="000000"/>
                </a:solidFill>
                <a:latin typeface="Poppins"/>
                <a:ea typeface="Poppins"/>
                <a:cs typeface="Poppins"/>
                <a:sym typeface="Poppins"/>
              </a:rPr>
              <a:t>comprehensive tutorial-style website</a:t>
            </a:r>
            <a:r>
              <a:rPr i="1" lang="en" sz="1100">
                <a:solidFill>
                  <a:srgbClr val="000000"/>
                </a:solidFill>
                <a:latin typeface="Poppins"/>
                <a:ea typeface="Poppins"/>
                <a:cs typeface="Poppins"/>
                <a:sym typeface="Poppins"/>
              </a:rPr>
              <a:t> that covers core JavaScript concepts in depth.</a:t>
            </a:r>
            <a:endParaRPr i="1" sz="1100">
              <a:solidFill>
                <a:srgbClr val="000000"/>
              </a:solidFill>
              <a:latin typeface="Poppins"/>
              <a:ea typeface="Poppins"/>
              <a:cs typeface="Poppins"/>
              <a:sym typeface="Poppins"/>
            </a:endParaRPr>
          </a:p>
          <a:p>
            <a:pPr indent="0" lvl="0" marL="457200" rtl="0" algn="l">
              <a:lnSpc>
                <a:spcPct val="115000"/>
              </a:lnSpc>
              <a:spcBef>
                <a:spcPts val="0"/>
              </a:spcBef>
              <a:spcAft>
                <a:spcPts val="0"/>
              </a:spcAft>
              <a:buNone/>
            </a:pPr>
            <a:r>
              <a:rPr lang="en" sz="1100">
                <a:solidFill>
                  <a:srgbClr val="000000"/>
                </a:solidFill>
              </a:rPr>
              <a:t>🔗</a:t>
            </a:r>
            <a:r>
              <a:rPr lang="en" sz="1100" u="sng">
                <a:solidFill>
                  <a:srgbClr val="0097A7"/>
                </a:solidFill>
                <a:hlinkClick r:id="rId6">
                  <a:extLst>
                    <a:ext uri="{A12FA001-AC4F-418D-AE19-62706E023703}">
                      <ahyp:hlinkClr val="tx"/>
                    </a:ext>
                  </a:extLst>
                </a:hlinkClick>
              </a:rPr>
              <a:t>https://javascript.info/</a:t>
            </a:r>
            <a:endParaRPr i="1" sz="1100">
              <a:solidFill>
                <a:srgbClr val="000000"/>
              </a:solidFill>
              <a:latin typeface="Poppins"/>
              <a:ea typeface="Poppins"/>
              <a:cs typeface="Poppins"/>
              <a:sym typeface="Poppins"/>
            </a:endParaRPr>
          </a:p>
        </p:txBody>
      </p:sp>
      <p:sp>
        <p:nvSpPr>
          <p:cNvPr id="236" name="Google Shape;236;p2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pic>
        <p:nvPicPr>
          <p:cNvPr id="241" name="Google Shape;241;p30" title="subtle-prism (2).png"/>
          <p:cNvPicPr preferRelativeResize="0"/>
          <p:nvPr/>
        </p:nvPicPr>
        <p:blipFill>
          <a:blip r:embed="rId3">
            <a:alphaModFix/>
          </a:blip>
          <a:stretch>
            <a:fillRect/>
          </a:stretch>
        </p:blipFill>
        <p:spPr>
          <a:xfrm rot="5400050">
            <a:off x="-395563" y="395600"/>
            <a:ext cx="5157175" cy="4365975"/>
          </a:xfrm>
          <a:prstGeom prst="flowChartManualInput">
            <a:avLst/>
          </a:prstGeom>
          <a:noFill/>
          <a:ln>
            <a:noFill/>
          </a:ln>
        </p:spPr>
      </p:pic>
      <p:pic>
        <p:nvPicPr>
          <p:cNvPr id="242" name="Google Shape;242;p30" title="KRMU_Full_heading_Logo-removebg-preview.png"/>
          <p:cNvPicPr preferRelativeResize="0"/>
          <p:nvPr/>
        </p:nvPicPr>
        <p:blipFill>
          <a:blip r:embed="rId4">
            <a:alphaModFix/>
          </a:blip>
          <a:stretch>
            <a:fillRect/>
          </a:stretch>
        </p:blipFill>
        <p:spPr>
          <a:xfrm>
            <a:off x="3806125" y="452500"/>
            <a:ext cx="5337876" cy="1363050"/>
          </a:xfrm>
          <a:prstGeom prst="rect">
            <a:avLst/>
          </a:prstGeom>
          <a:noFill/>
          <a:ln>
            <a:noFill/>
          </a:ln>
        </p:spPr>
      </p:pic>
      <p:sp>
        <p:nvSpPr>
          <p:cNvPr id="243" name="Google Shape;243;p30"/>
          <p:cNvSpPr txBox="1"/>
          <p:nvPr/>
        </p:nvSpPr>
        <p:spPr>
          <a:xfrm>
            <a:off x="4407400" y="2020825"/>
            <a:ext cx="4636200" cy="55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rgbClr val="173034"/>
                </a:solidFill>
              </a:rPr>
              <a:t>Course - Web Development - II</a:t>
            </a:r>
            <a:endParaRPr b="1" sz="2400">
              <a:solidFill>
                <a:srgbClr val="173034"/>
              </a:solidFill>
            </a:endParaRPr>
          </a:p>
        </p:txBody>
      </p:sp>
      <p:grpSp>
        <p:nvGrpSpPr>
          <p:cNvPr id="244" name="Google Shape;244;p30"/>
          <p:cNvGrpSpPr/>
          <p:nvPr/>
        </p:nvGrpSpPr>
        <p:grpSpPr>
          <a:xfrm>
            <a:off x="4572000" y="4881413"/>
            <a:ext cx="1607600" cy="292500"/>
            <a:chOff x="5060775" y="4881413"/>
            <a:chExt cx="1607600" cy="292500"/>
          </a:xfrm>
        </p:grpSpPr>
        <p:sp>
          <p:nvSpPr>
            <p:cNvPr id="245" name="Google Shape;245;p30"/>
            <p:cNvSpPr txBox="1"/>
            <p:nvPr/>
          </p:nvSpPr>
          <p:spPr>
            <a:xfrm>
              <a:off x="5165675" y="4881413"/>
              <a:ext cx="15027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000000"/>
                  </a:solidFill>
                </a:rPr>
                <a:t>welcome@krmangalam.edu.in</a:t>
              </a:r>
              <a:endParaRPr sz="900">
                <a:solidFill>
                  <a:srgbClr val="000000"/>
                </a:solidFill>
              </a:endParaRPr>
            </a:p>
          </p:txBody>
        </p:sp>
        <p:pic>
          <p:nvPicPr>
            <p:cNvPr id="246" name="Google Shape;246;p30" title="email.png"/>
            <p:cNvPicPr preferRelativeResize="0"/>
            <p:nvPr/>
          </p:nvPicPr>
          <p:blipFill>
            <a:blip r:embed="rId5">
              <a:alphaModFix/>
            </a:blip>
            <a:stretch>
              <a:fillRect/>
            </a:stretch>
          </p:blipFill>
          <p:spPr>
            <a:xfrm>
              <a:off x="5060775" y="4966738"/>
              <a:ext cx="137160" cy="137160"/>
            </a:xfrm>
            <a:prstGeom prst="rect">
              <a:avLst/>
            </a:prstGeom>
            <a:noFill/>
            <a:ln>
              <a:noFill/>
            </a:ln>
          </p:spPr>
        </p:pic>
      </p:grpSp>
      <p:sp>
        <p:nvSpPr>
          <p:cNvPr id="247" name="Google Shape;247;p30"/>
          <p:cNvSpPr txBox="1"/>
          <p:nvPr/>
        </p:nvSpPr>
        <p:spPr>
          <a:xfrm>
            <a:off x="7326500" y="4881425"/>
            <a:ext cx="234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212121"/>
                </a:solidFill>
              </a:rPr>
              <a:t>Sohna Road,Gurugram,Haryana 122103</a:t>
            </a:r>
            <a:endParaRPr sz="700">
              <a:solidFill>
                <a:srgbClr val="212121"/>
              </a:solidFill>
            </a:endParaRPr>
          </a:p>
        </p:txBody>
      </p:sp>
      <p:pic>
        <p:nvPicPr>
          <p:cNvPr id="248" name="Google Shape;248;p30" title="location.png"/>
          <p:cNvPicPr preferRelativeResize="0"/>
          <p:nvPr/>
        </p:nvPicPr>
        <p:blipFill>
          <a:blip r:embed="rId6">
            <a:alphaModFix/>
          </a:blip>
          <a:stretch>
            <a:fillRect/>
          </a:stretch>
        </p:blipFill>
        <p:spPr>
          <a:xfrm>
            <a:off x="7229300" y="4959088"/>
            <a:ext cx="137160" cy="137160"/>
          </a:xfrm>
          <a:prstGeom prst="rect">
            <a:avLst/>
          </a:prstGeom>
          <a:noFill/>
          <a:ln>
            <a:noFill/>
          </a:ln>
        </p:spPr>
      </p:pic>
      <p:sp>
        <p:nvSpPr>
          <p:cNvPr id="249" name="Google Shape;249;p30"/>
          <p:cNvSpPr txBox="1"/>
          <p:nvPr/>
        </p:nvSpPr>
        <p:spPr>
          <a:xfrm>
            <a:off x="8494883" y="464826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50" name="Google Shape;250;p30"/>
          <p:cNvSpPr txBox="1"/>
          <p:nvPr/>
        </p:nvSpPr>
        <p:spPr>
          <a:xfrm>
            <a:off x="1033275" y="1691650"/>
            <a:ext cx="2313000" cy="175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400">
                <a:solidFill>
                  <a:srgbClr val="FFFFFF"/>
                </a:solidFill>
                <a:latin typeface="Poppins"/>
                <a:ea typeface="Poppins"/>
                <a:cs typeface="Poppins"/>
                <a:sym typeface="Poppins"/>
              </a:rPr>
              <a:t>Thanks</a:t>
            </a:r>
            <a:endParaRPr sz="3400">
              <a:solidFill>
                <a:srgbClr val="FFFFFF"/>
              </a:solidFill>
              <a:latin typeface="Poppins"/>
              <a:ea typeface="Poppins"/>
              <a:cs typeface="Poppins"/>
              <a:sym typeface="Poppins"/>
            </a:endParaRPr>
          </a:p>
          <a:p>
            <a:pPr indent="0" lvl="0" marL="0" rtl="0" algn="l">
              <a:spcBef>
                <a:spcPts val="0"/>
              </a:spcBef>
              <a:spcAft>
                <a:spcPts val="0"/>
              </a:spcAft>
              <a:buNone/>
            </a:pPr>
            <a:r>
              <a:rPr lang="en" sz="3400">
                <a:solidFill>
                  <a:srgbClr val="FFFFFF"/>
                </a:solidFill>
                <a:latin typeface="Poppins"/>
                <a:ea typeface="Poppins"/>
                <a:cs typeface="Poppins"/>
                <a:sym typeface="Poppins"/>
              </a:rPr>
              <a:t>For</a:t>
            </a:r>
            <a:endParaRPr sz="3400">
              <a:solidFill>
                <a:srgbClr val="FFFFFF"/>
              </a:solidFill>
              <a:latin typeface="Poppins"/>
              <a:ea typeface="Poppins"/>
              <a:cs typeface="Poppins"/>
              <a:sym typeface="Poppins"/>
            </a:endParaRPr>
          </a:p>
          <a:p>
            <a:pPr indent="0" lvl="0" marL="0" rtl="0" algn="l">
              <a:spcBef>
                <a:spcPts val="0"/>
              </a:spcBef>
              <a:spcAft>
                <a:spcPts val="0"/>
              </a:spcAft>
              <a:buNone/>
            </a:pPr>
            <a:r>
              <a:rPr lang="en" sz="3400">
                <a:solidFill>
                  <a:srgbClr val="FFFFFF"/>
                </a:solidFill>
                <a:latin typeface="Poppins"/>
                <a:ea typeface="Poppins"/>
                <a:cs typeface="Poppins"/>
                <a:sym typeface="Poppins"/>
              </a:rPr>
              <a:t>Watching</a:t>
            </a:r>
            <a:endParaRPr sz="3400">
              <a:solidFill>
                <a:srgbClr val="FFFFFF"/>
              </a:solidFill>
              <a:latin typeface="Poppins"/>
              <a:ea typeface="Poppins"/>
              <a:cs typeface="Poppins"/>
              <a:sym typeface="Poppins"/>
            </a:endParaRPr>
          </a:p>
        </p:txBody>
      </p:sp>
      <p:pic>
        <p:nvPicPr>
          <p:cNvPr id="251" name="Google Shape;251;p30" title="Untitled (2).png"/>
          <p:cNvPicPr preferRelativeResize="0"/>
          <p:nvPr/>
        </p:nvPicPr>
        <p:blipFill rotWithShape="1">
          <a:blip r:embed="rId7">
            <a:alphaModFix/>
          </a:blip>
          <a:srcRect b="0" l="0" r="0" t="0"/>
          <a:stretch/>
        </p:blipFill>
        <p:spPr>
          <a:xfrm>
            <a:off x="5038344" y="2660904"/>
            <a:ext cx="3309826" cy="200082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