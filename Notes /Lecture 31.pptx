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  <p:sldId id="318" r:id="rId47"/>
    <p:sldId id="319" r:id="rId48"/>
    <p:sldId id="320" r:id="rId49"/>
    <p:sldId id="321" r:id="rId50"/>
    <p:sldId id="322" r:id="rId51"/>
    <p:sldId id="289" r:id="rId52"/>
    <p:sldId id="290" r:id="rId53"/>
    <p:sldId id="291" r:id="rId54"/>
    <p:sldId id="292" r:id="rId55"/>
    <p:sldId id="293" r:id="rId56"/>
    <p:sldId id="294" r:id="rId57"/>
    <p:sldId id="323" r:id="rId58"/>
    <p:sldId id="324" r:id="rId59"/>
    <p:sldId id="325" r:id="rId60"/>
    <p:sldId id="326" r:id="rId61"/>
    <p:sldId id="327" r:id="rId62"/>
    <p:sldId id="328" r:id="rId63"/>
    <p:sldId id="295" r:id="rId64"/>
    <p:sldId id="296" r:id="rId65"/>
    <p:sldId id="297" r:id="rId66"/>
    <p:sldId id="299" r:id="rId67"/>
    <p:sldId id="329" r:id="rId68"/>
    <p:sldId id="330" r:id="rId69"/>
    <p:sldId id="331" r:id="rId70"/>
    <p:sldId id="298" r:id="rId71"/>
    <p:sldId id="332" r:id="rId72"/>
    <p:sldId id="300" r:id="rId73"/>
    <p:sldId id="301" r:id="rId74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76"/>
      <p:bold r:id="rId77"/>
      <p:italic r:id="rId78"/>
      <p:boldItalic r:id="rId79"/>
    </p:embeddedFont>
    <p:embeddedFont>
      <p:font typeface="Roboto Slab" pitchFamily="2" charset="0"/>
      <p:regular r:id="rId80"/>
      <p:bold r:id="rId8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838A49-4B3E-4453-A2D2-3CEC714E0B8E}">
  <a:tblStyle styleId="{BF838A49-4B3E-4453-A2D2-3CEC714E0B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font" Target="fonts/font4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5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3.fntdata"/><Relationship Id="rId8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669bc4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669bc4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3669bc41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3669bc41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3669bc41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3669bc41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44fe1f02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44fe1f02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3669bc41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3669bc41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44fe1f02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44fe1f02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44fe1f023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744fe1f023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44fe1f023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44fe1f023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44fe1f02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44fe1f02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44fe1f023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44fe1f023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44fe1f023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744fe1f023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44fe1f023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744fe1f023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44fe1f023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744fe1f023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44fe1f02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44fe1f023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44fe1f023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744fe1f023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44fe1f023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44fe1f023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44fe1f023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744fe1f023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44fe1f023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744fe1f023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44fe1f023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744fe1f023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44fe1f023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744fe1f023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744fe1f02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744fe1f02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44fe1f023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744fe1f023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744fe1f023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744fe1f023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744fe1f023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744fe1f023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44fe1f023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744fe1f023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744fe1f02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744fe1f02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44fe1f023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744fe1f023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744fe1f023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744fe1f023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744fe1f023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744fe1f023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3669bc41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3669bc41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44fe1f02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44fe1f02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3669bc41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3669bc41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44fe1f02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44fe1f02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44fe1f023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44fe1f023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44fe1f023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44fe1f023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44fe1f02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44fe1f02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44fe1f023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44fe1f023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44fe1f023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744fe1f023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44fe1f023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44fe1f023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44fe1f02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744fe1f023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44fe1f023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44fe1f023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44fe1f023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744fe1f023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44fe1f023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744fe1f023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57cadc848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757cadc848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44fe1f023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744fe1f023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44fe1f023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744fe1f023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44fe1f023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744fe1f023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744fe1f02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744fe1f02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744fe1f023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744fe1f023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744fe1f023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744fe1f023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744fe1f023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744fe1f023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73669bc41f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73669bc41f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73669bc41f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73669bc41f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744fe1f023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744fe1f023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744fe1f023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744fe1f023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744fe1f023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744fe1f023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744fe1f023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744fe1f023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744fe1f023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744fe1f023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744fe1f023_0_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744fe1f023_0_3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757cadc848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757cadc848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7b240e70ea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7b240e70ea_3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7b240e70ea_3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7b240e70ea_3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73669bc41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73669bc41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744fe1f023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744fe1f023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744fe1f023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744fe1f023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744fe1f023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744fe1f023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73669bc41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73669bc41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744fe1f023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744fe1f023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744fe1f023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744fe1f023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744fe1f023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744fe1f023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744fe1f023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744fe1f023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73669bc41f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73669bc41f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73669bc41f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73669bc41f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hyperlink" Target="http://drive.google.com/file/d/1DMbJBnKebFhwfd5WZ4rIPV-ze0mJSAv1/view" TargetMode="External"/><Relationship Id="rId4" Type="http://schemas.openxmlformats.org/officeDocument/2006/relationships/image" Target="../media/image3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jpg"/><Relationship Id="rId5" Type="http://schemas.openxmlformats.org/officeDocument/2006/relationships/hyperlink" Target="http://drive.google.com/file/d/12erFzMHFnBoR689CZWjnLzmGAmdGe2-U/view" TargetMode="External"/><Relationship Id="rId4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3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jpg"/><Relationship Id="rId5" Type="http://schemas.openxmlformats.org/officeDocument/2006/relationships/hyperlink" Target="http://drive.google.com/file/d/1LQmGQxPKkHvTwVM3vi9Ixwj-0ikNYPFn/view" TargetMode="External"/><Relationship Id="rId4" Type="http://schemas.openxmlformats.org/officeDocument/2006/relationships/image" Target="../media/image3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3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jpg"/><Relationship Id="rId5" Type="http://schemas.openxmlformats.org/officeDocument/2006/relationships/hyperlink" Target="http://drive.google.com/file/d/1R7terR70pnU-w9lVJwJTaBrTLIn_pTr6/view" TargetMode="External"/><Relationship Id="rId4" Type="http://schemas.openxmlformats.org/officeDocument/2006/relationships/image" Target="../media/image3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eact.dev/" TargetMode="External"/><Relationship Id="rId5" Type="http://schemas.openxmlformats.org/officeDocument/2006/relationships/hyperlink" Target="https://www.w3schools.com/js/" TargetMode="External"/><Relationship Id="rId4" Type="http://schemas.openxmlformats.org/officeDocument/2006/relationships/hyperlink" Target="https://developer.mozilla.org/en-US/docs/Web/JavaScript" TargetMode="Externa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 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387862"/>
            <a:chOff x="788865" y="1515488"/>
            <a:chExt cx="4594407" cy="2387862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b="1" dirty="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31</a:t>
              </a:r>
              <a:r>
                <a:rPr lang="en" sz="2700" dirty="0">
                  <a:solidFill>
                    <a:schemeClr val="lt1"/>
                  </a:solidFill>
                </a:rPr>
                <a:t>:</a:t>
              </a:r>
              <a:endParaRPr sz="2200" dirty="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9232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2400" dirty="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Forms in React &amp;  Form Validation</a:t>
              </a:r>
              <a:endParaRPr sz="2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666744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Controlled vs. Uncontrolled Components.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Handling Forms in React.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Handling Input Fields.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Form Validation &amp; Submission.</a:t>
            </a:r>
            <a:endParaRPr dirty="0">
              <a:solidFill>
                <a:srgbClr val="273239"/>
              </a:solidFill>
            </a:endParaRPr>
          </a:p>
          <a:p>
            <a:pPr lvl="0" indent="-330200">
              <a:lnSpc>
                <a:spcPct val="150000"/>
              </a:lnSpc>
              <a:buClr>
                <a:srgbClr val="273239"/>
              </a:buClr>
              <a:buSzPts val="1600"/>
              <a:buFont typeface="Poppins"/>
              <a:buChar char="●"/>
            </a:pPr>
            <a:r>
              <a:rPr lang="en-US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Event Handling in JSX</a:t>
            </a:r>
          </a:p>
          <a:p>
            <a:pPr lvl="0" indent="-330200">
              <a:lnSpc>
                <a:spcPct val="150000"/>
              </a:lnSpc>
              <a:buClr>
                <a:srgbClr val="273239"/>
              </a:buClr>
              <a:buSzPts val="1600"/>
              <a:buFont typeface="Poppins"/>
              <a:buChar char="●"/>
            </a:pPr>
            <a:r>
              <a:rPr lang="en-US" dirty="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Synthetic Events in React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References.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The End.</a:t>
            </a:r>
            <a:endParaRPr dirty="0">
              <a:solidFill>
                <a:srgbClr val="273239"/>
              </a:solidFill>
            </a:endParaRP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Would you prefer to control every detail of a party yourself, or delegate everything to a friend and trust them to manage it?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" name="Google Shape;87;p15" title="Thinking face-rafiki (3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3172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dist="9525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Would you prefer to control every detail of a party yourself, or delegate everything to a friend and trust them to manage it?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11700" y="1530100"/>
            <a:ext cx="7488000" cy="29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If you want full control and exact results, you manage everything yourself (like a controlled component).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If you prefer less effort and trust others to handle it, you delegate (like an uncontrolled component). Which is easier depends on your choice between control and convenience.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Controlled components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as the party planner who is actively managing and controlling the inputs and state.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Uncontrolled components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as the friend who plans independently, with minimal real-time control from you.</a:t>
            </a:r>
            <a:endParaRPr sz="16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Controlled Components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2" name="Google Shape;102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310900" y="1128150"/>
            <a:ext cx="6555600" cy="27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controlled component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form element (like &lt;input&gt;, &lt;textarea&gt;, or &lt;select&gt;) whose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value is controlled by React state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rather than the DOM itself.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How it works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form field’s value is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stored in state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update that state via an onChange handler.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field’s displayed value always comes from the state.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Controlled Components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0" name="Google Shape;110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112" name="Google Shape;112;p18" title="carbon - 2025-08-11T104730.96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9488" y="726225"/>
            <a:ext cx="4673425" cy="433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Controlled Components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8" name="Google Shape;118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20" name="Google Shape;120;p19"/>
          <p:cNvSpPr txBox="1"/>
          <p:nvPr/>
        </p:nvSpPr>
        <p:spPr>
          <a:xfrm>
            <a:off x="310900" y="1014975"/>
            <a:ext cx="7470600" cy="3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Key Points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Value comes from state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not from the DOM directly.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Every keystroke triggers onChange, which updates state.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UI is always in sync with your state.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Why use controlled components?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Single source of truth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(state).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Easy to validate and format inputs.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Makes complex form logic easier (e.g., disabling buttons, live previews).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Uncontrolled Components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6" name="Google Shape;126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28" name="Google Shape;128;p20"/>
          <p:cNvSpPr txBox="1"/>
          <p:nvPr/>
        </p:nvSpPr>
        <p:spPr>
          <a:xfrm>
            <a:off x="310900" y="1014975"/>
            <a:ext cx="7470600" cy="3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uncontrolled component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form element that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manages its own state internally in the DOM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instead of being controlled by React state.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Instead of binding the value to state and updating on every change, you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let the browser handle the value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and only read it when needed—usually with a ref.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How it works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 </a:t>
            </a:r>
            <a:r>
              <a:rPr lang="en">
                <a:solidFill>
                  <a:srgbClr val="4A86E8"/>
                </a:solidFill>
                <a:latin typeface="Poppins"/>
                <a:ea typeface="Poppins"/>
                <a:cs typeface="Poppins"/>
                <a:sym typeface="Poppins"/>
              </a:rPr>
              <a:t>value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prop bound to state.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use </a:t>
            </a:r>
            <a:r>
              <a:rPr lang="en">
                <a:solidFill>
                  <a:srgbClr val="4A86E8"/>
                </a:solidFill>
                <a:latin typeface="Poppins"/>
                <a:ea typeface="Poppins"/>
                <a:cs typeface="Poppins"/>
                <a:sym typeface="Poppins"/>
              </a:rPr>
              <a:t>defaultValue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(for initial value) or nothing at all.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 get the value, you access the DOM element directly via a ref.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Uncontrolled Components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4" name="Google Shape;134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36" name="Google Shape;136;p21" title="carbon - 2025-08-11T111941.39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100" y="698975"/>
            <a:ext cx="4894698" cy="4326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Uncontrolled Components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2" name="Google Shape;142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310900" y="1065925"/>
            <a:ext cx="7338900" cy="3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Key Points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DOM is the source of truth for the value, not React state.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usually read the value only when needed (e.g., form submit).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use ref to access the element and its value.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defaultValue sets the initial value (like HTML’s value attribute).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Why use uncontrolled components?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Less code for simple forms.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 re-render on every keystroke.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4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Good for integrating with non-React code or libraries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Uncontrolled Components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0" name="Google Shape;150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aphicFrame>
        <p:nvGraphicFramePr>
          <p:cNvPr id="152" name="Google Shape;152;p23"/>
          <p:cNvGraphicFramePr/>
          <p:nvPr/>
        </p:nvGraphicFramePr>
        <p:xfrm>
          <a:off x="310900" y="1165513"/>
          <a:ext cx="8528125" cy="3347175"/>
        </p:xfrm>
        <a:graphic>
          <a:graphicData uri="http://schemas.openxmlformats.org/drawingml/2006/table">
            <a:tbl>
              <a:tblPr>
                <a:noFill/>
                <a:tableStyleId>{BF838A49-4B3E-4453-A2D2-3CEC714E0B8E}</a:tableStyleId>
              </a:tblPr>
              <a:tblGrid>
                <a:gridCol w="203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 b="1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Controlled Component</a:t>
                      </a:r>
                      <a:endParaRPr b="1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Uncontrolled Component</a:t>
                      </a:r>
                      <a:endParaRPr b="1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State management</a:t>
                      </a:r>
                      <a:endParaRPr sz="1200" b="1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Value is stored in </a:t>
                      </a:r>
                      <a:r>
                        <a:rPr lang="en" sz="1200" b="1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React state</a:t>
                      </a:r>
                      <a:endParaRPr sz="1200" b="1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Value is stored in the </a:t>
                      </a:r>
                      <a:r>
                        <a:rPr lang="en" sz="1200" b="1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DOM</a:t>
                      </a:r>
                      <a:endParaRPr sz="1200" b="1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FF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Source of truth</a:t>
                      </a:r>
                      <a:endParaRPr sz="1200" b="1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React state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DOM element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FF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How to access value</a:t>
                      </a:r>
                      <a:endParaRPr sz="1200" b="1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From the state variable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Using a ref (elementRef.current.value)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FF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Value prop</a:t>
                      </a:r>
                      <a:endParaRPr sz="1200" b="1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Must pass value and onChange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Uses defaultValue (or no prop)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FF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Rendering on change</a:t>
                      </a:r>
                      <a:endParaRPr sz="1200" b="1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FFB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Re-renders on every keystroke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8FDF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73239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Doesn’t re-render on typing</a:t>
                      </a:r>
                      <a:endParaRPr sz="1200">
                        <a:solidFill>
                          <a:srgbClr val="273239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FF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8" name="Google Shape;158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160" name="Google Shape;160;p24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Would you want a job application form to save and update your answers instantly, or let you fill it out freely and review only at the end?</a:t>
            </a:r>
            <a:endParaRPr sz="23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1" name="Google Shape;161;p24" title="Man thinking-amic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1720" y="1261872"/>
            <a:ext cx="4489705" cy="3611880"/>
          </a:xfrm>
          <a:prstGeom prst="rect">
            <a:avLst/>
          </a:prstGeom>
          <a:noFill/>
          <a:ln>
            <a:noFill/>
          </a:ln>
          <a:effectLst>
            <a:outerShdw blurRad="85725" dist="9525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169" name="Google Shape;169;p25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Would you want a job application form to save and update your answers instantly, or let you fill it out freely and review only at the end?</a:t>
            </a:r>
            <a:endParaRPr sz="23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311700" y="1325880"/>
            <a:ext cx="7545600" cy="12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Some prefer forms that update answers instantly for safety and feedback (like controlled components), while others prefer filling freely and reviewing later for simplicity (like uncontrolled components).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depends on whether you want control or ease.</a:t>
            </a:r>
            <a:endParaRPr sz="20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1" name="Google Shape;171;p25" title="Forms-amic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8988" y="2597875"/>
            <a:ext cx="3706025" cy="24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Handling Forms in React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7" name="Google Shape;177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179" name="Google Shape;179;p26"/>
          <p:cNvSpPr txBox="1"/>
          <p:nvPr/>
        </p:nvSpPr>
        <p:spPr>
          <a:xfrm>
            <a:off x="310900" y="1234450"/>
            <a:ext cx="46956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Forms in React are used to collect and manage user input, but unlike plain HTML, React encourages us to decide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who controls the form data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(controlled) or the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DOM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(uncontrolled).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0" name="Google Shape;180;p26" title="20250811_1433_React Form Comparison_simple_compose_01k2c5vsd9efk8tt23teex12d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2125" y="1217525"/>
            <a:ext cx="3494876" cy="365074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6"/>
          <p:cNvSpPr txBox="1"/>
          <p:nvPr/>
        </p:nvSpPr>
        <p:spPr>
          <a:xfrm>
            <a:off x="6232775" y="4507200"/>
            <a:ext cx="708600" cy="323100"/>
          </a:xfrm>
          <a:prstGeom prst="rect">
            <a:avLst/>
          </a:prstGeom>
          <a:solidFill>
            <a:srgbClr val="F8F2E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111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The Three Steps of a Controlled Input : Handling Forms</a:t>
            </a:r>
            <a:endParaRPr sz="2111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7" name="Google Shape;187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189" name="Google Shape;189;p27"/>
          <p:cNvSpPr txBox="1"/>
          <p:nvPr/>
        </p:nvSpPr>
        <p:spPr>
          <a:xfrm>
            <a:off x="291550" y="1014975"/>
            <a:ext cx="7509300" cy="3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1. Create State to Hold the Value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Use the useState hook to create a state variable that will store the input’s current value.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Here,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name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stores the current value of the input.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setName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updates the value of name.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0" name="Google Shape;190;p27" title="carbon - 2025-08-11T131223.7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4313" y="2394636"/>
            <a:ext cx="4291924" cy="111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111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The Three Steps of a Controlled Input : Handling Forms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6" name="Google Shape;196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198" name="Google Shape;198;p28"/>
          <p:cNvSpPr txBox="1"/>
          <p:nvPr/>
        </p:nvSpPr>
        <p:spPr>
          <a:xfrm>
            <a:off x="291550" y="1014975"/>
            <a:ext cx="7509300" cy="3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2. Bind the Input’s value to State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Link the state variable to the input’s value attribute so that the input always   displays the latest state.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Now, whenever the state changes, the input’s displayed value updates automatically.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9" name="Google Shape;199;p28" title="carbon - 2025-08-11T131540.1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200" y="2421650"/>
            <a:ext cx="6096000" cy="142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111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The Three Steps of a Controlled Input : Handling Forms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5" name="Google Shape;205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207" name="Google Shape;207;p29"/>
          <p:cNvSpPr txBox="1"/>
          <p:nvPr/>
        </p:nvSpPr>
        <p:spPr>
          <a:xfrm>
            <a:off x="291550" y="1014975"/>
            <a:ext cx="7509300" cy="3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3. Handle Changes with onChange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Add an onChange event handler to capture user input. The event object e contains the latest typed value in e.target.value. Use the state setter function to update the state.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This ensures that each keystroke updates the state, and the state updates the input’s displayed value.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8" name="Google Shape;208;p29" title="carbon - 2025-08-11T131745.38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0825" y="2711575"/>
            <a:ext cx="5682350" cy="1018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111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Would you board a plane without the staff checking your </a:t>
            </a:r>
            <a:endParaRPr sz="2111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11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   ticket and passport first?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4" name="Google Shape;214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216" name="Google Shape;216;p30" title="airport terminal-rafik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1720" y="1261872"/>
            <a:ext cx="3823875" cy="3611880"/>
          </a:xfrm>
          <a:prstGeom prst="rect">
            <a:avLst/>
          </a:prstGeom>
          <a:noFill/>
          <a:ln>
            <a:noFill/>
          </a:ln>
          <a:effectLst>
            <a:outerShdw blurRad="142875" dist="9525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 spd="med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111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Would you board a plane without the staff checking your </a:t>
            </a:r>
            <a:endParaRPr sz="2111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11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   ticket and passport first?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2" name="Google Shape;222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224" name="Google Shape;224;p31"/>
          <p:cNvSpPr txBox="1"/>
          <p:nvPr/>
        </p:nvSpPr>
        <p:spPr>
          <a:xfrm>
            <a:off x="310900" y="1312100"/>
            <a:ext cx="40416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Because checks are important for safety and correctness.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naturally leads to the analogy: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Ticket &amp; passport check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= Form 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      Validation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Boarding the plane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= Form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Submission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5" name="Google Shape;225;p31" title="20250811_1502_Airport Process Illustration_simple_compose_01k2c7h2n2ekfa9e5j8txhxar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6000" y="1114525"/>
            <a:ext cx="3637924" cy="370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Form Validation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1" name="Google Shape;231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sp>
        <p:nvSpPr>
          <p:cNvPr id="233" name="Google Shape;233;p32"/>
          <p:cNvSpPr txBox="1"/>
          <p:nvPr/>
        </p:nvSpPr>
        <p:spPr>
          <a:xfrm>
            <a:off x="310900" y="1169050"/>
            <a:ext cx="7543800" cy="28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Form validation is the process of checking if the data entered by the user into a form is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correct, complete, and in the right format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before submitting it.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Why Form Validation is Important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Prevents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incorrect or incomplete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data from being processed.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Improves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user experience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by guiding users to fix mistakes.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Protects against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security issues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like malicious input.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Saves time and effort by catching errors early.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Types Of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Form Validation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9" name="Google Shape;239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241" name="Google Shape;241;p33"/>
          <p:cNvSpPr txBox="1"/>
          <p:nvPr/>
        </p:nvSpPr>
        <p:spPr>
          <a:xfrm>
            <a:off x="310900" y="1169050"/>
            <a:ext cx="7543800" cy="33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Client-Side Validation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Happens in the browser before sending data to the server.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Quick feedback to the user.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Examples: Checking empty fields, email format, password length.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Server-Side Validation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Happens after form data is sent to the backend.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More secure because it can’t be bypassed.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Examples: Checking if username already exists, verifying OTP.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75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Common Validation Rules</a:t>
            </a:r>
            <a:endParaRPr sz="275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7" name="Google Shape;247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249" name="Google Shape;249;p34"/>
          <p:cNvSpPr txBox="1"/>
          <p:nvPr/>
        </p:nvSpPr>
        <p:spPr>
          <a:xfrm>
            <a:off x="310900" y="1639125"/>
            <a:ext cx="7543800" cy="17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Required field check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Field cannot be empty.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Pattern matching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Email format, phone number format.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Length constraints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Password must be at least 8 characters.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Char char="●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Value range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Age must be between 18 and 60.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75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Form Submission</a:t>
            </a:r>
            <a:endParaRPr sz="275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5" name="Google Shape;255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257" name="Google Shape;257;p35"/>
          <p:cNvSpPr txBox="1"/>
          <p:nvPr/>
        </p:nvSpPr>
        <p:spPr>
          <a:xfrm>
            <a:off x="310900" y="1125450"/>
            <a:ext cx="79656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Form submission is the process of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sending the validated form data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a server or another part of your application for further processing.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How Form Submission Works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User fills out the form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Enters data into form fields.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Validation occurs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Checks if the data is correct and complete.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Submit event triggers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Usually by clicking a button with type="submit" or pressing Enter.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AutoNum type="arabicPeriod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Data is processed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Sent to a server via an API call (e.g., fetch, axios).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○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Or handled locally (e.g., updating a list in state).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75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React Form Submission Steps</a:t>
            </a:r>
            <a:endParaRPr sz="275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3" name="Google Shape;263;p3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265" name="Google Shape;265;p36"/>
          <p:cNvSpPr txBox="1"/>
          <p:nvPr/>
        </p:nvSpPr>
        <p:spPr>
          <a:xfrm>
            <a:off x="310900" y="1125450"/>
            <a:ext cx="7965600" cy="3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1.     Prevent Default Browser Behavior</a:t>
            </a:r>
            <a:b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HTML forms reload the page on submit by default.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React, use: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stop the reload.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6" name="Google Shape;266;p36" title="carbon - 2025-08-11T155829.9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6875" y="2688250"/>
            <a:ext cx="6096000" cy="1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75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React Form Submission Steps</a:t>
            </a:r>
            <a:endParaRPr sz="275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2" name="Google Shape;272;p3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274" name="Google Shape;274;p37"/>
          <p:cNvSpPr txBox="1"/>
          <p:nvPr/>
        </p:nvSpPr>
        <p:spPr>
          <a:xfrm>
            <a:off x="310900" y="1125450"/>
            <a:ext cx="7965600" cy="3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2.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Collect Form Data</a:t>
            </a:r>
            <a:b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 state variables (controlled components) to store input values.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Or use refs (uncontrolled components) to read values.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3.  Send Data to Server or Process Locally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5" name="Google Shape;275;p37" title="carbon - 2025-08-11T160430.68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0325" y="3175425"/>
            <a:ext cx="3971750" cy="161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8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75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React Form Submission Steps</a:t>
            </a:r>
            <a:endParaRPr sz="275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1" name="Google Shape;281;p3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283" name="Google Shape;283;p38"/>
          <p:cNvSpPr txBox="1"/>
          <p:nvPr/>
        </p:nvSpPr>
        <p:spPr>
          <a:xfrm>
            <a:off x="310900" y="1125450"/>
            <a:ext cx="7965600" cy="15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4.  Provide Feedback to User</a:t>
            </a:r>
            <a:b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Success → Show confirmation or redirect.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Failure → Show error message.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9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75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 : Form Validation &amp; Submission</a:t>
            </a:r>
            <a:endParaRPr sz="275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9" name="Google Shape;289;p3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pic>
        <p:nvPicPr>
          <p:cNvPr id="291" name="Google Shape;291;p39" title="carbon - 2025-08-11T154617.26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9150" y="664925"/>
            <a:ext cx="4625726" cy="439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111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When you’re watching TV, do you get up every time you    </a:t>
            </a:r>
            <a:endParaRPr sz="2111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11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   want to change the channel, or do you use a remote?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7" name="Google Shape;297;p4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pic>
        <p:nvPicPr>
          <p:cNvPr id="299" name="Google Shape;299;p40" title="Questions-bro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1720" y="1261872"/>
            <a:ext cx="3823875" cy="3611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1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111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When you’re watching TV, do you get up every time you    </a:t>
            </a:r>
            <a:endParaRPr sz="2111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11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   want to change the channel, or do you use a remote?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5" name="Google Shape;305;p4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307" name="Google Shape;307;p41"/>
          <p:cNvSpPr txBox="1"/>
          <p:nvPr/>
        </p:nvSpPr>
        <p:spPr>
          <a:xfrm>
            <a:off x="310900" y="1523300"/>
            <a:ext cx="45117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React,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useRef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works like that remote control — it lets you directly interact with the DOM element without ‘walking through’ the whole re-render process.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8" name="Google Shape;308;p41" title="20250811_1700_Remote vs Direct Control_simple_compose_01k2ce9hc1f1vvasbkmgzqpvv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4325" y="1196300"/>
            <a:ext cx="3706051" cy="3808224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1"/>
          <p:cNvSpPr txBox="1"/>
          <p:nvPr/>
        </p:nvSpPr>
        <p:spPr>
          <a:xfrm>
            <a:off x="5715025" y="2701875"/>
            <a:ext cx="1021800" cy="677100"/>
          </a:xfrm>
          <a:prstGeom prst="rect">
            <a:avLst/>
          </a:prstGeom>
          <a:solidFill>
            <a:srgbClr val="7A581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 plain HTML, how do we normally attach a click event to a button?</a:t>
            </a:r>
            <a:endParaRPr sz="19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0966" y="1341600"/>
            <a:ext cx="3964163" cy="35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 plain HTML, how do we normally attach a click event to a button?</a:t>
            </a:r>
            <a:endParaRPr sz="37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11700" y="1530100"/>
            <a:ext cx="748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HTML uses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inline attributes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1545" y="1990550"/>
            <a:ext cx="5212755" cy="105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311700" y="3169375"/>
            <a:ext cx="6659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Problem: This mixes JS inside HTML strings.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Transition: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“React fixes this with a cleaner, more consistent syntax.”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Syntax Difference : CamelCase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4" name="Google Shape;104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310900" y="1128150"/>
            <a:ext cx="6555600" cy="15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7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HTML →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onclick="handleClick()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" (string).(lowercase).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7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→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onClick={handleClick}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(function reference). (camelCase).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8925" y="2443325"/>
            <a:ext cx="5175925" cy="20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Defining and Passing a Handler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3" name="Google Shape;113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6300" y="1327449"/>
            <a:ext cx="5548225" cy="200204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/>
        </p:nvSpPr>
        <p:spPr>
          <a:xfrm>
            <a:off x="629600" y="3886925"/>
            <a:ext cx="5943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✅ Correct →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onClick={handleClick}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Runs on click.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❌ Wrong →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onClick={handleClick()}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executes immediately.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Inline Arrow Functions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310900" y="1014975"/>
            <a:ext cx="74706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Creates new function each render.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Fine for simple cases.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0175" y="2109788"/>
            <a:ext cx="5133975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Common React Events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1" name="Google Shape;131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310900" y="1014975"/>
            <a:ext cx="7470600" cy="27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Mouse Events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onClick, onDoubleClick, onMouseEnter, onMouseLeave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Keyboard Events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onKeyDown, onKeyUp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Form Events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onChange, onSubmit, onFocus, onBlur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Many more available in docs.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Example: Input Handling with onChange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9" name="Google Shape;139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1825" y="873250"/>
            <a:ext cx="5355775" cy="341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JSX vs HTML Comparison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graphicFrame>
        <p:nvGraphicFramePr>
          <p:cNvPr id="149" name="Google Shape;149;p22"/>
          <p:cNvGraphicFramePr/>
          <p:nvPr/>
        </p:nvGraphicFramePr>
        <p:xfrm>
          <a:off x="577675" y="1421638"/>
          <a:ext cx="7618500" cy="20396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7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9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HTML Example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React Example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Case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8803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onclick="..."</a:t>
                      </a:r>
                      <a:endParaRPr>
                        <a:solidFill>
                          <a:srgbClr val="18803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8803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onClick={...}</a:t>
                      </a:r>
                      <a:endParaRPr>
                        <a:solidFill>
                          <a:srgbClr val="188038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Value type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String of code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Function reference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Execution time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Runs immediately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Runs only when clicked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5" name="Google Shape;155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sp>
        <p:nvSpPr>
          <p:cNvPr id="157" name="Google Shape;157;p23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Why do you think React doesn’t just use the browser’s default event object directly?</a:t>
            </a:r>
            <a:endParaRPr sz="23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8" name="Google Shape;158;p23" title="Man thinking-amic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1720" y="1261872"/>
            <a:ext cx="4489705" cy="3611880"/>
          </a:xfrm>
          <a:prstGeom prst="rect">
            <a:avLst/>
          </a:prstGeom>
          <a:noFill/>
          <a:ln>
            <a:noFill/>
          </a:ln>
          <a:effectLst>
            <a:outerShdw blurRad="85725" dist="9525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4" name="Google Shape;164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sp>
        <p:nvSpPr>
          <p:cNvPr id="166" name="Google Shape;166;p24"/>
          <p:cNvSpPr txBox="1"/>
          <p:nvPr/>
        </p:nvSpPr>
        <p:spPr>
          <a:xfrm>
            <a:off x="576075" y="210300"/>
            <a:ext cx="72237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Why do you think React doesn’t just use the browser’s default event object directly?</a:t>
            </a:r>
            <a:endParaRPr sz="23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311700" y="1325875"/>
            <a:ext cx="7905000" cy="12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Every browser has slightly different event implementations.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Example: Some browsers use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event.srcElement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others use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event.target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This causes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inconsistencies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for developers.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8" name="Google Shape;16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3900" y="2422400"/>
            <a:ext cx="3420624" cy="2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The Solution: SyntheticEvent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4" name="Google Shape;174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sp>
        <p:nvSpPr>
          <p:cNvPr id="176" name="Google Shape;176;p25"/>
          <p:cNvSpPr txBox="1"/>
          <p:nvPr/>
        </p:nvSpPr>
        <p:spPr>
          <a:xfrm>
            <a:off x="310900" y="1234450"/>
            <a:ext cx="6977400" cy="42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wraps native events in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SyntheticEvent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Normalizes event properties across browsers.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Ensures consistent behavior in all environments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Universal Power Adapter Analogy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Different countries → Different power sockets (browsers).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Universal adapter → Fits all sockets.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SyntheticEvent is like that adapter → one API that works everywhere.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111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Example: Handling Synthetic Events</a:t>
            </a:r>
            <a:endParaRPr sz="2111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2" name="Google Shape;182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sp>
        <p:nvSpPr>
          <p:cNvPr id="184" name="Google Shape;184;p26"/>
          <p:cNvSpPr txBox="1"/>
          <p:nvPr/>
        </p:nvSpPr>
        <p:spPr>
          <a:xfrm>
            <a:off x="419600" y="4109625"/>
            <a:ext cx="750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👉 The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event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here is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SyntheticEvent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not the native one.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5" name="Google Shape;18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3153" y="1125653"/>
            <a:ext cx="5607146" cy="262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111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Properties of SyntheticEvent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1" name="Google Shape;191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  <p:sp>
        <p:nvSpPr>
          <p:cNvPr id="193" name="Google Shape;193;p27"/>
          <p:cNvSpPr txBox="1"/>
          <p:nvPr/>
        </p:nvSpPr>
        <p:spPr>
          <a:xfrm>
            <a:off x="291550" y="1014975"/>
            <a:ext cx="7509300" cy="30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Has the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same interface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as native events.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Commonly used: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event.target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→ element that triggered the event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event.preventDefault()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→ stop default behavior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event.stopPropagation()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→ stop bubbling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111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preventDefault Example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9" name="Google Shape;199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  <p:sp>
        <p:nvSpPr>
          <p:cNvPr id="201" name="Google Shape;201;p28"/>
          <p:cNvSpPr txBox="1"/>
          <p:nvPr/>
        </p:nvSpPr>
        <p:spPr>
          <a:xfrm>
            <a:off x="398275" y="4309225"/>
            <a:ext cx="7509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Works consistently in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all browsers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2" name="Google Shape;20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4175" y="822900"/>
            <a:ext cx="4060525" cy="329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/>
          <p:nvPr/>
        </p:nvSpPr>
        <p:spPr>
          <a:xfrm>
            <a:off x="310900" y="1259200"/>
            <a:ext cx="33294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click the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Submit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button.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browser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tries to submit the form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React calls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handleSubmit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preventDefault()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stops the page refresh.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 alert pops up: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“Form submission blocked!”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111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Quick Comparison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9" name="Google Shape;209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  <p:graphicFrame>
        <p:nvGraphicFramePr>
          <p:cNvPr id="211" name="Google Shape;211;p29"/>
          <p:cNvGraphicFramePr/>
          <p:nvPr/>
        </p:nvGraphicFramePr>
        <p:xfrm>
          <a:off x="664625" y="1134125"/>
          <a:ext cx="7190075" cy="247127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4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90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Native Event (Browser)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SyntheticEvent (React)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Browser consistency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❌ Different APIs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✅ Standardized API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Methods available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Vary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8803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preventDefault()</a:t>
                      </a: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, </a:t>
                      </a:r>
                      <a:r>
                        <a:rPr lang="en">
                          <a:solidFill>
                            <a:srgbClr val="18803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stopPropagation()</a:t>
                      </a: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(same everywhere)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Performance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Normal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Event pooling (optimized)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2" name="Google Shape;212;p29"/>
          <p:cNvSpPr txBox="1"/>
          <p:nvPr/>
        </p:nvSpPr>
        <p:spPr>
          <a:xfrm>
            <a:off x="405500" y="3894975"/>
            <a:ext cx="7470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❌ Thinking it’s the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native browser event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✔ It’s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wrapper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that behaves like native, but is cross-browser safe.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111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you have 5 buttons, each saying ‘Delete’. How do you know which item to delete when a button is clicked?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8" name="Google Shape;218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45</a:t>
            </a:fld>
            <a:endParaRPr/>
          </a:p>
        </p:txBody>
      </p:sp>
      <p:pic>
        <p:nvPicPr>
          <p:cNvPr id="220" name="Google Shape;22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3450" y="1329775"/>
            <a:ext cx="4554400" cy="345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8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111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you have 5 buttons, each saying ‘Delete’. How do you know which item to delete when a button is clicked?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6" name="Google Shape;226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46</a:t>
            </a:fld>
            <a:endParaRPr/>
          </a:p>
        </p:txBody>
      </p:sp>
      <p:sp>
        <p:nvSpPr>
          <p:cNvPr id="228" name="Google Shape;228;p31"/>
          <p:cNvSpPr txBox="1"/>
          <p:nvPr/>
        </p:nvSpPr>
        <p:spPr>
          <a:xfrm>
            <a:off x="310900" y="1312100"/>
            <a:ext cx="7820400" cy="12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Event handlers often need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extra information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item ID, name, index).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But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passing arguments incorrectly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can cause problems.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Example mistake: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" name="Google Shape;22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8525" y="2224275"/>
            <a:ext cx="476250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1"/>
          <p:cNvSpPr txBox="1"/>
          <p:nvPr/>
        </p:nvSpPr>
        <p:spPr>
          <a:xfrm>
            <a:off x="636825" y="3403750"/>
            <a:ext cx="7611900" cy="15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❌ This will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run immediately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when the component renders, not when clicked.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React,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onClick={...}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expects a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function reference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Writing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 handleDelete(item.id)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actually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calls the function immediately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 React doesn’t wait for the click — it just executes.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111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Imagine you have 5 buttons, each saying ‘Delete’. How do you know which item to delete when a button is clicked?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6" name="Google Shape;236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47</a:t>
            </a:fld>
            <a:endParaRPr/>
          </a:p>
        </p:txBody>
      </p:sp>
      <p:sp>
        <p:nvSpPr>
          <p:cNvPr id="238" name="Google Shape;238;p32"/>
          <p:cNvSpPr txBox="1"/>
          <p:nvPr/>
        </p:nvSpPr>
        <p:spPr>
          <a:xfrm>
            <a:off x="310900" y="1297100"/>
            <a:ext cx="7543800" cy="1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Solution :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✔ Use an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inline arrow function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9" name="Google Shape;23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8888" y="1928800"/>
            <a:ext cx="4048125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2"/>
          <p:cNvSpPr txBox="1"/>
          <p:nvPr/>
        </p:nvSpPr>
        <p:spPr>
          <a:xfrm>
            <a:off x="576250" y="3631825"/>
            <a:ext cx="6680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Now React has a function to call later (when the click happens).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arrow function “remembers” the item.id argument.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Small Example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6" name="Google Shape;246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48</a:t>
            </a:fld>
            <a:endParaRPr/>
          </a:p>
        </p:txBody>
      </p:sp>
      <p:sp>
        <p:nvSpPr>
          <p:cNvPr id="248" name="Google Shape;248;p33"/>
          <p:cNvSpPr txBox="1"/>
          <p:nvPr/>
        </p:nvSpPr>
        <p:spPr>
          <a:xfrm>
            <a:off x="310900" y="1169050"/>
            <a:ext cx="7543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None/>
            </a:pP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9" name="Google Shape;24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825" y="895350"/>
            <a:ext cx="579120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3"/>
          <p:cNvSpPr txBox="1"/>
          <p:nvPr/>
        </p:nvSpPr>
        <p:spPr>
          <a:xfrm>
            <a:off x="458850" y="4236450"/>
            <a:ext cx="4684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✅ Each button passes a different argument.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75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Real Use Case: Lists</a:t>
            </a:r>
            <a:endParaRPr sz="275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6" name="Google Shape;256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49</a:t>
            </a:fld>
            <a:endParaRPr/>
          </a:p>
        </p:txBody>
      </p:sp>
      <p:sp>
        <p:nvSpPr>
          <p:cNvPr id="258" name="Google Shape;258;p34"/>
          <p:cNvSpPr txBox="1"/>
          <p:nvPr/>
        </p:nvSpPr>
        <p:spPr>
          <a:xfrm>
            <a:off x="310900" y="1639125"/>
            <a:ext cx="7543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  <a:buNone/>
            </a:pP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9" name="Google Shape;25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975" y="875025"/>
            <a:ext cx="5727425" cy="33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4"/>
          <p:cNvSpPr txBox="1"/>
          <p:nvPr/>
        </p:nvSpPr>
        <p:spPr>
          <a:xfrm>
            <a:off x="310900" y="4352125"/>
            <a:ext cx="561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✅ Each button passes the correct user name.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5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sz="275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Alternative Syntax</a:t>
            </a:r>
            <a:endParaRPr sz="275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6" name="Google Shape;266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50</a:t>
            </a:fld>
            <a:endParaRPr/>
          </a:p>
        </p:txBody>
      </p:sp>
      <p:sp>
        <p:nvSpPr>
          <p:cNvPr id="268" name="Google Shape;268;p35"/>
          <p:cNvSpPr txBox="1"/>
          <p:nvPr/>
        </p:nvSpPr>
        <p:spPr>
          <a:xfrm>
            <a:off x="310900" y="1125450"/>
            <a:ext cx="7965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1" indent="-317500" algn="l" rt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○"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9" name="Google Shape;26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3050" y="1293900"/>
            <a:ext cx="5410300" cy="14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5"/>
          <p:cNvSpPr txBox="1"/>
          <p:nvPr/>
        </p:nvSpPr>
        <p:spPr>
          <a:xfrm>
            <a:off x="554900" y="3256050"/>
            <a:ext cx="6306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bind()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creates a new function with </a:t>
            </a: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item.id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fixed as the first argument.</a:t>
            </a:r>
            <a:b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Less common in functional components, but worth mentioning.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8" name="Google Shape;348;p4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51</a:t>
            </a:fld>
            <a:endParaRPr/>
          </a:p>
        </p:txBody>
      </p:sp>
      <p:grpSp>
        <p:nvGrpSpPr>
          <p:cNvPr id="351" name="Google Shape;351;p46"/>
          <p:cNvGrpSpPr/>
          <p:nvPr/>
        </p:nvGrpSpPr>
        <p:grpSpPr>
          <a:xfrm>
            <a:off x="310894" y="1014975"/>
            <a:ext cx="6716433" cy="1930925"/>
            <a:chOff x="310900" y="1014975"/>
            <a:chExt cx="6327900" cy="1930925"/>
          </a:xfrm>
        </p:grpSpPr>
        <p:sp>
          <p:nvSpPr>
            <p:cNvPr id="352" name="Google Shape;352;p46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  Simple Controlled Input</a:t>
              </a:r>
              <a:endParaRPr sz="17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3" name="Google Shape;353;p46"/>
            <p:cNvSpPr txBox="1"/>
            <p:nvPr/>
          </p:nvSpPr>
          <p:spPr>
            <a:xfrm>
              <a:off x="310900" y="1725200"/>
              <a:ext cx="6327900" cy="122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chemeClr val="dk1"/>
                </a:solidFill>
              </a:endParaRPr>
            </a:p>
            <a:p>
              <a:pPr marL="914400" lvl="0" indent="-2984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Create a component that contains a single text input. Make it a controlled component by using </a:t>
              </a:r>
              <a:r>
                <a:rPr lang="en" sz="1100" b="1">
                  <a:solidFill>
                    <a:schemeClr val="dk1"/>
                  </a:solidFill>
                </a:rPr>
                <a:t>useState</a:t>
              </a:r>
              <a:r>
                <a:rPr lang="en" sz="1100">
                  <a:solidFill>
                    <a:schemeClr val="dk1"/>
                  </a:solidFill>
                </a:rPr>
                <a:t> to manage its value. Display the current value of the input in a paragraph below it.</a:t>
              </a: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9" name="Google Shape;359;p4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7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52</a:t>
            </a:fld>
            <a:endParaRPr/>
          </a:p>
        </p:txBody>
      </p:sp>
      <p:sp>
        <p:nvSpPr>
          <p:cNvPr id="362" name="Google Shape;362;p47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3" name="Google Shape;363;p47" title="carbon - 2025-08-11T173721.87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5225" y="835225"/>
            <a:ext cx="4899427" cy="415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8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9" name="Google Shape;369;p4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8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53</a:t>
            </a:fld>
            <a:endParaRPr/>
          </a:p>
        </p:txBody>
      </p:sp>
      <p:sp>
        <p:nvSpPr>
          <p:cNvPr id="372" name="Google Shape;372;p48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3" name="Google Shape;373;p48" title="Screen Recording 2025-08-11 173905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0600" y="1050400"/>
            <a:ext cx="4851750" cy="364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9" name="Google Shape;379;p4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9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54</a:t>
            </a:fld>
            <a:endParaRPr/>
          </a:p>
        </p:txBody>
      </p:sp>
      <p:grpSp>
        <p:nvGrpSpPr>
          <p:cNvPr id="382" name="Google Shape;382;p49"/>
          <p:cNvGrpSpPr/>
          <p:nvPr/>
        </p:nvGrpSpPr>
        <p:grpSpPr>
          <a:xfrm>
            <a:off x="310894" y="1014975"/>
            <a:ext cx="6003496" cy="3079325"/>
            <a:chOff x="310900" y="1014975"/>
            <a:chExt cx="5656205" cy="3079325"/>
          </a:xfrm>
        </p:grpSpPr>
        <p:sp>
          <p:nvSpPr>
            <p:cNvPr id="383" name="Google Shape;383;p49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2.   </a:t>
              </a:r>
              <a:r>
                <a:rPr lang="en" sz="1100" b="1">
                  <a:solidFill>
                    <a:schemeClr val="dk1"/>
                  </a:solidFill>
                </a:rPr>
                <a:t> </a:t>
              </a: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Basic Form Submission</a:t>
              </a:r>
              <a:endParaRPr sz="17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84" name="Google Shape;384;p49"/>
            <p:cNvSpPr txBox="1"/>
            <p:nvPr/>
          </p:nvSpPr>
          <p:spPr>
            <a:xfrm>
              <a:off x="310905" y="1725200"/>
              <a:ext cx="5656200" cy="236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chemeClr val="dk1"/>
                </a:solidFill>
              </a:endParaRPr>
            </a:p>
            <a:p>
              <a:pPr marL="914400" lvl="0" indent="-2984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" sz="1100">
                  <a:solidFill>
                    <a:schemeClr val="dk1"/>
                  </a:solidFill>
                </a:rPr>
                <a:t> Create a simple login form with an email input and a submit button.</a:t>
              </a:r>
              <a:endParaRPr sz="1100">
                <a:solidFill>
                  <a:schemeClr val="dk1"/>
                </a:solidFill>
              </a:endParaRPr>
            </a:p>
            <a:p>
              <a:pPr marL="1371600" lvl="1" indent="-29845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en" sz="1100">
                  <a:solidFill>
                    <a:schemeClr val="dk1"/>
                  </a:solidFill>
                </a:rPr>
                <a:t>The input should be a controlled component.</a:t>
              </a:r>
              <a:endParaRPr sz="1100">
                <a:solidFill>
                  <a:schemeClr val="dk1"/>
                </a:solidFill>
              </a:endParaRPr>
            </a:p>
            <a:p>
              <a:pPr marL="1371600" lvl="1" indent="-298450" algn="l" rtl="0">
                <a:lnSpc>
                  <a:spcPct val="115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en" sz="1100">
                  <a:solidFill>
                    <a:schemeClr val="dk1"/>
                  </a:solidFill>
                </a:rPr>
                <a:t>When the form is submitted, prevent the default page reload.</a:t>
              </a:r>
              <a:endParaRPr sz="1100">
                <a:solidFill>
                  <a:schemeClr val="dk1"/>
                </a:solidFill>
              </a:endParaRPr>
            </a:p>
            <a:p>
              <a:pPr marL="1371600" lvl="1" indent="-29845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en" sz="1100">
                  <a:solidFill>
                    <a:schemeClr val="dk1"/>
                  </a:solidFill>
                </a:rPr>
                <a:t>Show an </a:t>
              </a:r>
              <a:r>
                <a:rPr lang="en" sz="1100" b="1">
                  <a:solidFill>
                    <a:schemeClr val="dk1"/>
                  </a:solidFill>
                </a:rPr>
                <a:t>alert</a:t>
              </a:r>
              <a:r>
                <a:rPr lang="en" sz="1100">
                  <a:solidFill>
                    <a:schemeClr val="dk1"/>
                  </a:solidFill>
                </a:rPr>
                <a:t> with the message "Logged in as </a:t>
              </a:r>
              <a:r>
                <a:rPr lang="en" sz="1100" b="1">
                  <a:solidFill>
                    <a:schemeClr val="dk1"/>
                  </a:solidFill>
                </a:rPr>
                <a:t>[email]</a:t>
              </a:r>
              <a:r>
                <a:rPr lang="en" sz="1100">
                  <a:solidFill>
                    <a:schemeClr val="dk1"/>
                  </a:solidFill>
                </a:rPr>
                <a:t>", where </a:t>
              </a:r>
              <a:r>
                <a:rPr lang="en" sz="1100" b="1">
                  <a:solidFill>
                    <a:schemeClr val="dk1"/>
                  </a:solidFill>
                </a:rPr>
                <a:t>[email]</a:t>
              </a:r>
              <a:r>
                <a:rPr lang="en" sz="1100">
                  <a:solidFill>
                    <a:schemeClr val="dk1"/>
                  </a:solidFill>
                </a:rPr>
                <a:t> is the value from the input field.</a:t>
              </a:r>
              <a:endParaRPr sz="1100">
                <a:solidFill>
                  <a:schemeClr val="dk1"/>
                </a:solidFill>
              </a:endParaRPr>
            </a:p>
            <a:p>
              <a:pPr marL="91440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0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0" name="Google Shape;390;p5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5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55</a:t>
            </a:fld>
            <a:endParaRPr/>
          </a:p>
        </p:txBody>
      </p:sp>
      <p:sp>
        <p:nvSpPr>
          <p:cNvPr id="393" name="Google Shape;393;p50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4" name="Google Shape;394;p50" title="carbon - 2025-08-11T174230.73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0900" y="770025"/>
            <a:ext cx="4700699" cy="425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1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0" name="Google Shape;400;p5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56</a:t>
            </a:fld>
            <a:endParaRPr/>
          </a:p>
        </p:txBody>
      </p:sp>
      <p:sp>
        <p:nvSpPr>
          <p:cNvPr id="403" name="Google Shape;403;p51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4" name="Google Shape;404;p51" title="Screen Recording 2025-08-11 174416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81375" y="976625"/>
            <a:ext cx="6416100" cy="19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6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5" name="Google Shape;365;p4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57</a:t>
            </a:fld>
            <a:endParaRPr/>
          </a:p>
        </p:txBody>
      </p:sp>
      <p:grpSp>
        <p:nvGrpSpPr>
          <p:cNvPr id="368" name="Google Shape;368;p46"/>
          <p:cNvGrpSpPr/>
          <p:nvPr/>
        </p:nvGrpSpPr>
        <p:grpSpPr>
          <a:xfrm>
            <a:off x="310894" y="1014975"/>
            <a:ext cx="6003496" cy="2545025"/>
            <a:chOff x="310900" y="1014975"/>
            <a:chExt cx="5656205" cy="2545025"/>
          </a:xfrm>
        </p:grpSpPr>
        <p:sp>
          <p:nvSpPr>
            <p:cNvPr id="369" name="Google Shape;369;p46"/>
            <p:cNvSpPr txBox="1"/>
            <p:nvPr/>
          </p:nvSpPr>
          <p:spPr>
            <a:xfrm>
              <a:off x="310900" y="1014975"/>
              <a:ext cx="5139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1.    Basic onClick Handler</a:t>
              </a:r>
              <a:endParaRPr sz="20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0" name="Google Shape;370;p46"/>
            <p:cNvSpPr txBox="1"/>
            <p:nvPr/>
          </p:nvSpPr>
          <p:spPr>
            <a:xfrm>
              <a:off x="310905" y="1725200"/>
              <a:ext cx="5656200" cy="183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rgbClr val="273239"/>
                </a:solidFill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273239"/>
                </a:buClr>
                <a:buSzPts val="1200"/>
                <a:buChar char="●"/>
              </a:pPr>
              <a:r>
                <a:rPr lang="en" sz="12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Create a </a:t>
              </a:r>
              <a:r>
                <a:rPr lang="en" sz="1200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Button</a:t>
              </a:r>
              <a:r>
                <a:rPr lang="en" sz="12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 component. Inside the component, define a function </a:t>
              </a:r>
              <a:r>
                <a:rPr lang="en" sz="1200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handleClick</a:t>
              </a:r>
              <a:r>
                <a:rPr lang="en" sz="12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 that shows an </a:t>
              </a:r>
              <a:r>
                <a:rPr lang="en" sz="1200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alert</a:t>
              </a:r>
              <a:r>
                <a:rPr lang="en" sz="12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 with the message "Button was clicked!". Attach this function to the </a:t>
              </a:r>
              <a:r>
                <a:rPr lang="en" sz="1200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onClick</a:t>
              </a:r>
              <a:r>
                <a:rPr lang="en" sz="12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 event of a </a:t>
              </a:r>
              <a:r>
                <a:rPr lang="en" sz="1200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&lt;button&gt;</a:t>
              </a:r>
              <a:r>
                <a:rPr lang="en" sz="12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 element.</a:t>
              </a:r>
              <a:endParaRPr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91440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endParaRPr sz="1100">
                <a:solidFill>
                  <a:srgbClr val="273239"/>
                </a:solidFill>
              </a:endParaRPr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7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6" name="Google Shape;376;p4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7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58</a:t>
            </a:fld>
            <a:endParaRPr/>
          </a:p>
        </p:txBody>
      </p:sp>
      <p:sp>
        <p:nvSpPr>
          <p:cNvPr id="379" name="Google Shape;379;p47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Solution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80" name="Google Shape;380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7650" y="1086300"/>
            <a:ext cx="4683724" cy="33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8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86" name="Google Shape;386;p4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8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59</a:t>
            </a:fld>
            <a:endParaRPr/>
          </a:p>
        </p:txBody>
      </p:sp>
      <p:sp>
        <p:nvSpPr>
          <p:cNvPr id="389" name="Google Shape;389;p48"/>
          <p:cNvSpPr txBox="1"/>
          <p:nvPr/>
        </p:nvSpPr>
        <p:spPr>
          <a:xfrm>
            <a:off x="310900" y="1086300"/>
            <a:ext cx="10497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 :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0" name="Google Shape;390;p48" title="Screen Recording 2025-08-18 142703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13000" y="1167384"/>
            <a:ext cx="6915689" cy="1707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9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96" name="Google Shape;396;p4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9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60</a:t>
            </a:fld>
            <a:endParaRPr/>
          </a:p>
        </p:txBody>
      </p:sp>
      <p:grpSp>
        <p:nvGrpSpPr>
          <p:cNvPr id="399" name="Google Shape;399;p49"/>
          <p:cNvGrpSpPr/>
          <p:nvPr/>
        </p:nvGrpSpPr>
        <p:grpSpPr>
          <a:xfrm>
            <a:off x="310894" y="1014975"/>
            <a:ext cx="6003496" cy="2934425"/>
            <a:chOff x="310900" y="1014975"/>
            <a:chExt cx="5656205" cy="2934425"/>
          </a:xfrm>
        </p:grpSpPr>
        <p:sp>
          <p:nvSpPr>
            <p:cNvPr id="400" name="Google Shape;400;p49"/>
            <p:cNvSpPr txBox="1"/>
            <p:nvPr/>
          </p:nvSpPr>
          <p:spPr>
            <a:xfrm>
              <a:off x="310900" y="1014975"/>
              <a:ext cx="5139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2.    Passing an Argument to an Event Handler</a:t>
              </a:r>
              <a:endParaRPr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01" name="Google Shape;401;p49"/>
            <p:cNvSpPr txBox="1"/>
            <p:nvPr/>
          </p:nvSpPr>
          <p:spPr>
            <a:xfrm>
              <a:off x="310905" y="1725200"/>
              <a:ext cx="5656200" cy="222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Task :</a:t>
              </a:r>
              <a:endParaRPr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lvl="0" indent="-31750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273239"/>
                </a:buClr>
                <a:buSzPts val="1400"/>
                <a:buChar char="●"/>
              </a:pPr>
              <a:r>
                <a:rPr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Create a </a:t>
              </a: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Product</a:t>
              </a:r>
              <a:r>
                <a:rPr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 component that receives a </a:t>
              </a: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name</a:t>
              </a:r>
              <a:r>
                <a:rPr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 prop. The component should render the product name and a "Buy" button. When the "Buy" button is clicked, an alert should pop up saying "You bought a </a:t>
              </a: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[product name]</a:t>
              </a:r>
              <a:r>
                <a:rPr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!", using the name passed in via props.</a:t>
              </a:r>
              <a:endParaRPr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91440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endParaRPr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0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7" name="Google Shape;407;p5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5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61</a:t>
            </a:fld>
            <a:endParaRPr/>
          </a:p>
        </p:txBody>
      </p:sp>
      <p:grpSp>
        <p:nvGrpSpPr>
          <p:cNvPr id="410" name="Google Shape;410;p50"/>
          <p:cNvGrpSpPr/>
          <p:nvPr/>
        </p:nvGrpSpPr>
        <p:grpSpPr>
          <a:xfrm>
            <a:off x="310894" y="1014975"/>
            <a:ext cx="6003496" cy="1465925"/>
            <a:chOff x="310900" y="1014975"/>
            <a:chExt cx="5656205" cy="1465925"/>
          </a:xfrm>
        </p:grpSpPr>
        <p:sp>
          <p:nvSpPr>
            <p:cNvPr id="411" name="Google Shape;411;p50"/>
            <p:cNvSpPr txBox="1"/>
            <p:nvPr/>
          </p:nvSpPr>
          <p:spPr>
            <a:xfrm>
              <a:off x="310900" y="1014975"/>
              <a:ext cx="5139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Solution: </a:t>
              </a:r>
              <a:endPara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12" name="Google Shape;412;p50"/>
            <p:cNvSpPr txBox="1"/>
            <p:nvPr/>
          </p:nvSpPr>
          <p:spPr>
            <a:xfrm>
              <a:off x="310905" y="1725200"/>
              <a:ext cx="5656200" cy="75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91440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endParaRPr sz="1100">
                <a:solidFill>
                  <a:schemeClr val="dk1"/>
                </a:solidFill>
              </a:endParaRPr>
            </a:p>
          </p:txBody>
        </p:sp>
      </p:grpSp>
      <p:pic>
        <p:nvPicPr>
          <p:cNvPr id="413" name="Google Shape;41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375" y="1347425"/>
            <a:ext cx="5469574" cy="358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1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Coding Questions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9" name="Google Shape;419;p5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5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62</a:t>
            </a:fld>
            <a:endParaRPr/>
          </a:p>
        </p:txBody>
      </p:sp>
      <p:grpSp>
        <p:nvGrpSpPr>
          <p:cNvPr id="422" name="Google Shape;422;p51"/>
          <p:cNvGrpSpPr/>
          <p:nvPr/>
        </p:nvGrpSpPr>
        <p:grpSpPr>
          <a:xfrm>
            <a:off x="310894" y="1014975"/>
            <a:ext cx="6003496" cy="1064225"/>
            <a:chOff x="310900" y="1014975"/>
            <a:chExt cx="5656205" cy="1064225"/>
          </a:xfrm>
        </p:grpSpPr>
        <p:sp>
          <p:nvSpPr>
            <p:cNvPr id="423" name="Google Shape;423;p51"/>
            <p:cNvSpPr txBox="1"/>
            <p:nvPr/>
          </p:nvSpPr>
          <p:spPr>
            <a:xfrm>
              <a:off x="310900" y="1014975"/>
              <a:ext cx="5139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Output: </a:t>
              </a:r>
              <a:endPara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424" name="Google Shape;424;p51"/>
            <p:cNvSpPr txBox="1"/>
            <p:nvPr/>
          </p:nvSpPr>
          <p:spPr>
            <a:xfrm>
              <a:off x="310905" y="1725200"/>
              <a:ext cx="5656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91440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endParaRPr sz="1100">
                <a:solidFill>
                  <a:schemeClr val="dk1"/>
                </a:solidFill>
              </a:endParaRPr>
            </a:p>
          </p:txBody>
        </p:sp>
      </p:grpSp>
      <p:pic>
        <p:nvPicPr>
          <p:cNvPr id="425" name="Google Shape;425;p51" title="Screen Recording 2025-08-18 142952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4125" y="1427825"/>
            <a:ext cx="6190650" cy="18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2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0" name="Google Shape;410;p5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52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chemeClr val="dk1"/>
                </a:solidFill>
              </a:rPr>
              <a:t>  </a:t>
            </a:r>
            <a:r>
              <a:rPr lang="en" sz="13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a "controlled component" in React?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2" name="Google Shape;412;p52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A component that cannot be changed by the user.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b) An input form element whose value is controlled by React state.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c) A component that can only be used once in an application.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d) An input form element that manages its own state internally in the DOM.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13" name="Google Shape;413;p5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63</a:t>
            </a:fld>
            <a:endParaRPr/>
          </a:p>
        </p:txBody>
      </p:sp>
      <p:sp>
        <p:nvSpPr>
          <p:cNvPr id="415" name="Google Shape;415;p52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 input form element whose value is controlled by React state.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16" name="Google Shape;416;p52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417" name="Google Shape;417;p52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18" name="Google Shape;418;p52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In a controlled component, React's state is the "single source of truth." The input's </a:t>
              </a:r>
              <a:r>
                <a:rPr lang="en" sz="1100" i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value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is driven by a state variable, and changes are handled by a function that updates that state.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3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4" name="Google Shape;424;p5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3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chemeClr val="dk1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Which event handler is typically used on a form input to update its state as the </a:t>
            </a:r>
            <a:endParaRPr sz="13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user types?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6" name="Google Shape;426;p53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onClick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b) onSubmit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c) onChange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d) onHover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7" name="Google Shape;427;p5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64</a:t>
            </a:fld>
            <a:endParaRPr/>
          </a:p>
        </p:txBody>
      </p:sp>
      <p:sp>
        <p:nvSpPr>
          <p:cNvPr id="429" name="Google Shape;429;p53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onChange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30" name="Google Shape;430;p53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431" name="Google Shape;431;p53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32" name="Google Shape;432;p53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The </a:t>
              </a:r>
              <a:r>
                <a:rPr lang="en" sz="11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onChange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event fires every time the value of the input element changes, allowing you to capture user input in real-time and update the component's state.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4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8" name="Google Shape;438;p5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54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chemeClr val="dk1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 a controlled input, which two props are essential for connecting it to the React </a:t>
            </a:r>
            <a:endParaRPr sz="13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state?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3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0" name="Google Shape;440;p54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name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b)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value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onChange</a:t>
            </a:r>
            <a:endParaRPr sz="11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c)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type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placeholder</a:t>
            </a:r>
            <a:endParaRPr sz="11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d)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state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setState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1" name="Google Shape;441;p5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65</a:t>
            </a:fld>
            <a:endParaRPr/>
          </a:p>
        </p:txBody>
      </p:sp>
      <p:sp>
        <p:nvSpPr>
          <p:cNvPr id="443" name="Google Shape;443;p54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value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onChange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44" name="Google Shape;444;p54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445" name="Google Shape;445;p54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46" name="Google Shape;446;p54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The</a:t>
              </a:r>
              <a:r>
                <a:rPr lang="en" sz="11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value 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prop sets the input's current display value from the React state, and the </a:t>
              </a:r>
              <a:r>
                <a:rPr lang="en" sz="11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onChange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prop provides the function to update that state when the user types.</a:t>
              </a:r>
              <a:endParaRPr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6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6" name="Google Shape;466;p5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6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chemeClr val="dk1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Why must you call </a:t>
            </a:r>
            <a:r>
              <a:rPr lang="en" sz="1300" b="1" i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event.preventDefault()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 a form's </a:t>
            </a:r>
            <a:r>
              <a:rPr lang="en" sz="1300" b="1" i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onSubmit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handler?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8" name="Google Shape;468;p56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a) To validate the form's data.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b) To prevent the browser's default behavior of reloading the page when a form is submitted.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c) To clear the input fields after submission.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d) To send the form data to a server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9" name="Google Shape;469;p5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66</a:t>
            </a:fld>
            <a:endParaRPr/>
          </a:p>
        </p:txBody>
      </p:sp>
      <p:sp>
        <p:nvSpPr>
          <p:cNvPr id="471" name="Google Shape;471;p56"/>
          <p:cNvSpPr txBox="1"/>
          <p:nvPr/>
        </p:nvSpPr>
        <p:spPr>
          <a:xfrm>
            <a:off x="310950" y="3298857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 prevent the browser's default behavior of reloading the page when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a form is submitted. </a:t>
            </a:r>
            <a:endParaRPr sz="11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72" name="Google Shape;472;p56"/>
          <p:cNvGrpSpPr/>
          <p:nvPr/>
        </p:nvGrpSpPr>
        <p:grpSpPr>
          <a:xfrm>
            <a:off x="310900" y="3959263"/>
            <a:ext cx="6005825" cy="938113"/>
            <a:chOff x="310900" y="3959263"/>
            <a:chExt cx="6005825" cy="938113"/>
          </a:xfrm>
        </p:grpSpPr>
        <p:sp>
          <p:nvSpPr>
            <p:cNvPr id="473" name="Google Shape;473;p56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74" name="Google Shape;474;p56"/>
            <p:cNvSpPr txBox="1"/>
            <p:nvPr/>
          </p:nvSpPr>
          <p:spPr>
            <a:xfrm>
              <a:off x="1607925" y="3959275"/>
              <a:ext cx="4708800" cy="93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By default, submitting an HTML form triggers a full-page navigation. </a:t>
              </a:r>
              <a:r>
                <a:rPr lang="en" sz="11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event.preventDefault()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stops this, allowing you to handle the form data within your React application using JavaScript.</a:t>
              </a:r>
              <a:endParaRPr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2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1" name="Google Shape;431;p5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2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rgbClr val="273239"/>
                </a:solidFill>
              </a:rPr>
              <a:t> 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How are event handlers named in JSX?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0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3" name="Google Shape;433;p52"/>
          <p:cNvSpPr txBox="1"/>
          <p:nvPr/>
        </p:nvSpPr>
        <p:spPr>
          <a:xfrm>
            <a:off x="310900" y="1748350"/>
            <a:ext cx="8084700" cy="1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a) Using lowercase, like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onclick.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b) Using uppercase, like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ONCLICK.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c) Using camelCase, like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onClick.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d) Using kebab-case, like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on-click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4" name="Google Shape;434;p5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67</a:t>
            </a:fld>
            <a:endParaRPr/>
          </a:p>
        </p:txBody>
      </p:sp>
      <p:sp>
        <p:nvSpPr>
          <p:cNvPr id="436" name="Google Shape;436;p52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 c)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Using camelCase, like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onClick.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37" name="Google Shape;437;p52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438" name="Google Shape;438;p52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273239"/>
                </a:solidFill>
              </a:endParaRPr>
            </a:p>
          </p:txBody>
        </p:sp>
        <p:sp>
          <p:nvSpPr>
            <p:cNvPr id="439" name="Google Shape;439;p52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IReact normalizes event names to a camelCase convention (e.g., </a:t>
              </a:r>
              <a:r>
                <a:rPr lang="en" sz="1100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onmouseover</a:t>
              </a:r>
              <a:r>
                <a:rPr lang="en" sz="11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 becomes </a:t>
              </a:r>
              <a:r>
                <a:rPr lang="en" sz="1100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onMouseOver</a:t>
              </a:r>
              <a:r>
                <a:rPr lang="en" sz="11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, </a:t>
              </a:r>
              <a:r>
                <a:rPr lang="en" sz="1100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onclick</a:t>
              </a:r>
              <a:r>
                <a:rPr lang="en" sz="11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 becomes </a:t>
              </a:r>
              <a:r>
                <a:rPr lang="en" sz="1100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onClick</a:t>
              </a:r>
              <a:r>
                <a:rPr lang="en" sz="11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).</a:t>
              </a:r>
              <a:endParaRPr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3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5" name="Google Shape;445;p5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3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rgbClr val="273239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a Synthetic Event in React?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30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7" name="Google Shape;447;p53"/>
          <p:cNvSpPr txBox="1"/>
          <p:nvPr/>
        </p:nvSpPr>
        <p:spPr>
          <a:xfrm>
            <a:off x="310900" y="1748350"/>
            <a:ext cx="8084700" cy="1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a) An event that is created by a user manually.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b) A cross-browser wrapper around the browser's native event object.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An event that only works in class components.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d) A performance--blocking event.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8" name="Google Shape;448;p5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68</a:t>
            </a:fld>
            <a:endParaRPr/>
          </a:p>
        </p:txBody>
      </p:sp>
      <p:sp>
        <p:nvSpPr>
          <p:cNvPr id="450" name="Google Shape;450;p53"/>
          <p:cNvSpPr txBox="1"/>
          <p:nvPr/>
        </p:nvSpPr>
        <p:spPr>
          <a:xfrm>
            <a:off x="310950" y="3313725"/>
            <a:ext cx="6260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b) A cross-browser wrapper around the browser's native event object.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51" name="Google Shape;451;p53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452" name="Google Shape;452;p53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273239"/>
                </a:solidFill>
              </a:endParaRPr>
            </a:p>
          </p:txBody>
        </p:sp>
        <p:sp>
          <p:nvSpPr>
            <p:cNvPr id="453" name="Google Shape;453;p53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React uses Synthetic Events to smooth out differences in event handling across various browsers, providing a consistent API for developers.</a:t>
              </a:r>
              <a:endParaRPr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4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9" name="Google Shape;459;p5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54"/>
          <p:cNvSpPr txBox="1"/>
          <p:nvPr/>
        </p:nvSpPr>
        <p:spPr>
          <a:xfrm>
            <a:off x="310900" y="1228825"/>
            <a:ext cx="8161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rgbClr val="273239"/>
                </a:solidFill>
              </a:rPr>
              <a:t>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Which is the correct way to pass a reference to a function handleClick to a button's onClick handler?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1" name="Google Shape;461;p54"/>
          <p:cNvSpPr txBox="1"/>
          <p:nvPr/>
        </p:nvSpPr>
        <p:spPr>
          <a:xfrm>
            <a:off x="310900" y="1748350"/>
            <a:ext cx="8084700" cy="15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a) &lt;button onClick={handleClick()}&gt;Click Me&lt;/button&gt; 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b) &lt;button onClick="handleClick"&gt;Click Me&lt;/button&gt; 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c) &lt;button onClick={handleClick}&gt;Click Me&lt;/button&gt; 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d) &lt;button onClick={new handleClick()}&gt;Click Me&lt;/button&gt;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2" name="Google Shape;462;p5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69</a:t>
            </a:fld>
            <a:endParaRPr/>
          </a:p>
        </p:txBody>
      </p:sp>
      <p:sp>
        <p:nvSpPr>
          <p:cNvPr id="464" name="Google Shape;464;p54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c) &lt;button onClick={handleClick}&gt;Click Me&lt;/button&gt;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65" name="Google Shape;465;p54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466" name="Google Shape;466;p54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273239"/>
                </a:solidFill>
              </a:endParaRPr>
            </a:p>
          </p:txBody>
        </p:sp>
        <p:sp>
          <p:nvSpPr>
            <p:cNvPr id="467" name="Google Shape;467;p54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You must pass the function reference itself, not the result of calling the function. </a:t>
              </a:r>
              <a:r>
                <a:rPr lang="en" sz="1100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handleClick()</a:t>
              </a:r>
              <a:r>
                <a:rPr lang="en" sz="11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 would execute the function immediately on render, not when the button is clicked.</a:t>
              </a:r>
              <a:endParaRPr sz="11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5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3" name="Google Shape;473;p5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55"/>
          <p:cNvSpPr txBox="1"/>
          <p:nvPr/>
        </p:nvSpPr>
        <p:spPr>
          <a:xfrm>
            <a:off x="310900" y="1228825"/>
            <a:ext cx="8161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rgbClr val="273239"/>
                </a:solidFill>
              </a:rPr>
              <a:t>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How do you pass an argument, like an id, to an event handler function handleItemClick in JSX?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8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5" name="Google Shape;475;p55"/>
          <p:cNvSpPr txBox="1"/>
          <p:nvPr/>
        </p:nvSpPr>
        <p:spPr>
          <a:xfrm>
            <a:off x="310900" y="1748350"/>
            <a:ext cx="8084700" cy="15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a) &lt;button onClick={handleItemClick(id)}&gt;Click&lt;/button&gt; 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b) &lt;button onClick={() =&gt; handleItemClick(id)}&gt;Click&lt;/button&gt; 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c) &lt;button onClick={handleItemClick} id={id}&gt;Click&lt;/button&gt; 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d) &lt;button onClick={handleItemClick.id(id)}&gt;Click&lt;/button&gt;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6" name="Google Shape;476;p55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70</a:t>
            </a:fld>
            <a:endParaRPr/>
          </a:p>
        </p:txBody>
      </p:sp>
      <p:sp>
        <p:nvSpPr>
          <p:cNvPr id="478" name="Google Shape;478;p55"/>
          <p:cNvSpPr txBox="1"/>
          <p:nvPr/>
        </p:nvSpPr>
        <p:spPr>
          <a:xfrm>
            <a:off x="310950" y="3313725"/>
            <a:ext cx="626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b) &lt;button onClick={() =&gt; handleItemClick(id)}&gt;Click&lt;/button&gt; </a:t>
            </a:r>
            <a:endParaRPr sz="11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79" name="Google Shape;479;p55"/>
          <p:cNvGrpSpPr/>
          <p:nvPr/>
        </p:nvGrpSpPr>
        <p:grpSpPr>
          <a:xfrm>
            <a:off x="310900" y="3959263"/>
            <a:ext cx="6005825" cy="1006513"/>
            <a:chOff x="310900" y="3959263"/>
            <a:chExt cx="6005825" cy="1006513"/>
          </a:xfrm>
        </p:grpSpPr>
        <p:sp>
          <p:nvSpPr>
            <p:cNvPr id="480" name="Google Shape;480;p55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273239"/>
                </a:solidFill>
              </a:endParaRPr>
            </a:p>
          </p:txBody>
        </p:sp>
        <p:sp>
          <p:nvSpPr>
            <p:cNvPr id="481" name="Google Shape;481;p55"/>
            <p:cNvSpPr txBox="1"/>
            <p:nvPr/>
          </p:nvSpPr>
          <p:spPr>
            <a:xfrm>
              <a:off x="1607925" y="3959275"/>
              <a:ext cx="4708800" cy="100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2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The most common way is to use an inline arrow function. This creates a new function that, when called by the </a:t>
              </a:r>
              <a:r>
                <a:rPr lang="en" sz="1200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onClick</a:t>
              </a:r>
              <a:r>
                <a:rPr lang="en" sz="12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 event, will then execute your handler with the specified argument.</a:t>
              </a:r>
              <a:endParaRPr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6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7" name="Google Shape;487;p5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6"/>
          <p:cNvSpPr txBox="1"/>
          <p:nvPr/>
        </p:nvSpPr>
        <p:spPr>
          <a:xfrm>
            <a:off x="310900" y="1228825"/>
            <a:ext cx="8161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 b="1">
                <a:solidFill>
                  <a:srgbClr val="273239"/>
                </a:solidFill>
              </a:rPr>
              <a:t>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Why is event binding necessary in class components (when not using arrow functions for methods)?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9" name="Google Shape;489;p56"/>
          <p:cNvSpPr txBox="1"/>
          <p:nvPr/>
        </p:nvSpPr>
        <p:spPr>
          <a:xfrm>
            <a:off x="310900" y="1748350"/>
            <a:ext cx="8084700" cy="17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a) To improve performance. 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b) To ensure that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keyword inside the event handler method correctly refers to the component instance. 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c) To pass props to the event handler. 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d) It is not necessary; it is an optional practice.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90" name="Google Shape;490;p56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71</a:t>
            </a:fld>
            <a:endParaRPr/>
          </a:p>
        </p:txBody>
      </p:sp>
      <p:sp>
        <p:nvSpPr>
          <p:cNvPr id="492" name="Google Shape;492;p56"/>
          <p:cNvSpPr txBox="1"/>
          <p:nvPr/>
        </p:nvSpPr>
        <p:spPr>
          <a:xfrm>
            <a:off x="310950" y="3313725"/>
            <a:ext cx="6260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b) To ensure that </a:t>
            </a:r>
            <a:r>
              <a:rPr lang="en" sz="1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keyword inside the event handler method correctly refers to the component instance.  </a:t>
            </a:r>
            <a:endParaRPr sz="11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93" name="Google Shape;493;p56"/>
          <p:cNvGrpSpPr/>
          <p:nvPr/>
        </p:nvGrpSpPr>
        <p:grpSpPr>
          <a:xfrm>
            <a:off x="310900" y="3959263"/>
            <a:ext cx="6005825" cy="1006513"/>
            <a:chOff x="310900" y="3959263"/>
            <a:chExt cx="6005825" cy="1006513"/>
          </a:xfrm>
        </p:grpSpPr>
        <p:sp>
          <p:nvSpPr>
            <p:cNvPr id="494" name="Google Shape;494;p56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273239"/>
                </a:solidFill>
              </a:endParaRPr>
            </a:p>
          </p:txBody>
        </p:sp>
        <p:sp>
          <p:nvSpPr>
            <p:cNvPr id="495" name="Google Shape;495;p56"/>
            <p:cNvSpPr txBox="1"/>
            <p:nvPr/>
          </p:nvSpPr>
          <p:spPr>
            <a:xfrm>
              <a:off x="1607925" y="3959275"/>
              <a:ext cx="4708800" cy="100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2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 In JavaScript classes, methods are not bound to the instance by default. When passed as an event handler, the </a:t>
              </a:r>
              <a:r>
                <a:rPr lang="en" sz="1200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this</a:t>
              </a:r>
              <a:r>
                <a:rPr lang="en" sz="1200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 context is lost. Binding in the constructor (or using a class field arrow function) solves this.</a:t>
              </a:r>
              <a:endParaRPr sz="12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7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0" name="Google Shape;480;p5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7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lang="en" sz="1100" b="1">
                <a:solidFill>
                  <a:schemeClr val="dk1"/>
                </a:solidFill>
              </a:rPr>
              <a:t>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lang="en" sz="1100" i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lang="en" sz="1100" b="1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https://react.dev/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2" name="Google Shape;482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72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58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488" name="Google Shape;488;p58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8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490" name="Google Shape;490;p58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491" name="Google Shape;491;p58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492" name="Google Shape;492;p58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3" name="Google Shape;493;p58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494" name="Google Shape;494;p58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58"/>
          <p:cNvSpPr txBox="1">
            <a:spLocks noGrp="1"/>
          </p:cNvSpPr>
          <p:nvPr>
            <p:ph type="sldNum" idx="12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73</a:t>
            </a:fld>
            <a:endParaRPr/>
          </a:p>
        </p:txBody>
      </p:sp>
      <p:sp>
        <p:nvSpPr>
          <p:cNvPr id="496" name="Google Shape;496;p58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97" name="Google Shape;497;p58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3737</Words>
  <Application>Microsoft Office PowerPoint</Application>
  <PresentationFormat>On-screen Show (16:9)</PresentationFormat>
  <Paragraphs>500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7" baseType="lpstr">
      <vt:lpstr>Roboto Slab</vt:lpstr>
      <vt:lpstr>Poppins</vt:lpstr>
      <vt:lpstr>Arial</vt:lpstr>
      <vt:lpstr>Simple Light</vt:lpstr>
      <vt:lpstr>PowerPoint Presentation</vt:lpstr>
      <vt:lpstr>|  Table of Contents</vt:lpstr>
      <vt:lpstr>|  </vt:lpstr>
      <vt:lpstr>|  </vt:lpstr>
      <vt:lpstr>| Controlled Components</vt:lpstr>
      <vt:lpstr>| Example : Controlled Components</vt:lpstr>
      <vt:lpstr>| Controlled Components</vt:lpstr>
      <vt:lpstr>| Uncontrolled Components</vt:lpstr>
      <vt:lpstr>| Uncontrolled Components</vt:lpstr>
      <vt:lpstr>| Uncontrolled Components</vt:lpstr>
      <vt:lpstr>| Uncontrolled Components</vt:lpstr>
      <vt:lpstr>|  </vt:lpstr>
      <vt:lpstr>|  </vt:lpstr>
      <vt:lpstr>| Handling Forms in React</vt:lpstr>
      <vt:lpstr>| The Three Steps of a Controlled Input : Handling Forms</vt:lpstr>
      <vt:lpstr>| The Three Steps of a Controlled Input : Handling Forms</vt:lpstr>
      <vt:lpstr>| The Three Steps of a Controlled Input : Handling Forms</vt:lpstr>
      <vt:lpstr>| Would you board a plane without the staff checking your      ticket and passport first?</vt:lpstr>
      <vt:lpstr>| Would you board a plane without the staff checking your      ticket and passport first?</vt:lpstr>
      <vt:lpstr>| Form Validation</vt:lpstr>
      <vt:lpstr>| Types Of Form Validation</vt:lpstr>
      <vt:lpstr>| Common Validation Rules</vt:lpstr>
      <vt:lpstr>| Form Submission</vt:lpstr>
      <vt:lpstr>| React Form Submission Steps</vt:lpstr>
      <vt:lpstr>| React Form Submission Steps</vt:lpstr>
      <vt:lpstr>| React Form Submission Steps</vt:lpstr>
      <vt:lpstr>| Example : Form Validation &amp; Submission</vt:lpstr>
      <vt:lpstr>| When you’re watching TV, do you get up every time you         want to change the channel, or do you use a remote?</vt:lpstr>
      <vt:lpstr>| When you’re watching TV, do you get up every time you         want to change the channel, or do you use a remote?</vt:lpstr>
      <vt:lpstr>|  </vt:lpstr>
      <vt:lpstr>|  </vt:lpstr>
      <vt:lpstr>| Syntax Difference : CamelCase</vt:lpstr>
      <vt:lpstr>| Defining and Passing a Handler</vt:lpstr>
      <vt:lpstr>| Inline Arrow Functions</vt:lpstr>
      <vt:lpstr>| Common React Events</vt:lpstr>
      <vt:lpstr>| Example: Input Handling with onChange</vt:lpstr>
      <vt:lpstr>| JSX vs HTML Comparison</vt:lpstr>
      <vt:lpstr>|  </vt:lpstr>
      <vt:lpstr>|  </vt:lpstr>
      <vt:lpstr>| The Solution: SyntheticEvent</vt:lpstr>
      <vt:lpstr>| Example: Handling Synthetic Events</vt:lpstr>
      <vt:lpstr>|  Properties of SyntheticEvent</vt:lpstr>
      <vt:lpstr>| preventDefault Example</vt:lpstr>
      <vt:lpstr>| Quick Comparison</vt:lpstr>
      <vt:lpstr>| Imagine you have 5 buttons, each saying ‘Delete’. How do you know which item to delete when a button is clicked?</vt:lpstr>
      <vt:lpstr>| Imagine you have 5 buttons, each saying ‘Delete’. How do you know which item to delete when a button is clicked?</vt:lpstr>
      <vt:lpstr>| Imagine you have 5 buttons, each saying ‘Delete’. How do you know which item to delete when a button is clicked?</vt:lpstr>
      <vt:lpstr>| Small Example</vt:lpstr>
      <vt:lpstr>| Real Use Case: Lists</vt:lpstr>
      <vt:lpstr>| Alternative Syntax</vt:lpstr>
      <vt:lpstr>| Coding Questions</vt:lpstr>
      <vt:lpstr>| Coding Questions</vt:lpstr>
      <vt:lpstr>| Coding Questions</vt:lpstr>
      <vt:lpstr>| Coding Questions</vt:lpstr>
      <vt:lpstr>| Coding Questions</vt:lpstr>
      <vt:lpstr>| Coding Questions</vt:lpstr>
      <vt:lpstr>| Coding Questions</vt:lpstr>
      <vt:lpstr>| Coding Questions</vt:lpstr>
      <vt:lpstr>| Coding Questions</vt:lpstr>
      <vt:lpstr>| Coding Questions</vt:lpstr>
      <vt:lpstr>| Coding Questions</vt:lpstr>
      <vt:lpstr>| Coding Questions</vt:lpstr>
      <vt:lpstr>| Check Your Understanding</vt:lpstr>
      <vt:lpstr>| Check Your Understanding</vt:lpstr>
      <vt:lpstr>| Check Your Understanding</vt:lpstr>
      <vt:lpstr>| Check Your Understanding</vt:lpstr>
      <vt:lpstr>| Check Your Understanding</vt:lpstr>
      <vt:lpstr>| Check Your Understanding</vt:lpstr>
      <vt:lpstr>| Check Your Understanding</vt:lpstr>
      <vt:lpstr>| Check Your Understanding</vt:lpstr>
      <vt:lpstr>| Check Your Understanding</vt:lpstr>
      <vt:lpstr>|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Love Porwal</cp:lastModifiedBy>
  <cp:revision>2</cp:revision>
  <dcterms:modified xsi:type="dcterms:W3CDTF">2026-03-17T14:29:25Z</dcterms:modified>
</cp:coreProperties>
</file>