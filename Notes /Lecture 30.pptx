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85" r:id="rId4"/>
    <p:sldId id="286" r:id="rId5"/>
    <p:sldId id="287" r:id="rId6"/>
    <p:sldId id="288" r:id="rId7"/>
    <p:sldId id="298" r:id="rId8"/>
    <p:sldId id="300" r:id="rId9"/>
    <p:sldId id="301" r:id="rId10"/>
  </p:sldIdLst>
  <p:sldSz cx="9144000" cy="5143500" type="screen16x9"/>
  <p:notesSz cx="6858000" cy="9144000"/>
  <p:embeddedFontLst>
    <p:embeddedFont>
      <p:font typeface="Poppins" panose="00000500000000000000" pitchFamily="2" charset="0"/>
      <p:regular r:id="rId12"/>
      <p:bold r:id="rId13"/>
      <p:italic r:id="rId14"/>
      <p:boldItalic r:id="rId15"/>
    </p:embeddedFont>
    <p:embeddedFont>
      <p:font typeface="Roboto Slab" pitchFamily="2" charset="0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FF80665-0E1A-4368-B3FF-FAD8A78EED8D}">
  <a:tblStyle styleId="{4FF80665-0E1A-4368-B3FF-FAD8A78EED8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3669bc41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3669bc41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3669bc41f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3669bc41f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744fe1f023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744fe1f023_0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744fe1f023_0_2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744fe1f023_0_2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744fe1f023_0_2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744fe1f023_0_2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744fe1f023_0_3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744fe1f023_0_3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744fe1f023_0_3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3744fe1f023_0_3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73669bc41f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373669bc41f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73669bc41f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373669bc41f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jpg"/><Relationship Id="rId4" Type="http://schemas.openxmlformats.org/officeDocument/2006/relationships/hyperlink" Target="http://drive.google.com/file/d/1JIPm8zf5urMpbyOWbnD-etINk6jTmJ6d/view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react.dev/" TargetMode="External"/><Relationship Id="rId5" Type="http://schemas.openxmlformats.org/officeDocument/2006/relationships/hyperlink" Target="https://www.w3schools.com/js/" TargetMode="External"/><Relationship Id="rId4" Type="http://schemas.openxmlformats.org/officeDocument/2006/relationships/hyperlink" Target="https://developer.mozilla.org/en-US/docs/Web/JavaScript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95600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55" name="Google Shape;55;p13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4405600" y="2017650"/>
            <a:ext cx="4583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173034"/>
                </a:solidFill>
              </a:rPr>
              <a:t>Course - Web Development - II </a:t>
            </a:r>
            <a:endParaRPr sz="2400" b="1">
              <a:solidFill>
                <a:srgbClr val="173034"/>
              </a:solidFill>
            </a:endParaRPr>
          </a:p>
        </p:txBody>
      </p:sp>
      <p:grpSp>
        <p:nvGrpSpPr>
          <p:cNvPr id="57" name="Google Shape;57;p13"/>
          <p:cNvGrpSpPr/>
          <p:nvPr/>
        </p:nvGrpSpPr>
        <p:grpSpPr>
          <a:xfrm>
            <a:off x="4572000" y="4882896"/>
            <a:ext cx="1607600" cy="292500"/>
            <a:chOff x="5060775" y="4881413"/>
            <a:chExt cx="1607600" cy="292500"/>
          </a:xfrm>
        </p:grpSpPr>
        <p:sp>
          <p:nvSpPr>
            <p:cNvPr id="58" name="Google Shape;58;p13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welcome@krmangalam.edu.in</a:t>
              </a:r>
              <a:endParaRPr sz="900">
                <a:solidFill>
                  <a:schemeClr val="dk1"/>
                </a:solidFill>
              </a:endParaRPr>
            </a:p>
          </p:txBody>
        </p:sp>
        <p:pic>
          <p:nvPicPr>
            <p:cNvPr id="59" name="Google Shape;59;p13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" name="Google Shape;60;p13"/>
          <p:cNvGrpSpPr/>
          <p:nvPr/>
        </p:nvGrpSpPr>
        <p:grpSpPr>
          <a:xfrm>
            <a:off x="7229300" y="4881425"/>
            <a:ext cx="1926000" cy="292500"/>
            <a:chOff x="7229300" y="4881425"/>
            <a:chExt cx="1926000" cy="292500"/>
          </a:xfrm>
        </p:grpSpPr>
        <p:sp>
          <p:nvSpPr>
            <p:cNvPr id="61" name="Google Shape;61;p13"/>
            <p:cNvSpPr txBox="1"/>
            <p:nvPr/>
          </p:nvSpPr>
          <p:spPr>
            <a:xfrm>
              <a:off x="7326500" y="4881425"/>
              <a:ext cx="18288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accent2"/>
                  </a:solidFill>
                </a:rPr>
                <a:t>Sohna Road,Gurugram,Haryana 122103</a:t>
              </a:r>
              <a:endParaRPr sz="700">
                <a:solidFill>
                  <a:schemeClr val="accent2"/>
                </a:solidFill>
              </a:endParaRPr>
            </a:p>
          </p:txBody>
        </p:sp>
        <p:pic>
          <p:nvPicPr>
            <p:cNvPr id="62" name="Google Shape;62;p13" title="location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229300" y="4965192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3" name="Google Shape;63;p13" title="Untitled (2)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042538" y="2662400"/>
            <a:ext cx="3309826" cy="2000826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grpSp>
        <p:nvGrpSpPr>
          <p:cNvPr id="65" name="Google Shape;65;p13"/>
          <p:cNvGrpSpPr/>
          <p:nvPr/>
        </p:nvGrpSpPr>
        <p:grpSpPr>
          <a:xfrm>
            <a:off x="309849" y="1203633"/>
            <a:ext cx="3415942" cy="2015352"/>
            <a:chOff x="788865" y="1515488"/>
            <a:chExt cx="4594407" cy="2239182"/>
          </a:xfrm>
        </p:grpSpPr>
        <p:sp>
          <p:nvSpPr>
            <p:cNvPr id="66" name="Google Shape;66;p13"/>
            <p:cNvSpPr txBox="1"/>
            <p:nvPr/>
          </p:nvSpPr>
          <p:spPr>
            <a:xfrm>
              <a:off x="788865" y="1515488"/>
              <a:ext cx="31977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 b="1" dirty="0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Lecture 30</a:t>
              </a:r>
              <a:r>
                <a:rPr lang="en" sz="2700" dirty="0">
                  <a:solidFill>
                    <a:schemeClr val="lt1"/>
                  </a:solidFill>
                </a:rPr>
                <a:t>:</a:t>
              </a:r>
              <a:endParaRPr sz="2200" dirty="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67" name="Google Shape;67;p13"/>
            <p:cNvSpPr txBox="1"/>
            <p:nvPr/>
          </p:nvSpPr>
          <p:spPr>
            <a:xfrm>
              <a:off x="788874" y="3319186"/>
              <a:ext cx="699001" cy="41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dirty="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-By</a:t>
              </a:r>
              <a:endParaRPr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8" name="Google Shape;68;p13"/>
            <p:cNvSpPr txBox="1"/>
            <p:nvPr/>
          </p:nvSpPr>
          <p:spPr>
            <a:xfrm>
              <a:off x="790272" y="2145213"/>
              <a:ext cx="4593000" cy="9232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lvl="0">
                <a:buClr>
                  <a:schemeClr val="dk1"/>
                </a:buClr>
                <a:buSzPts val="1100"/>
              </a:pPr>
              <a:r>
                <a:rPr lang="en-IN" sz="2400" dirty="0" err="1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useRef</a:t>
              </a:r>
              <a:r>
                <a:rPr lang="en-IN" sz="2400" dirty="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 Hook</a:t>
              </a:r>
              <a:endParaRPr sz="2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2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9" name="Google Shape;69;p13"/>
            <p:cNvSpPr txBox="1"/>
            <p:nvPr/>
          </p:nvSpPr>
          <p:spPr>
            <a:xfrm>
              <a:off x="1330896" y="3343070"/>
              <a:ext cx="3313199" cy="41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Instructor Name</a:t>
              </a:r>
              <a:endParaRPr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70" name="Google Shape;70;p13" title="png-transparent-js-react-js-logo-react-react-native-logos-icon-removebg-preview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33272" y="3518064"/>
            <a:ext cx="521207" cy="5212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>
            <a:spLocks noGrp="1"/>
          </p:cNvSpPr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Table of Contents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" name="Google Shape;76;p14"/>
          <p:cNvSpPr txBox="1">
            <a:spLocks noGrp="1"/>
          </p:cNvSpPr>
          <p:nvPr>
            <p:ph type="body" idx="1"/>
          </p:nvPr>
        </p:nvSpPr>
        <p:spPr>
          <a:xfrm>
            <a:off x="311700" y="12347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dirty="0">
                <a:solidFill>
                  <a:srgbClr val="273239"/>
                </a:solidFill>
              </a:rPr>
              <a:t>useRef for Direct DOM Manipulation.</a:t>
            </a:r>
            <a:endParaRPr dirty="0">
              <a:solidFill>
                <a:srgbClr val="273239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dirty="0">
                <a:solidFill>
                  <a:srgbClr val="273239"/>
                </a:solidFill>
              </a:rPr>
              <a:t>References.</a:t>
            </a:r>
            <a:endParaRPr dirty="0">
              <a:solidFill>
                <a:srgbClr val="273239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dirty="0">
                <a:solidFill>
                  <a:srgbClr val="273239"/>
                </a:solidFill>
              </a:rPr>
              <a:t>The End.</a:t>
            </a:r>
            <a:endParaRPr dirty="0">
              <a:solidFill>
                <a:srgbClr val="273239"/>
              </a:solidFill>
            </a:endParaRPr>
          </a:p>
        </p:txBody>
      </p:sp>
      <p:pic>
        <p:nvPicPr>
          <p:cNvPr id="77" name="Google Shape;77;p1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2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useRef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15" name="Google Shape;315;p42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4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317" name="Google Shape;317;p42"/>
          <p:cNvSpPr txBox="1"/>
          <p:nvPr/>
        </p:nvSpPr>
        <p:spPr>
          <a:xfrm>
            <a:off x="310900" y="1182675"/>
            <a:ext cx="8333400" cy="29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useRef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is a React Hook that gives you a way to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directly access and interact with DOM elements or store mutable values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that do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not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trigger a re-render when changed.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Key Uses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200"/>
              <a:buAutoNum type="arabicPeriod"/>
            </a:pPr>
            <a:r>
              <a:rPr lang="en" sz="12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Access DOM elements directly</a:t>
            </a: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(like document.getElementById, but React-friendly).</a:t>
            </a:r>
            <a:endParaRPr sz="12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200"/>
              <a:buAutoNum type="arabicPeriod"/>
            </a:pPr>
            <a:r>
              <a:rPr lang="en" sz="12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Store values across renders</a:t>
            </a: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without causing a component to update.</a:t>
            </a:r>
            <a:endParaRPr sz="12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200"/>
              <a:buAutoNum type="arabicPeriod"/>
            </a:pPr>
            <a:r>
              <a:rPr lang="en" sz="12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Keep mutable variables</a:t>
            </a: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(e.g., timers, counters) without affecting UI.</a:t>
            </a:r>
            <a:endParaRPr sz="12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Syntax : 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18" name="Google Shape;318;p42" title="carbon - 2025-08-11T171220.86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16300" y="3478500"/>
            <a:ext cx="4169301" cy="144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3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useRef : Working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24" name="Google Shape;324;p43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326" name="Google Shape;326;p43"/>
          <p:cNvSpPr txBox="1"/>
          <p:nvPr/>
        </p:nvSpPr>
        <p:spPr>
          <a:xfrm>
            <a:off x="310900" y="1203100"/>
            <a:ext cx="7470600" cy="22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useRef(initialValue) returns an object: { current: initialValue }.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The current property can be: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14400" lvl="1" indent="-3175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○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 DOM element reference.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14400" lvl="1" indent="-3175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○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Any mutable value you want to keep between renders.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1200"/>
              </a:spcBef>
              <a:spcAft>
                <a:spcPts val="1000"/>
              </a:spcAft>
              <a:buClr>
                <a:srgbClr val="273239"/>
              </a:buClr>
              <a:buSzPts val="1400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Changing current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does not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cause re-render.</a:t>
            </a:r>
            <a:endParaRPr sz="21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4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Example : useRef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32" name="Google Shape;332;p4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4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334" name="Google Shape;334;p44" title="carbon - 2025-08-11T171524.47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0900" y="885850"/>
            <a:ext cx="7470602" cy="4068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5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Output : useRef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40" name="Google Shape;340;p4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4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342" name="Google Shape;342;p45" title="Screen Recording 2025-08-11 172100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08325" y="1447675"/>
            <a:ext cx="6327350" cy="224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55"/>
          <p:cNvSpPr txBox="1">
            <a:spLocks noGrp="1"/>
          </p:cNvSpPr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52" name="Google Shape;452;p5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55"/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</a:t>
            </a:r>
            <a:r>
              <a:rPr lang="en" sz="13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en" sz="1100" b="1">
                <a:solidFill>
                  <a:schemeClr val="dk1"/>
                </a:solidFill>
              </a:rPr>
              <a:t> </a:t>
            </a:r>
            <a:r>
              <a:rPr lang="en" sz="13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What is the main purpose of the </a:t>
            </a:r>
            <a:r>
              <a:rPr lang="en" sz="1300" b="1" i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useRef</a:t>
            </a:r>
            <a:r>
              <a:rPr lang="en" sz="13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Hook in the context of forms?</a:t>
            </a:r>
            <a:endParaRPr sz="1500"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4" name="Google Shape;454;p55"/>
          <p:cNvSpPr txBox="1"/>
          <p:nvPr/>
        </p:nvSpPr>
        <p:spPr>
          <a:xfrm>
            <a:off x="310900" y="1748350"/>
            <a:ext cx="8084700" cy="16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a) To manage the component's state.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b) To create a reference to a DOM element, often used to get the value from an </a:t>
            </a:r>
            <a:r>
              <a:rPr lang="en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uncontrolled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    component.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c) To prevent the component from re-rendering.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d) To validate the form's input.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55" name="Google Shape;455;p55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5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457" name="Google Shape;457;p55"/>
          <p:cNvSpPr txBox="1"/>
          <p:nvPr/>
        </p:nvSpPr>
        <p:spPr>
          <a:xfrm>
            <a:off x="310950" y="3313725"/>
            <a:ext cx="6260400" cy="6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b) 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To create a reference to a DOM element, often used to get the value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    from an </a:t>
            </a:r>
            <a:r>
              <a:rPr lang="en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uncontrolled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component. </a:t>
            </a:r>
            <a:endParaRPr sz="11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58" name="Google Shape;458;p55"/>
          <p:cNvGrpSpPr/>
          <p:nvPr/>
        </p:nvGrpSpPr>
        <p:grpSpPr>
          <a:xfrm>
            <a:off x="310900" y="3959263"/>
            <a:ext cx="6005825" cy="938113"/>
            <a:chOff x="310900" y="3959263"/>
            <a:chExt cx="6005825" cy="938113"/>
          </a:xfrm>
        </p:grpSpPr>
        <p:sp>
          <p:nvSpPr>
            <p:cNvPr id="459" name="Google Shape;459;p55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b="1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460" name="Google Shape;460;p55"/>
            <p:cNvSpPr txBox="1"/>
            <p:nvPr/>
          </p:nvSpPr>
          <p:spPr>
            <a:xfrm>
              <a:off x="1607925" y="3959275"/>
              <a:ext cx="4708800" cy="93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 sz="1100" b="1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useRef</a:t>
              </a: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 allows you to create a direct link to a DOM node, bypassing the typical state-driven flow. For uncontrolled forms, it's the primary way to "pull" the value from the DOM when you need it (e.g., on submission).</a:t>
              </a:r>
              <a:endPara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7"/>
          <p:cNvSpPr txBox="1">
            <a:spLocks noGrp="1"/>
          </p:cNvSpPr>
          <p:nvPr>
            <p:ph type="title"/>
          </p:nvPr>
        </p:nvSpPr>
        <p:spPr>
          <a:xfrm>
            <a:off x="310896" y="21031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References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80" name="Google Shape;480;p5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57"/>
          <p:cNvSpPr txBox="1"/>
          <p:nvPr/>
        </p:nvSpPr>
        <p:spPr>
          <a:xfrm>
            <a:off x="358850" y="1181200"/>
            <a:ext cx="8520600" cy="3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MDN Web Docs</a:t>
            </a:r>
            <a:r>
              <a:rPr lang="en" sz="1100" b="1">
                <a:solidFill>
                  <a:schemeClr val="dk1"/>
                </a:solidFill>
              </a:rPr>
              <a:t> : </a:t>
            </a:r>
            <a:r>
              <a:rPr lang="en" sz="1100" i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Comprehensive and official documentation for JS.</a:t>
            </a:r>
            <a:br>
              <a:rPr lang="en" sz="1100" i="1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🔗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https://developer.mozilla.org/en-US/docs/Web/JavaScript</a:t>
            </a:r>
            <a:endParaRPr sz="1100" u="sng">
              <a:solidFill>
                <a:schemeClr val="hlink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u="sng">
              <a:solidFill>
                <a:schemeClr val="hlink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u="sng">
              <a:solidFill>
                <a:schemeClr val="hlink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u="sng">
              <a:solidFill>
                <a:schemeClr val="hlink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W3Schools – JS Tutorial : </a:t>
            </a:r>
            <a:r>
              <a:rPr lang="en" sz="1100" i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Beginner-friendly JS tutorials with examples and interactive editors.</a:t>
            </a:r>
            <a:br>
              <a:rPr lang="en" sz="1100" i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100">
                <a:solidFill>
                  <a:schemeClr val="dk1"/>
                </a:solidFill>
              </a:rPr>
              <a:t> 🔗</a:t>
            </a:r>
            <a:r>
              <a:rPr lang="en" sz="1100" u="sng">
                <a:solidFill>
                  <a:schemeClr val="hlink"/>
                </a:solidFill>
                <a:hlinkClick r:id="rId5"/>
              </a:rPr>
              <a:t> https://www.w3schools.com/js/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react.dev -</a:t>
            </a:r>
            <a:r>
              <a:rPr lang="en" sz="1100" b="1" i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100" i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comprehensive, tutorial-style website that deeply explores core React concepts, including components, state, effects, and hooks, through interactive examples and in-depth explanations.</a:t>
            </a:r>
            <a:endParaRPr sz="1100" i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🔗</a:t>
            </a:r>
            <a:r>
              <a:rPr lang="en" sz="1100" u="sng">
                <a:solidFill>
                  <a:schemeClr val="hlink"/>
                </a:solidFill>
                <a:hlinkClick r:id="rId6"/>
              </a:rPr>
              <a:t>https://react.dev/</a:t>
            </a:r>
            <a:endParaRPr sz="1100" i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2" name="Google Shape;482;p5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" name="Google Shape;487;p58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95600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488" name="Google Shape;488;p58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58"/>
          <p:cNvSpPr txBox="1"/>
          <p:nvPr/>
        </p:nvSpPr>
        <p:spPr>
          <a:xfrm>
            <a:off x="4407400" y="2020825"/>
            <a:ext cx="4636200" cy="5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173034"/>
                </a:solidFill>
              </a:rPr>
              <a:t>Course - Web Development - II</a:t>
            </a:r>
            <a:endParaRPr sz="2400" b="1">
              <a:solidFill>
                <a:srgbClr val="173034"/>
              </a:solidFill>
            </a:endParaRPr>
          </a:p>
        </p:txBody>
      </p:sp>
      <p:grpSp>
        <p:nvGrpSpPr>
          <p:cNvPr id="490" name="Google Shape;490;p58"/>
          <p:cNvGrpSpPr/>
          <p:nvPr/>
        </p:nvGrpSpPr>
        <p:grpSpPr>
          <a:xfrm>
            <a:off x="4572000" y="4881413"/>
            <a:ext cx="1607600" cy="292500"/>
            <a:chOff x="5060775" y="4881413"/>
            <a:chExt cx="1607600" cy="292500"/>
          </a:xfrm>
        </p:grpSpPr>
        <p:sp>
          <p:nvSpPr>
            <p:cNvPr id="491" name="Google Shape;491;p58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welcome@krmangalam.edu.in</a:t>
              </a:r>
              <a:endParaRPr sz="900">
                <a:solidFill>
                  <a:schemeClr val="dk1"/>
                </a:solidFill>
              </a:endParaRPr>
            </a:p>
          </p:txBody>
        </p:sp>
        <p:pic>
          <p:nvPicPr>
            <p:cNvPr id="492" name="Google Shape;492;p58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93" name="Google Shape;493;p58"/>
          <p:cNvSpPr txBox="1"/>
          <p:nvPr/>
        </p:nvSpPr>
        <p:spPr>
          <a:xfrm>
            <a:off x="7326500" y="4881425"/>
            <a:ext cx="23400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accent2"/>
                </a:solidFill>
              </a:rPr>
              <a:t>Sohna Road,Gurugram,Haryana 122103</a:t>
            </a:r>
            <a:endParaRPr sz="700">
              <a:solidFill>
                <a:schemeClr val="accent2"/>
              </a:solidFill>
            </a:endParaRPr>
          </a:p>
        </p:txBody>
      </p:sp>
      <p:pic>
        <p:nvPicPr>
          <p:cNvPr id="494" name="Google Shape;494;p58" title="location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29300" y="4959088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58"/>
          <p:cNvSpPr txBox="1">
            <a:spLocks noGrp="1"/>
          </p:cNvSpPr>
          <p:nvPr>
            <p:ph type="sldNum" idx="12"/>
          </p:nvPr>
        </p:nvSpPr>
        <p:spPr>
          <a:xfrm>
            <a:off x="8494883" y="464826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496" name="Google Shape;496;p58"/>
          <p:cNvSpPr txBox="1"/>
          <p:nvPr/>
        </p:nvSpPr>
        <p:spPr>
          <a:xfrm>
            <a:off x="1033275" y="1691650"/>
            <a:ext cx="2313000" cy="17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Thanks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For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Watching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97" name="Google Shape;497;p58" title="Untitled (2)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038344" y="2660904"/>
            <a:ext cx="3309826" cy="2000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453</Words>
  <Application>Microsoft Office PowerPoint</Application>
  <PresentationFormat>On-screen Show (16:9)</PresentationFormat>
  <Paragraphs>64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Poppins</vt:lpstr>
      <vt:lpstr>Roboto Slab</vt:lpstr>
      <vt:lpstr>Arial</vt:lpstr>
      <vt:lpstr>Simple Light</vt:lpstr>
      <vt:lpstr>PowerPoint Presentation</vt:lpstr>
      <vt:lpstr>|  Table of Contents</vt:lpstr>
      <vt:lpstr>| useRef</vt:lpstr>
      <vt:lpstr>| useRef : Working</vt:lpstr>
      <vt:lpstr>| Example : useRef</vt:lpstr>
      <vt:lpstr>| Output : useRef</vt:lpstr>
      <vt:lpstr>| Check Your Understanding</vt:lpstr>
      <vt:lpstr>|  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Love Porwal</cp:lastModifiedBy>
  <cp:revision>1</cp:revision>
  <dcterms:modified xsi:type="dcterms:W3CDTF">2026-03-17T14:04:11Z</dcterms:modified>
</cp:coreProperties>
</file>