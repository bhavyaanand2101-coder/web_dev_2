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Roboto Slab"/>
      <p:regular r:id="rId24"/>
      <p:bold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F14444-AB8C-4897-A8FD-488228BE1287}">
  <a:tblStyle styleId="{B0F14444-AB8C-4897-A8FD-488228BE128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Slab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RobotoSlab-bold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e8d49a1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e8d49a1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8d49a1f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8d49a1f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e8d49a1f5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e8d49a1f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e8d49a1f5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e8d49a1f5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8d49a1f5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e8d49a1f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51654f82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51654f82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51654f82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51654f82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51654f82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51654f82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51654f82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51654f82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e8d49a1f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e8d49a1f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e8d49a1f5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e8d49a1f5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e8d49a1f5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e8d49a1f5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e8d49a1f5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e8d49a1f5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e8d49a1f5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be8d49a1f5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e8d49a1f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be8d49a1f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e8d49a1f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e8d49a1f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e8d49a1f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e8d49a1f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react.dev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14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42538" y="2662400"/>
            <a:ext cx="3309826" cy="200082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2387863"/>
            <a:chOff x="788865" y="1515488"/>
            <a:chExt cx="4594407" cy="2387863"/>
          </a:xfrm>
        </p:grpSpPr>
        <p:sp>
          <p:nvSpPr>
            <p:cNvPr id="66" name="Google Shape;66;p13"/>
            <p:cNvSpPr txBox="1"/>
            <p:nvPr/>
          </p:nvSpPr>
          <p:spPr>
            <a:xfrm>
              <a:off x="788865" y="1515488"/>
              <a:ext cx="31977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Lecture 22</a:t>
              </a:r>
              <a:r>
                <a:rPr lang="en" sz="2700">
                  <a:solidFill>
                    <a:srgbClr val="FFFFFF"/>
                  </a:solidFill>
                </a:rPr>
                <a:t>:</a:t>
              </a:r>
              <a:endParaRPr sz="2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endParaRPr>
            </a:p>
          </p:txBody>
        </p:sp>
        <p:sp>
          <p:nvSpPr>
            <p:cNvPr id="67" name="Google Shape;67;p13"/>
            <p:cNvSpPr txBox="1"/>
            <p:nvPr/>
          </p:nvSpPr>
          <p:spPr>
            <a:xfrm>
              <a:off x="788875" y="3475300"/>
              <a:ext cx="6990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-By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8" name="Google Shape;68;p13"/>
            <p:cNvSpPr txBox="1"/>
            <p:nvPr/>
          </p:nvSpPr>
          <p:spPr>
            <a:xfrm>
              <a:off x="790272" y="2145213"/>
              <a:ext cx="45930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React Features II</a:t>
              </a:r>
              <a:endParaRPr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9" name="Google Shape;69;p13"/>
            <p:cNvSpPr txBox="1"/>
            <p:nvPr/>
          </p:nvSpPr>
          <p:spPr>
            <a:xfrm>
              <a:off x="1330896" y="3491750"/>
              <a:ext cx="33132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Instructor Name</a:t>
              </a:r>
              <a:endParaRPr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70" name="Google Shape;70;p13" title="png-transparent-js-react-js-logo-react-react-native-logos-icon-removebg-preview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33272" y="3666744"/>
            <a:ext cx="521207" cy="521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311700" y="863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One way binding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Component based (functional, class)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Default and named export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References.</a:t>
            </a:r>
            <a:endParaRPr sz="1800">
              <a:solidFill>
                <a:srgbClr val="273239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800"/>
              <a:buChar char="●"/>
            </a:pPr>
            <a:r>
              <a:rPr lang="en" sz="1800">
                <a:solidFill>
                  <a:srgbClr val="273239"/>
                </a:solidFill>
              </a:rPr>
              <a:t>The End.</a:t>
            </a:r>
            <a:endParaRPr sz="1800">
              <a:solidFill>
                <a:srgbClr val="273239"/>
              </a:solidFill>
            </a:endParaRPr>
          </a:p>
        </p:txBody>
      </p:sp>
      <p:pic>
        <p:nvPicPr>
          <p:cNvPr id="77" name="Google Shape;77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One-Way Binding</a:t>
            </a:r>
            <a:endParaRPr b="1" sz="3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4" name="Google Shape;84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337700" y="1375625"/>
            <a:ext cx="84339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One-way binding in React is a data flow pattern where state is managed in the parent component and passed down to child components through props, and the child cannot directly modify that data.</a:t>
            </a:r>
            <a:endParaRPr sz="17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" name="Google Shape;87;p15" title="carbon (19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5300" y="2271425"/>
            <a:ext cx="4967275" cy="27231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One-Way Binding</a:t>
            </a:r>
            <a:endParaRPr b="1" sz="36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3" name="Google Shape;93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pic>
        <p:nvPicPr>
          <p:cNvPr id="95" name="Google Shape;95;p16" title="carbon (20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0800" y="1213600"/>
            <a:ext cx="4742401" cy="3206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Why One-Way Binding is Good in React?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37700" y="1375625"/>
            <a:ext cx="8433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Predictable Data Flow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Easier Debugging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Better Control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Better Performance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400"/>
              <a:buFont typeface="Poppins"/>
              <a:buChar char="●"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Scalable for Large Applications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React Components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" name="Google Shape;109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337700" y="1375625"/>
            <a:ext cx="84339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React components are mainly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divided into two formats: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Class Components 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Functional Components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7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Class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Components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337700" y="1375625"/>
            <a:ext cx="8433900" cy="12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Class Component</a:t>
            </a:r>
            <a: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in React is a component written using an ES6 class. It can store state, use lifecycle methods, and render UI.</a:t>
            </a:r>
            <a:endParaRPr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A Class Component is a React component created using a JavaScript class that extends React.Component and must contain a </a:t>
            </a:r>
            <a:r>
              <a:rPr b="1"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render()</a:t>
            </a:r>
            <a: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method which returns JSX.</a:t>
            </a:r>
            <a:endParaRPr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9" title="carbon (2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3400" y="2720325"/>
            <a:ext cx="3557200" cy="22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Class Components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311700" y="1274075"/>
            <a:ext cx="7545600" cy="2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Explanation</a:t>
            </a:r>
            <a:endParaRPr b="1" i="1"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12121"/>
              </a:buClr>
              <a:buSzPts val="1400"/>
              <a:buChar char="●"/>
            </a:pPr>
            <a:r>
              <a:rPr b="1"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class Welcome extends React.Component</a:t>
            </a:r>
            <a: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→ creates a React class component</a:t>
            </a:r>
            <a:b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Char char="●"/>
            </a:pPr>
            <a:r>
              <a:rPr b="1"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render()</a:t>
            </a:r>
            <a: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→ required method that returns JSX (UI)</a:t>
            </a:r>
            <a:b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Char char="●"/>
            </a:pPr>
            <a:r>
              <a:rPr b="1"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React.Component</a:t>
            </a:r>
            <a:r>
              <a:rPr lang="en">
                <a:solidFill>
                  <a:srgbClr val="212121"/>
                </a:solidFill>
                <a:latin typeface="Poppins"/>
                <a:ea typeface="Poppins"/>
                <a:cs typeface="Poppins"/>
                <a:sym typeface="Poppins"/>
              </a:rPr>
              <a:t> → base class that provides React features like state and lifecycle methods</a:t>
            </a:r>
            <a:endParaRPr>
              <a:solidFill>
                <a:srgbClr val="21212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Key Features of Class Components</a:t>
            </a:r>
            <a:endParaRPr b="1" sz="23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4" name="Google Shape;134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6" name="Google Shape;136;p21"/>
          <p:cNvSpPr txBox="1"/>
          <p:nvPr/>
        </p:nvSpPr>
        <p:spPr>
          <a:xfrm>
            <a:off x="311700" y="1274075"/>
            <a:ext cx="7545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this.state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store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this.setState()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to update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lifecycle methods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(componentDidMount, etc.)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Must include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render()</a:t>
            </a:r>
            <a:endParaRPr b="1" i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Default Export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337700" y="1375625"/>
            <a:ext cx="84339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default export</a:t>
            </a: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means a file exports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only one main thing</a:t>
            </a: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You can import it with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any name</a:t>
            </a: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1" sz="17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22" title="carbon (1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70600"/>
            <a:ext cx="3628499" cy="14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 title="carbon (1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3850" y="2870600"/>
            <a:ext cx="3369103" cy="147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Default Export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3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37700" y="1375625"/>
            <a:ext cx="8433900" cy="20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Notice: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File exported Student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But we imported as MyStudent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Name can be anything 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Rule:</a:t>
            </a:r>
            <a:endParaRPr b="1" sz="13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100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Only one </a:t>
            </a:r>
            <a:r>
              <a:rPr b="1"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default export</a:t>
            </a: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per file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Imported without curly braces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5" name="Google Shape;155;p23" title="carbon (1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8575" y="3545200"/>
            <a:ext cx="5837130" cy="111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Named Export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1" name="Google Shape;161;p2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337700" y="1375625"/>
            <a:ext cx="84339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named export</a:t>
            </a: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allows you to export </a:t>
            </a:r>
            <a:r>
              <a:rPr b="1"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multiple things</a:t>
            </a: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 from one file.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Name must match while importing.</a:t>
            </a:r>
            <a:endParaRPr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4" name="Google Shape;164;p24" title="carbon (17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700" y="2516700"/>
            <a:ext cx="3830574" cy="204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4" title="carbon (18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6600" y="2571750"/>
            <a:ext cx="4045101" cy="187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Named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Export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1" name="Google Shape;171;p2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337700" y="1375625"/>
            <a:ext cx="8433900" cy="22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Notice:</a:t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Must use </a:t>
            </a:r>
            <a:r>
              <a:rPr b="1" lang="en" sz="1100">
                <a:solidFill>
                  <a:schemeClr val="dk1"/>
                </a:solidFill>
              </a:rPr>
              <a:t>curly braces {}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Names must match exactly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Rule:</a:t>
            </a:r>
            <a:endParaRPr b="1" sz="13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73034"/>
              </a:buClr>
              <a:buSzPts val="1100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You Can Export Multiple Things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Must Use Curly Braces While Importing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rgbClr val="173034"/>
                </a:solidFill>
                <a:latin typeface="Poppins"/>
                <a:ea typeface="Poppins"/>
                <a:cs typeface="Poppins"/>
                <a:sym typeface="Poppins"/>
              </a:rPr>
              <a:t>Import Name Must Match Exactly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3034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</a:rPr>
              <a:t>You Can Rename While Importing (Using </a:t>
            </a:r>
            <a:r>
              <a:rPr lang="en" sz="1100">
                <a:solidFill>
                  <a:srgbClr val="0097A7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1100">
                <a:solidFill>
                  <a:schemeClr val="dk1"/>
                </a:solidFill>
              </a:rPr>
              <a:t>)</a:t>
            </a:r>
            <a:endParaRPr sz="1100">
              <a:solidFill>
                <a:srgbClr val="1730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3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Default vs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391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Named Export</a:t>
            </a:r>
            <a:endParaRPr b="1" sz="3191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9" name="Google Shape;179;p2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aphicFrame>
        <p:nvGraphicFramePr>
          <p:cNvPr id="181" name="Google Shape;181;p26"/>
          <p:cNvGraphicFramePr/>
          <p:nvPr/>
        </p:nvGraphicFramePr>
        <p:xfrm>
          <a:off x="311700" y="1491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{B0F14444-AB8C-4897-A8FD-488228BE1287}</a:tableStyleId>
              </a:tblPr>
              <a:tblGrid>
                <a:gridCol w="3232800"/>
                <a:gridCol w="2309150"/>
                <a:gridCol w="2463075"/>
              </a:tblGrid>
              <a:tr h="5097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Feature</a:t>
                      </a:r>
                      <a:endParaRPr b="1"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Default Export</a:t>
                      </a:r>
                      <a:endParaRPr b="1"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Named Export</a:t>
                      </a:r>
                      <a:endParaRPr b="1"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53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How many per file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Only 1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Multiple allowed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59595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2CC"/>
                    </a:solidFill>
                  </a:tcPr>
                </a:tc>
              </a:tr>
              <a:tr h="53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Import syntax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No {}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{}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53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Name while importing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Can change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173034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Must match</a:t>
                      </a:r>
                      <a:endParaRPr>
                        <a:solidFill>
                          <a:srgbClr val="173034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7" name="Google Shape;187;p2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310900" y="1228825"/>
            <a:ext cx="8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 </a:t>
            </a:r>
            <a:r>
              <a:rPr b="1" lang="en" sz="1100">
                <a:solidFill>
                  <a:schemeClr val="dk1"/>
                </a:solidFill>
              </a:rPr>
              <a:t> If you have useEffect(() =&gt; { ... }, [count]);, when will the effect's callback function be executed?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7"/>
          <p:cNvSpPr txBox="1"/>
          <p:nvPr/>
        </p:nvSpPr>
        <p:spPr>
          <a:xfrm>
            <a:off x="310900" y="1793229"/>
            <a:ext cx="7176900" cy="18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 sz="1100">
                <a:solidFill>
                  <a:srgbClr val="000000"/>
                </a:solidFill>
              </a:rPr>
              <a:t>  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" sz="1100">
                <a:solidFill>
                  <a:schemeClr val="dk1"/>
                </a:solidFill>
              </a:rPr>
              <a:t>a) Only once, when the component mounts. </a:t>
            </a:r>
            <a:endParaRPr sz="1100">
              <a:solidFill>
                <a:schemeClr val="dk1"/>
              </a:solidFill>
            </a:endParaRPr>
          </a:p>
          <a:p>
            <a:pPr indent="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b) After every single render of the component. </a:t>
            </a:r>
            <a:endParaRPr sz="1100">
              <a:solidFill>
                <a:schemeClr val="dk1"/>
              </a:solidFill>
            </a:endParaRPr>
          </a:p>
          <a:p>
            <a:pPr indent="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c) When the component mounts, and then again anytime the </a:t>
            </a:r>
            <a:r>
              <a:rPr b="1" lang="en" sz="1100">
                <a:solidFill>
                  <a:schemeClr val="dk1"/>
                </a:solidFill>
              </a:rPr>
              <a:t>count</a:t>
            </a:r>
            <a:r>
              <a:rPr lang="en" sz="1100">
                <a:solidFill>
                  <a:schemeClr val="dk1"/>
                </a:solidFill>
              </a:rPr>
              <a:t> state variable changes. </a:t>
            </a:r>
            <a:endParaRPr sz="1100">
              <a:solidFill>
                <a:schemeClr val="dk1"/>
              </a:solidFill>
            </a:endParaRPr>
          </a:p>
          <a:p>
            <a:pPr indent="2286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d) Only when the </a:t>
            </a:r>
            <a:r>
              <a:rPr b="1" lang="en" sz="1100">
                <a:solidFill>
                  <a:schemeClr val="dk1"/>
                </a:solidFill>
              </a:rPr>
              <a:t>count</a:t>
            </a:r>
            <a:r>
              <a:rPr lang="en" sz="1100">
                <a:solidFill>
                  <a:schemeClr val="dk1"/>
                </a:solidFill>
              </a:rPr>
              <a:t> state variable changes, but not on the initial mount.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0" name="Google Shape;190;p27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92" name="Google Shape;192;p27"/>
          <p:cNvSpPr txBox="1"/>
          <p:nvPr/>
        </p:nvSpPr>
        <p:spPr>
          <a:xfrm>
            <a:off x="310900" y="3156125"/>
            <a:ext cx="624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  </a:t>
            </a:r>
            <a:r>
              <a:rPr lang="en" sz="1800">
                <a:solidFill>
                  <a:srgbClr val="595959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c) When the component mounts, and then again anytime the </a:t>
            </a:r>
            <a:r>
              <a:rPr b="1" lang="en" sz="1100">
                <a:solidFill>
                  <a:schemeClr val="dk1"/>
                </a:solidFill>
              </a:rPr>
              <a:t>count</a:t>
            </a:r>
            <a:r>
              <a:rPr lang="en" sz="1100">
                <a:solidFill>
                  <a:schemeClr val="dk1"/>
                </a:solidFill>
              </a:rPr>
              <a:t> state variable  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                       changes.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93" name="Google Shape;193;p27"/>
          <p:cNvGrpSpPr/>
          <p:nvPr/>
        </p:nvGrpSpPr>
        <p:grpSpPr>
          <a:xfrm>
            <a:off x="310900" y="3742463"/>
            <a:ext cx="6005825" cy="743413"/>
            <a:chOff x="310900" y="3742463"/>
            <a:chExt cx="6005825" cy="743413"/>
          </a:xfrm>
        </p:grpSpPr>
        <p:sp>
          <p:nvSpPr>
            <p:cNvPr id="194" name="Google Shape;194;p27"/>
            <p:cNvSpPr txBox="1"/>
            <p:nvPr/>
          </p:nvSpPr>
          <p:spPr>
            <a:xfrm>
              <a:off x="310900" y="37424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95" name="Google Shape;195;p27"/>
            <p:cNvSpPr txBox="1"/>
            <p:nvPr/>
          </p:nvSpPr>
          <p:spPr>
            <a:xfrm>
              <a:off x="1607925" y="3742475"/>
              <a:ext cx="4708800" cy="7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en" sz="1100">
                  <a:solidFill>
                    <a:schemeClr val="dk1"/>
                  </a:solidFill>
                </a:rPr>
                <a:t>The dependency array tells React to re-run the effect if any of the values inside the array have changed between renders. It always runs on the initial mount as well.</a:t>
              </a:r>
              <a:endParaRPr b="1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2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8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react.dev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comprehensive, tutorial-style website that deeply explores core React concepts, including components, state, effects, and hooks, through interactive examples and in-depth explanations.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https://react.dev/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9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209" name="Google Shape;209;p29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9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211" name="Google Shape;211;p29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212" name="Google Shape;212;p29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213" name="Google Shape;213;p29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4" name="Google Shape;214;p29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215" name="Google Shape;215;p29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9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17" name="Google Shape;217;p29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18" name="Google Shape;218;p29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