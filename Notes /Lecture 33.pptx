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6" r:id="rId9"/>
    <p:sldId id="265" r:id="rId10"/>
    <p:sldId id="271" r:id="rId11"/>
    <p:sldId id="294" r:id="rId12"/>
    <p:sldId id="295" r:id="rId1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Roboto Slab" pitchFamily="2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76f676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76f676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b76f676d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b76f676d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b76f676d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b76f676d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76f676d5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b76f676d5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b76f676d5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b76f676d5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76f676d5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76f676d5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b76f676d5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b76f676d5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EE81BD5-9416-0170-61BD-5444E607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b76f676d5_0_224:notes">
            <a:extLst>
              <a:ext uri="{FF2B5EF4-FFF2-40B4-BE49-F238E27FC236}">
                <a16:creationId xmlns:a16="http://schemas.microsoft.com/office/drawing/2014/main" id="{7B14C46F-BE23-7D6E-6C00-94835BE5E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b76f676d5_0_224:notes">
            <a:extLst>
              <a:ext uri="{FF2B5EF4-FFF2-40B4-BE49-F238E27FC236}">
                <a16:creationId xmlns:a16="http://schemas.microsoft.com/office/drawing/2014/main" id="{8A2C17DB-81C1-5954-85B0-459FFA059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6187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b76f676d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b76f676d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7d080cf1a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7d080cf1a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7b76f676d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7b76f676d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7b76f676d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7b76f676d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hyperlink" Target="https://developer.mozilla.org/en-US/docs/Web/JavaScript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 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1911275"/>
            <a:chOff x="788865" y="1515488"/>
            <a:chExt cx="4594407" cy="2387862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7497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 dirty="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33</a:t>
              </a:r>
              <a:r>
                <a:rPr lang="en" sz="2700" dirty="0">
                  <a:solidFill>
                    <a:schemeClr val="lt1"/>
                  </a:solidFill>
                </a:rPr>
                <a:t>:</a:t>
              </a:r>
              <a:endParaRPr sz="2200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692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24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Navigation</a:t>
              </a: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503196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-IN" dirty="0" err="1">
                <a:solidFill>
                  <a:srgbClr val="273239"/>
                </a:solidFill>
              </a:rPr>
              <a:t>NavLink</a:t>
            </a:r>
            <a:r>
              <a:rPr lang="en-IN" dirty="0">
                <a:solidFill>
                  <a:srgbClr val="273239"/>
                </a:solidFill>
              </a:rPr>
              <a:t> Active State (</a:t>
            </a:r>
            <a:r>
              <a:rPr lang="en-IN" dirty="0" err="1">
                <a:solidFill>
                  <a:srgbClr val="273239"/>
                </a:solidFill>
              </a:rPr>
              <a:t>isActive</a:t>
            </a:r>
            <a:r>
              <a:rPr lang="en-IN" dirty="0">
                <a:solidFill>
                  <a:srgbClr val="273239"/>
                </a:solidFill>
              </a:rPr>
              <a:t>)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-IN" dirty="0">
                <a:solidFill>
                  <a:srgbClr val="273239"/>
                </a:solidFill>
              </a:rPr>
              <a:t>Styling Active &amp; Hover Links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-IN" dirty="0" err="1">
                <a:solidFill>
                  <a:srgbClr val="273239"/>
                </a:solidFill>
              </a:rPr>
              <a:t>useNavigate</a:t>
            </a:r>
            <a:r>
              <a:rPr lang="en-IN" dirty="0">
                <a:solidFill>
                  <a:srgbClr val="273239"/>
                </a:solidFill>
              </a:rPr>
              <a:t> Hook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References.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The End.</a:t>
            </a:r>
            <a:endParaRPr dirty="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76075" y="210300"/>
            <a:ext cx="7223700" cy="160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So far, we created navigation using Link and </a:t>
            </a:r>
            <a:r>
              <a:rPr lang="en-US" sz="1900" b="1" dirty="0" err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NavLink</a:t>
            </a:r>
            <a:r>
              <a:rPr lang="en-US" sz="1900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, But how do users know which page they are currently on? Also, how can we redirect users automatically after some action like login or form submission?</a:t>
            </a:r>
            <a:endParaRPr sz="3700" b="1" dirty="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 title="Thinking face-rafiki (3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Just like on Amazon or Instagram</a:t>
            </a:r>
            <a:endParaRPr sz="3700" b="1" dirty="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76074" y="1487575"/>
            <a:ext cx="7281225" cy="191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current page is always highlighted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Sometimes, users are automatically redirected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React Router, we solve this using: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NavLink</a:t>
            </a:r>
            <a:r>
              <a:rPr lang="en-US" b="1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b="1" dirty="0" err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isActive</a:t>
            </a:r>
            <a:r>
              <a:rPr lang="en-US" b="1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) → </a:t>
            </a:r>
            <a:r>
              <a:rPr lang="en-US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highlight active link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useNavigate</a:t>
            </a:r>
            <a:r>
              <a:rPr lang="en-US" b="1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Hook </a:t>
            </a:r>
            <a:r>
              <a:rPr lang="en-US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→ To navigate programmatically</a:t>
            </a:r>
            <a:endParaRPr dirty="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 dirty="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IN" b="1" dirty="0" err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NavLink</a:t>
            </a:r>
            <a:r>
              <a:rPr lang="en-IN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Active State (</a:t>
            </a:r>
            <a:r>
              <a:rPr lang="en-IN" b="1" dirty="0" err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isActive</a:t>
            </a:r>
            <a:r>
              <a:rPr lang="en-IN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dirty="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BD7CB-78A9-A4A8-5B3A-1E7D1FE5C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54869"/>
            <a:ext cx="3999900" cy="3114005"/>
          </a:xfrm>
        </p:spPr>
        <p:txBody>
          <a:bodyPr/>
          <a:lstStyle/>
          <a:p>
            <a:pPr marL="139700" indent="0">
              <a:buNone/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NavLink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provides a way to style active links automatically.</a:t>
            </a:r>
          </a:p>
          <a:p>
            <a:pPr marL="13970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3970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3970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gives a special property: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isActive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Helps identify current route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Used to apply custom styles</a:t>
            </a:r>
          </a:p>
          <a:p>
            <a:endParaRPr lang="en-US" dirty="0"/>
          </a:p>
        </p:txBody>
      </p:sp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03" name="Google Shape;103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CE62A4-0592-B37C-5A47-98D3D1781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302" y="1454870"/>
            <a:ext cx="4142998" cy="30619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1900" b="1" dirty="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IN" sz="1900" b="1" dirty="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Hover Effect in </a:t>
            </a:r>
            <a:r>
              <a:rPr lang="en-IN" sz="1900" b="1" dirty="0" err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NavLink</a:t>
            </a:r>
            <a:endParaRPr sz="1900" b="1" dirty="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311700" y="1217218"/>
            <a:ext cx="7545600" cy="98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</a:pPr>
            <a:r>
              <a:rPr lang="en-US" b="1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We can also add hover effects to improve UI</a:t>
            </a:r>
          </a:p>
          <a:p>
            <a:pPr marL="1397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</a:pPr>
            <a:r>
              <a:rPr lang="en-US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Makes navigation more interactive</a:t>
            </a:r>
            <a:endParaRPr dirty="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311700" y="4161325"/>
            <a:ext cx="7689300" cy="74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IN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Combine hover + active → Better user experience</a:t>
            </a:r>
            <a:endParaRPr sz="2100" dirty="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5225B8-4018-D5E8-0592-127E4D279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874" y="2205150"/>
            <a:ext cx="3709113" cy="20077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 dirty="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IN" sz="2100" b="1" dirty="0" err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useNavigate</a:t>
            </a:r>
            <a:r>
              <a:rPr lang="en-IN" sz="2100" b="1" dirty="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Hook</a:t>
            </a:r>
            <a:endParaRPr sz="2100" b="1" dirty="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460916" y="1011575"/>
            <a:ext cx="7396383" cy="2594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rgbClr val="273239"/>
                </a:solidFill>
                <a:latin typeface="Poppins" panose="00000500000000000000" pitchFamily="2" charset="0"/>
                <a:ea typeface="PMingLiU-ExtB" panose="02020500000000000000" pitchFamily="18" charset="-120"/>
                <a:cs typeface="Poppins" panose="00000500000000000000" pitchFamily="2" charset="0"/>
                <a:sym typeface="Poppins"/>
              </a:rPr>
              <a:t>useNavigate</a:t>
            </a:r>
            <a:r>
              <a:rPr lang="en-US" b="1" dirty="0">
                <a:solidFill>
                  <a:srgbClr val="273239"/>
                </a:solidFill>
                <a:latin typeface="Poppins" panose="00000500000000000000" pitchFamily="2" charset="0"/>
                <a:ea typeface="PMingLiU-ExtB" panose="02020500000000000000" pitchFamily="18" charset="-120"/>
                <a:cs typeface="Poppins" panose="00000500000000000000" pitchFamily="2" charset="0"/>
                <a:sym typeface="Poppins"/>
              </a:rPr>
              <a:t> is a hook used for programmatic navigation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  <a:latin typeface="Poppins" panose="00000500000000000000" pitchFamily="2" charset="0"/>
                <a:ea typeface="PMingLiU-ExtB" panose="02020500000000000000" pitchFamily="18" charset="-120"/>
                <a:cs typeface="Poppins" panose="00000500000000000000" pitchFamily="2" charset="0"/>
                <a:sym typeface="Poppins"/>
              </a:rPr>
              <a:t>It allows navigation using JavaScript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273239"/>
              </a:solidFill>
              <a:latin typeface="Poppins" panose="00000500000000000000" pitchFamily="2" charset="0"/>
              <a:ea typeface="PMingLiU-ExtB" panose="02020500000000000000" pitchFamily="18" charset="-120"/>
              <a:cs typeface="Poppins" panose="00000500000000000000" pitchFamily="2" charset="0"/>
              <a:sym typeface="Poppins"/>
            </a:endParaRPr>
          </a:p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dirty="0">
                <a:solidFill>
                  <a:srgbClr val="273239"/>
                </a:solidFill>
                <a:latin typeface="Poppins" panose="00000500000000000000" pitchFamily="2" charset="0"/>
                <a:ea typeface="PMingLiU-ExtB" panose="02020500000000000000" pitchFamily="18" charset="-120"/>
                <a:cs typeface="Poppins" panose="00000500000000000000" pitchFamily="2" charset="0"/>
                <a:sym typeface="Poppins"/>
              </a:rPr>
              <a:t>Use Cases</a:t>
            </a:r>
            <a:r>
              <a:rPr lang="en-US" dirty="0">
                <a:solidFill>
                  <a:srgbClr val="273239"/>
                </a:solidFill>
                <a:latin typeface="Poppins" panose="00000500000000000000" pitchFamily="2" charset="0"/>
                <a:ea typeface="PMingLiU-ExtB" panose="02020500000000000000" pitchFamily="18" charset="-120"/>
                <a:cs typeface="Poppins" panose="00000500000000000000" pitchFamily="2" charset="0"/>
                <a:sym typeface="Poppins"/>
              </a:rPr>
              <a:t>: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  <a:latin typeface="Poppins" panose="00000500000000000000" pitchFamily="2" charset="0"/>
                <a:ea typeface="PMingLiU-ExtB" panose="02020500000000000000" pitchFamily="18" charset="-120"/>
                <a:cs typeface="Poppins" panose="00000500000000000000" pitchFamily="2" charset="0"/>
                <a:sym typeface="Poppins"/>
              </a:rPr>
              <a:t>After login → redirect to dashboard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  <a:latin typeface="Poppins" panose="00000500000000000000" pitchFamily="2" charset="0"/>
                <a:ea typeface="PMingLiU-ExtB" panose="02020500000000000000" pitchFamily="18" charset="-120"/>
                <a:cs typeface="Poppins" panose="00000500000000000000" pitchFamily="2" charset="0"/>
                <a:sym typeface="Poppins"/>
              </a:rPr>
              <a:t>After form submit → redirect to success page</a:t>
            </a:r>
            <a:endParaRPr dirty="0">
              <a:solidFill>
                <a:srgbClr val="273239"/>
              </a:solidFill>
              <a:latin typeface="Poppins" panose="00000500000000000000" pitchFamily="2" charset="0"/>
              <a:ea typeface="PMingLiU-ExtB" panose="02020500000000000000" pitchFamily="18" charset="-120"/>
              <a:cs typeface="Poppins" panose="000005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2E787077-EC5E-908C-7BB9-38F51985C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579B7C93-40CA-77EF-8959-26FDA384B5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 dirty="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IN" sz="2100" b="1" dirty="0" err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useNavigate</a:t>
            </a:r>
            <a:r>
              <a:rPr lang="en-IN" sz="2100" b="1" dirty="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Hook</a:t>
            </a:r>
            <a:endParaRPr sz="2100" b="1" dirty="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9" title="KRMU LOGO.png">
            <a:extLst>
              <a:ext uri="{FF2B5EF4-FFF2-40B4-BE49-F238E27FC236}">
                <a16:creationId xmlns:a16="http://schemas.microsoft.com/office/drawing/2014/main" id="{1D956308-5E65-D50E-A5F9-0E1C6AB711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F2D4C732-05D7-123A-1FB0-8FAABBDAFD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231FB5-0C26-6A26-43A8-9B3DDE7F0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621" y="892464"/>
            <a:ext cx="6331647" cy="361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0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|</a:t>
            </a:r>
            <a:r>
              <a:rPr lang="en" sz="1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" sz="1900" b="1" dirty="0">
                <a:solidFill>
                  <a:srgbClr val="073763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 </a:t>
            </a:r>
            <a:r>
              <a:rPr lang="en-IN" sz="1900" b="1" dirty="0">
                <a:solidFill>
                  <a:srgbClr val="073763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Real-Life Analogy</a:t>
            </a:r>
            <a:endParaRPr sz="1900" b="1" dirty="0">
              <a:solidFill>
                <a:srgbClr val="073763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149" name="Google Shape;149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490654" y="1234450"/>
            <a:ext cx="7838196" cy="2321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 need for Link — navigation happens via function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b="1" dirty="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Think of it like: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NavLink</a:t>
            </a:r>
            <a:r>
              <a:rPr lang="en-US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dirty="0" err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isActive</a:t>
            </a:r>
            <a:r>
              <a:rPr lang="en-US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) → Highlight current tab (like YouTube Home button)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useNavigate</a:t>
            </a:r>
            <a:r>
              <a:rPr lang="en-US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Automatic redirection (like after payment → success page)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5" name="Google Shape;205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208" name="Google Shape;208;p28"/>
          <p:cNvGrpSpPr/>
          <p:nvPr/>
        </p:nvGrpSpPr>
        <p:grpSpPr>
          <a:xfrm>
            <a:off x="468351" y="1014975"/>
            <a:ext cx="5846039" cy="3320566"/>
            <a:chOff x="459248" y="1014975"/>
            <a:chExt cx="5507857" cy="3320566"/>
          </a:xfrm>
        </p:grpSpPr>
        <p:sp>
          <p:nvSpPr>
            <p:cNvPr id="209" name="Google Shape;209;p28"/>
            <p:cNvSpPr txBox="1"/>
            <p:nvPr/>
          </p:nvSpPr>
          <p:spPr>
            <a:xfrm>
              <a:off x="459248" y="1014975"/>
              <a:ext cx="4990652" cy="1523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b="1" dirty="0">
                  <a:latin typeface="Poppins" panose="00000500000000000000" pitchFamily="2" charset="0"/>
                  <a:cs typeface="Poppins" panose="00000500000000000000" pitchFamily="2" charset="0"/>
                </a:rPr>
                <a:t>Create a navbar with:</a:t>
              </a:r>
            </a:p>
            <a:p>
              <a:endParaRPr lang="en-US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lvl="2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 panose="00000500000000000000" pitchFamily="2" charset="0"/>
                  <a:cs typeface="Poppins" panose="00000500000000000000" pitchFamily="2" charset="0"/>
                </a:rPr>
                <a:t>Home</a:t>
              </a:r>
            </a:p>
            <a:p>
              <a:pPr marL="285750" lvl="2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 panose="00000500000000000000" pitchFamily="2" charset="0"/>
                  <a:cs typeface="Poppins" panose="00000500000000000000" pitchFamily="2" charset="0"/>
                </a:rPr>
                <a:t>About</a:t>
              </a:r>
            </a:p>
            <a:p>
              <a:pPr marL="285750" lvl="2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 panose="00000500000000000000" pitchFamily="2" charset="0"/>
                  <a:cs typeface="Poppins" panose="00000500000000000000" pitchFamily="2" charset="0"/>
                </a:rPr>
                <a:t>Contact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b="1" dirty="0">
                <a:solidFill>
                  <a:srgbClr val="273239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endParaRPr>
            </a:p>
          </p:txBody>
        </p:sp>
        <p:sp>
          <p:nvSpPr>
            <p:cNvPr id="210" name="Google Shape;210;p28"/>
            <p:cNvSpPr txBox="1"/>
            <p:nvPr/>
          </p:nvSpPr>
          <p:spPr>
            <a:xfrm>
              <a:off x="459248" y="1888748"/>
              <a:ext cx="5507857" cy="2446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" b="1" dirty="0">
                <a:solidFill>
                  <a:srgbClr val="273239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endParaRPr>
            </a:p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" b="1" dirty="0">
                <a:solidFill>
                  <a:srgbClr val="273239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endParaRPr>
            </a:p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rgbClr val="273239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Task :</a:t>
              </a:r>
            </a:p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rgbClr val="273239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	</a:t>
              </a:r>
              <a:endParaRPr lang="en" b="1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endParaRPr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Poppins" panose="00000500000000000000" pitchFamily="2" charset="0"/>
                  <a:cs typeface="Poppins" panose="00000500000000000000" pitchFamily="2" charset="0"/>
                </a:rPr>
                <a:t>Highlight active link</a:t>
              </a:r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dirty="0">
                  <a:latin typeface="Poppins" panose="00000500000000000000" pitchFamily="2" charset="0"/>
                  <a:cs typeface="Poppins" panose="00000500000000000000" pitchFamily="2" charset="0"/>
                </a:rPr>
                <a:t>Add hover effect</a:t>
              </a:r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 panose="00000500000000000000" pitchFamily="2" charset="0"/>
                  <a:cs typeface="Poppins" panose="00000500000000000000" pitchFamily="2" charset="0"/>
                </a:rPr>
                <a:t>Redirect to another page using button</a:t>
              </a:r>
              <a:endParaRPr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1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6" name="Google Shape;446;p5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1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lang="en" sz="1100" b="1">
                <a:solidFill>
                  <a:schemeClr val="dk1"/>
                </a:solidFill>
              </a:rPr>
              <a:t>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lang="en" sz="1100" i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lang="en"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2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454" name="Google Shape;454;p52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2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456" name="Google Shape;456;p52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457" name="Google Shape;457;p52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458" name="Google Shape;458;p52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9" name="Google Shape;459;p52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460" name="Google Shape;460;p52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2"/>
          <p:cNvSpPr txBox="1">
            <a:spLocks noGrp="1"/>
          </p:cNvSpPr>
          <p:nvPr>
            <p:ph type="sldNum" idx="12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462" name="Google Shape;462;p52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3" name="Google Shape;463;p52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432</Words>
  <Application>Microsoft Office PowerPoint</Application>
  <PresentationFormat>On-screen Show (16:9)</PresentationFormat>
  <Paragraphs>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Roboto Slab</vt:lpstr>
      <vt:lpstr>Arial</vt:lpstr>
      <vt:lpstr>Poppins</vt:lpstr>
      <vt:lpstr>Simple Light</vt:lpstr>
      <vt:lpstr>PowerPoint Presentation</vt:lpstr>
      <vt:lpstr>|  Table of Contents</vt:lpstr>
      <vt:lpstr>|  </vt:lpstr>
      <vt:lpstr>|  </vt:lpstr>
      <vt:lpstr>|  NavLink Active State (isActive)</vt:lpstr>
      <vt:lpstr>|  Hover Effect in NavLink</vt:lpstr>
      <vt:lpstr>|  useNavigate Hook</vt:lpstr>
      <vt:lpstr>|  useNavigate Hook</vt:lpstr>
      <vt:lpstr>|  Real-Life Analogy</vt:lpstr>
      <vt:lpstr>| Coding Questions</vt:lpstr>
      <vt:lpstr>|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Love Porwal</cp:lastModifiedBy>
  <cp:revision>3</cp:revision>
  <dcterms:modified xsi:type="dcterms:W3CDTF">2026-03-17T17:53:53Z</dcterms:modified>
</cp:coreProperties>
</file>