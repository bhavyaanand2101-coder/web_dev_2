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6b46280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6b46280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6b46280a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6b46280a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56b46280a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56b46280a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6b46280a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6b46280a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56b46280a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56b46280a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56b46280a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56b46280a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6b46280a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6b46280a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59fb303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759fb303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59fb30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759fb30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56b46280a_2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56b46280a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56b46280a_2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56b46280a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56b46280a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56b46280a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56b46280a_2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56b46280a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56b46280a_2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56b46280a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56b46280a_2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56b46280a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56b46280a_2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56b46280a_2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56b46280a_2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56b46280a_2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56b46280a_2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56b46280a_2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56b46280a_2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56b46280a_2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56b46280a_2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b56b46280a_2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56b46280a_2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56b46280a_2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9.jp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rgbClr val="FFFFFF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13</a:t>
                </a:r>
                <a:r>
                  <a:rPr lang="en" sz="2700">
                    <a:solidFill>
                      <a:srgbClr val="FFFFFF"/>
                    </a:solidFill>
                  </a:rPr>
                  <a:t>:</a:t>
                </a:r>
                <a:endParaRPr sz="22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Promise Chaining</a:t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Chaining Promises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Did you know that, just like in real life, we can make one promise depend on the result of a previous promise? JavaScript can do the same — it allows one promise to depend on the outcome of another!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425" y="1430875"/>
            <a:ext cx="2841001" cy="32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Did you know that, just like in real life, we can make one promise depend on the result of a previous promise? JavaScript can do the same — it allows one promise to depend on the outcome of another!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10100" y="1402750"/>
            <a:ext cx="5637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Yes!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This is exactly where </a:t>
            </a: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Promise Chaining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comes in  </a:t>
            </a:r>
            <a:endParaRPr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Promise Chaining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is a technique in JavaScript where multiple asynchronous tasks are linked using </a:t>
            </a: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.then().</a:t>
            </a:r>
            <a:endParaRPr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➔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Each </a:t>
            </a: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.then()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runs </a:t>
            </a: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only after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the previous promise is resolved, creating a step-by-step sequence.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➔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If any promise in the chain is rejected (fails), the control jumps to the</a:t>
            </a: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.catch() 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block to handle the error.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Poppins"/>
              <a:buChar char="➔"/>
            </a:pP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.finally() </a:t>
            </a:r>
            <a:r>
              <a:rPr lang="en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block can also be added to execute code at the end of the chain, regardless of whether the promises were fulfilled or rejected.</a:t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Promises Chaining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75" y="1598550"/>
            <a:ext cx="2824625" cy="325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311700" y="995438"/>
            <a:ext cx="459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Basic Syntax of Promise Chaining:</a:t>
            </a:r>
            <a:endParaRPr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4825" y="1957450"/>
            <a:ext cx="2190525" cy="253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7"/>
          <p:cNvCxnSpPr>
            <a:stCxn id="105" idx="3"/>
          </p:cNvCxnSpPr>
          <p:nvPr/>
        </p:nvCxnSpPr>
        <p:spPr>
          <a:xfrm>
            <a:off x="3570600" y="3225675"/>
            <a:ext cx="1813200" cy="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Promises Chaining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25" y="1721037"/>
            <a:ext cx="2562375" cy="269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6325" y="1721025"/>
            <a:ext cx="2562375" cy="269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9125" y="1721025"/>
            <a:ext cx="2562376" cy="26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Promises Chaining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flipH="1" rot="10800000">
            <a:off x="3777637" y="2971012"/>
            <a:ext cx="1491600" cy="1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76" y="1711475"/>
            <a:ext cx="3315774" cy="267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402" y="1711473"/>
            <a:ext cx="2772175" cy="26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know… if we have a lot of promise-based code and we want to make it wait properly, earlier we had to use callback hell  — which was super messy.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Then we got promise chaining .then().then().then() — better, but still a bit hard to read.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think something even better exists that can handle async code without callback hell or long promise chains? </a:t>
            </a:r>
            <a:endParaRPr b="1" sz="1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725" y="1415825"/>
            <a:ext cx="3520550" cy="3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Promise Chaining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Drawbacks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663450" y="1011575"/>
            <a:ext cx="7194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Drawbacks of Promise Chaining</a:t>
            </a:r>
            <a:r>
              <a:rPr lang="en" sz="1100">
                <a:solidFill>
                  <a:schemeClr val="dk1"/>
                </a:solidFill>
              </a:rPr>
              <a:t> refer to the </a:t>
            </a:r>
            <a:r>
              <a:rPr b="1" lang="en" sz="1100">
                <a:solidFill>
                  <a:schemeClr val="dk1"/>
                </a:solidFill>
              </a:rPr>
              <a:t>limitations and challenges</a:t>
            </a:r>
            <a:r>
              <a:rPr lang="en" sz="1100">
                <a:solidFill>
                  <a:schemeClr val="dk1"/>
                </a:solidFill>
              </a:rPr>
              <a:t> that arise when multiple asynchronous operations are handled using a long chain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.then()</a:t>
            </a:r>
            <a:r>
              <a:rPr lang="en" sz="1100">
                <a:solidFill>
                  <a:schemeClr val="dk1"/>
                </a:solidFill>
              </a:rPr>
              <a:t> methods in JavaScript.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Although promise chaining helps manage asynchronous code better than callbacks, it can still lead to problems such 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reduced readability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difficulty in understanding the execution flow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complicated error handling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performance issues due to sequential execution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poor maintainability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the chain becomes large or complex.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" name="Google Shape;151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54" name="Google Shape;154;p22"/>
          <p:cNvGrpSpPr/>
          <p:nvPr/>
        </p:nvGrpSpPr>
        <p:grpSpPr>
          <a:xfrm>
            <a:off x="310894" y="1014975"/>
            <a:ext cx="6185314" cy="1930925"/>
            <a:chOff x="310900" y="1014975"/>
            <a:chExt cx="5827505" cy="1930925"/>
          </a:xfrm>
        </p:grpSpPr>
        <p:sp>
          <p:nvSpPr>
            <p:cNvPr id="155" name="Google Shape;155;p22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rgbClr val="000000"/>
                  </a:solidFill>
                </a:rPr>
                <a:t> </a:t>
              </a:r>
              <a:r>
                <a:rPr b="1" lang="en" sz="1100">
                  <a:solidFill>
                    <a:schemeClr val="dk1"/>
                  </a:solidFill>
                </a:rPr>
                <a:t>Creating a Promise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22"/>
            <p:cNvSpPr txBox="1"/>
            <p:nvPr/>
          </p:nvSpPr>
          <p:spPr>
            <a:xfrm>
              <a:off x="310905" y="1725200"/>
              <a:ext cx="5827500" cy="12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 Create a function </a:t>
              </a:r>
              <a:r>
                <a:rPr b="1" lang="en" sz="1100">
                  <a:solidFill>
                    <a:schemeClr val="dk1"/>
                  </a:solidFill>
                </a:rPr>
                <a:t>delay(ms)</a:t>
              </a:r>
              <a:r>
                <a:rPr lang="en" sz="1100">
                  <a:solidFill>
                    <a:schemeClr val="dk1"/>
                  </a:solidFill>
                </a:rPr>
                <a:t> that returns a new Promise. This Promise should use </a:t>
              </a:r>
              <a:r>
                <a:rPr b="1" lang="en" sz="1100">
                  <a:solidFill>
                    <a:schemeClr val="dk1"/>
                  </a:solidFill>
                </a:rPr>
                <a:t>setTimeout</a:t>
              </a:r>
              <a:r>
                <a:rPr lang="en" sz="1100">
                  <a:solidFill>
                    <a:schemeClr val="dk1"/>
                  </a:solidFill>
                </a:rPr>
                <a:t> to wait for the specified number of milliseconds (</a:t>
              </a:r>
              <a:r>
                <a:rPr b="1" lang="en" sz="1100">
                  <a:solidFill>
                    <a:schemeClr val="dk1"/>
                  </a:solidFill>
                </a:rPr>
                <a:t>ms</a:t>
              </a:r>
              <a:r>
                <a:rPr lang="en" sz="1100">
                  <a:solidFill>
                    <a:schemeClr val="dk1"/>
                  </a:solidFill>
                </a:rPr>
                <a:t>) and then </a:t>
              </a:r>
              <a:r>
                <a:rPr b="1" lang="en" sz="1100">
                  <a:solidFill>
                    <a:schemeClr val="dk1"/>
                  </a:solidFill>
                </a:rPr>
                <a:t>resolve</a:t>
              </a:r>
              <a:r>
                <a:rPr lang="en" sz="1100">
                  <a:solidFill>
                    <a:schemeClr val="dk1"/>
                  </a:solidFill>
                </a:rPr>
                <a:t> with the message </a:t>
              </a:r>
              <a:r>
                <a:rPr b="1" lang="en" sz="1100">
                  <a:solidFill>
                    <a:schemeClr val="dk1"/>
                  </a:solidFill>
                </a:rPr>
                <a:t>"Action completed after [ms] ms"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8200" y="1086300"/>
            <a:ext cx="4962526" cy="324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156700"/>
            <a:ext cx="5055921" cy="18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85" name="Google Shape;185;p25"/>
          <p:cNvGrpSpPr/>
          <p:nvPr/>
        </p:nvGrpSpPr>
        <p:grpSpPr>
          <a:xfrm>
            <a:off x="310894" y="1014975"/>
            <a:ext cx="6185314" cy="2474225"/>
            <a:chOff x="310900" y="1014975"/>
            <a:chExt cx="5827505" cy="2474225"/>
          </a:xfrm>
        </p:grpSpPr>
        <p:sp>
          <p:nvSpPr>
            <p:cNvPr id="186" name="Google Shape;186;p25"/>
            <p:cNvSpPr txBox="1"/>
            <p:nvPr/>
          </p:nvSpPr>
          <p:spPr>
            <a:xfrm>
              <a:off x="310900" y="1014975"/>
              <a:ext cx="5139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b="1" lang="en" sz="1100">
                  <a:solidFill>
                    <a:srgbClr val="000000"/>
                  </a:solidFill>
                </a:rPr>
                <a:t> </a:t>
              </a:r>
              <a:r>
                <a:rPr b="1" lang="en" sz="1100">
                  <a:solidFill>
                    <a:schemeClr val="dk1"/>
                  </a:solidFill>
                </a:rPr>
                <a:t> Consuming a Promise</a:t>
              </a:r>
              <a:endParaRPr b="1"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25"/>
            <p:cNvSpPr txBox="1"/>
            <p:nvPr/>
          </p:nvSpPr>
          <p:spPr>
            <a:xfrm>
              <a:off x="310905" y="1725200"/>
              <a:ext cx="5827500" cy="17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You are given a function </a:t>
              </a:r>
              <a:r>
                <a:rPr b="1" lang="en" sz="1100">
                  <a:solidFill>
                    <a:schemeClr val="dk1"/>
                  </a:solidFill>
                </a:rPr>
                <a:t>fetchData()</a:t>
              </a:r>
              <a:r>
                <a:rPr lang="en" sz="1100">
                  <a:solidFill>
                    <a:schemeClr val="dk1"/>
                  </a:solidFill>
                </a:rPr>
                <a:t> that returns a Promise. This promise will randomly either resolve with the data </a:t>
              </a:r>
              <a:r>
                <a:rPr b="1" lang="en" sz="1100">
                  <a:solidFill>
                    <a:schemeClr val="dk1"/>
                  </a:solidFill>
                </a:rPr>
                <a:t>{ success: true, data: 'Some data' }</a:t>
              </a:r>
              <a:r>
                <a:rPr lang="en" sz="1100">
                  <a:solidFill>
                    <a:schemeClr val="dk1"/>
                  </a:solidFill>
                </a:rPr>
                <a:t> or reject with an error </a:t>
              </a:r>
              <a:r>
                <a:rPr b="1" lang="en" sz="1100">
                  <a:solidFill>
                    <a:schemeClr val="dk1"/>
                  </a:solidFill>
                </a:rPr>
                <a:t>"Failed to fetch"</a:t>
              </a:r>
              <a:r>
                <a:rPr lang="en" sz="1100">
                  <a:solidFill>
                    <a:schemeClr val="dk1"/>
                  </a:solidFill>
                </a:rPr>
                <a:t>. Use </a:t>
              </a:r>
              <a:r>
                <a:rPr b="1" lang="en" sz="1100">
                  <a:solidFill>
                    <a:schemeClr val="dk1"/>
                  </a:solidFill>
                </a:rPr>
                <a:t>.then()</a:t>
              </a:r>
              <a:r>
                <a:rPr lang="en" sz="1100">
                  <a:solidFill>
                    <a:schemeClr val="dk1"/>
                  </a:solidFill>
                </a:rPr>
                <a:t> and </a:t>
              </a:r>
              <a:r>
                <a:rPr b="1" lang="en" sz="1100">
                  <a:solidFill>
                    <a:schemeClr val="dk1"/>
                  </a:solidFill>
                </a:rPr>
                <a:t>.catch()</a:t>
              </a:r>
              <a:r>
                <a:rPr lang="en" sz="1100">
                  <a:solidFill>
                    <a:schemeClr val="dk1"/>
                  </a:solidFill>
                </a:rPr>
                <a:t> to handle both possible outcomes.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7676" y="1129475"/>
            <a:ext cx="4668501" cy="38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3" name="Google Shape;203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8338" y="1329063"/>
            <a:ext cx="4306925" cy="144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0272" y="3329062"/>
            <a:ext cx="4283050" cy="133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4" name="Google Shape;214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 </a:t>
            </a:r>
            <a:r>
              <a:rPr b="1" lang="en" sz="1100">
                <a:solidFill>
                  <a:schemeClr val="dk1"/>
                </a:solidFill>
              </a:rPr>
              <a:t>What is a JavaScript Promise?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A guarantee that a function will not have any errors.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A function that runs synchronously.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An object that represents the eventual completion (or failure) of an asynchronous operation.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A special type of variable for storing boolean values.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310950" y="3313725"/>
            <a:ext cx="626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c) An object that represents the eventual completion (or failure) of an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asynchronous operation.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0" name="Google Shape;220;p28"/>
          <p:cNvGrpSpPr/>
          <p:nvPr/>
        </p:nvGrpSpPr>
        <p:grpSpPr>
          <a:xfrm>
            <a:off x="310900" y="3959263"/>
            <a:ext cx="6005825" cy="897313"/>
            <a:chOff x="310900" y="3959263"/>
            <a:chExt cx="6005825" cy="897313"/>
          </a:xfrm>
        </p:grpSpPr>
        <p:sp>
          <p:nvSpPr>
            <p:cNvPr id="221" name="Google Shape;221;p28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22" name="Google Shape;222;p28"/>
            <p:cNvSpPr txBox="1"/>
            <p:nvPr/>
          </p:nvSpPr>
          <p:spPr>
            <a:xfrm>
              <a:off x="1607925" y="3959275"/>
              <a:ext cx="47088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 Promise is a placeholder for a future value. It allows you to write asynchronous code that is easier to manage than traditional callbacks.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8" name="Google Shape;228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 </a:t>
            </a:r>
            <a:r>
              <a:rPr b="1" lang="en" sz="1100">
                <a:solidFill>
                  <a:schemeClr val="dk1"/>
                </a:solidFill>
              </a:rPr>
              <a:t>What are the three states a Promise can be in?</a:t>
            </a:r>
            <a:r>
              <a:rPr lang="en" sz="1100">
                <a:solidFill>
                  <a:schemeClr val="dk1"/>
                </a:solidFill>
              </a:rPr>
              <a:t> </a:t>
            </a:r>
            <a:br>
              <a:rPr lang="en" sz="1100">
                <a:solidFill>
                  <a:schemeClr val="dk1"/>
                </a:solidFill>
              </a:rPr>
            </a:b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Start, Middle, End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Ready, Set, Go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Pending, Fulfilled, Rejected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Async, Await, Sync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c) Pending, Fulfilled, Rejected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234" name="Google Shape;234;p29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235" name="Google Shape;235;p2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36" name="Google Shape;236;p29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 Promise starts as </a:t>
              </a:r>
              <a:r>
                <a:rPr b="1" lang="en" sz="1100">
                  <a:solidFill>
                    <a:schemeClr val="dk1"/>
                  </a:solidFill>
                </a:rPr>
                <a:t>pending</a:t>
              </a:r>
              <a:r>
                <a:rPr lang="en" sz="1100">
                  <a:solidFill>
                    <a:schemeClr val="dk1"/>
                  </a:solidFill>
                </a:rPr>
                <a:t>, and once the asynchronous operation is complete, it settles into either a </a:t>
              </a:r>
              <a:r>
                <a:rPr b="1" lang="en" sz="1100">
                  <a:solidFill>
                    <a:schemeClr val="dk1"/>
                  </a:solidFill>
                </a:rPr>
                <a:t>fulfilled</a:t>
              </a:r>
              <a:r>
                <a:rPr lang="en" sz="1100">
                  <a:solidFill>
                    <a:schemeClr val="dk1"/>
                  </a:solidFill>
                </a:rPr>
                <a:t> (successful) or </a:t>
              </a:r>
              <a:r>
                <a:rPr b="1" lang="en" sz="1100">
                  <a:solidFill>
                    <a:schemeClr val="dk1"/>
                  </a:solidFill>
                </a:rPr>
                <a:t>rejected</a:t>
              </a:r>
              <a:r>
                <a:rPr lang="en" sz="1100">
                  <a:solidFill>
                    <a:schemeClr val="dk1"/>
                  </a:solidFill>
                </a:rPr>
                <a:t> (failed) state.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2" name="Google Shape;242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 </a:t>
            </a:r>
            <a:r>
              <a:rPr b="1" lang="en" sz="1100">
                <a:solidFill>
                  <a:schemeClr val="dk1"/>
                </a:solidFill>
              </a:rPr>
              <a:t>Which method is used to attach a callback that executes when a Promise is successfully fulfilled?</a:t>
            </a:r>
            <a:r>
              <a:rPr lang="en" sz="1100">
                <a:solidFill>
                  <a:schemeClr val="dk1"/>
                </a:solidFill>
              </a:rPr>
              <a:t> 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.catch()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.then()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.finally()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.success()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5" name="Google Shape;245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b) .then()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8" name="Google Shape;248;p30"/>
          <p:cNvGrpSpPr/>
          <p:nvPr/>
        </p:nvGrpSpPr>
        <p:grpSpPr>
          <a:xfrm>
            <a:off x="272725" y="3944913"/>
            <a:ext cx="6005825" cy="897313"/>
            <a:chOff x="310900" y="3959263"/>
            <a:chExt cx="6005825" cy="897313"/>
          </a:xfrm>
        </p:grpSpPr>
        <p:sp>
          <p:nvSpPr>
            <p:cNvPr id="249" name="Google Shape;249;p3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30"/>
            <p:cNvSpPr txBox="1"/>
            <p:nvPr/>
          </p:nvSpPr>
          <p:spPr>
            <a:xfrm>
              <a:off x="1607925" y="3959275"/>
              <a:ext cx="47088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The </a:t>
              </a:r>
              <a:r>
                <a:rPr b="1" lang="en" sz="1100">
                  <a:solidFill>
                    <a:schemeClr val="dk1"/>
                  </a:solidFill>
                </a:rPr>
                <a:t>.then()</a:t>
              </a:r>
              <a:r>
                <a:rPr lang="en" sz="1100">
                  <a:solidFill>
                    <a:schemeClr val="dk1"/>
                  </a:solidFill>
                </a:rPr>
                <a:t> method takes a callback function that will receive the resolved value of the promise.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" name="Google Shape;256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1"/>
          <p:cNvSpPr txBox="1"/>
          <p:nvPr/>
        </p:nvSpPr>
        <p:spPr>
          <a:xfrm>
            <a:off x="310900" y="1228825"/>
            <a:ext cx="816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rgbClr val="000000"/>
                </a:solidFill>
              </a:rPr>
              <a:t>    </a:t>
            </a:r>
            <a:r>
              <a:rPr b="1" lang="en" sz="1100">
                <a:solidFill>
                  <a:schemeClr val="dk1"/>
                </a:solidFill>
              </a:rPr>
              <a:t>Which method is specifically designed to handle a rejected Promise or an error that occurs in the promise chain?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310900" y="1748350"/>
            <a:ext cx="80847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.then(null, errorHandler)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.error()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.finally()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.catch()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9" name="Google Shape;259;p3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d) .catch()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2" name="Google Shape;262;p31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263" name="Google Shape;263;p3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64" name="Google Shape;264;p31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</a:t>
              </a:r>
              <a:r>
                <a:rPr b="1" lang="en" sz="1100">
                  <a:solidFill>
                    <a:schemeClr val="dk1"/>
                  </a:solidFill>
                </a:rPr>
                <a:t>.catch()</a:t>
              </a:r>
              <a:r>
                <a:rPr lang="en" sz="1100">
                  <a:solidFill>
                    <a:schemeClr val="dk1"/>
                  </a:solidFill>
                </a:rPr>
                <a:t> is dedicated syntax for handling rejections, making the code cleaner and more readable than passing a second argument to </a:t>
              </a:r>
              <a:r>
                <a:rPr b="1" lang="en" sz="1100">
                  <a:solidFill>
                    <a:schemeClr val="dk1"/>
                  </a:solidFill>
                </a:rPr>
                <a:t>.then()</a:t>
              </a:r>
              <a:r>
                <a:rPr lang="en" sz="1100">
                  <a:solidFill>
                    <a:schemeClr val="dk1"/>
                  </a:solidFill>
                </a:rPr>
                <a:t>. Both A and D are technically correct, but D is the modern best practice.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0" name="Google Shape;270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78" name="Google Shape;278;p3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80" name="Google Shape;280;p33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81" name="Google Shape;281;p3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282" name="Google Shape;282;p3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3" name="Google Shape;283;p33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284" name="Google Shape;284;p33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