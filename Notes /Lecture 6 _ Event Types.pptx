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5143500" cx="9144000"/>
  <p:notesSz cx="6858000" cy="9144000"/>
  <p:embeddedFontLst>
    <p:embeddedFont>
      <p:font typeface="Roboto Slab"/>
      <p:regular r:id="rId39"/>
      <p:bold r:id="rId40"/>
    </p:embeddedFont>
    <p:embeddedFont>
      <p:font typeface="Poppins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Slab-bold.fntdata"/><Relationship Id="rId20" Type="http://schemas.openxmlformats.org/officeDocument/2006/relationships/slide" Target="slides/slide15.xml"/><Relationship Id="rId42" Type="http://schemas.openxmlformats.org/officeDocument/2006/relationships/font" Target="fonts/Poppins-bold.fntdata"/><Relationship Id="rId41" Type="http://schemas.openxmlformats.org/officeDocument/2006/relationships/font" Target="fonts/Poppins-regular.fntdata"/><Relationship Id="rId22" Type="http://schemas.openxmlformats.org/officeDocument/2006/relationships/slide" Target="slides/slide17.xml"/><Relationship Id="rId44" Type="http://schemas.openxmlformats.org/officeDocument/2006/relationships/font" Target="fonts/Poppins-boldItalic.fntdata"/><Relationship Id="rId21" Type="http://schemas.openxmlformats.org/officeDocument/2006/relationships/slide" Target="slides/slide16.xml"/><Relationship Id="rId43" Type="http://schemas.openxmlformats.org/officeDocument/2006/relationships/font" Target="fonts/Poppins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RobotoSlab-regular.fntdata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eb88eaf9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eb88eaf9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eb88eaf9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6eb88eaf9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eb88eaf92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eb88eaf92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eb88eaf92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eb88eaf92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6eb88eaf92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6eb88eaf92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6eb88eaf92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6eb88eaf92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6eb88eaf92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6eb88eaf92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eb88eaf92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6eb88eaf92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6eb88eaf92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6eb88eaf92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6eb88eaf92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6eb88eaf92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6eb88eaf92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6eb88eaf92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6dd3b5866e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6dd3b5866e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6dd3b5866e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6dd3b5866e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6dd3b5866e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6dd3b5866e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eb88eaf92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6eb88eaf92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6eb88eaf92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6eb88eaf92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6eb88eaf92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6eb88eaf92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6eb88eaf92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6eb88eaf92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6eb88eaf92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6eb88eaf92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6eb88eaf92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6eb88eaf92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6eb88eaf92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6eb88eaf92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6dd3b5866e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6dd3b5866e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6dd3b5866e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6dd3b5866e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6dd3b5866e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6dd3b5866e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6eb88eaf92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6eb88eaf92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6eb88eaf92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6eb88eaf92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6eb88eaf92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6eb88eaf92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6eb88eaf92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6eb88eaf92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6eb88eaf92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6eb88eaf92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6eb88eaf92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6eb88eaf92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6eb88eaf92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6eb88eaf92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6eb88eaf92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6eb88eaf92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6eb88eaf92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6eb88eaf92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39.jpg"/><Relationship Id="rId8" Type="http://schemas.openxmlformats.org/officeDocument/2006/relationships/image" Target="../media/image3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hyperlink" Target="http://drive.google.com/file/d/1fmjQvVvj_Sp89jkd4guC7dxM5us8pfue/view" TargetMode="External"/><Relationship Id="rId5" Type="http://schemas.openxmlformats.org/officeDocument/2006/relationships/image" Target="../media/image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hyperlink" Target="http://drive.google.com/file/d/1IYwWe1A4Bx4InC_ogXcRKXiplJ3iFW-V/view" TargetMode="External"/><Relationship Id="rId5" Type="http://schemas.openxmlformats.org/officeDocument/2006/relationships/image" Target="../media/image1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19.png"/><Relationship Id="rId6" Type="http://schemas.openxmlformats.org/officeDocument/2006/relationships/image" Target="../media/image32.png"/><Relationship Id="rId7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hyperlink" Target="http://drive.google.com/file/d/1caZ5Tm5XCnE1L2aOrLk0XIcOGv2g2VWf/view" TargetMode="External"/><Relationship Id="rId6" Type="http://schemas.openxmlformats.org/officeDocument/2006/relationships/image" Target="../media/image2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21.png"/><Relationship Id="rId5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hyperlink" Target="http://drive.google.com/file/d/1zKVlB0Xc1noshSHSPP2E9ARcT8U68faM/view" TargetMode="External"/><Relationship Id="rId5" Type="http://schemas.openxmlformats.org/officeDocument/2006/relationships/image" Target="../media/image27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21.png"/><Relationship Id="rId5" Type="http://schemas.openxmlformats.org/officeDocument/2006/relationships/image" Target="../media/image2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hyperlink" Target="http://drive.google.com/file/d/1xm84aSI2DDhfnvzlicWiN84qOVPUs2ax/view" TargetMode="External"/><Relationship Id="rId5" Type="http://schemas.openxmlformats.org/officeDocument/2006/relationships/image" Target="../media/image16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41.png"/><Relationship Id="rId6" Type="http://schemas.openxmlformats.org/officeDocument/2006/relationships/image" Target="../media/image4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hyperlink" Target="http://drive.google.com/file/d/1OiVYHxH-0WOui1F7n9JMN6AS8lqu4yyC/view" TargetMode="External"/><Relationship Id="rId6" Type="http://schemas.openxmlformats.org/officeDocument/2006/relationships/image" Target="../media/image33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Relationship Id="rId4" Type="http://schemas.openxmlformats.org/officeDocument/2006/relationships/image" Target="../media/image3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Relationship Id="rId4" Type="http://schemas.openxmlformats.org/officeDocument/2006/relationships/image" Target="../media/image38.png"/><Relationship Id="rId5" Type="http://schemas.openxmlformats.org/officeDocument/2006/relationships/image" Target="../media/image3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Relationship Id="rId4" Type="http://schemas.openxmlformats.org/officeDocument/2006/relationships/hyperlink" Target="http://drive.google.com/file/d/1KZ8NUOOTGVD5yi9naKtgBikqT0UTJjtP/view" TargetMode="External"/><Relationship Id="rId5" Type="http://schemas.openxmlformats.org/officeDocument/2006/relationships/image" Target="../media/image42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png"/><Relationship Id="rId4" Type="http://schemas.openxmlformats.org/officeDocument/2006/relationships/hyperlink" Target="https://developer.mozilla.org/en-US/docs/Web/JavaScript" TargetMode="External"/><Relationship Id="rId5" Type="http://schemas.openxmlformats.org/officeDocument/2006/relationships/hyperlink" Target="https://www.w3schools.com/js/" TargetMode="External"/><Relationship Id="rId6" Type="http://schemas.openxmlformats.org/officeDocument/2006/relationships/hyperlink" Target="https://javascript.info/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3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55" name="Google Shape;55;p13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4405600" y="2017650"/>
            <a:ext cx="458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 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57" name="Google Shape;57;p13"/>
          <p:cNvGrpSpPr/>
          <p:nvPr/>
        </p:nvGrpSpPr>
        <p:grpSpPr>
          <a:xfrm>
            <a:off x="4572000" y="4882896"/>
            <a:ext cx="1607600" cy="292500"/>
            <a:chOff x="5060775" y="4881413"/>
            <a:chExt cx="1607600" cy="292500"/>
          </a:xfrm>
        </p:grpSpPr>
        <p:sp>
          <p:nvSpPr>
            <p:cNvPr id="58" name="Google Shape;58;p13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59" name="Google Shape;59;p13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" name="Google Shape;60;p13"/>
          <p:cNvGrpSpPr/>
          <p:nvPr/>
        </p:nvGrpSpPr>
        <p:grpSpPr>
          <a:xfrm>
            <a:off x="7229300" y="4881425"/>
            <a:ext cx="1926000" cy="292500"/>
            <a:chOff x="7229300" y="4881425"/>
            <a:chExt cx="1926000" cy="292500"/>
          </a:xfrm>
        </p:grpSpPr>
        <p:sp>
          <p:nvSpPr>
            <p:cNvPr id="61" name="Google Shape;61;p13"/>
            <p:cNvSpPr txBox="1"/>
            <p:nvPr/>
          </p:nvSpPr>
          <p:spPr>
            <a:xfrm>
              <a:off x="7326500" y="4881425"/>
              <a:ext cx="1828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accent2"/>
                  </a:solidFill>
                </a:rPr>
                <a:t>Sohna Road,Gurugram,Haryana 122103</a:t>
              </a:r>
              <a:endParaRPr sz="700">
                <a:solidFill>
                  <a:schemeClr val="accent2"/>
                </a:solidFill>
              </a:endParaRPr>
            </a:p>
          </p:txBody>
        </p:sp>
        <p:pic>
          <p:nvPicPr>
            <p:cNvPr id="62" name="Google Shape;62;p13" title="location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29300" y="4965192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3" name="Google Shape;63;p13" title="Wavy_Trv-02_Single-09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50000" y="2536688"/>
            <a:ext cx="2463299" cy="222785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5" name="Google Shape;65;p13"/>
          <p:cNvGrpSpPr/>
          <p:nvPr/>
        </p:nvGrpSpPr>
        <p:grpSpPr>
          <a:xfrm>
            <a:off x="309849" y="1233369"/>
            <a:ext cx="3415942" cy="2954584"/>
            <a:chOff x="309849" y="1233369"/>
            <a:chExt cx="3415942" cy="2954584"/>
          </a:xfrm>
        </p:grpSpPr>
        <p:grpSp>
          <p:nvGrpSpPr>
            <p:cNvPr id="66" name="Google Shape;66;p13"/>
            <p:cNvGrpSpPr/>
            <p:nvPr/>
          </p:nvGrpSpPr>
          <p:grpSpPr>
            <a:xfrm>
              <a:off x="309849" y="1233369"/>
              <a:ext cx="3415942" cy="2387863"/>
              <a:chOff x="788865" y="1515488"/>
              <a:chExt cx="4594407" cy="2387863"/>
            </a:xfrm>
          </p:grpSpPr>
          <p:sp>
            <p:nvSpPr>
              <p:cNvPr id="67" name="Google Shape;67;p13"/>
              <p:cNvSpPr txBox="1"/>
              <p:nvPr/>
            </p:nvSpPr>
            <p:spPr>
              <a:xfrm>
                <a:off x="788865" y="1515488"/>
                <a:ext cx="3197700" cy="60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700">
                    <a:solidFill>
                      <a:schemeClr val="lt1"/>
                    </a:solidFill>
                    <a:latin typeface="Roboto Slab"/>
                    <a:ea typeface="Roboto Slab"/>
                    <a:cs typeface="Roboto Slab"/>
                    <a:sym typeface="Roboto Slab"/>
                  </a:rPr>
                  <a:t>Lecture 6</a:t>
                </a:r>
                <a:r>
                  <a:rPr lang="en" sz="2700">
                    <a:solidFill>
                      <a:schemeClr val="lt1"/>
                    </a:solidFill>
                  </a:rPr>
                  <a:t>:</a:t>
                </a:r>
                <a:endParaRPr sz="2200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endParaRPr>
              </a:p>
            </p:txBody>
          </p:sp>
          <p:sp>
            <p:nvSpPr>
              <p:cNvPr id="68" name="Google Shape;68;p13"/>
              <p:cNvSpPr txBox="1"/>
              <p:nvPr/>
            </p:nvSpPr>
            <p:spPr>
              <a:xfrm>
                <a:off x="788875" y="3475300"/>
                <a:ext cx="699000" cy="41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00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-By</a:t>
                </a:r>
                <a:endParaRPr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9" name="Google Shape;69;p13"/>
              <p:cNvSpPr txBox="1"/>
              <p:nvPr/>
            </p:nvSpPr>
            <p:spPr>
              <a:xfrm>
                <a:off x="790272" y="2145213"/>
                <a:ext cx="4593000" cy="92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2400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Event Types</a:t>
                </a:r>
                <a:endParaRPr sz="24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t/>
                </a:r>
                <a:endParaRPr sz="24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0" name="Google Shape;70;p13"/>
              <p:cNvSpPr txBox="1"/>
              <p:nvPr/>
            </p:nvSpPr>
            <p:spPr>
              <a:xfrm>
                <a:off x="1330896" y="3491750"/>
                <a:ext cx="3313200" cy="41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Instructor Name</a:t>
                </a:r>
                <a:endParaRPr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pic>
          <p:nvPicPr>
            <p:cNvPr id="71" name="Google Shape;71;p13" title="javascript-logo-javascript-icon-transparent-free-png.png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33272" y="3666744"/>
              <a:ext cx="521208" cy="52120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Table of Contents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" name="Google Shape;77;p14"/>
          <p:cNvSpPr txBox="1"/>
          <p:nvPr>
            <p:ph idx="1" type="body"/>
          </p:nvPr>
        </p:nvSpPr>
        <p:spPr>
          <a:xfrm>
            <a:off x="311700" y="1234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click &amp; mouseover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keydown &amp; keyup.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submit events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References.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The End.</a:t>
            </a:r>
            <a:endParaRPr>
              <a:solidFill>
                <a:srgbClr val="273239"/>
              </a:solidFill>
            </a:endParaRPr>
          </a:p>
        </p:txBody>
      </p:sp>
      <p:pic>
        <p:nvPicPr>
          <p:cNvPr id="78" name="Google Shape;78;p1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5" name="Google Shape;85;p1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15"/>
          <p:cNvSpPr txBox="1"/>
          <p:nvPr/>
        </p:nvSpPr>
        <p:spPr>
          <a:xfrm>
            <a:off x="576075" y="210300"/>
            <a:ext cx="7223700" cy="10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7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Yesterday we learned how to listen for a 'click'. But users do much more — they type, scroll, move the mouse, submit forms, and more. Let's dive into the wide world of DOM events.</a:t>
            </a:r>
            <a:endParaRPr b="1" sz="25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8" name="Google Shape;88;p15" title="Journey-br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1720" y="1266225"/>
            <a:ext cx="4489700" cy="361188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Types of Events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4" name="Google Shape;94;p16"/>
          <p:cNvSpPr txBox="1"/>
          <p:nvPr>
            <p:ph idx="1" type="body"/>
          </p:nvPr>
        </p:nvSpPr>
        <p:spPr>
          <a:xfrm>
            <a:off x="311700" y="1234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</a:rPr>
              <a:t>JavaScript events can be categorized into several groups.</a:t>
            </a:r>
            <a:endParaRPr>
              <a:solidFill>
                <a:srgbClr val="27323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</a:rPr>
              <a:t>Some</a:t>
            </a:r>
            <a:r>
              <a:rPr lang="en">
                <a:solidFill>
                  <a:srgbClr val="273239"/>
                </a:solidFill>
              </a:rPr>
              <a:t> Common Categories : 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Mouse Events.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Keyboard Events.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Form Events.</a:t>
            </a:r>
            <a:endParaRPr>
              <a:solidFill>
                <a:srgbClr val="273239"/>
              </a:solidFill>
            </a:endParaRPr>
          </a:p>
        </p:txBody>
      </p:sp>
      <p:pic>
        <p:nvPicPr>
          <p:cNvPr id="95" name="Google Shape;95;p1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Mouse Events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311700" y="1234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Mouse events</a:t>
            </a:r>
            <a:r>
              <a:rPr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are a type of browser event that occur when the user interacts with the mouse — clicking, hovering, moving, or pressing mouse buttons on elements in a webpage.</a:t>
            </a:r>
            <a:endParaRPr sz="14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These events allow JavaScript to </a:t>
            </a:r>
            <a:r>
              <a:rPr b="1" lang="en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respond to user actions</a:t>
            </a:r>
            <a:r>
              <a:rPr lang="en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make the web page interactive.</a:t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Common Mouse Events : </a:t>
            </a:r>
            <a:endParaRPr b="1"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click.</a:t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mouseover.</a:t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3" name="Google Shape;103;p1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click Event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311700" y="1234700"/>
            <a:ext cx="7545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lang="en" sz="14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click</a:t>
            </a:r>
            <a:r>
              <a:rPr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event fires when the user </a:t>
            </a:r>
            <a:r>
              <a:rPr b="1"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presses and releases</a:t>
            </a:r>
            <a:r>
              <a:rPr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the left mouse button on an element.</a:t>
            </a:r>
            <a:endParaRPr sz="14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Commonly used to trigger actions like form submission, opening modals, toggling UI.</a:t>
            </a:r>
            <a:endParaRPr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100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Syntax :</a:t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1" name="Google Shape;111;p1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3" name="Google Shape;113;p18" title="carbon - 2025-07-12T144535.50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5400" y="2643300"/>
            <a:ext cx="6087275" cy="1527275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Example :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click Event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9" name="Google Shape;119;p1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1" name="Google Shape;121;p19" title="carbon - 2025-07-12T145611.09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6688" y="1163975"/>
            <a:ext cx="6160926" cy="1514275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  <p:pic>
        <p:nvPicPr>
          <p:cNvPr id="122" name="Google Shape;122;p19" title="carbon - 2025-07-12T145426.18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6700" y="3153100"/>
            <a:ext cx="6160924" cy="1680175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Output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: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click Event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8" name="Google Shape;128;p2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0" name="Google Shape;130;p20" title="Screen Recording 2025-07-12 145257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8038" y="1313400"/>
            <a:ext cx="7007926" cy="313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mouseover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Event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6" name="Google Shape;136;p21"/>
          <p:cNvSpPr txBox="1"/>
          <p:nvPr>
            <p:ph idx="1" type="body"/>
          </p:nvPr>
        </p:nvSpPr>
        <p:spPr>
          <a:xfrm>
            <a:off x="311700" y="1234700"/>
            <a:ext cx="7545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lang="en" sz="14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mouseover </a:t>
            </a:r>
            <a:r>
              <a:rPr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event fires when the mouse </a:t>
            </a:r>
            <a:r>
              <a:rPr b="1"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enters</a:t>
            </a:r>
            <a:r>
              <a:rPr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the area of an element.</a:t>
            </a:r>
            <a:endParaRPr sz="14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Every time the pointer </a:t>
            </a:r>
            <a:r>
              <a:rPr b="1"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enters</a:t>
            </a:r>
            <a:r>
              <a:rPr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the element or </a:t>
            </a:r>
            <a:r>
              <a:rPr b="1"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any child element</a:t>
            </a:r>
            <a:r>
              <a:rPr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of it.</a:t>
            </a:r>
            <a:endParaRPr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100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Syntax :</a:t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7" name="Google Shape;137;p2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9" name="Google Shape;139;p21" title="carbon - 2025-07-12T150917.288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46150" y="2509600"/>
            <a:ext cx="5957900" cy="1527275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Example :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mouseover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Event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5" name="Google Shape;145;p2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7" name="Google Shape;147;p22" title="carbon - 2025-07-12T151747.024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91537" y="1183388"/>
            <a:ext cx="6160924" cy="1514275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  <p:pic>
        <p:nvPicPr>
          <p:cNvPr id="148" name="Google Shape;148;p22" title="carbon - 2025-07-12T151726.342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91537" y="3055775"/>
            <a:ext cx="6160925" cy="1680175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Output :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mouseover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Event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4" name="Google Shape;154;p2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6" name="Google Shape;156;p23" title="Screen Recording 2025-07-12 152115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85650" y="1186929"/>
            <a:ext cx="5772676" cy="339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2" name="Google Shape;162;p2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4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65" name="Google Shape;165;p24"/>
          <p:cNvGrpSpPr/>
          <p:nvPr/>
        </p:nvGrpSpPr>
        <p:grpSpPr>
          <a:xfrm>
            <a:off x="310894" y="1014975"/>
            <a:ext cx="6185314" cy="2303225"/>
            <a:chOff x="310900" y="1014975"/>
            <a:chExt cx="5827505" cy="2303225"/>
          </a:xfrm>
        </p:grpSpPr>
        <p:sp>
          <p:nvSpPr>
            <p:cNvPr id="166" name="Google Shape;166;p24"/>
            <p:cNvSpPr txBox="1"/>
            <p:nvPr/>
          </p:nvSpPr>
          <p:spPr>
            <a:xfrm>
              <a:off x="310900" y="1014975"/>
              <a:ext cx="5139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1.   </a:t>
              </a:r>
              <a:r>
                <a:rPr b="1" lang="en" sz="1100">
                  <a:solidFill>
                    <a:schemeClr val="dk1"/>
                  </a:solidFill>
                </a:rPr>
                <a:t> </a:t>
              </a:r>
              <a:r>
                <a:rPr b="1" lang="en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b="1" i="1" lang="en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mouseover</a:t>
              </a:r>
              <a:r>
                <a:rPr b="1" lang="en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 and </a:t>
              </a:r>
              <a:r>
                <a:rPr b="1" i="1" lang="en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mouseout</a:t>
              </a:r>
              <a:r>
                <a:rPr b="1" lang="en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 Events</a:t>
              </a:r>
              <a:endParaRPr b="1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7" name="Google Shape;167;p24"/>
            <p:cNvSpPr txBox="1"/>
            <p:nvPr/>
          </p:nvSpPr>
          <p:spPr>
            <a:xfrm>
              <a:off x="310905" y="1725200"/>
              <a:ext cx="5827500" cy="159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Task :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0" marL="914400" rtl="0" algn="l">
                <a:lnSpc>
                  <a:spcPct val="150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en" sz="1100">
                  <a:solidFill>
                    <a:schemeClr val="dk1"/>
                  </a:solidFill>
                </a:rPr>
                <a:t>Given the HTML below, write a script to select the </a:t>
              </a:r>
              <a:r>
                <a:rPr b="1" lang="en" sz="1100">
                  <a:solidFill>
                    <a:schemeClr val="dk1"/>
                  </a:solidFill>
                </a:rPr>
                <a:t>div</a:t>
              </a:r>
              <a:r>
                <a:rPr lang="en" sz="1100">
                  <a:solidFill>
                    <a:schemeClr val="dk1"/>
                  </a:solidFill>
                </a:rPr>
                <a:t> with the ID </a:t>
              </a:r>
              <a:r>
                <a:rPr b="1" lang="en" sz="1100">
                  <a:solidFill>
                    <a:schemeClr val="dk1"/>
                  </a:solidFill>
                </a:rPr>
                <a:t>hover-box</a:t>
              </a:r>
              <a:r>
                <a:rPr lang="en" sz="1100">
                  <a:solidFill>
                    <a:schemeClr val="dk1"/>
                  </a:solidFill>
                </a:rPr>
                <a:t>. Add an event listener so that when the mouse moves over it, its background color changes to </a:t>
              </a:r>
              <a:r>
                <a:rPr b="1" lang="en" sz="1100">
                  <a:solidFill>
                    <a:schemeClr val="dk1"/>
                  </a:solidFill>
                </a:rPr>
                <a:t>lightblue</a:t>
              </a:r>
              <a:r>
                <a:rPr lang="en" sz="1100">
                  <a:solidFill>
                    <a:schemeClr val="dk1"/>
                  </a:solidFill>
                </a:rPr>
                <a:t>. Add another event listener so that when the mouse moves out, the background color reverts to </a:t>
              </a:r>
              <a:r>
                <a:rPr b="1" lang="en" sz="1100">
                  <a:solidFill>
                    <a:schemeClr val="dk1"/>
                  </a:solidFill>
                </a:rPr>
                <a:t>white</a:t>
              </a:r>
              <a:r>
                <a:rPr lang="en" sz="1100">
                  <a:solidFill>
                    <a:schemeClr val="dk1"/>
                  </a:solidFill>
                </a:rPr>
                <a:t>.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3" name="Google Shape;173;p2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5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6" name="Google Shape;176;p25"/>
          <p:cNvSpPr txBox="1"/>
          <p:nvPr/>
        </p:nvSpPr>
        <p:spPr>
          <a:xfrm>
            <a:off x="310900" y="1086300"/>
            <a:ext cx="1049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Solution :</a:t>
            </a:r>
            <a:endParaRPr b="1"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7" name="Google Shape;177;p25" title="carbon - 2025-07-14T121304.64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60600" y="2854875"/>
            <a:ext cx="4726650" cy="2099874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  <p:pic>
        <p:nvPicPr>
          <p:cNvPr id="178" name="Google Shape;178;p25" title="carbon - 2025-07-14T121329.407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60600" y="1086300"/>
            <a:ext cx="3082950" cy="10057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  <p:pic>
        <p:nvPicPr>
          <p:cNvPr id="179" name="Google Shape;179;p25" title="carbon - 2025-07-14T121449.046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73850" y="1086300"/>
            <a:ext cx="2291399" cy="1671922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5" name="Google Shape;185;p2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6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8" name="Google Shape;188;p26"/>
          <p:cNvSpPr txBox="1"/>
          <p:nvPr/>
        </p:nvSpPr>
        <p:spPr>
          <a:xfrm>
            <a:off x="310900" y="1086300"/>
            <a:ext cx="1049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Output :</a:t>
            </a:r>
            <a:endParaRPr b="1"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9" name="Google Shape;189;p26" title="Screen Recording 2025-07-14 121842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60600" y="1086300"/>
            <a:ext cx="4691250" cy="339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7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Keyboard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Events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5" name="Google Shape;195;p27"/>
          <p:cNvSpPr txBox="1"/>
          <p:nvPr>
            <p:ph idx="1" type="body"/>
          </p:nvPr>
        </p:nvSpPr>
        <p:spPr>
          <a:xfrm>
            <a:off x="311700" y="1234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b="1"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keyboard event</a:t>
            </a:r>
            <a:r>
              <a:rPr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in JavaScript is triggered when the user </a:t>
            </a:r>
            <a:r>
              <a:rPr b="1"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presses</a:t>
            </a:r>
            <a:r>
              <a:rPr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holds</a:t>
            </a:r>
            <a:r>
              <a:rPr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or </a:t>
            </a:r>
            <a:r>
              <a:rPr b="1"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releases</a:t>
            </a:r>
            <a:r>
              <a:rPr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a key on the keyboard.</a:t>
            </a:r>
            <a:endParaRPr sz="14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It allows your webpage to </a:t>
            </a:r>
            <a:r>
              <a:rPr b="1"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respond to key actions</a:t>
            </a:r>
            <a:r>
              <a:rPr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like shortcuts, search input, form navigation, games, etc.</a:t>
            </a:r>
            <a:endParaRPr b="1"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Common Keyboard Events : </a:t>
            </a:r>
            <a:endParaRPr b="1"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keydown</a:t>
            </a:r>
            <a:r>
              <a:rPr lang="en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keyup.</a:t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6" name="Google Shape;196;p2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8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keydown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Event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3" name="Google Shape;203;p28"/>
          <p:cNvSpPr txBox="1"/>
          <p:nvPr>
            <p:ph idx="1" type="body"/>
          </p:nvPr>
        </p:nvSpPr>
        <p:spPr>
          <a:xfrm>
            <a:off x="311700" y="1234700"/>
            <a:ext cx="7545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lang="en" sz="14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keydown</a:t>
            </a:r>
            <a:r>
              <a:rPr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event is triggered </a:t>
            </a:r>
            <a:r>
              <a:rPr b="1"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when a key is pressed down</a:t>
            </a:r>
            <a:r>
              <a:rPr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on the keyboard.</a:t>
            </a:r>
            <a:endParaRPr sz="14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It fires </a:t>
            </a:r>
            <a:r>
              <a:rPr b="1"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once</a:t>
            </a:r>
            <a:r>
              <a:rPr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immediately when the key is pressed (even if it's held down).</a:t>
            </a:r>
            <a:endParaRPr sz="14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100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Syntax :</a:t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4" name="Google Shape;204;p2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6" name="Google Shape;206;p28" title="carbon - 2025-07-12T153029.84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10275" y="2517450"/>
            <a:ext cx="6090401" cy="1527275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9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Example :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keydown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Event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2" name="Google Shape;212;p2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4" name="Google Shape;214;p29" title="carbon - 2025-07-12T153621.583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6700" y="1212400"/>
            <a:ext cx="6160926" cy="1514275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  <p:pic>
        <p:nvPicPr>
          <p:cNvPr id="215" name="Google Shape;215;p29" title="carbon - 2025-07-12T153545.690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6700" y="3153125"/>
            <a:ext cx="6160926" cy="1680175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0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Output :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keydown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Event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1" name="Google Shape;221;p3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3" name="Google Shape;223;p30" title="Screen Recording 2025-07-12 153925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82125" y="1203300"/>
            <a:ext cx="5779751" cy="273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1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keyup Event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9" name="Google Shape;229;p31"/>
          <p:cNvSpPr txBox="1"/>
          <p:nvPr>
            <p:ph idx="1" type="body"/>
          </p:nvPr>
        </p:nvSpPr>
        <p:spPr>
          <a:xfrm>
            <a:off x="311700" y="1234700"/>
            <a:ext cx="7545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lang="en" sz="14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keyup</a:t>
            </a:r>
            <a:r>
              <a:rPr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event is triggered </a:t>
            </a:r>
            <a:r>
              <a:rPr b="1"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when a key is released</a:t>
            </a:r>
            <a:r>
              <a:rPr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after being pressed.</a:t>
            </a:r>
            <a:endParaRPr sz="14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It’s useful when you want to perform an action </a:t>
            </a:r>
            <a:r>
              <a:rPr b="1"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after</a:t>
            </a:r>
            <a:r>
              <a:rPr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the keypress is complete.</a:t>
            </a:r>
            <a:endParaRPr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100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Syntax :</a:t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0" name="Google Shape;230;p3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2" name="Google Shape;232;p31" title="carbon - 2025-07-12T154408.08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55525" y="2454525"/>
            <a:ext cx="6155249" cy="1527275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2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Example :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keyup Event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8" name="Google Shape;238;p3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0" name="Google Shape;240;p32" title="carbon - 2025-07-12T153621.583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6700" y="1212400"/>
            <a:ext cx="6160926" cy="1514275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  <p:pic>
        <p:nvPicPr>
          <p:cNvPr id="241" name="Google Shape;241;p32" title="carbon - 2025-07-12T155323.944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6700" y="3153125"/>
            <a:ext cx="6160926" cy="1680175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3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Output :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keyup Event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7" name="Google Shape;247;p3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9" name="Google Shape;249;p33" title="Screen Recording 2025-07-12 155036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70975" y="1114388"/>
            <a:ext cx="6002052" cy="291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4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5" name="Google Shape;255;p3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34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58" name="Google Shape;258;p34"/>
          <p:cNvGrpSpPr/>
          <p:nvPr/>
        </p:nvGrpSpPr>
        <p:grpSpPr>
          <a:xfrm>
            <a:off x="310894" y="1014975"/>
            <a:ext cx="6185314" cy="2218625"/>
            <a:chOff x="310900" y="1014975"/>
            <a:chExt cx="5827505" cy="2218625"/>
          </a:xfrm>
        </p:grpSpPr>
        <p:sp>
          <p:nvSpPr>
            <p:cNvPr id="259" name="Google Shape;259;p34"/>
            <p:cNvSpPr txBox="1"/>
            <p:nvPr/>
          </p:nvSpPr>
          <p:spPr>
            <a:xfrm>
              <a:off x="310900" y="1014975"/>
              <a:ext cx="5139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1.   </a:t>
              </a:r>
              <a:r>
                <a:rPr b="1" lang="en" sz="1100">
                  <a:solidFill>
                    <a:schemeClr val="dk1"/>
                  </a:solidFill>
                </a:rPr>
                <a:t> </a:t>
              </a:r>
              <a:r>
                <a:rPr b="1" lang="en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b="1" i="1" lang="en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keydown</a:t>
              </a:r>
              <a:r>
                <a:rPr b="1" lang="en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 Event</a:t>
              </a:r>
              <a:endParaRPr b="1" i="1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0" name="Google Shape;260;p34"/>
            <p:cNvSpPr txBox="1"/>
            <p:nvPr/>
          </p:nvSpPr>
          <p:spPr>
            <a:xfrm>
              <a:off x="310905" y="1725200"/>
              <a:ext cx="5827500" cy="150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Task :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0" marL="914400" rtl="0" algn="l">
                <a:lnSpc>
                  <a:spcPct val="200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en" sz="1100">
                  <a:solidFill>
                    <a:schemeClr val="dk1"/>
                  </a:solidFill>
                </a:rPr>
                <a:t>Given the HTML below, add a </a:t>
              </a:r>
              <a:r>
                <a:rPr b="1" lang="en" sz="1100">
                  <a:solidFill>
                    <a:schemeClr val="dk1"/>
                  </a:solidFill>
                </a:rPr>
                <a:t>keydown</a:t>
              </a:r>
              <a:r>
                <a:rPr lang="en" sz="1100">
                  <a:solidFill>
                    <a:schemeClr val="dk1"/>
                  </a:solidFill>
                </a:rPr>
                <a:t> event listener to the input field. When the user presses any key while the input is focused, log the </a:t>
              </a:r>
              <a:r>
                <a:rPr b="1" lang="en" sz="1100">
                  <a:solidFill>
                    <a:schemeClr val="dk1"/>
                  </a:solidFill>
                </a:rPr>
                <a:t>key</a:t>
              </a:r>
              <a:r>
                <a:rPr lang="en" sz="1100">
                  <a:solidFill>
                    <a:schemeClr val="dk1"/>
                  </a:solidFill>
                </a:rPr>
                <a:t> property from the </a:t>
              </a:r>
              <a:r>
                <a:rPr b="1" lang="en" sz="1100">
                  <a:solidFill>
                    <a:schemeClr val="dk1"/>
                  </a:solidFill>
                </a:rPr>
                <a:t>event</a:t>
              </a:r>
              <a:r>
                <a:rPr lang="en" sz="1100">
                  <a:solidFill>
                    <a:schemeClr val="dk1"/>
                  </a:solidFill>
                </a:rPr>
                <a:t> object to the console.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5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66" name="Google Shape;266;p3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35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9" name="Google Shape;269;p35"/>
          <p:cNvSpPr txBox="1"/>
          <p:nvPr/>
        </p:nvSpPr>
        <p:spPr>
          <a:xfrm>
            <a:off x="310900" y="1086300"/>
            <a:ext cx="1049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Solution :</a:t>
            </a:r>
            <a:endParaRPr b="1"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70" name="Google Shape;270;p35" title="carbon - 2025-07-14T122623.78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60600" y="2393100"/>
            <a:ext cx="4915424" cy="2199874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  <p:pic>
        <p:nvPicPr>
          <p:cNvPr id="271" name="Google Shape;271;p35" title="carbon - 2025-07-14T122547.560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60600" y="1086300"/>
            <a:ext cx="5895898" cy="10627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6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77" name="Google Shape;277;p3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36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0" name="Google Shape;280;p36"/>
          <p:cNvSpPr txBox="1"/>
          <p:nvPr/>
        </p:nvSpPr>
        <p:spPr>
          <a:xfrm>
            <a:off x="310900" y="1086300"/>
            <a:ext cx="1049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Output :</a:t>
            </a:r>
            <a:endParaRPr b="1"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81" name="Google Shape;281;p36" title="Screen Recording 2025-07-14 122901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90525" y="1086300"/>
            <a:ext cx="4629680" cy="3395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7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Forms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Events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7" name="Google Shape;287;p37"/>
          <p:cNvSpPr txBox="1"/>
          <p:nvPr>
            <p:ph idx="1" type="body"/>
          </p:nvPr>
        </p:nvSpPr>
        <p:spPr>
          <a:xfrm>
            <a:off x="311700" y="1234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Form events are triggered by </a:t>
            </a:r>
            <a:r>
              <a:rPr b="1"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user interactions</a:t>
            </a:r>
            <a:r>
              <a:rPr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with HTML form elements like &lt;input&gt;, &lt;textarea&gt;, &lt;select&gt;, and &lt;form&gt; itself.</a:t>
            </a:r>
            <a:endParaRPr sz="14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JavaScript can </a:t>
            </a:r>
            <a:r>
              <a:rPr b="1"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listen</a:t>
            </a:r>
            <a:r>
              <a:rPr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to these events to validate, modify, or control form behavior in real time.</a:t>
            </a:r>
            <a:endParaRPr b="1"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Common Form Event : </a:t>
            </a:r>
            <a:endParaRPr b="1"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submit.</a:t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88" name="Google Shape;288;p3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8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submit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Event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5" name="Google Shape;295;p38"/>
          <p:cNvSpPr txBox="1"/>
          <p:nvPr>
            <p:ph idx="1" type="body"/>
          </p:nvPr>
        </p:nvSpPr>
        <p:spPr>
          <a:xfrm>
            <a:off x="311700" y="1234700"/>
            <a:ext cx="7545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lang="en" sz="14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submit</a:t>
            </a:r>
            <a:r>
              <a:rPr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event occurs </a:t>
            </a:r>
            <a:r>
              <a:rPr b="1"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when a form is submitted</a:t>
            </a:r>
            <a:r>
              <a:rPr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— usually when the user clicks a submit button or presses </a:t>
            </a:r>
            <a:r>
              <a:rPr b="1"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Enter</a:t>
            </a:r>
            <a:r>
              <a:rPr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inside a form field.</a:t>
            </a:r>
            <a:endParaRPr sz="14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It allows you to </a:t>
            </a:r>
            <a:r>
              <a:rPr b="1"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handle or prevent</a:t>
            </a:r>
            <a:r>
              <a:rPr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form submission using JavaScript, such as validating input before sending.</a:t>
            </a:r>
            <a:endParaRPr sz="14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100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Syntax :</a:t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96" name="Google Shape;296;p3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8" name="Google Shape;298;p38" title="carbon - 2025-07-12T160329.05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2625" y="2571750"/>
            <a:ext cx="6155249" cy="1549275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9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Example :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submit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Event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04" name="Google Shape;304;p3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6" name="Google Shape;306;p39" title="carbon - 2025-07-12T160716.11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6700" y="1072200"/>
            <a:ext cx="6160925" cy="18401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  <p:pic>
        <p:nvPicPr>
          <p:cNvPr id="307" name="Google Shape;307;p39" title="carbon - 2025-07-12T160634.483.png"/>
          <p:cNvPicPr preferRelativeResize="0"/>
          <p:nvPr/>
        </p:nvPicPr>
        <p:blipFill rotWithShape="1">
          <a:blip r:embed="rId5">
            <a:alphaModFix/>
          </a:blip>
          <a:srcRect b="10" l="0" r="0" t="-10"/>
          <a:stretch/>
        </p:blipFill>
        <p:spPr>
          <a:xfrm>
            <a:off x="966700" y="3185200"/>
            <a:ext cx="6160926" cy="17279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0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Output :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submit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Event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13" name="Google Shape;313;p4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5" name="Google Shape;315;p40" title="Screen Recording 2025-07-12 160932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0150" y="1057800"/>
            <a:ext cx="6677124" cy="314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1"/>
          <p:cNvSpPr txBox="1"/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1" name="Google Shape;321;p4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41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b="1" lang="en" sz="1100">
                <a:solidFill>
                  <a:schemeClr val="dk1"/>
                </a:solidFill>
              </a:rPr>
              <a:t>   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Which event is fired when a user presses down on a key on the keyboard?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3" name="Google Shape;323;p41"/>
          <p:cNvSpPr txBox="1"/>
          <p:nvPr/>
        </p:nvSpPr>
        <p:spPr>
          <a:xfrm>
            <a:off x="310900" y="1748350"/>
            <a:ext cx="8084700" cy="14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a) keyup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b) keypress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c) keydown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d) click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4" name="Google Shape;324;p41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6" name="Google Shape;326;p41"/>
          <p:cNvSpPr txBox="1"/>
          <p:nvPr/>
        </p:nvSpPr>
        <p:spPr>
          <a:xfrm>
            <a:off x="310950" y="3313725"/>
            <a:ext cx="626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c) keydown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27" name="Google Shape;327;p41"/>
          <p:cNvGrpSpPr/>
          <p:nvPr/>
        </p:nvGrpSpPr>
        <p:grpSpPr>
          <a:xfrm>
            <a:off x="310900" y="3959263"/>
            <a:ext cx="6005825" cy="548713"/>
            <a:chOff x="310900" y="3959263"/>
            <a:chExt cx="6005825" cy="548713"/>
          </a:xfrm>
        </p:grpSpPr>
        <p:sp>
          <p:nvSpPr>
            <p:cNvPr id="328" name="Google Shape;328;p41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329" name="Google Shape;329;p41"/>
            <p:cNvSpPr txBox="1"/>
            <p:nvPr/>
          </p:nvSpPr>
          <p:spPr>
            <a:xfrm>
              <a:off x="1607925" y="3959275"/>
              <a:ext cx="47088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The </a:t>
              </a:r>
              <a:r>
                <a:rPr b="1"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keydown</a:t>
              </a: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 event is triggered the moment a key is pressed down. </a:t>
              </a:r>
              <a:r>
                <a:rPr b="1"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keyup</a:t>
              </a: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 is fired when the key is released.</a:t>
              </a:r>
              <a:endParaRPr b="1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2"/>
          <p:cNvSpPr txBox="1"/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35" name="Google Shape;335;p4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42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b="1" lang="en" sz="1100">
                <a:solidFill>
                  <a:schemeClr val="dk1"/>
                </a:solidFill>
              </a:rPr>
              <a:t>  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Which event is triggered when the mouse pointer moves onto an element?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7" name="Google Shape;337;p42"/>
          <p:cNvSpPr txBox="1"/>
          <p:nvPr/>
        </p:nvSpPr>
        <p:spPr>
          <a:xfrm>
            <a:off x="310900" y="1748350"/>
            <a:ext cx="8084700" cy="16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a) click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b) mouseout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c) mouseover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d) mousemove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38" name="Google Shape;338;p42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0" name="Google Shape;340;p42"/>
          <p:cNvSpPr txBox="1"/>
          <p:nvPr/>
        </p:nvSpPr>
        <p:spPr>
          <a:xfrm>
            <a:off x="310950" y="3313725"/>
            <a:ext cx="626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c) mouseover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41" name="Google Shape;341;p42"/>
          <p:cNvGrpSpPr/>
          <p:nvPr/>
        </p:nvGrpSpPr>
        <p:grpSpPr>
          <a:xfrm>
            <a:off x="310900" y="3959263"/>
            <a:ext cx="6005825" cy="743413"/>
            <a:chOff x="310900" y="3959263"/>
            <a:chExt cx="6005825" cy="743413"/>
          </a:xfrm>
        </p:grpSpPr>
        <p:sp>
          <p:nvSpPr>
            <p:cNvPr id="342" name="Google Shape;342;p42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343" name="Google Shape;343;p42"/>
            <p:cNvSpPr txBox="1"/>
            <p:nvPr/>
          </p:nvSpPr>
          <p:spPr>
            <a:xfrm>
              <a:off x="1607925" y="3959275"/>
              <a:ext cx="4708800" cy="7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b="1"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mouseover</a:t>
              </a: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 fires once when the mouse enters the element's boundary. </a:t>
              </a:r>
              <a:r>
                <a:rPr b="1"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mousemove</a:t>
              </a: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 fires continuously as the mouse moves over the element.</a:t>
              </a:r>
              <a:endParaRPr b="1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3"/>
          <p:cNvSpPr txBox="1"/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49" name="Google Shape;349;p4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43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b="1" lang="en" sz="1100">
                <a:solidFill>
                  <a:schemeClr val="dk1"/>
                </a:solidFill>
              </a:rPr>
              <a:t>  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1300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b="1" i="1" lang="en" sz="1300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submit</a:t>
            </a:r>
            <a:r>
              <a:rPr b="1" lang="en" sz="1300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 event is typically used with which HTML element?</a:t>
            </a:r>
            <a:r>
              <a:rPr lang="en" sz="1300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1" name="Google Shape;351;p43"/>
          <p:cNvSpPr txBox="1"/>
          <p:nvPr/>
        </p:nvSpPr>
        <p:spPr>
          <a:xfrm>
            <a:off x="310900" y="1748350"/>
            <a:ext cx="8084700" cy="14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a) &lt;button&gt;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b) &lt;input&gt;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c) &lt;div&gt;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d) &lt;form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52" name="Google Shape;352;p43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4" name="Google Shape;354;p43"/>
          <p:cNvSpPr txBox="1"/>
          <p:nvPr/>
        </p:nvSpPr>
        <p:spPr>
          <a:xfrm>
            <a:off x="310950" y="3313725"/>
            <a:ext cx="626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d) &lt;form&gt;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55" name="Google Shape;355;p43"/>
          <p:cNvGrpSpPr/>
          <p:nvPr/>
        </p:nvGrpSpPr>
        <p:grpSpPr>
          <a:xfrm>
            <a:off x="310900" y="3959263"/>
            <a:ext cx="6005825" cy="743413"/>
            <a:chOff x="310900" y="3959263"/>
            <a:chExt cx="6005825" cy="743413"/>
          </a:xfrm>
        </p:grpSpPr>
        <p:sp>
          <p:nvSpPr>
            <p:cNvPr id="356" name="Google Shape;356;p43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357" name="Google Shape;357;p43"/>
            <p:cNvSpPr txBox="1"/>
            <p:nvPr/>
          </p:nvSpPr>
          <p:spPr>
            <a:xfrm>
              <a:off x="1607925" y="3959275"/>
              <a:ext cx="4708800" cy="7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The </a:t>
              </a:r>
              <a:r>
                <a:rPr b="1"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submit</a:t>
              </a: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 event is fired on the </a:t>
              </a:r>
              <a:r>
                <a:rPr b="1"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&lt;form&gt;</a:t>
              </a: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 element itself when the user attempts to submit it, either by clicking a submit button or pressing Enter.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4"/>
          <p:cNvSpPr txBox="1"/>
          <p:nvPr>
            <p:ph type="title"/>
          </p:nvPr>
        </p:nvSpPr>
        <p:spPr>
          <a:xfrm>
            <a:off x="310896" y="21031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63" name="Google Shape;363;p4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44"/>
          <p:cNvSpPr txBox="1"/>
          <p:nvPr/>
        </p:nvSpPr>
        <p:spPr>
          <a:xfrm>
            <a:off x="358850" y="1181200"/>
            <a:ext cx="8520600" cy="3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MDN Web Docs</a:t>
            </a:r>
            <a:r>
              <a:rPr b="1" lang="en" sz="1100">
                <a:solidFill>
                  <a:schemeClr val="dk1"/>
                </a:solidFill>
              </a:rPr>
              <a:t> :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Comprehensive and official documentation for JS.</a:t>
            </a:r>
            <a:br>
              <a:rPr i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https://developer.mozilla.org/en-US/docs/Web/JavaScript</a:t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W3Schools – JS Tutorial :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Beginner-friendly JS tutorials with examples and interactive editors.</a:t>
            </a:r>
            <a:b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5"/>
              </a:rPr>
              <a:t> https://www.w3schools.com/js/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JavaScript.info -</a:t>
            </a:r>
            <a:r>
              <a:rPr b="1"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b="1"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comprehensive tutorial-style website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that covers core JavaScript concepts in depth.</a:t>
            </a:r>
            <a:endParaRPr i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🔗</a:t>
            </a:r>
            <a:r>
              <a:rPr lang="en" sz="1100" u="sng">
                <a:solidFill>
                  <a:schemeClr val="hlink"/>
                </a:solidFill>
                <a:hlinkClick r:id="rId6"/>
              </a:rPr>
              <a:t>https://javascript.info/</a:t>
            </a:r>
            <a:endParaRPr i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5" name="Google Shape;365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45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371" name="Google Shape;371;p45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45"/>
          <p:cNvSpPr txBox="1"/>
          <p:nvPr/>
        </p:nvSpPr>
        <p:spPr>
          <a:xfrm>
            <a:off x="4407400" y="2020825"/>
            <a:ext cx="46362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373" name="Google Shape;373;p45"/>
          <p:cNvGrpSpPr/>
          <p:nvPr/>
        </p:nvGrpSpPr>
        <p:grpSpPr>
          <a:xfrm>
            <a:off x="4572000" y="4881413"/>
            <a:ext cx="1607600" cy="292500"/>
            <a:chOff x="5060775" y="4881413"/>
            <a:chExt cx="1607600" cy="292500"/>
          </a:xfrm>
        </p:grpSpPr>
        <p:sp>
          <p:nvSpPr>
            <p:cNvPr id="374" name="Google Shape;374;p45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375" name="Google Shape;375;p45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6" name="Google Shape;376;p45"/>
          <p:cNvSpPr txBox="1"/>
          <p:nvPr/>
        </p:nvSpPr>
        <p:spPr>
          <a:xfrm>
            <a:off x="7326500" y="4881425"/>
            <a:ext cx="234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accent2"/>
                </a:solidFill>
              </a:rPr>
              <a:t>Sohna Road,Gurugram,Haryana 122103</a:t>
            </a:r>
            <a:endParaRPr sz="700">
              <a:solidFill>
                <a:schemeClr val="accent2"/>
              </a:solidFill>
            </a:endParaRPr>
          </a:p>
        </p:txBody>
      </p:sp>
      <p:pic>
        <p:nvPicPr>
          <p:cNvPr id="377" name="Google Shape;377;p45" title="locati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29300" y="4959088"/>
            <a:ext cx="137160" cy="137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45" title="Wavy_Trv-02_Single-09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50000" y="2536688"/>
            <a:ext cx="2463299" cy="222785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45"/>
          <p:cNvSpPr txBox="1"/>
          <p:nvPr>
            <p:ph idx="12" type="sldNum"/>
          </p:nvPr>
        </p:nvSpPr>
        <p:spPr>
          <a:xfrm>
            <a:off x="8494883" y="464826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0" name="Google Shape;380;p45"/>
          <p:cNvSpPr txBox="1"/>
          <p:nvPr/>
        </p:nvSpPr>
        <p:spPr>
          <a:xfrm>
            <a:off x="1033275" y="1691650"/>
            <a:ext cx="2313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Thanks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For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Watching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