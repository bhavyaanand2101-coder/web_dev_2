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y="5143500" cx="9144000"/>
  <p:notesSz cx="6858000" cy="9144000"/>
  <p:embeddedFontLst>
    <p:embeddedFont>
      <p:font typeface="Roboto Slab"/>
      <p:regular r:id="rId24"/>
      <p:bold r:id="rId25"/>
    </p:embeddedFont>
    <p:embeddedFont>
      <p:font typeface="Poppins"/>
      <p:regular r:id="rId26"/>
      <p:bold r:id="rId27"/>
      <p:italic r:id="rId28"/>
      <p:boldItalic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4B68107D-D1E6-4068-9835-AE50507548B3}">
  <a:tblStyle styleId="{4B68107D-D1E6-4068-9835-AE50507548B3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font" Target="fonts/RobotoSlab-regular.fntdata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Poppins-regular.fntdata"/><Relationship Id="rId25" Type="http://schemas.openxmlformats.org/officeDocument/2006/relationships/font" Target="fonts/RobotoSlab-bold.fntdata"/><Relationship Id="rId28" Type="http://schemas.openxmlformats.org/officeDocument/2006/relationships/font" Target="fonts/Poppins-italic.fntdata"/><Relationship Id="rId27" Type="http://schemas.openxmlformats.org/officeDocument/2006/relationships/font" Target="fonts/Poppins-bold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Poppins-bold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bc73e0d15b_0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bc73e0d15b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bc73e0d15b_0_4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bc73e0d15b_0_4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bc73e0d15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bc73e0d15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bc73e0d15b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bc73e0d15b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bc73e0d15b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bc73e0d15b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bc73e0d15b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bc73e0d15b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bc73e0d15b_0_2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bc73e0d15b_0_2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bc73e0d15b_0_2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bc73e0d15b_0_2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bc73e0d15b_0_2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bc73e0d15b_0_2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bc73e0d15b_0_1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3bc73e0d15b_0_1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bc73e0d15b_0_1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bc73e0d15b_0_1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bc73e0d15b_0_1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3bc73e0d15b_0_1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bc73e0d15b_0_2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bc73e0d15b_0_2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bc73e0d15b_0_3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3bc73e0d15b_0_3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bc73e0d15b_0_3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3bc73e0d15b_0_3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3bc73e0d15b_0_4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g3bc73e0d15b_0_4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bc73e0d15b_0_4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3bc73e0d15b_0_4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Relationship Id="rId4" Type="http://schemas.openxmlformats.org/officeDocument/2006/relationships/image" Target="../media/image14.png"/><Relationship Id="rId5" Type="http://schemas.openxmlformats.org/officeDocument/2006/relationships/image" Target="../media/image8.png"/><Relationship Id="rId6" Type="http://schemas.openxmlformats.org/officeDocument/2006/relationships/image" Target="../media/image4.png"/><Relationship Id="rId7" Type="http://schemas.openxmlformats.org/officeDocument/2006/relationships/image" Target="../media/image17.png"/><Relationship Id="rId8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1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image" Target="../media/image1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Relationship Id="rId4" Type="http://schemas.openxmlformats.org/officeDocument/2006/relationships/image" Target="../media/image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Relationship Id="rId4" Type="http://schemas.openxmlformats.org/officeDocument/2006/relationships/image" Target="../media/image1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Relationship Id="rId4" Type="http://schemas.openxmlformats.org/officeDocument/2006/relationships/image" Target="../media/image1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Relationship Id="rId4" Type="http://schemas.openxmlformats.org/officeDocument/2006/relationships/image" Target="../media/image16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Relationship Id="rId4" Type="http://schemas.openxmlformats.org/officeDocument/2006/relationships/hyperlink" Target="https://developer.mozilla.org/en-US/docs/Web/JavaScript" TargetMode="External"/><Relationship Id="rId5" Type="http://schemas.openxmlformats.org/officeDocument/2006/relationships/hyperlink" Target="https://www.w3schools.com/js/" TargetMode="External"/><Relationship Id="rId6" Type="http://schemas.openxmlformats.org/officeDocument/2006/relationships/hyperlink" Target="https://react.dev/" TargetMode="Externa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5.png"/><Relationship Id="rId4" Type="http://schemas.openxmlformats.org/officeDocument/2006/relationships/image" Target="../media/image14.png"/><Relationship Id="rId5" Type="http://schemas.openxmlformats.org/officeDocument/2006/relationships/image" Target="../media/image8.png"/><Relationship Id="rId6" Type="http://schemas.openxmlformats.org/officeDocument/2006/relationships/image" Target="../media/image4.png"/><Relationship Id="rId7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 title="subtle-prism (2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50">
            <a:off x="-395563" y="395600"/>
            <a:ext cx="5157175" cy="4365975"/>
          </a:xfrm>
          <a:prstGeom prst="flowChartManualInput">
            <a:avLst/>
          </a:prstGeom>
          <a:noFill/>
          <a:ln>
            <a:noFill/>
          </a:ln>
        </p:spPr>
      </p:pic>
      <p:pic>
        <p:nvPicPr>
          <p:cNvPr id="55" name="Google Shape;55;p13" title="KRMU_Full_heading_Logo-removebg-preview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06125" y="452500"/>
            <a:ext cx="5337876" cy="1363050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13"/>
          <p:cNvSpPr txBox="1"/>
          <p:nvPr/>
        </p:nvSpPr>
        <p:spPr>
          <a:xfrm>
            <a:off x="4405600" y="2017650"/>
            <a:ext cx="4583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173034"/>
                </a:solidFill>
              </a:rPr>
              <a:t>Course - Web Development - II </a:t>
            </a:r>
            <a:endParaRPr b="1" sz="2400">
              <a:solidFill>
                <a:srgbClr val="173034"/>
              </a:solidFill>
            </a:endParaRPr>
          </a:p>
        </p:txBody>
      </p:sp>
      <p:grpSp>
        <p:nvGrpSpPr>
          <p:cNvPr id="57" name="Google Shape;57;p13"/>
          <p:cNvGrpSpPr/>
          <p:nvPr/>
        </p:nvGrpSpPr>
        <p:grpSpPr>
          <a:xfrm>
            <a:off x="4572000" y="4882896"/>
            <a:ext cx="1607600" cy="292500"/>
            <a:chOff x="5060775" y="4881413"/>
            <a:chExt cx="1607600" cy="292500"/>
          </a:xfrm>
        </p:grpSpPr>
        <p:sp>
          <p:nvSpPr>
            <p:cNvPr id="58" name="Google Shape;58;p13"/>
            <p:cNvSpPr txBox="1"/>
            <p:nvPr/>
          </p:nvSpPr>
          <p:spPr>
            <a:xfrm>
              <a:off x="5165675" y="4881413"/>
              <a:ext cx="1502700" cy="29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>
                  <a:solidFill>
                    <a:schemeClr val="dk1"/>
                  </a:solidFill>
                </a:rPr>
                <a:t>welcome@krmangalam.edu.in</a:t>
              </a:r>
              <a:endParaRPr sz="900">
                <a:solidFill>
                  <a:schemeClr val="dk1"/>
                </a:solidFill>
              </a:endParaRPr>
            </a:p>
          </p:txBody>
        </p:sp>
        <p:pic>
          <p:nvPicPr>
            <p:cNvPr id="59" name="Google Shape;59;p13" title="email.png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5060775" y="4966738"/>
              <a:ext cx="137160" cy="13716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60" name="Google Shape;60;p13"/>
          <p:cNvGrpSpPr/>
          <p:nvPr/>
        </p:nvGrpSpPr>
        <p:grpSpPr>
          <a:xfrm>
            <a:off x="7229300" y="4881425"/>
            <a:ext cx="1926000" cy="292500"/>
            <a:chOff x="7229300" y="4881425"/>
            <a:chExt cx="1926000" cy="292500"/>
          </a:xfrm>
        </p:grpSpPr>
        <p:sp>
          <p:nvSpPr>
            <p:cNvPr id="61" name="Google Shape;61;p13"/>
            <p:cNvSpPr txBox="1"/>
            <p:nvPr/>
          </p:nvSpPr>
          <p:spPr>
            <a:xfrm>
              <a:off x="7326500" y="4881425"/>
              <a:ext cx="1828800" cy="29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>
                  <a:solidFill>
                    <a:schemeClr val="accent2"/>
                  </a:solidFill>
                </a:rPr>
                <a:t>Sohna Road,Gurugram,Haryana 122103</a:t>
              </a:r>
              <a:endParaRPr sz="700">
                <a:solidFill>
                  <a:schemeClr val="accent2"/>
                </a:solidFill>
              </a:endParaRPr>
            </a:p>
          </p:txBody>
        </p:sp>
        <p:pic>
          <p:nvPicPr>
            <p:cNvPr id="62" name="Google Shape;62;p13" title="location.png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7229300" y="4965192"/>
              <a:ext cx="137160" cy="13716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63" name="Google Shape;63;p13" title="Untitled (2).png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042538" y="2662400"/>
            <a:ext cx="3309826" cy="2000826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65" name="Google Shape;65;p13"/>
          <p:cNvGrpSpPr/>
          <p:nvPr/>
        </p:nvGrpSpPr>
        <p:grpSpPr>
          <a:xfrm>
            <a:off x="309849" y="1233369"/>
            <a:ext cx="3415942" cy="2387863"/>
            <a:chOff x="788865" y="1515488"/>
            <a:chExt cx="4594407" cy="2387863"/>
          </a:xfrm>
        </p:grpSpPr>
        <p:sp>
          <p:nvSpPr>
            <p:cNvPr id="66" name="Google Shape;66;p13"/>
            <p:cNvSpPr txBox="1"/>
            <p:nvPr/>
          </p:nvSpPr>
          <p:spPr>
            <a:xfrm>
              <a:off x="788865" y="1515488"/>
              <a:ext cx="3197700" cy="600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700">
                  <a:solidFill>
                    <a:schemeClr val="lt1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Lecture 20</a:t>
              </a:r>
              <a:r>
                <a:rPr lang="en" sz="2700">
                  <a:solidFill>
                    <a:schemeClr val="lt1"/>
                  </a:solidFill>
                </a:rPr>
                <a:t>:</a:t>
              </a:r>
              <a:endParaRPr sz="2200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endParaRPr>
            </a:p>
          </p:txBody>
        </p:sp>
        <p:sp>
          <p:nvSpPr>
            <p:cNvPr id="67" name="Google Shape;67;p13"/>
            <p:cNvSpPr txBox="1"/>
            <p:nvPr/>
          </p:nvSpPr>
          <p:spPr>
            <a:xfrm>
              <a:off x="788875" y="3475300"/>
              <a:ext cx="699000" cy="41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500">
                  <a:solidFill>
                    <a:schemeClr val="lt1"/>
                  </a:solidFill>
                  <a:latin typeface="Poppins"/>
                  <a:ea typeface="Poppins"/>
                  <a:cs typeface="Poppins"/>
                  <a:sym typeface="Poppins"/>
                </a:rPr>
                <a:t>-By</a:t>
              </a:r>
              <a:endParaRPr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68" name="Google Shape;68;p13"/>
            <p:cNvSpPr txBox="1"/>
            <p:nvPr/>
          </p:nvSpPr>
          <p:spPr>
            <a:xfrm>
              <a:off x="790272" y="2145213"/>
              <a:ext cx="4593000" cy="923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2400">
                  <a:solidFill>
                    <a:schemeClr val="lt1"/>
                  </a:solidFill>
                  <a:latin typeface="Poppins"/>
                  <a:ea typeface="Poppins"/>
                  <a:cs typeface="Poppins"/>
                  <a:sym typeface="Poppins"/>
                </a:rPr>
                <a:t>React Features I</a:t>
              </a:r>
              <a:endPara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t/>
              </a:r>
              <a:endPara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69" name="Google Shape;69;p13"/>
            <p:cNvSpPr txBox="1"/>
            <p:nvPr/>
          </p:nvSpPr>
          <p:spPr>
            <a:xfrm>
              <a:off x="1330896" y="3491750"/>
              <a:ext cx="3313200" cy="41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lt1"/>
                  </a:solidFill>
                  <a:latin typeface="Poppins"/>
                  <a:ea typeface="Poppins"/>
                  <a:cs typeface="Poppins"/>
                  <a:sym typeface="Poppins"/>
                </a:rPr>
                <a:t>Instructor Name</a:t>
              </a:r>
              <a:endParaRPr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pic>
        <p:nvPicPr>
          <p:cNvPr id="70" name="Google Shape;70;p13" title="png-transparent-js-react-js-logo-react-react-native-logos-icon-removebg-preview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033272" y="3666744"/>
            <a:ext cx="521207" cy="5212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fade thruBlk="1"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4"/>
          <p:cNvSpPr txBox="1"/>
          <p:nvPr>
            <p:ph type="title"/>
          </p:nvPr>
        </p:nvSpPr>
        <p:spPr>
          <a:xfrm>
            <a:off x="311700" y="213250"/>
            <a:ext cx="747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b="1" lang="en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r>
              <a:rPr b="1" lang="en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Table of Contents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6" name="Google Shape;76;p14"/>
          <p:cNvSpPr txBox="1"/>
          <p:nvPr>
            <p:ph idx="1" type="body"/>
          </p:nvPr>
        </p:nvSpPr>
        <p:spPr>
          <a:xfrm>
            <a:off x="311700" y="12347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73239"/>
              </a:buClr>
              <a:buSzPts val="1800"/>
              <a:buFont typeface="Poppins"/>
              <a:buChar char="●"/>
            </a:pP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Virtual DOM vs. Real DOM.</a:t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73239"/>
              </a:buClr>
              <a:buSzPts val="1800"/>
              <a:buFont typeface="Poppins"/>
              <a:buChar char="●"/>
            </a:pP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Reconciliation</a:t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73239"/>
              </a:buClr>
              <a:buSzPts val="1800"/>
              <a:buFont typeface="Poppins"/>
              <a:buChar char="●"/>
            </a:pP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SPA</a:t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73239"/>
              </a:buClr>
              <a:buSzPts val="1800"/>
              <a:buFont typeface="Poppins"/>
              <a:buChar char="●"/>
            </a:pP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JSX Syntax &amp; Expressions.</a:t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73239"/>
              </a:buClr>
              <a:buSzPts val="1800"/>
              <a:buFont typeface="Poppins"/>
              <a:buChar char="●"/>
            </a:pP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References.</a:t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73239"/>
              </a:buClr>
              <a:buSzPts val="1800"/>
              <a:buFont typeface="Poppins"/>
              <a:buChar char="●"/>
            </a:pP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The End.</a:t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77" name="Google Shape;77;p14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7300" y="97175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3250"/>
            <a:ext cx="265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b="1" lang="en" sz="2200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endParaRPr b="1" sz="2200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84" name="Google Shape;84;p15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7300" y="97175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6" name="Google Shape;86;p15"/>
          <p:cNvSpPr txBox="1"/>
          <p:nvPr/>
        </p:nvSpPr>
        <p:spPr>
          <a:xfrm>
            <a:off x="576075" y="210300"/>
            <a:ext cx="7223700" cy="8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900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What would happen if you remodeled(Rebuild) the entire room for every small change?</a:t>
            </a:r>
            <a:endParaRPr b="1" sz="2300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7" name="Google Shape;87;p15"/>
          <p:cNvSpPr txBox="1"/>
          <p:nvPr/>
        </p:nvSpPr>
        <p:spPr>
          <a:xfrm>
            <a:off x="311700" y="1371600"/>
            <a:ext cx="5162100" cy="267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It would be time-consuming, inefficient, and exhausting — like reloading the entire web page for one small UI change. </a:t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React avoids this by using the Virtual DOM.</a:t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3810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The </a:t>
            </a: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blueprint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represents the </a:t>
            </a: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Virtual DOM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— a copy of the real UI used to track and compare changes.</a:t>
            </a:r>
            <a:endParaRPr sz="1700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88" name="Google Shape;88;p15" title="20250726_1536_DOM Efficiency Visualization_simple_compose_01k133383pf6qrnnc7b8tdyn52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57700" y="1156075"/>
            <a:ext cx="3056699" cy="3664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6"/>
          <p:cNvSpPr txBox="1"/>
          <p:nvPr>
            <p:ph type="title"/>
          </p:nvPr>
        </p:nvSpPr>
        <p:spPr>
          <a:xfrm>
            <a:off x="310900" y="197325"/>
            <a:ext cx="747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/>
              <a:t> </a:t>
            </a:r>
            <a:r>
              <a:rPr b="1" lang="en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Virtual DOM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94" name="Google Shape;94;p16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4696" y="100584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6" name="Google Shape;96;p16"/>
          <p:cNvSpPr txBox="1"/>
          <p:nvPr/>
        </p:nvSpPr>
        <p:spPr>
          <a:xfrm>
            <a:off x="310900" y="1234775"/>
            <a:ext cx="75438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The </a:t>
            </a: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Virtual DOM (VDOM)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is a </a:t>
            </a: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lightweight copy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of the </a:t>
            </a: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real DOM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(Document Object Model) used by React to make UI updates faster and more efficient.</a:t>
            </a:r>
            <a:endParaRPr sz="2100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7" name="Google Shape;97;p16"/>
          <p:cNvSpPr txBox="1"/>
          <p:nvPr/>
        </p:nvSpPr>
        <p:spPr>
          <a:xfrm>
            <a:off x="310900" y="2084150"/>
            <a:ext cx="7608900" cy="232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React creates a </a:t>
            </a: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virtual copy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of the real DOM in memory.</a:t>
            </a:r>
            <a:b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</a:b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When something changes in the UI (e.g., a user clicks “Like”), React:</a:t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273239"/>
              </a:buClr>
              <a:buSzPts val="1400"/>
              <a:buChar char="●"/>
            </a:pP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Updates the </a:t>
            </a: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Virtual DOM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first.</a:t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73239"/>
              </a:buClr>
              <a:buSzPts val="1400"/>
              <a:buChar char="●"/>
            </a:pP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Compares the </a:t>
            </a: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old Virtual DOM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with the </a:t>
            </a: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new Virtual DOM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(called </a:t>
            </a: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diffing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).</a:t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73239"/>
              </a:buClr>
              <a:buSzPts val="1400"/>
              <a:buFont typeface="Poppins"/>
              <a:buChar char="●"/>
            </a:pP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Finds what actually changed.</a:t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Then, it updates </a:t>
            </a: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only that part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of the </a:t>
            </a: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real DOM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, not the whole page.</a:t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p:transition spd="med">
    <p:fade thruBlk="1"/>
  </p:transition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7"/>
          <p:cNvSpPr txBox="1"/>
          <p:nvPr>
            <p:ph type="title"/>
          </p:nvPr>
        </p:nvSpPr>
        <p:spPr>
          <a:xfrm>
            <a:off x="310900" y="197325"/>
            <a:ext cx="747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/>
              <a:t> </a:t>
            </a:r>
            <a:r>
              <a:rPr b="1" lang="en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Why is the Virtual DOM important?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03" name="Google Shape;103;p17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4696" y="100584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5" name="Google Shape;105;p17"/>
          <p:cNvSpPr txBox="1"/>
          <p:nvPr/>
        </p:nvSpPr>
        <p:spPr>
          <a:xfrm>
            <a:off x="310900" y="1371150"/>
            <a:ext cx="7470600" cy="209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73239"/>
              </a:buClr>
              <a:buSzPts val="1800"/>
              <a:buFont typeface="Poppins"/>
              <a:buChar char="●"/>
            </a:pPr>
            <a:r>
              <a:rPr lang="en" sz="1800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Faster updates</a:t>
            </a:r>
            <a:endParaRPr sz="1800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273239"/>
              </a:buClr>
              <a:buSzPts val="1800"/>
              <a:buFont typeface="Poppins"/>
              <a:buChar char="●"/>
            </a:pPr>
            <a:r>
              <a:rPr lang="en" sz="1800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Better performance</a:t>
            </a:r>
            <a:endParaRPr sz="1800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273239"/>
              </a:buClr>
              <a:buSzPts val="1800"/>
              <a:buFont typeface="Poppins"/>
              <a:buChar char="●"/>
            </a:pPr>
            <a:r>
              <a:rPr lang="en" sz="1800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Smoother user experience</a:t>
            </a:r>
            <a:endParaRPr sz="1800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Clr>
                <a:srgbClr val="273239"/>
              </a:buClr>
              <a:buSzPts val="1800"/>
              <a:buFont typeface="Poppins"/>
              <a:buChar char="●"/>
            </a:pPr>
            <a:r>
              <a:rPr lang="en" sz="1800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No full-page reloads</a:t>
            </a:r>
            <a:endParaRPr sz="1800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p:transition spd="med">
    <p:fade thruBlk="1"/>
  </p:transition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8"/>
          <p:cNvSpPr txBox="1"/>
          <p:nvPr>
            <p:ph type="title"/>
          </p:nvPr>
        </p:nvSpPr>
        <p:spPr>
          <a:xfrm>
            <a:off x="310900" y="197325"/>
            <a:ext cx="747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/>
              <a:t> </a:t>
            </a:r>
            <a:r>
              <a:rPr b="1" lang="en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Virtual DOM vs Real DOM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11" name="Google Shape;111;p18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4696" y="100584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aphicFrame>
        <p:nvGraphicFramePr>
          <p:cNvPr id="113" name="Google Shape;113;p18"/>
          <p:cNvGraphicFramePr/>
          <p:nvPr/>
        </p:nvGraphicFramePr>
        <p:xfrm>
          <a:off x="310900" y="10989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{4B68107D-D1E6-4068-9835-AE50507548B3}</a:tableStyleId>
              </a:tblPr>
              <a:tblGrid>
                <a:gridCol w="1425825"/>
                <a:gridCol w="3223225"/>
                <a:gridCol w="3809150"/>
              </a:tblGrid>
              <a:tr h="4119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Feature</a:t>
                      </a:r>
                      <a:endParaRPr b="1" sz="12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Real DOM</a:t>
                      </a:r>
                      <a:endParaRPr b="1" sz="12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Virtual DOM</a:t>
                      </a:r>
                      <a:endParaRPr b="1" sz="12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/>
                </a:tc>
              </a:tr>
              <a:tr h="571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What it is</a:t>
                      </a:r>
                      <a:endParaRPr b="1" sz="11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solidFill>
                      <a:srgbClr val="FFFB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The actual DOM structure rendered in the browser</a:t>
                      </a:r>
                      <a:endParaRPr sz="12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solidFill>
                      <a:srgbClr val="F8FD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A lightweight copy of the Real DOM stored in memory</a:t>
                      </a:r>
                      <a:endParaRPr sz="12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solidFill>
                      <a:srgbClr val="FFFBEE"/>
                    </a:solidFill>
                  </a:tcPr>
                </a:tc>
              </a:tr>
              <a:tr h="571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Update Speed</a:t>
                      </a:r>
                      <a:endParaRPr b="1" sz="11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solidFill>
                      <a:srgbClr val="FFFB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Slow — updates the whole tree or large parts</a:t>
                      </a:r>
                      <a:endParaRPr sz="12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solidFill>
                      <a:srgbClr val="F8FD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Fast — updates only the changed part</a:t>
                      </a:r>
                      <a:endParaRPr sz="12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solidFill>
                      <a:srgbClr val="FFFBEE"/>
                    </a:solidFill>
                  </a:tcPr>
                </a:tc>
              </a:tr>
              <a:tr h="571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Efficiency</a:t>
                      </a:r>
                      <a:endParaRPr b="1" sz="11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solidFill>
                      <a:srgbClr val="FFFB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Less efficient, causes reflows/repaints</a:t>
                      </a:r>
                      <a:endParaRPr sz="12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solidFill>
                      <a:srgbClr val="F8FD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Highly efficient, minimizes direct DOM operations</a:t>
                      </a:r>
                      <a:endParaRPr sz="12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solidFill>
                      <a:srgbClr val="FFFBEE"/>
                    </a:solidFill>
                  </a:tcPr>
                </a:tc>
              </a:tr>
              <a:tr h="381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Created by</a:t>
                      </a:r>
                      <a:endParaRPr b="1" sz="11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solidFill>
                      <a:srgbClr val="FFFB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Browser</a:t>
                      </a:r>
                      <a:endParaRPr sz="12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solidFill>
                      <a:srgbClr val="F8FD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React (in memory)</a:t>
                      </a:r>
                      <a:endParaRPr sz="12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solidFill>
                      <a:srgbClr val="FFFBEE"/>
                    </a:solidFill>
                  </a:tcPr>
                </a:tc>
              </a:tr>
              <a:tr h="571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Update Process</a:t>
                      </a:r>
                      <a:endParaRPr b="1" sz="11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solidFill>
                      <a:srgbClr val="FFFB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Directly updates the UI</a:t>
                      </a:r>
                      <a:endParaRPr sz="12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solidFill>
                      <a:srgbClr val="F8FD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Compares old and new Virtual DOM, then updates Real DOM minimally</a:t>
                      </a:r>
                      <a:endParaRPr sz="12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solidFill>
                      <a:srgbClr val="FFFBEE"/>
                    </a:solidFill>
                  </a:tcPr>
                </a:tc>
              </a:tr>
              <a:tr h="571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Performance</a:t>
                      </a:r>
                      <a:endParaRPr b="1" sz="11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solidFill>
                      <a:srgbClr val="FFFB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Can slow down large applications</a:t>
                      </a:r>
                      <a:endParaRPr sz="12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solidFill>
                      <a:srgbClr val="F8FD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Optimized for better performance in dynamic apps</a:t>
                      </a:r>
                      <a:endParaRPr sz="12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solidFill>
                      <a:srgbClr val="FFFBE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fade thruBlk="1"/>
  </p:transition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9"/>
          <p:cNvSpPr txBox="1"/>
          <p:nvPr>
            <p:ph type="title"/>
          </p:nvPr>
        </p:nvSpPr>
        <p:spPr>
          <a:xfrm>
            <a:off x="310900" y="197325"/>
            <a:ext cx="747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/>
              <a:t> </a:t>
            </a:r>
            <a:r>
              <a:rPr b="1" lang="en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Reconciliation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19" name="Google Shape;119;p19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4696" y="100584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1" name="Google Shape;121;p19"/>
          <p:cNvSpPr txBox="1"/>
          <p:nvPr/>
        </p:nvSpPr>
        <p:spPr>
          <a:xfrm>
            <a:off x="310900" y="1305525"/>
            <a:ext cx="7543800" cy="307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273239"/>
              </a:buClr>
              <a:buSzPts val="1400"/>
              <a:buFont typeface="Poppins"/>
              <a:buChar char="●"/>
            </a:pP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When the state of your application changes, React creates a </a:t>
            </a: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new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Virtual DOM tree.</a:t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273239"/>
              </a:buClr>
              <a:buSzPts val="1400"/>
              <a:buFont typeface="Poppins"/>
              <a:buChar char="●"/>
            </a:pP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React then compares this new VDOM with the previous VDOM. This comparison process is called </a:t>
            </a: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"diffing."</a:t>
            </a:r>
            <a:endParaRPr b="1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273239"/>
              </a:buClr>
              <a:buSzPts val="1400"/>
              <a:buFont typeface="Poppins"/>
              <a:buChar char="●"/>
            </a:pP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React figures out the absolute minimum number of changes required to make the Real DOM look like the new VDOM.</a:t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1000"/>
              </a:spcAft>
              <a:buClr>
                <a:srgbClr val="273239"/>
              </a:buClr>
              <a:buSzPts val="1400"/>
              <a:buFont typeface="Poppins"/>
              <a:buChar char="●"/>
            </a:pP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It then </a:t>
            </a: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batches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these changes and updates the Real DOM in one single, efficient operation.</a:t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p:transition spd="med">
    <p:fade thruBlk="1"/>
  </p:transition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0"/>
          <p:cNvSpPr txBox="1"/>
          <p:nvPr>
            <p:ph type="title"/>
          </p:nvPr>
        </p:nvSpPr>
        <p:spPr>
          <a:xfrm>
            <a:off x="310900" y="197325"/>
            <a:ext cx="747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/>
              <a:t> </a:t>
            </a:r>
            <a:r>
              <a:rPr b="1" lang="en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SPA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27" name="Google Shape;127;p20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4696" y="100584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9" name="Google Shape;129;p20"/>
          <p:cNvSpPr txBox="1"/>
          <p:nvPr/>
        </p:nvSpPr>
        <p:spPr>
          <a:xfrm>
            <a:off x="310900" y="1124625"/>
            <a:ext cx="7543800" cy="287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An </a:t>
            </a:r>
            <a:r>
              <a:rPr b="1"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SPA</a:t>
            </a: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is a web app where: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The </a:t>
            </a:r>
            <a:r>
              <a:rPr b="1"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page loads once</a:t>
            </a:r>
            <a:endParaRPr b="1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After that, </a:t>
            </a:r>
            <a:r>
              <a:rPr b="1"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only data changes</a:t>
            </a: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, not the whole page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</a:pP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No full-page refresh like traditional websites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Example: </a:t>
            </a:r>
            <a:r>
              <a:rPr b="1"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Gmail, Instagram, WhatsApp Web</a:t>
            </a:r>
            <a:endParaRPr b="1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i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 React SPA is a web application that loads a single HTML page and dynamically updates content without reloading the page.</a:t>
            </a:r>
            <a:endParaRPr b="1" i="1" sz="12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p:transition spd="med">
    <p:fade thruBlk="1"/>
  </p:transition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1"/>
          <p:cNvSpPr txBox="1"/>
          <p:nvPr>
            <p:ph type="title"/>
          </p:nvPr>
        </p:nvSpPr>
        <p:spPr>
          <a:xfrm>
            <a:off x="310900" y="197325"/>
            <a:ext cx="747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/>
              <a:t> </a:t>
            </a:r>
            <a:r>
              <a:rPr b="1" lang="en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How React makes SPA possible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35" name="Google Shape;135;p21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4696" y="100584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7" name="Google Shape;137;p21"/>
          <p:cNvSpPr txBox="1"/>
          <p:nvPr/>
        </p:nvSpPr>
        <p:spPr>
          <a:xfrm>
            <a:off x="310900" y="1124625"/>
            <a:ext cx="7543800" cy="33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React updates </a:t>
            </a:r>
            <a:r>
              <a:rPr b="1"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only the required part of the UI</a:t>
            </a: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, not the whole page.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Uses </a:t>
            </a:r>
            <a:r>
              <a:rPr b="1"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Virtual DOM.</a:t>
            </a:r>
            <a:endParaRPr b="1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</a:pP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Fast UI updates.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</a:pP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Smooth user experience.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oppins"/>
              <a:buChar char="●"/>
            </a:pP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Uses </a:t>
            </a:r>
            <a:r>
              <a:rPr b="1"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BrowserRouter</a:t>
            </a: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for client-side routing without page reload.</a:t>
            </a:r>
            <a:endParaRPr sz="17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rgbClr val="E06666"/>
                </a:solidFill>
                <a:latin typeface="Poppins"/>
                <a:ea typeface="Poppins"/>
                <a:cs typeface="Poppins"/>
                <a:sym typeface="Poppins"/>
              </a:rPr>
              <a:t>One downside </a:t>
            </a:r>
            <a:endParaRPr b="1">
              <a:solidFill>
                <a:srgbClr val="E06666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b="1" lang="en"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SEO is harder</a:t>
            </a:r>
            <a:r>
              <a:rPr lang="en"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(but solvable with SSR / Next.js)</a:t>
            </a:r>
            <a:endParaRPr sz="16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p:transition spd="med">
    <p:fade thruBlk="1"/>
  </p:transition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2"/>
          <p:cNvSpPr txBox="1"/>
          <p:nvPr>
            <p:ph type="title"/>
          </p:nvPr>
        </p:nvSpPr>
        <p:spPr>
          <a:xfrm>
            <a:off x="310900" y="197325"/>
            <a:ext cx="747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/>
              <a:t> </a:t>
            </a:r>
            <a:r>
              <a:rPr b="1" lang="en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JSX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43" name="Google Shape;143;p22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4696" y="100584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5" name="Google Shape;145;p22"/>
          <p:cNvSpPr txBox="1"/>
          <p:nvPr/>
        </p:nvSpPr>
        <p:spPr>
          <a:xfrm>
            <a:off x="310900" y="1234440"/>
            <a:ext cx="7543800" cy="210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JSX stands for JavaScript XML.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It's a syntax extension for JavaScript.</a:t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It is </a:t>
            </a: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not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HTML. It gets transpiled by Babel into regular </a:t>
            </a: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React.createElement()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function calls.</a:t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JSX (JavaScript XML)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lets you </a:t>
            </a: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write HTML-like code inside JavaScript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— used in React to describe what the UI should look like.</a:t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Syntax :</a:t>
            </a:r>
            <a:endParaRPr b="1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46" name="Google Shape;146;p22" title="carbon - 2025-07-26T162509.892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52700" y="3027675"/>
            <a:ext cx="3924500" cy="1006900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22"/>
          <p:cNvSpPr txBox="1"/>
          <p:nvPr/>
        </p:nvSpPr>
        <p:spPr>
          <a:xfrm>
            <a:off x="353900" y="4301975"/>
            <a:ext cx="76524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...directly inside your JavaScript code — instead of using document.createElement() or other complex JS methods.</a:t>
            </a:r>
            <a:endParaRPr sz="2100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p:transition spd="med">
    <p:fade thruBlk="1"/>
  </p:transition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3"/>
          <p:cNvSpPr txBox="1"/>
          <p:nvPr>
            <p:ph type="title"/>
          </p:nvPr>
        </p:nvSpPr>
        <p:spPr>
          <a:xfrm>
            <a:off x="310900" y="197325"/>
            <a:ext cx="747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/>
              <a:t> </a:t>
            </a:r>
            <a:r>
              <a:rPr b="1" lang="en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JSX Expressions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53" name="Google Shape;153;p23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4696" y="100584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5" name="Google Shape;155;p23"/>
          <p:cNvSpPr txBox="1"/>
          <p:nvPr/>
        </p:nvSpPr>
        <p:spPr>
          <a:xfrm>
            <a:off x="310900" y="1234440"/>
            <a:ext cx="75438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Expressions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in JSX are snippets of JavaScript that you can </a:t>
            </a: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embed inside curly braces {}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to make your UI dynamic.</a:t>
            </a:r>
            <a:endParaRPr sz="2100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56" name="Google Shape;156;p23"/>
          <p:cNvSpPr txBox="1"/>
          <p:nvPr/>
        </p:nvSpPr>
        <p:spPr>
          <a:xfrm>
            <a:off x="310900" y="2013350"/>
            <a:ext cx="1096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Example :</a:t>
            </a:r>
            <a:endParaRPr b="1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57" name="Google Shape;157;p23" title="carbon - 2025-07-26T162957.428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39175" y="2026825"/>
            <a:ext cx="6032276" cy="1315675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23"/>
          <p:cNvSpPr txBox="1"/>
          <p:nvPr/>
        </p:nvSpPr>
        <p:spPr>
          <a:xfrm>
            <a:off x="310900" y="3425975"/>
            <a:ext cx="4911300" cy="13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You can use:</a:t>
            </a:r>
            <a:endParaRPr sz="1200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273239"/>
              </a:buClr>
              <a:buSzPts val="1200"/>
              <a:buChar char="●"/>
            </a:pPr>
            <a:r>
              <a:rPr lang="en" sz="1200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Variables: {name}</a:t>
            </a:r>
            <a:endParaRPr sz="1200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73239"/>
              </a:buClr>
              <a:buSzPts val="1200"/>
              <a:buChar char="●"/>
            </a:pPr>
            <a:r>
              <a:rPr lang="en" sz="1200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Math: {2 + 2}</a:t>
            </a:r>
            <a:endParaRPr sz="1200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73239"/>
              </a:buClr>
              <a:buSzPts val="1200"/>
              <a:buChar char="●"/>
            </a:pPr>
            <a:r>
              <a:rPr lang="en" sz="1200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Functions: {getUserName()}</a:t>
            </a:r>
            <a:endParaRPr sz="1200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73239"/>
              </a:buClr>
              <a:buSzPts val="1200"/>
              <a:buChar char="●"/>
            </a:pPr>
            <a:r>
              <a:rPr lang="en" sz="1200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Conditionals (ternary): {isLoggedIn ? "Logout" : "Login"}</a:t>
            </a:r>
            <a:endParaRPr sz="1900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p:transition spd="med">
    <p:fade thruBlk="1"/>
  </p:transition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4"/>
          <p:cNvSpPr txBox="1"/>
          <p:nvPr>
            <p:ph type="title"/>
          </p:nvPr>
        </p:nvSpPr>
        <p:spPr>
          <a:xfrm>
            <a:off x="310900" y="197325"/>
            <a:ext cx="747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/>
              <a:t> </a:t>
            </a:r>
            <a:r>
              <a:rPr b="1" lang="en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JSX Syntax Rules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64" name="Google Shape;164;p24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4696" y="100584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aphicFrame>
        <p:nvGraphicFramePr>
          <p:cNvPr id="166" name="Google Shape;166;p24"/>
          <p:cNvGraphicFramePr/>
          <p:nvPr/>
        </p:nvGraphicFramePr>
        <p:xfrm>
          <a:off x="310900" y="1096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{4B68107D-D1E6-4068-9835-AE50507548B3}</a:tableStyleId>
              </a:tblPr>
              <a:tblGrid>
                <a:gridCol w="3605600"/>
                <a:gridCol w="4756125"/>
              </a:tblGrid>
              <a:tr h="5103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273239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Feature</a:t>
                      </a:r>
                      <a:endParaRPr b="1">
                        <a:solidFill>
                          <a:srgbClr val="273239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273239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Example</a:t>
                      </a:r>
                      <a:endParaRPr b="1">
                        <a:solidFill>
                          <a:srgbClr val="273239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/>
                </a:tc>
              </a:tr>
              <a:tr h="651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273239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HTML + JS mix</a:t>
                      </a:r>
                      <a:endParaRPr>
                        <a:solidFill>
                          <a:srgbClr val="273239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solidFill>
                      <a:srgbClr val="FFFB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273239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&lt;h1&gt;Hello {name}&lt;/h1&gt;</a:t>
                      </a:r>
                      <a:endParaRPr>
                        <a:solidFill>
                          <a:srgbClr val="273239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solidFill>
                      <a:srgbClr val="F8FDFE"/>
                    </a:solidFill>
                  </a:tcPr>
                </a:tc>
              </a:tr>
              <a:tr h="660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273239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Curly braces for JS</a:t>
                      </a:r>
                      <a:endParaRPr>
                        <a:solidFill>
                          <a:srgbClr val="273239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solidFill>
                      <a:srgbClr val="FFFB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273239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&lt;p&gt;Total: {price * quantity}&lt;/p&gt;</a:t>
                      </a:r>
                      <a:endParaRPr>
                        <a:solidFill>
                          <a:srgbClr val="273239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solidFill>
                      <a:srgbClr val="F8FDFE"/>
                    </a:solidFill>
                  </a:tcPr>
                </a:tc>
              </a:tr>
              <a:tr h="6795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273239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One root element</a:t>
                      </a:r>
                      <a:endParaRPr>
                        <a:solidFill>
                          <a:srgbClr val="273239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solidFill>
                      <a:srgbClr val="FFFB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273239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Must return </a:t>
                      </a:r>
                      <a:r>
                        <a:rPr b="1" lang="en">
                          <a:solidFill>
                            <a:srgbClr val="273239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one parent tag</a:t>
                      </a:r>
                      <a:endParaRPr b="1">
                        <a:solidFill>
                          <a:srgbClr val="273239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solidFill>
                      <a:srgbClr val="F8FDFE"/>
                    </a:solidFill>
                  </a:tcPr>
                </a:tc>
              </a:tr>
              <a:tr h="754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273239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Use className</a:t>
                      </a:r>
                      <a:endParaRPr>
                        <a:solidFill>
                          <a:srgbClr val="273239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solidFill>
                      <a:srgbClr val="FFFB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273239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&lt;div className="box"&gt;...&lt;/div&gt;</a:t>
                      </a:r>
                      <a:endParaRPr>
                        <a:solidFill>
                          <a:srgbClr val="273239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solidFill>
                      <a:srgbClr val="F8FDFE"/>
                    </a:solidFill>
                  </a:tcPr>
                </a:tc>
              </a:tr>
              <a:tr h="465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273239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Use htmlFor</a:t>
                      </a:r>
                      <a:endParaRPr>
                        <a:solidFill>
                          <a:srgbClr val="273239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solidFill>
                      <a:srgbClr val="FFFB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273239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&lt;label htmlFor="email"&gt;Email&lt;/label&gt;</a:t>
                      </a:r>
                      <a:endParaRPr>
                        <a:solidFill>
                          <a:srgbClr val="273239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solidFill>
                      <a:srgbClr val="F8FDF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fade thruBlk="1"/>
  </p:transition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5"/>
          <p:cNvSpPr txBox="1"/>
          <p:nvPr>
            <p:ph type="title"/>
          </p:nvPr>
        </p:nvSpPr>
        <p:spPr>
          <a:xfrm>
            <a:off x="310900" y="210300"/>
            <a:ext cx="747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/>
              <a:t> </a:t>
            </a:r>
            <a:r>
              <a:rPr b="1" lang="en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Check Your Understanding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72" name="Google Shape;172;p25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4696" y="100584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25"/>
          <p:cNvSpPr txBox="1"/>
          <p:nvPr/>
        </p:nvSpPr>
        <p:spPr>
          <a:xfrm>
            <a:off x="310900" y="1228825"/>
            <a:ext cx="8161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Question : </a:t>
            </a:r>
            <a:r>
              <a:rPr b="1" lang="en" sz="1300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r>
              <a:rPr b="1" lang="en" sz="1100">
                <a:solidFill>
                  <a:schemeClr val="dk1"/>
                </a:solidFill>
              </a:rPr>
              <a:t>   </a:t>
            </a: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What is JSX?</a:t>
            </a:r>
            <a:r>
              <a:rPr lang="en" sz="1100">
                <a:solidFill>
                  <a:schemeClr val="dk1"/>
                </a:solidFill>
              </a:rPr>
              <a:t> </a:t>
            </a:r>
            <a:endParaRPr b="1" sz="1500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74" name="Google Shape;174;p25"/>
          <p:cNvSpPr txBox="1"/>
          <p:nvPr/>
        </p:nvSpPr>
        <p:spPr>
          <a:xfrm>
            <a:off x="310900" y="1748350"/>
            <a:ext cx="8084700" cy="14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Options    :</a:t>
            </a: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  a) A different name for JavaScript. </a:t>
            </a:r>
            <a:endParaRPr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              b) A templating language that is completely separate from JavaScript. </a:t>
            </a:r>
            <a:endParaRPr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              c) A syntax extension for JavaScript that looks like HTML. </a:t>
            </a:r>
            <a:endParaRPr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              d) A method for querying the DOM.</a:t>
            </a:r>
            <a:endParaRPr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75" name="Google Shape;175;p25" title="question-and-answer-illustration-download-in-svg-png-gif-file-formats--answers-faq-comments-chatting-business-pack-people-illustrations-4257057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51839" y="3027775"/>
            <a:ext cx="3001612" cy="2001075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77" name="Google Shape;177;p25"/>
          <p:cNvSpPr txBox="1"/>
          <p:nvPr/>
        </p:nvSpPr>
        <p:spPr>
          <a:xfrm>
            <a:off x="310950" y="3313725"/>
            <a:ext cx="6260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Answer :</a:t>
            </a:r>
            <a:r>
              <a:rPr lang="en" sz="1800">
                <a:solidFill>
                  <a:schemeClr val="dk2"/>
                </a:solidFill>
              </a:rPr>
              <a:t>  </a:t>
            </a: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 c) </a:t>
            </a:r>
            <a:r>
              <a:rPr lang="en" sz="1100">
                <a:solidFill>
                  <a:schemeClr val="dk1"/>
                </a:solidFill>
              </a:rPr>
              <a:t> </a:t>
            </a: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 syntax extension for JavaScript that looks like HTML.</a:t>
            </a:r>
            <a:endParaRPr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178" name="Google Shape;178;p25"/>
          <p:cNvGrpSpPr/>
          <p:nvPr/>
        </p:nvGrpSpPr>
        <p:grpSpPr>
          <a:xfrm>
            <a:off x="310900" y="3959263"/>
            <a:ext cx="6005825" cy="743413"/>
            <a:chOff x="310900" y="3959263"/>
            <a:chExt cx="6005825" cy="743413"/>
          </a:xfrm>
        </p:grpSpPr>
        <p:sp>
          <p:nvSpPr>
            <p:cNvPr id="179" name="Google Shape;179;p25"/>
            <p:cNvSpPr txBox="1"/>
            <p:nvPr/>
          </p:nvSpPr>
          <p:spPr>
            <a:xfrm>
              <a:off x="310900" y="3959263"/>
              <a:ext cx="1335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1200"/>
                </a:spcBef>
                <a:spcAft>
                  <a:spcPts val="120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1" lang="en">
                  <a:solidFill>
                    <a:srgbClr val="273239"/>
                  </a:solidFill>
                  <a:latin typeface="Poppins"/>
                  <a:ea typeface="Poppins"/>
                  <a:cs typeface="Poppins"/>
                  <a:sym typeface="Poppins"/>
                </a:rPr>
                <a:t>Explanation:</a:t>
              </a:r>
              <a:endParaRPr sz="1800">
                <a:solidFill>
                  <a:schemeClr val="dk2"/>
                </a:solidFill>
              </a:endParaRPr>
            </a:p>
          </p:txBody>
        </p:sp>
        <p:sp>
          <p:nvSpPr>
            <p:cNvPr id="180" name="Google Shape;180;p25"/>
            <p:cNvSpPr txBox="1"/>
            <p:nvPr/>
          </p:nvSpPr>
          <p:spPr>
            <a:xfrm>
              <a:off x="1607925" y="3959275"/>
              <a:ext cx="4708800" cy="743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1200"/>
                </a:spcBef>
                <a:spcAft>
                  <a:spcPts val="1200"/>
                </a:spcAft>
                <a:buNone/>
              </a:pPr>
              <a:r>
                <a:rPr lang="en" sz="11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rPr>
                <a:t>JSX allows you to write HTML-like syntax directly within your JavaScript code, making it easier to visualize and create the structure of your UI components.</a:t>
              </a:r>
              <a:endParaRPr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6"/>
          <p:cNvSpPr txBox="1"/>
          <p:nvPr>
            <p:ph type="title"/>
          </p:nvPr>
        </p:nvSpPr>
        <p:spPr>
          <a:xfrm>
            <a:off x="310900" y="210300"/>
            <a:ext cx="747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/>
              <a:t> </a:t>
            </a:r>
            <a:r>
              <a:rPr b="1" lang="en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Check Your Understanding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86" name="Google Shape;186;p26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4696" y="100584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26"/>
          <p:cNvSpPr txBox="1"/>
          <p:nvPr/>
        </p:nvSpPr>
        <p:spPr>
          <a:xfrm>
            <a:off x="310900" y="1228825"/>
            <a:ext cx="8161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Question : </a:t>
            </a:r>
            <a:r>
              <a:rPr b="1" lang="en" sz="1300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r>
              <a:rPr b="1" lang="en" sz="1100">
                <a:solidFill>
                  <a:schemeClr val="dk1"/>
                </a:solidFill>
              </a:rPr>
              <a:t>  </a:t>
            </a:r>
            <a:r>
              <a:rPr b="1" lang="en" sz="1300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What is the primary advantage of the Virtual DOM over the Real DOM?</a:t>
            </a:r>
            <a:r>
              <a:rPr lang="en" sz="1100">
                <a:solidFill>
                  <a:schemeClr val="dk1"/>
                </a:solidFill>
              </a:rPr>
              <a:t>  </a:t>
            </a:r>
            <a:endParaRPr b="1" sz="1500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88" name="Google Shape;188;p26"/>
          <p:cNvSpPr txBox="1"/>
          <p:nvPr/>
        </p:nvSpPr>
        <p:spPr>
          <a:xfrm>
            <a:off x="310900" y="1748350"/>
            <a:ext cx="8084700" cy="14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Options    :</a:t>
            </a: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  a) It is more secure. </a:t>
            </a:r>
            <a:endParaRPr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              b) It can be styled directly with CSS. </a:t>
            </a:r>
            <a:endParaRPr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              c) It is a lightweight copy, and updating it is much faster than updating the Real DOM directly. </a:t>
            </a:r>
            <a:endParaRPr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              d) It works without JavaScript.</a:t>
            </a:r>
            <a:endParaRPr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89" name="Google Shape;189;p26" title="question-and-answer-illustration-download-in-svg-png-gif-file-formats--answers-faq-comments-chatting-business-pack-people-illustrations-4257057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51839" y="3027775"/>
            <a:ext cx="3001612" cy="2001075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91" name="Google Shape;191;p26"/>
          <p:cNvSpPr txBox="1"/>
          <p:nvPr/>
        </p:nvSpPr>
        <p:spPr>
          <a:xfrm>
            <a:off x="310950" y="3313725"/>
            <a:ext cx="6260400" cy="6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Answer :</a:t>
            </a:r>
            <a:r>
              <a:rPr lang="en" sz="1800">
                <a:solidFill>
                  <a:schemeClr val="dk2"/>
                </a:solidFill>
              </a:rPr>
              <a:t>  </a:t>
            </a: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 c) </a:t>
            </a:r>
            <a:r>
              <a:rPr lang="en" sz="1100">
                <a:solidFill>
                  <a:schemeClr val="dk1"/>
                </a:solidFill>
              </a:rPr>
              <a:t> </a:t>
            </a: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It is a lightweight copy, and updating it is much faster than updating </a:t>
            </a:r>
            <a:endParaRPr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                               the Real DOM directly.</a:t>
            </a:r>
            <a:endParaRPr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192" name="Google Shape;192;p26"/>
          <p:cNvGrpSpPr/>
          <p:nvPr/>
        </p:nvGrpSpPr>
        <p:grpSpPr>
          <a:xfrm>
            <a:off x="310900" y="3959263"/>
            <a:ext cx="6005825" cy="938113"/>
            <a:chOff x="310900" y="3959263"/>
            <a:chExt cx="6005825" cy="938113"/>
          </a:xfrm>
        </p:grpSpPr>
        <p:sp>
          <p:nvSpPr>
            <p:cNvPr id="193" name="Google Shape;193;p26"/>
            <p:cNvSpPr txBox="1"/>
            <p:nvPr/>
          </p:nvSpPr>
          <p:spPr>
            <a:xfrm>
              <a:off x="310900" y="3959263"/>
              <a:ext cx="1335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1200"/>
                </a:spcBef>
                <a:spcAft>
                  <a:spcPts val="120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1" lang="en">
                  <a:solidFill>
                    <a:srgbClr val="273239"/>
                  </a:solidFill>
                  <a:latin typeface="Poppins"/>
                  <a:ea typeface="Poppins"/>
                  <a:cs typeface="Poppins"/>
                  <a:sym typeface="Poppins"/>
                </a:rPr>
                <a:t>Explanation:</a:t>
              </a:r>
              <a:endParaRPr sz="1800">
                <a:solidFill>
                  <a:schemeClr val="dk2"/>
                </a:solidFill>
              </a:endParaRPr>
            </a:p>
          </p:txBody>
        </p:sp>
        <p:sp>
          <p:nvSpPr>
            <p:cNvPr id="194" name="Google Shape;194;p26"/>
            <p:cNvSpPr txBox="1"/>
            <p:nvPr/>
          </p:nvSpPr>
          <p:spPr>
            <a:xfrm>
              <a:off x="1607925" y="3959275"/>
              <a:ext cx="4708800" cy="938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1200"/>
                </a:spcBef>
                <a:spcAft>
                  <a:spcPts val="1200"/>
                </a:spcAft>
                <a:buNone/>
              </a:pPr>
              <a:r>
                <a:rPr lang="en" sz="11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rPr>
                <a:t>Manipulating the Real DOM is slow. React creates a Virtual DOM, calculates the most efficient way to apply changes (a process called "diffing"), and then updates the Real DOM only with the necessary changes, leading to better performance.</a:t>
              </a:r>
              <a:endParaRPr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7"/>
          <p:cNvSpPr txBox="1"/>
          <p:nvPr>
            <p:ph type="title"/>
          </p:nvPr>
        </p:nvSpPr>
        <p:spPr>
          <a:xfrm>
            <a:off x="310900" y="210300"/>
            <a:ext cx="747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/>
              <a:t> </a:t>
            </a:r>
            <a:r>
              <a:rPr b="1" lang="en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Check Your Understanding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00" name="Google Shape;200;p27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4696" y="100584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27"/>
          <p:cNvSpPr txBox="1"/>
          <p:nvPr/>
        </p:nvSpPr>
        <p:spPr>
          <a:xfrm>
            <a:off x="310900" y="1228825"/>
            <a:ext cx="8161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Question : </a:t>
            </a:r>
            <a:r>
              <a:rPr b="1" lang="en" sz="1300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r>
              <a:rPr b="1" lang="en" sz="1100">
                <a:solidFill>
                  <a:schemeClr val="dk1"/>
                </a:solidFill>
              </a:rPr>
              <a:t>  </a:t>
            </a:r>
            <a:r>
              <a:rPr b="1" lang="en" sz="1300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How do you embed a JavaScript variable, say userName, inside a JSX element?</a:t>
            </a:r>
            <a:r>
              <a:rPr lang="en" sz="1300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b="1" sz="1700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02" name="Google Shape;202;p27"/>
          <p:cNvSpPr txBox="1"/>
          <p:nvPr/>
        </p:nvSpPr>
        <p:spPr>
          <a:xfrm>
            <a:off x="310900" y="1748350"/>
            <a:ext cx="8084700" cy="14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Options    :</a:t>
            </a: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 a) &lt;h1&gt;(userName)&lt;/h1&gt; </a:t>
            </a:r>
            <a:endParaRPr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             b) &lt;h1&gt;${userName}&lt;/h1&gt; </a:t>
            </a:r>
            <a:endParaRPr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             c) &lt;h1&gt;{{userName}}&lt;/h1&gt; </a:t>
            </a:r>
            <a:endParaRPr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             d) &lt;h1&gt;{userName}&lt;/h1&gt;</a:t>
            </a:r>
            <a:endParaRPr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03" name="Google Shape;203;p27" title="question-and-answer-illustration-download-in-svg-png-gif-file-formats--answers-faq-comments-chatting-business-pack-people-illustrations-4257057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51839" y="3027775"/>
            <a:ext cx="3001612" cy="2001075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5" name="Google Shape;205;p27"/>
          <p:cNvSpPr txBox="1"/>
          <p:nvPr/>
        </p:nvSpPr>
        <p:spPr>
          <a:xfrm>
            <a:off x="310950" y="3313725"/>
            <a:ext cx="6260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Answer :</a:t>
            </a:r>
            <a:r>
              <a:rPr lang="en" sz="1800">
                <a:solidFill>
                  <a:schemeClr val="dk2"/>
                </a:solidFill>
              </a:rPr>
              <a:t>  </a:t>
            </a: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 d) </a:t>
            </a:r>
            <a:r>
              <a:rPr lang="en" sz="1100">
                <a:solidFill>
                  <a:schemeClr val="dk1"/>
                </a:solidFill>
              </a:rPr>
              <a:t> </a:t>
            </a: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&lt;h1&gt;{userName}&lt;/h1&gt;</a:t>
            </a:r>
            <a:endParaRPr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206" name="Google Shape;206;p27"/>
          <p:cNvGrpSpPr/>
          <p:nvPr/>
        </p:nvGrpSpPr>
        <p:grpSpPr>
          <a:xfrm>
            <a:off x="310900" y="3959263"/>
            <a:ext cx="6005825" cy="548713"/>
            <a:chOff x="310900" y="3959263"/>
            <a:chExt cx="6005825" cy="548713"/>
          </a:xfrm>
        </p:grpSpPr>
        <p:sp>
          <p:nvSpPr>
            <p:cNvPr id="207" name="Google Shape;207;p27"/>
            <p:cNvSpPr txBox="1"/>
            <p:nvPr/>
          </p:nvSpPr>
          <p:spPr>
            <a:xfrm>
              <a:off x="310900" y="3959263"/>
              <a:ext cx="1335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1200"/>
                </a:spcBef>
                <a:spcAft>
                  <a:spcPts val="120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1" lang="en">
                  <a:solidFill>
                    <a:srgbClr val="273239"/>
                  </a:solidFill>
                  <a:latin typeface="Poppins"/>
                  <a:ea typeface="Poppins"/>
                  <a:cs typeface="Poppins"/>
                  <a:sym typeface="Poppins"/>
                </a:rPr>
                <a:t>Explanation:</a:t>
              </a:r>
              <a:endParaRPr sz="1800">
                <a:solidFill>
                  <a:schemeClr val="dk2"/>
                </a:solidFill>
              </a:endParaRPr>
            </a:p>
          </p:txBody>
        </p:sp>
        <p:sp>
          <p:nvSpPr>
            <p:cNvPr id="208" name="Google Shape;208;p27"/>
            <p:cNvSpPr txBox="1"/>
            <p:nvPr/>
          </p:nvSpPr>
          <p:spPr>
            <a:xfrm>
              <a:off x="1607925" y="3959275"/>
              <a:ext cx="4708800" cy="54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1200"/>
                </a:spcBef>
                <a:spcAft>
                  <a:spcPts val="1200"/>
                </a:spcAft>
                <a:buNone/>
              </a:pPr>
              <a:r>
                <a:rPr lang="en" sz="11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rPr>
                <a:t>Curly braces </a:t>
              </a:r>
              <a:r>
                <a:rPr b="1" lang="en" sz="11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rPr>
                <a:t>{}</a:t>
              </a:r>
              <a:r>
                <a:rPr lang="en" sz="11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rPr>
                <a:t> are used in JSX to "escape" back into JavaScript. Any valid JavaScript expression can be placed inside them.</a:t>
              </a:r>
              <a:endParaRPr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8"/>
          <p:cNvSpPr txBox="1"/>
          <p:nvPr>
            <p:ph type="title"/>
          </p:nvPr>
        </p:nvSpPr>
        <p:spPr>
          <a:xfrm>
            <a:off x="310896" y="210312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/>
              <a:t>  </a:t>
            </a:r>
            <a:r>
              <a:rPr b="1" lang="en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References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14" name="Google Shape;214;p28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4696" y="100584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28"/>
          <p:cNvSpPr txBox="1"/>
          <p:nvPr/>
        </p:nvSpPr>
        <p:spPr>
          <a:xfrm>
            <a:off x="358850" y="1181200"/>
            <a:ext cx="8520600" cy="343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MDN Web Docs</a:t>
            </a:r>
            <a:r>
              <a:rPr b="1" lang="en" sz="1100">
                <a:solidFill>
                  <a:schemeClr val="dk1"/>
                </a:solidFill>
              </a:rPr>
              <a:t> : </a:t>
            </a:r>
            <a:r>
              <a:rPr i="1"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Comprehensive and official documentation for JS.</a:t>
            </a:r>
            <a:br>
              <a:rPr i="1" lang="en" sz="1100">
                <a:solidFill>
                  <a:schemeClr val="dk1"/>
                </a:solidFill>
              </a:rPr>
            </a:br>
            <a:r>
              <a:rPr lang="en" sz="1100">
                <a:solidFill>
                  <a:schemeClr val="dk1"/>
                </a:solidFill>
              </a:rPr>
              <a:t> 🔗</a:t>
            </a:r>
            <a:r>
              <a:rPr lang="en" sz="1100" u="sng">
                <a:solidFill>
                  <a:schemeClr val="hlink"/>
                </a:solidFill>
                <a:hlinkClick r:id="rId4"/>
              </a:rPr>
              <a:t>https://developer.mozilla.org/en-US/docs/Web/JavaScript</a:t>
            </a:r>
            <a:endParaRPr sz="1100" u="sng">
              <a:solidFill>
                <a:schemeClr val="hlink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 u="sng">
              <a:solidFill>
                <a:schemeClr val="hlink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 u="sng">
              <a:solidFill>
                <a:schemeClr val="hlink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 u="sng">
              <a:solidFill>
                <a:schemeClr val="hlink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W3Schools – JS Tutorial : </a:t>
            </a:r>
            <a:r>
              <a:rPr i="1"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Beginner-friendly JS tutorials with examples and interactive editors.</a:t>
            </a:r>
            <a:br>
              <a:rPr i="1"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en" sz="1100">
                <a:solidFill>
                  <a:schemeClr val="dk1"/>
                </a:solidFill>
              </a:rPr>
              <a:t> 🔗</a:t>
            </a:r>
            <a:r>
              <a:rPr lang="en" sz="1100" u="sng">
                <a:solidFill>
                  <a:schemeClr val="hlink"/>
                </a:solidFill>
                <a:hlinkClick r:id="rId5"/>
              </a:rPr>
              <a:t> https://www.w3schools.com/js/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react.dev -</a:t>
            </a:r>
            <a:r>
              <a:rPr b="1" i="1"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i="1"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 comprehensive, tutorial-style website that deeply explores core React concepts, including components, state, effects, and hooks, through interactive examples and in-depth explanations.</a:t>
            </a:r>
            <a:endParaRPr i="1"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🔗</a:t>
            </a:r>
            <a:r>
              <a:rPr lang="en" sz="1100" u="sng">
                <a:solidFill>
                  <a:schemeClr val="hlink"/>
                </a:solidFill>
                <a:hlinkClick r:id="rId6"/>
              </a:rPr>
              <a:t>https://react.dev/</a:t>
            </a:r>
            <a:endParaRPr i="1"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16" name="Google Shape;216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1" name="Google Shape;221;p29" title="subtle-prism (2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50">
            <a:off x="-395563" y="395600"/>
            <a:ext cx="5157175" cy="4365975"/>
          </a:xfrm>
          <a:prstGeom prst="flowChartManualInput">
            <a:avLst/>
          </a:prstGeom>
          <a:noFill/>
          <a:ln>
            <a:noFill/>
          </a:ln>
        </p:spPr>
      </p:pic>
      <p:pic>
        <p:nvPicPr>
          <p:cNvPr id="222" name="Google Shape;222;p29" title="KRMU_Full_heading_Logo-removebg-preview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06125" y="452500"/>
            <a:ext cx="5337876" cy="1363050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29"/>
          <p:cNvSpPr txBox="1"/>
          <p:nvPr/>
        </p:nvSpPr>
        <p:spPr>
          <a:xfrm>
            <a:off x="4407400" y="2020825"/>
            <a:ext cx="4636200" cy="55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173034"/>
                </a:solidFill>
              </a:rPr>
              <a:t>Course - Web Development - II</a:t>
            </a:r>
            <a:endParaRPr b="1" sz="2400">
              <a:solidFill>
                <a:srgbClr val="173034"/>
              </a:solidFill>
            </a:endParaRPr>
          </a:p>
        </p:txBody>
      </p:sp>
      <p:grpSp>
        <p:nvGrpSpPr>
          <p:cNvPr id="224" name="Google Shape;224;p29"/>
          <p:cNvGrpSpPr/>
          <p:nvPr/>
        </p:nvGrpSpPr>
        <p:grpSpPr>
          <a:xfrm>
            <a:off x="4572000" y="4881413"/>
            <a:ext cx="1607600" cy="292500"/>
            <a:chOff x="5060775" y="4881413"/>
            <a:chExt cx="1607600" cy="292500"/>
          </a:xfrm>
        </p:grpSpPr>
        <p:sp>
          <p:nvSpPr>
            <p:cNvPr id="225" name="Google Shape;225;p29"/>
            <p:cNvSpPr txBox="1"/>
            <p:nvPr/>
          </p:nvSpPr>
          <p:spPr>
            <a:xfrm>
              <a:off x="5165675" y="4881413"/>
              <a:ext cx="1502700" cy="29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>
                  <a:solidFill>
                    <a:schemeClr val="dk1"/>
                  </a:solidFill>
                </a:rPr>
                <a:t>welcome@krmangalam.edu.in</a:t>
              </a:r>
              <a:endParaRPr sz="900">
                <a:solidFill>
                  <a:schemeClr val="dk1"/>
                </a:solidFill>
              </a:endParaRPr>
            </a:p>
          </p:txBody>
        </p:sp>
        <p:pic>
          <p:nvPicPr>
            <p:cNvPr id="226" name="Google Shape;226;p29" title="email.png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5060775" y="4966738"/>
              <a:ext cx="137160" cy="13716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27" name="Google Shape;227;p29"/>
          <p:cNvSpPr txBox="1"/>
          <p:nvPr/>
        </p:nvSpPr>
        <p:spPr>
          <a:xfrm>
            <a:off x="7326500" y="4881425"/>
            <a:ext cx="23400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accent2"/>
                </a:solidFill>
              </a:rPr>
              <a:t>Sohna Road,Gurugram,Haryana 122103</a:t>
            </a:r>
            <a:endParaRPr sz="700">
              <a:solidFill>
                <a:schemeClr val="accent2"/>
              </a:solidFill>
            </a:endParaRPr>
          </a:p>
        </p:txBody>
      </p:sp>
      <p:pic>
        <p:nvPicPr>
          <p:cNvPr id="228" name="Google Shape;228;p29" title="location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229300" y="4959088"/>
            <a:ext cx="137160" cy="137160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29"/>
          <p:cNvSpPr txBox="1"/>
          <p:nvPr>
            <p:ph idx="12" type="sldNum"/>
          </p:nvPr>
        </p:nvSpPr>
        <p:spPr>
          <a:xfrm>
            <a:off x="8494883" y="464826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30" name="Google Shape;230;p29"/>
          <p:cNvSpPr txBox="1"/>
          <p:nvPr/>
        </p:nvSpPr>
        <p:spPr>
          <a:xfrm>
            <a:off x="1033275" y="1691650"/>
            <a:ext cx="2313000" cy="175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Thanks</a:t>
            </a:r>
            <a:endParaRPr sz="34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For</a:t>
            </a:r>
            <a:endParaRPr sz="34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Watching</a:t>
            </a:r>
            <a:endParaRPr sz="34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31" name="Google Shape;231;p29" title="Untitled (2).png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038344" y="2660904"/>
            <a:ext cx="3309826" cy="20008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fade thruBlk="1"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