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</p:sldIdLst>
  <p:sldSz cy="5143500" cx="9144000"/>
  <p:notesSz cx="6858000" cy="9144000"/>
  <p:embeddedFontLst>
    <p:embeddedFont>
      <p:font typeface="Roboto Slab"/>
      <p:regular r:id="rId22"/>
      <p:bold r:id="rId23"/>
    </p:embeddedFont>
    <p:embeddedFont>
      <p:font typeface="Poppins"/>
      <p:regular r:id="rId24"/>
      <p:bold r:id="rId25"/>
      <p:italic r:id="rId26"/>
      <p:boldItalic r:id="rId2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font" Target="fonts/RobotoSlab-regular.fntdata"/><Relationship Id="rId21" Type="http://schemas.openxmlformats.org/officeDocument/2006/relationships/slide" Target="slides/slide16.xml"/><Relationship Id="rId24" Type="http://schemas.openxmlformats.org/officeDocument/2006/relationships/font" Target="fonts/Poppins-regular.fntdata"/><Relationship Id="rId23" Type="http://schemas.openxmlformats.org/officeDocument/2006/relationships/font" Target="fonts/RobotoSlab-bold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Poppins-italic.fntdata"/><Relationship Id="rId25" Type="http://schemas.openxmlformats.org/officeDocument/2006/relationships/font" Target="fonts/Poppins-bold.fntdata"/><Relationship Id="rId27" Type="http://schemas.openxmlformats.org/officeDocument/2006/relationships/font" Target="fonts/Poppins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bb2bdd390c_0_3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bb2bdd390c_0_3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3bb2bdd390c_0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" name="Google Shape;74;g3bb2bdd390c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bb2bdd390c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bb2bdd390c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bb2bdd390c_0_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3bb2bdd390c_0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3bb2bdd390c_0_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g3bb2bdd390c_0_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3bb2bdd390c_0_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" name="Google Shape;110;g3bb2bdd390c_0_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3bb2bdd390c_0_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3bb2bdd390c_0_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bb2bdd390c_0_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" name="Google Shape;127;g3bb2bdd390c_0_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bb2bdd390c_0_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3bb2bdd390c_0_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3bb2bdd390c_0_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" name="Google Shape;149;g3bb2bdd390c_0_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3bb2bdd390c_0_9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0" name="Google Shape;160;g3bb2bdd390c_0_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3bb2bdd390c_0_10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0" name="Google Shape;170;g3bb2bdd390c_0_1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3bb2bdd390c_0_2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0" name="Google Shape;180;g3bb2bdd390c_0_2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g3bb2bdd390c_0_2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4" name="Google Shape;194;g3bb2bdd390c_0_2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g3bb2bdd390c_0_28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8" name="Google Shape;208;g3bb2bdd390c_0_2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g3bb2bdd390c_0_29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6" name="Google Shape;216;g3bb2bdd390c_0_2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7.png"/><Relationship Id="rId4" Type="http://schemas.openxmlformats.org/officeDocument/2006/relationships/image" Target="../media/image1.png"/><Relationship Id="rId5" Type="http://schemas.openxmlformats.org/officeDocument/2006/relationships/image" Target="../media/image3.png"/><Relationship Id="rId6" Type="http://schemas.openxmlformats.org/officeDocument/2006/relationships/image" Target="../media/image4.png"/><Relationship Id="rId7" Type="http://schemas.openxmlformats.org/officeDocument/2006/relationships/image" Target="../media/image23.jpg"/><Relationship Id="rId8" Type="http://schemas.openxmlformats.org/officeDocument/2006/relationships/image" Target="../media/image16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image18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Relationship Id="rId4" Type="http://schemas.openxmlformats.org/officeDocument/2006/relationships/image" Target="../media/image1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Relationship Id="rId4" Type="http://schemas.openxmlformats.org/officeDocument/2006/relationships/image" Target="../media/image1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Relationship Id="rId4" Type="http://schemas.openxmlformats.org/officeDocument/2006/relationships/image" Target="../media/image1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Relationship Id="rId4" Type="http://schemas.openxmlformats.org/officeDocument/2006/relationships/hyperlink" Target="http://drive.google.com/file/d/1NFLNVQ3RtfcCqf4gi4RKB3rsESZmQ6mK/view" TargetMode="External"/><Relationship Id="rId5" Type="http://schemas.openxmlformats.org/officeDocument/2006/relationships/image" Target="../media/image21.jpg"/><Relationship Id="rId6" Type="http://schemas.openxmlformats.org/officeDocument/2006/relationships/image" Target="../media/image19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Relationship Id="rId4" Type="http://schemas.openxmlformats.org/officeDocument/2006/relationships/image" Target="../media/image20.png"/><Relationship Id="rId5" Type="http://schemas.openxmlformats.org/officeDocument/2006/relationships/hyperlink" Target="http://drive.google.com/file/d/1NFLNVQ3RtfcCqf4gi4RKB3rsESZmQ6mK/view" TargetMode="External"/><Relationship Id="rId6" Type="http://schemas.openxmlformats.org/officeDocument/2006/relationships/image" Target="../media/image21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png"/><Relationship Id="rId4" Type="http://schemas.openxmlformats.org/officeDocument/2006/relationships/image" Target="../media/image5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.png"/><Relationship Id="rId4" Type="http://schemas.openxmlformats.org/officeDocument/2006/relationships/image" Target="../media/image5.png"/><Relationship Id="rId5" Type="http://schemas.openxmlformats.org/officeDocument/2006/relationships/image" Target="../media/image24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.png"/><Relationship Id="rId4" Type="http://schemas.openxmlformats.org/officeDocument/2006/relationships/image" Target="../media/image5.png"/><Relationship Id="rId5" Type="http://schemas.openxmlformats.org/officeDocument/2006/relationships/image" Target="../media/image22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.png"/><Relationship Id="rId4" Type="http://schemas.openxmlformats.org/officeDocument/2006/relationships/image" Target="../media/image5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.png"/><Relationship Id="rId4" Type="http://schemas.openxmlformats.org/officeDocument/2006/relationships/image" Target="../media/image5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.png"/><Relationship Id="rId4" Type="http://schemas.openxmlformats.org/officeDocument/2006/relationships/hyperlink" Target="https://developer.mozilla.org/en-US/docs/Web/JavaScript" TargetMode="External"/><Relationship Id="rId5" Type="http://schemas.openxmlformats.org/officeDocument/2006/relationships/hyperlink" Target="https://www.w3schools.com/js/" TargetMode="External"/><Relationship Id="rId6" Type="http://schemas.openxmlformats.org/officeDocument/2006/relationships/hyperlink" Target="https://javascript.info/" TargetMode="Externa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7.png"/><Relationship Id="rId4" Type="http://schemas.openxmlformats.org/officeDocument/2006/relationships/image" Target="../media/image1.png"/><Relationship Id="rId5" Type="http://schemas.openxmlformats.org/officeDocument/2006/relationships/image" Target="../media/image3.png"/><Relationship Id="rId6" Type="http://schemas.openxmlformats.org/officeDocument/2006/relationships/image" Target="../media/image4.png"/><Relationship Id="rId7" Type="http://schemas.openxmlformats.org/officeDocument/2006/relationships/image" Target="../media/image2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3" title="subtle-prism (2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5400050">
            <a:off x="-395563" y="395600"/>
            <a:ext cx="5157175" cy="4365975"/>
          </a:xfrm>
          <a:prstGeom prst="flowChartManualInput">
            <a:avLst/>
          </a:prstGeom>
          <a:noFill/>
          <a:ln>
            <a:noFill/>
          </a:ln>
        </p:spPr>
      </p:pic>
      <p:pic>
        <p:nvPicPr>
          <p:cNvPr id="55" name="Google Shape;55;p13" title="KRMU_Full_heading_Logo-removebg-preview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806125" y="452500"/>
            <a:ext cx="5337876" cy="1363050"/>
          </a:xfrm>
          <a:prstGeom prst="rect">
            <a:avLst/>
          </a:prstGeom>
          <a:noFill/>
          <a:ln>
            <a:noFill/>
          </a:ln>
        </p:spPr>
      </p:pic>
      <p:sp>
        <p:nvSpPr>
          <p:cNvPr id="56" name="Google Shape;56;p13"/>
          <p:cNvSpPr txBox="1"/>
          <p:nvPr/>
        </p:nvSpPr>
        <p:spPr>
          <a:xfrm>
            <a:off x="4405600" y="2017650"/>
            <a:ext cx="45837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173034"/>
                </a:solidFill>
              </a:rPr>
              <a:t>Course - Web Development - II </a:t>
            </a:r>
            <a:endParaRPr b="1" sz="2400">
              <a:solidFill>
                <a:srgbClr val="173034"/>
              </a:solidFill>
            </a:endParaRPr>
          </a:p>
        </p:txBody>
      </p:sp>
      <p:grpSp>
        <p:nvGrpSpPr>
          <p:cNvPr id="57" name="Google Shape;57;p13"/>
          <p:cNvGrpSpPr/>
          <p:nvPr/>
        </p:nvGrpSpPr>
        <p:grpSpPr>
          <a:xfrm>
            <a:off x="4572000" y="4882896"/>
            <a:ext cx="1607600" cy="292500"/>
            <a:chOff x="5060775" y="4881413"/>
            <a:chExt cx="1607600" cy="292500"/>
          </a:xfrm>
        </p:grpSpPr>
        <p:sp>
          <p:nvSpPr>
            <p:cNvPr id="58" name="Google Shape;58;p13"/>
            <p:cNvSpPr txBox="1"/>
            <p:nvPr/>
          </p:nvSpPr>
          <p:spPr>
            <a:xfrm>
              <a:off x="5165675" y="4881413"/>
              <a:ext cx="1502700" cy="29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700">
                  <a:solidFill>
                    <a:srgbClr val="000000"/>
                  </a:solidFill>
                </a:rPr>
                <a:t>welcome@krmangalam.edu.in</a:t>
              </a:r>
              <a:endParaRPr sz="900">
                <a:solidFill>
                  <a:srgbClr val="000000"/>
                </a:solidFill>
              </a:endParaRPr>
            </a:p>
          </p:txBody>
        </p:sp>
        <p:pic>
          <p:nvPicPr>
            <p:cNvPr id="59" name="Google Shape;59;p13" title="email.png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5060775" y="4966738"/>
              <a:ext cx="137160" cy="13716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60" name="Google Shape;60;p13"/>
          <p:cNvGrpSpPr/>
          <p:nvPr/>
        </p:nvGrpSpPr>
        <p:grpSpPr>
          <a:xfrm>
            <a:off x="7229300" y="4881425"/>
            <a:ext cx="1926000" cy="292500"/>
            <a:chOff x="7229300" y="4881425"/>
            <a:chExt cx="1926000" cy="292500"/>
          </a:xfrm>
        </p:grpSpPr>
        <p:sp>
          <p:nvSpPr>
            <p:cNvPr id="61" name="Google Shape;61;p13"/>
            <p:cNvSpPr txBox="1"/>
            <p:nvPr/>
          </p:nvSpPr>
          <p:spPr>
            <a:xfrm>
              <a:off x="7326500" y="4881425"/>
              <a:ext cx="1828800" cy="29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700">
                  <a:solidFill>
                    <a:srgbClr val="212121"/>
                  </a:solidFill>
                </a:rPr>
                <a:t>Sohna Road,Gurugram,Haryana 122103</a:t>
              </a:r>
              <a:endParaRPr sz="700">
                <a:solidFill>
                  <a:srgbClr val="212121"/>
                </a:solidFill>
              </a:endParaRPr>
            </a:p>
          </p:txBody>
        </p:sp>
        <p:pic>
          <p:nvPicPr>
            <p:cNvPr id="62" name="Google Shape;62;p13" title="location.png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7229300" y="4965192"/>
              <a:ext cx="137160" cy="137160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63" name="Google Shape;63;p13" title="Wavy_Trv-02_Single-09.jpg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450000" y="2536688"/>
            <a:ext cx="2463299" cy="2227850"/>
          </a:xfrm>
          <a:prstGeom prst="rect">
            <a:avLst/>
          </a:prstGeom>
          <a:noFill/>
          <a:ln>
            <a:noFill/>
          </a:ln>
        </p:spPr>
      </p:pic>
      <p:sp>
        <p:nvSpPr>
          <p:cNvPr id="64" name="Google Shape;64;p13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  <p:grpSp>
        <p:nvGrpSpPr>
          <p:cNvPr id="65" name="Google Shape;65;p13"/>
          <p:cNvGrpSpPr/>
          <p:nvPr/>
        </p:nvGrpSpPr>
        <p:grpSpPr>
          <a:xfrm>
            <a:off x="309849" y="1233369"/>
            <a:ext cx="3415942" cy="3247184"/>
            <a:chOff x="309849" y="1233369"/>
            <a:chExt cx="3415942" cy="3247184"/>
          </a:xfrm>
        </p:grpSpPr>
        <p:grpSp>
          <p:nvGrpSpPr>
            <p:cNvPr id="66" name="Google Shape;66;p13"/>
            <p:cNvGrpSpPr/>
            <p:nvPr/>
          </p:nvGrpSpPr>
          <p:grpSpPr>
            <a:xfrm>
              <a:off x="309849" y="1233369"/>
              <a:ext cx="3415942" cy="2387863"/>
              <a:chOff x="788865" y="1515488"/>
              <a:chExt cx="4594407" cy="2387863"/>
            </a:xfrm>
          </p:grpSpPr>
          <p:sp>
            <p:nvSpPr>
              <p:cNvPr id="67" name="Google Shape;67;p13"/>
              <p:cNvSpPr txBox="1"/>
              <p:nvPr/>
            </p:nvSpPr>
            <p:spPr>
              <a:xfrm>
                <a:off x="788865" y="1515488"/>
                <a:ext cx="3197700" cy="600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sp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2700">
                    <a:solidFill>
                      <a:srgbClr val="FFFFFF"/>
                    </a:solidFill>
                    <a:latin typeface="Roboto Slab"/>
                    <a:ea typeface="Roboto Slab"/>
                    <a:cs typeface="Roboto Slab"/>
                    <a:sym typeface="Roboto Slab"/>
                  </a:rPr>
                  <a:t>Lecture 15</a:t>
                </a:r>
                <a:r>
                  <a:rPr lang="en" sz="2700">
                    <a:solidFill>
                      <a:srgbClr val="FFFFFF"/>
                    </a:solidFill>
                  </a:rPr>
                  <a:t>:</a:t>
                </a:r>
                <a:endParaRPr sz="2200">
                  <a:solidFill>
                    <a:srgbClr val="FFFFFF"/>
                  </a:solidFill>
                  <a:latin typeface="Roboto Slab"/>
                  <a:ea typeface="Roboto Slab"/>
                  <a:cs typeface="Roboto Slab"/>
                  <a:sym typeface="Roboto Slab"/>
                </a:endParaRPr>
              </a:p>
            </p:txBody>
          </p:sp>
          <p:sp>
            <p:nvSpPr>
              <p:cNvPr id="68" name="Google Shape;68;p13"/>
              <p:cNvSpPr txBox="1"/>
              <p:nvPr/>
            </p:nvSpPr>
            <p:spPr>
              <a:xfrm>
                <a:off x="788875" y="3475300"/>
                <a:ext cx="699000" cy="415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sp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500">
                    <a:solidFill>
                      <a:srgbClr val="FFFFFF"/>
                    </a:solidFill>
                    <a:latin typeface="Poppins"/>
                    <a:ea typeface="Poppins"/>
                    <a:cs typeface="Poppins"/>
                    <a:sym typeface="Poppins"/>
                  </a:rPr>
                  <a:t>-By</a:t>
                </a:r>
                <a:endParaRPr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69" name="Google Shape;69;p13"/>
              <p:cNvSpPr txBox="1"/>
              <p:nvPr/>
            </p:nvSpPr>
            <p:spPr>
              <a:xfrm>
                <a:off x="790272" y="2145213"/>
                <a:ext cx="4593000" cy="923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sp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00"/>
                  <a:buFont typeface="Arial"/>
                  <a:buNone/>
                </a:pPr>
                <a:r>
                  <a:rPr lang="en" sz="2400">
                    <a:solidFill>
                      <a:srgbClr val="FFFFFF"/>
                    </a:solidFill>
                    <a:latin typeface="Poppins"/>
                    <a:ea typeface="Poppins"/>
                    <a:cs typeface="Poppins"/>
                    <a:sym typeface="Poppins"/>
                  </a:rPr>
                  <a:t>Async/Await</a:t>
                </a:r>
                <a:endParaRPr sz="2400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00"/>
                  <a:buFont typeface="Arial"/>
                  <a:buNone/>
                </a:pPr>
                <a:r>
                  <a:t/>
                </a:r>
                <a:endParaRPr sz="2400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70" name="Google Shape;70;p13"/>
              <p:cNvSpPr txBox="1"/>
              <p:nvPr/>
            </p:nvSpPr>
            <p:spPr>
              <a:xfrm>
                <a:off x="1330896" y="3491750"/>
                <a:ext cx="3313200" cy="411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>
                    <a:solidFill>
                      <a:srgbClr val="FFFFFF"/>
                    </a:solidFill>
                    <a:latin typeface="Poppins"/>
                    <a:ea typeface="Poppins"/>
                    <a:cs typeface="Poppins"/>
                    <a:sym typeface="Poppins"/>
                  </a:rPr>
                  <a:t>Instructor Name</a:t>
                </a:r>
                <a:endParaRPr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Arial"/>
                  <a:buNone/>
                </a:pPr>
                <a:r>
                  <a:rPr lang="en">
                    <a:solidFill>
                      <a:schemeClr val="lt1"/>
                    </a:solidFill>
                    <a:latin typeface="Poppins"/>
                    <a:ea typeface="Poppins"/>
                    <a:cs typeface="Poppins"/>
                    <a:sym typeface="Poppins"/>
                  </a:rPr>
                  <a:t>Pratik Raj verma</a:t>
                </a:r>
                <a:endParaRPr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p:grpSp>
        <p:pic>
          <p:nvPicPr>
            <p:cNvPr id="71" name="Google Shape;71;p13" title="javascript-logo-javascript-icon-transparent-free-png.png"/>
            <p:cNvPicPr preferRelativeResize="0"/>
            <p:nvPr/>
          </p:nvPicPr>
          <p:blipFill>
            <a:blip r:embed="rId8">
              <a:alphaModFix/>
            </a:blip>
            <a:stretch>
              <a:fillRect/>
            </a:stretch>
          </p:blipFill>
          <p:spPr>
            <a:xfrm>
              <a:off x="1055222" y="3959344"/>
              <a:ext cx="521208" cy="521208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4"/>
          <p:cNvSpPr txBox="1"/>
          <p:nvPr/>
        </p:nvSpPr>
        <p:spPr>
          <a:xfrm>
            <a:off x="311700" y="213250"/>
            <a:ext cx="74709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800">
                <a:latin typeface="Poppins"/>
                <a:ea typeface="Poppins"/>
                <a:cs typeface="Poppins"/>
                <a:sym typeface="Poppins"/>
              </a:rPr>
              <a:t>|</a:t>
            </a:r>
            <a:r>
              <a:rPr b="1" lang="en" sz="2800">
                <a:solidFill>
                  <a:srgbClr val="1C4587"/>
                </a:solidFill>
                <a:latin typeface="Poppins"/>
                <a:ea typeface="Poppins"/>
                <a:cs typeface="Poppins"/>
                <a:sym typeface="Poppins"/>
              </a:rPr>
              <a:t>  </a:t>
            </a:r>
            <a:r>
              <a:rPr b="1" lang="en" sz="2800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Table of Contents</a:t>
            </a:r>
            <a:endParaRPr b="1" sz="2800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77" name="Google Shape;77;p14"/>
          <p:cNvSpPr txBox="1"/>
          <p:nvPr/>
        </p:nvSpPr>
        <p:spPr>
          <a:xfrm>
            <a:off x="311700" y="1234700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73239"/>
              </a:buClr>
              <a:buSzPts val="1800"/>
              <a:buChar char="●"/>
            </a:pPr>
            <a:r>
              <a:rPr lang="en" sz="1800">
                <a:solidFill>
                  <a:srgbClr val="273239"/>
                </a:solidFill>
              </a:rPr>
              <a:t>Async/Await</a:t>
            </a:r>
            <a:endParaRPr sz="1800">
              <a:solidFill>
                <a:srgbClr val="273239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73239"/>
              </a:buClr>
              <a:buSzPts val="1800"/>
              <a:buChar char="●"/>
            </a:pPr>
            <a:r>
              <a:rPr lang="en" sz="1800">
                <a:solidFill>
                  <a:srgbClr val="273239"/>
                </a:solidFill>
              </a:rPr>
              <a:t>References.</a:t>
            </a:r>
            <a:endParaRPr sz="1800">
              <a:solidFill>
                <a:srgbClr val="273239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73239"/>
              </a:buClr>
              <a:buSzPts val="1800"/>
              <a:buChar char="●"/>
            </a:pPr>
            <a:r>
              <a:rPr lang="en" sz="1800">
                <a:solidFill>
                  <a:srgbClr val="273239"/>
                </a:solidFill>
              </a:rPr>
              <a:t>The End.</a:t>
            </a:r>
            <a:endParaRPr sz="1800">
              <a:solidFill>
                <a:srgbClr val="273239"/>
              </a:solidFill>
            </a:endParaRPr>
          </a:p>
        </p:txBody>
      </p:sp>
      <p:pic>
        <p:nvPicPr>
          <p:cNvPr id="78" name="Google Shape;78;p14" title="KRMU 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7300" y="97175"/>
            <a:ext cx="9144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79" name="Google Shape;79;p14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5"/>
          <p:cNvSpPr txBox="1"/>
          <p:nvPr/>
        </p:nvSpPr>
        <p:spPr>
          <a:xfrm>
            <a:off x="311700" y="213250"/>
            <a:ext cx="2652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>
                <a:latin typeface="Poppins"/>
                <a:ea typeface="Poppins"/>
                <a:cs typeface="Poppins"/>
                <a:sym typeface="Poppins"/>
              </a:rPr>
              <a:t>|</a:t>
            </a:r>
            <a:r>
              <a:rPr b="1" lang="en" sz="2200">
                <a:solidFill>
                  <a:srgbClr val="1C4587"/>
                </a:solidFill>
                <a:latin typeface="Poppins"/>
                <a:ea typeface="Poppins"/>
                <a:cs typeface="Poppins"/>
                <a:sym typeface="Poppins"/>
              </a:rPr>
              <a:t>  </a:t>
            </a:r>
            <a:endParaRPr b="1" sz="2200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85" name="Google Shape;85;p15" title="KRMU 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7300" y="97175"/>
            <a:ext cx="9144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5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  <p:sp>
        <p:nvSpPr>
          <p:cNvPr id="87" name="Google Shape;87;p15"/>
          <p:cNvSpPr txBox="1"/>
          <p:nvPr/>
        </p:nvSpPr>
        <p:spPr>
          <a:xfrm>
            <a:off x="576075" y="210300"/>
            <a:ext cx="7223700" cy="80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Do you know… if we have a lot of promise-based code and we want to make it wait properly, earlier we had to use callback hell  — which was super messy.</a:t>
            </a:r>
            <a:endParaRPr b="1" sz="1200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" sz="1200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Then we got promise chaining .then().then().then() — better, but still a bit hard to read.</a:t>
            </a:r>
            <a:endParaRPr b="1" sz="1200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" sz="1200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Do you think something even better exists that can handle async code without callback hell or long promise chains? </a:t>
            </a:r>
            <a:endParaRPr b="1" sz="1200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88" name="Google Shape;88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811725" y="1415825"/>
            <a:ext cx="3520550" cy="3520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6"/>
          <p:cNvSpPr txBox="1"/>
          <p:nvPr/>
        </p:nvSpPr>
        <p:spPr>
          <a:xfrm>
            <a:off x="311700" y="213250"/>
            <a:ext cx="2652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>
                <a:latin typeface="Poppins"/>
                <a:ea typeface="Poppins"/>
                <a:cs typeface="Poppins"/>
                <a:sym typeface="Poppins"/>
              </a:rPr>
              <a:t>|</a:t>
            </a:r>
            <a:r>
              <a:rPr b="1" lang="en" sz="2200">
                <a:solidFill>
                  <a:srgbClr val="1C4587"/>
                </a:solidFill>
                <a:latin typeface="Poppins"/>
                <a:ea typeface="Poppins"/>
                <a:cs typeface="Poppins"/>
                <a:sym typeface="Poppins"/>
              </a:rPr>
              <a:t>  </a:t>
            </a:r>
            <a:endParaRPr b="1" sz="2200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94" name="Google Shape;94;p16" title="KRMU 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7300" y="97175"/>
            <a:ext cx="9144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16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  <p:sp>
        <p:nvSpPr>
          <p:cNvPr id="96" name="Google Shape;96;p16"/>
          <p:cNvSpPr txBox="1"/>
          <p:nvPr/>
        </p:nvSpPr>
        <p:spPr>
          <a:xfrm>
            <a:off x="576075" y="210300"/>
            <a:ext cx="7223700" cy="80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Do you know… if we have a lot of promise-based code and we want to make it wait properly, earlier we had to use callback hell  — which was super messy.</a:t>
            </a:r>
            <a:endParaRPr b="1" sz="1200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" sz="1200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Then we got promise chaining .then().then().then() — better, but still a bit hard to read.</a:t>
            </a:r>
            <a:endParaRPr b="1" sz="1200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" sz="1200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Do you think something even better exists that can handle async code without callback hell or long promise chains? </a:t>
            </a:r>
            <a:endParaRPr b="1" sz="1200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97" name="Google Shape;97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386300" y="2077325"/>
            <a:ext cx="2086150" cy="2086150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16"/>
          <p:cNvSpPr txBox="1"/>
          <p:nvPr/>
        </p:nvSpPr>
        <p:spPr>
          <a:xfrm>
            <a:off x="311700" y="1932125"/>
            <a:ext cx="5310600" cy="190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The answer is… </a:t>
            </a:r>
            <a:r>
              <a:rPr b="1"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YES!</a:t>
            </a:r>
            <a: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endParaRPr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And a big thank you to our hero — </a:t>
            </a:r>
            <a:r>
              <a:rPr b="1"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async/await</a:t>
            </a:r>
            <a: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endParaRPr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It makes async code look clean and easy to read.</a:t>
            </a:r>
            <a:endParaRPr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It’s like giving superpowers to your promises.</a:t>
            </a:r>
            <a:endParaRPr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It lets you write asynchronous code as if it was synchronous</a:t>
            </a:r>
            <a:endParaRPr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7"/>
          <p:cNvSpPr txBox="1"/>
          <p:nvPr/>
        </p:nvSpPr>
        <p:spPr>
          <a:xfrm>
            <a:off x="310900" y="197325"/>
            <a:ext cx="747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8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|</a:t>
            </a:r>
            <a:r>
              <a:rPr lang="en" sz="2800">
                <a:solidFill>
                  <a:srgbClr val="000000"/>
                </a:solidFill>
              </a:rPr>
              <a:t> </a:t>
            </a:r>
            <a:r>
              <a:rPr b="1" lang="en" sz="2800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async-await</a:t>
            </a:r>
            <a:endParaRPr b="1" sz="2800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04" name="Google Shape;104;p17" title="KRMU 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4696" y="100584"/>
            <a:ext cx="9144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7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  <p:sp>
        <p:nvSpPr>
          <p:cNvPr id="106" name="Google Shape;106;p17"/>
          <p:cNvSpPr txBox="1"/>
          <p:nvPr/>
        </p:nvSpPr>
        <p:spPr>
          <a:xfrm>
            <a:off x="310900" y="1573125"/>
            <a:ext cx="4668600" cy="270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async/await</a:t>
            </a:r>
            <a: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 is a way to handle asynchronous code which return </a:t>
            </a:r>
            <a:r>
              <a:rPr b="1"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promises </a:t>
            </a:r>
            <a: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in JavaScript so that it waits for each task to finish before moving to the next, </a:t>
            </a:r>
            <a:r>
              <a:rPr b="1"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without using long .then() chains</a:t>
            </a:r>
            <a: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 or falling into </a:t>
            </a:r>
            <a:r>
              <a:rPr b="1"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callback hell.</a:t>
            </a:r>
            <a:endParaRPr b="1"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It allows you to write </a:t>
            </a:r>
            <a:r>
              <a:rPr b="1"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asynchronous code</a:t>
            </a:r>
            <a: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 in a way that looks and behaves like </a:t>
            </a:r>
            <a:r>
              <a:rPr b="1"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synchronous code. </a:t>
            </a:r>
            <a:endParaRPr b="1"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07" name="Google Shape;107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533293" y="1640777"/>
            <a:ext cx="3269456" cy="2573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18"/>
          <p:cNvSpPr txBox="1"/>
          <p:nvPr/>
        </p:nvSpPr>
        <p:spPr>
          <a:xfrm>
            <a:off x="310900" y="197325"/>
            <a:ext cx="747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8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|</a:t>
            </a:r>
            <a:r>
              <a:rPr lang="en" sz="2800">
                <a:solidFill>
                  <a:srgbClr val="000000"/>
                </a:solidFill>
              </a:rPr>
              <a:t> </a:t>
            </a:r>
            <a:r>
              <a:rPr b="1" lang="en" sz="2800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async-await</a:t>
            </a:r>
            <a:endParaRPr b="1" sz="2800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13" name="Google Shape;113;p18" title="KRMU 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4696" y="100584"/>
            <a:ext cx="9144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18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  <p:sp>
        <p:nvSpPr>
          <p:cNvPr id="115" name="Google Shape;115;p18"/>
          <p:cNvSpPr txBox="1"/>
          <p:nvPr/>
        </p:nvSpPr>
        <p:spPr>
          <a:xfrm>
            <a:off x="478775" y="1251675"/>
            <a:ext cx="5184600" cy="246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</a:rPr>
              <a:t>async:</a:t>
            </a:r>
            <a:r>
              <a:rPr lang="en">
                <a:solidFill>
                  <a:schemeClr val="dk1"/>
                </a:solidFill>
              </a:rPr>
              <a:t> A keyword placed before a function declaration. It does   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            two things:</a:t>
            </a:r>
            <a:endParaRPr>
              <a:solidFill>
                <a:schemeClr val="dk1"/>
              </a:solidFill>
            </a:endParaRPr>
          </a:p>
          <a:p>
            <a:pPr indent="-88900" lvl="2" marL="62865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AutoNum type="arabicPeriod"/>
            </a:pPr>
            <a:r>
              <a:rPr lang="en">
                <a:solidFill>
                  <a:schemeClr val="dk1"/>
                </a:solidFill>
              </a:rPr>
              <a:t>It makes the function implicitly return a promise.</a:t>
            </a:r>
            <a:endParaRPr>
              <a:solidFill>
                <a:schemeClr val="dk1"/>
              </a:solidFill>
            </a:endParaRPr>
          </a:p>
          <a:p>
            <a:pPr indent="-88900" lvl="2" marL="62865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AutoNum type="arabicPeriod"/>
            </a:pPr>
            <a:r>
              <a:rPr lang="en">
                <a:solidFill>
                  <a:schemeClr val="dk1"/>
                </a:solidFill>
              </a:rPr>
              <a:t>It allows you to use the </a:t>
            </a:r>
            <a:r>
              <a:rPr b="1" lang="en">
                <a:solidFill>
                  <a:schemeClr val="dk1"/>
                </a:solidFill>
              </a:rPr>
              <a:t>await</a:t>
            </a:r>
            <a:r>
              <a:rPr lang="en">
                <a:solidFill>
                  <a:schemeClr val="dk1"/>
                </a:solidFill>
              </a:rPr>
              <a:t> keyword inside it.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</a:rPr>
              <a:t>await:</a:t>
            </a:r>
            <a:r>
              <a:rPr lang="en">
                <a:solidFill>
                  <a:schemeClr val="dk1"/>
                </a:solidFill>
              </a:rPr>
              <a:t> Can only be used inside an </a:t>
            </a:r>
            <a:r>
              <a:rPr b="1" lang="en">
                <a:solidFill>
                  <a:schemeClr val="dk1"/>
                </a:solidFill>
              </a:rPr>
              <a:t>async</a:t>
            </a:r>
            <a:r>
              <a:rPr lang="en">
                <a:solidFill>
                  <a:schemeClr val="dk1"/>
                </a:solidFill>
              </a:rPr>
              <a:t> function. It pauses   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           the execution of the </a:t>
            </a:r>
            <a:r>
              <a:rPr b="1" lang="en">
                <a:solidFill>
                  <a:schemeClr val="dk1"/>
                </a:solidFill>
              </a:rPr>
              <a:t>async</a:t>
            </a:r>
            <a:r>
              <a:rPr lang="en">
                <a:solidFill>
                  <a:schemeClr val="dk1"/>
                </a:solidFill>
              </a:rPr>
              <a:t> function and waits for a       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           promise to resolve.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19"/>
          <p:cNvSpPr txBox="1"/>
          <p:nvPr/>
        </p:nvSpPr>
        <p:spPr>
          <a:xfrm>
            <a:off x="310900" y="197325"/>
            <a:ext cx="747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8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|</a:t>
            </a:r>
            <a:r>
              <a:rPr lang="en" sz="2800">
                <a:solidFill>
                  <a:srgbClr val="000000"/>
                </a:solidFill>
              </a:rPr>
              <a:t> </a:t>
            </a:r>
            <a:r>
              <a:rPr b="1" lang="en" sz="2800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async-await</a:t>
            </a:r>
            <a:endParaRPr b="1" sz="2800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21" name="Google Shape;121;p19" title="KRMU 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4696" y="100584"/>
            <a:ext cx="9144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19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  <p:sp>
        <p:nvSpPr>
          <p:cNvPr id="123" name="Google Shape;123;p19"/>
          <p:cNvSpPr txBox="1"/>
          <p:nvPr/>
        </p:nvSpPr>
        <p:spPr>
          <a:xfrm>
            <a:off x="310900" y="1299550"/>
            <a:ext cx="4353900" cy="269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Ordering Food Online (with Promises)</a:t>
            </a:r>
            <a:endParaRPr b="1"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Steps:</a:t>
            </a:r>
            <a:endParaRPr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273239"/>
              </a:buClr>
              <a:buSzPts val="1400"/>
              <a:buFont typeface="Poppins"/>
              <a:buAutoNum type="arabicPeriod"/>
            </a:pPr>
            <a: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Order food from app</a:t>
            </a:r>
            <a:b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</a:br>
            <a:endParaRPr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73239"/>
              </a:buClr>
              <a:buSzPts val="1400"/>
              <a:buFont typeface="Poppins"/>
              <a:buAutoNum type="arabicPeriod"/>
            </a:pPr>
            <a: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Restaurant prepares it</a:t>
            </a:r>
            <a:b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</a:br>
            <a:endParaRPr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73239"/>
              </a:buClr>
              <a:buSzPts val="1400"/>
              <a:buFont typeface="Poppins"/>
              <a:buAutoNum type="arabicPeriod"/>
            </a:pPr>
            <a: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Delivery person delivers it</a:t>
            </a:r>
            <a:b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</a:br>
            <a:endParaRPr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73239"/>
              </a:buClr>
              <a:buSzPts val="1400"/>
              <a:buFont typeface="Poppins"/>
              <a:buAutoNum type="arabicPeriod"/>
            </a:pPr>
            <a: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You eat </a:t>
            </a:r>
            <a:endParaRPr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24" name="Google Shape;124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471375" y="1238000"/>
            <a:ext cx="2216525" cy="3107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0"/>
          <p:cNvSpPr txBox="1"/>
          <p:nvPr/>
        </p:nvSpPr>
        <p:spPr>
          <a:xfrm>
            <a:off x="310900" y="197325"/>
            <a:ext cx="747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8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|</a:t>
            </a:r>
            <a:r>
              <a:rPr lang="en" sz="2800">
                <a:solidFill>
                  <a:srgbClr val="000000"/>
                </a:solidFill>
              </a:rPr>
              <a:t> </a:t>
            </a:r>
            <a:r>
              <a:rPr b="1" lang="en" sz="2800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async-await</a:t>
            </a:r>
            <a:endParaRPr b="1" sz="2800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30" name="Google Shape;130;p20" title="KRMU 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4696" y="100584"/>
            <a:ext cx="9144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131" name="Google Shape;131;p20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  <p:pic>
        <p:nvPicPr>
          <p:cNvPr id="132" name="Google Shape;132;p20" title="js 1.mp4">
            <a:hlinkClick r:id="rId4"/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199699" y="1704762"/>
            <a:ext cx="3530151" cy="2643088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33" name="Google Shape;133;p20"/>
          <p:cNvCxnSpPr/>
          <p:nvPr/>
        </p:nvCxnSpPr>
        <p:spPr>
          <a:xfrm flipH="1" rot="10800000">
            <a:off x="3581099" y="2980811"/>
            <a:ext cx="1580400" cy="690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pic>
        <p:nvPicPr>
          <p:cNvPr id="134" name="Google Shape;134;p2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13300" y="1401276"/>
            <a:ext cx="2967801" cy="3513101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20"/>
          <p:cNvSpPr txBox="1"/>
          <p:nvPr/>
        </p:nvSpPr>
        <p:spPr>
          <a:xfrm>
            <a:off x="1200800" y="964575"/>
            <a:ext cx="1792800" cy="331200"/>
          </a:xfrm>
          <a:prstGeom prst="rect">
            <a:avLst/>
          </a:prstGeom>
          <a:solidFill>
            <a:srgbClr val="FCE5CD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Without using async-await</a:t>
            </a:r>
            <a:endParaRPr sz="900"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21"/>
          <p:cNvSpPr txBox="1"/>
          <p:nvPr/>
        </p:nvSpPr>
        <p:spPr>
          <a:xfrm>
            <a:off x="310900" y="197325"/>
            <a:ext cx="747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8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|</a:t>
            </a:r>
            <a:r>
              <a:rPr lang="en" sz="2800">
                <a:solidFill>
                  <a:srgbClr val="000000"/>
                </a:solidFill>
              </a:rPr>
              <a:t> </a:t>
            </a:r>
            <a:r>
              <a:rPr b="1" lang="en" sz="2800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async-await</a:t>
            </a:r>
            <a:endParaRPr b="1" sz="2800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41" name="Google Shape;141;p21" title="KRMU 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4696" y="100584"/>
            <a:ext cx="9144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142" name="Google Shape;142;p21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  <p:pic>
        <p:nvPicPr>
          <p:cNvPr id="143" name="Google Shape;143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42200" y="1413325"/>
            <a:ext cx="2790001" cy="3672351"/>
          </a:xfrm>
          <a:prstGeom prst="rect">
            <a:avLst/>
          </a:prstGeom>
          <a:noFill/>
          <a:ln>
            <a:noFill/>
          </a:ln>
        </p:spPr>
      </p:pic>
      <p:pic>
        <p:nvPicPr>
          <p:cNvPr id="144" name="Google Shape;144;p21" title="js 1.mp4">
            <a:hlinkClick r:id="rId5"/>
          </p:cNvPr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942299" y="2020137"/>
            <a:ext cx="3530151" cy="2643088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45" name="Google Shape;145;p21"/>
          <p:cNvCxnSpPr>
            <a:stCxn id="143" idx="3"/>
          </p:cNvCxnSpPr>
          <p:nvPr/>
        </p:nvCxnSpPr>
        <p:spPr>
          <a:xfrm flipH="1" rot="10800000">
            <a:off x="3332201" y="3242600"/>
            <a:ext cx="1580400" cy="690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46" name="Google Shape;146;p21"/>
          <p:cNvSpPr txBox="1"/>
          <p:nvPr/>
        </p:nvSpPr>
        <p:spPr>
          <a:xfrm>
            <a:off x="1279300" y="1014975"/>
            <a:ext cx="1315800" cy="253800"/>
          </a:xfrm>
          <a:prstGeom prst="rect">
            <a:avLst/>
          </a:prstGeom>
          <a:solidFill>
            <a:srgbClr val="FCE5C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  Using async-await</a:t>
            </a:r>
            <a:endParaRPr sz="900"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22"/>
          <p:cNvSpPr txBox="1"/>
          <p:nvPr/>
        </p:nvSpPr>
        <p:spPr>
          <a:xfrm>
            <a:off x="310900" y="197325"/>
            <a:ext cx="747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8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|</a:t>
            </a:r>
            <a:r>
              <a:rPr lang="en" sz="2800">
                <a:solidFill>
                  <a:srgbClr val="000000"/>
                </a:solidFill>
              </a:rPr>
              <a:t> </a:t>
            </a:r>
            <a:r>
              <a:rPr b="1" lang="en" sz="2800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Coding Questions</a:t>
            </a:r>
            <a:endParaRPr b="1" sz="2800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52" name="Google Shape;152;p22" title="KRMU 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4696" y="100584"/>
            <a:ext cx="914400" cy="914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3" name="Google Shape;153;p22" title="question-and-answer-illustration-download-in-svg-png-gif-file-formats--answers-faq-comments-chatting-business-pack-people-illustrations-4257057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051839" y="3027775"/>
            <a:ext cx="3001612" cy="2001075"/>
          </a:xfrm>
          <a:prstGeom prst="rect">
            <a:avLst/>
          </a:prstGeom>
          <a:noFill/>
          <a:ln>
            <a:noFill/>
          </a:ln>
        </p:spPr>
      </p:pic>
      <p:sp>
        <p:nvSpPr>
          <p:cNvPr id="154" name="Google Shape;154;p22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  <p:grpSp>
        <p:nvGrpSpPr>
          <p:cNvPr id="155" name="Google Shape;155;p22"/>
          <p:cNvGrpSpPr/>
          <p:nvPr/>
        </p:nvGrpSpPr>
        <p:grpSpPr>
          <a:xfrm>
            <a:off x="310894" y="1014975"/>
            <a:ext cx="6716433" cy="2686625"/>
            <a:chOff x="310900" y="1014975"/>
            <a:chExt cx="6327900" cy="2686625"/>
          </a:xfrm>
        </p:grpSpPr>
        <p:sp>
          <p:nvSpPr>
            <p:cNvPr id="156" name="Google Shape;156;p22"/>
            <p:cNvSpPr txBox="1"/>
            <p:nvPr/>
          </p:nvSpPr>
          <p:spPr>
            <a:xfrm>
              <a:off x="310900" y="1014975"/>
              <a:ext cx="5139000" cy="615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>
                  <a:solidFill>
                    <a:srgbClr val="273239"/>
                  </a:solidFill>
                  <a:latin typeface="Poppins"/>
                  <a:ea typeface="Poppins"/>
                  <a:cs typeface="Poppins"/>
                  <a:sym typeface="Poppins"/>
                </a:rPr>
                <a:t>1.   </a:t>
              </a:r>
              <a:r>
                <a:rPr b="1" lang="en">
                  <a:solidFill>
                    <a:schemeClr val="dk1"/>
                  </a:solidFill>
                </a:rPr>
                <a:t> Simple async function</a:t>
              </a:r>
              <a:endParaRPr b="1">
                <a:solidFill>
                  <a:schemeClr val="dk1"/>
                </a:solidFill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57" name="Google Shape;157;p22"/>
            <p:cNvSpPr txBox="1"/>
            <p:nvPr/>
          </p:nvSpPr>
          <p:spPr>
            <a:xfrm>
              <a:off x="310900" y="1725200"/>
              <a:ext cx="6327900" cy="197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>
                  <a:solidFill>
                    <a:srgbClr val="273239"/>
                  </a:solidFill>
                  <a:latin typeface="Poppins"/>
                  <a:ea typeface="Poppins"/>
                  <a:cs typeface="Poppins"/>
                  <a:sym typeface="Poppins"/>
                </a:rPr>
                <a:t>Task :</a:t>
              </a:r>
              <a:endParaRPr sz="1100">
                <a:solidFill>
                  <a:srgbClr val="000000"/>
                </a:solidFill>
              </a:endParaRPr>
            </a:p>
            <a:p>
              <a:pPr indent="-317500" lvl="0" marL="914400" rtl="0" algn="l">
                <a:lnSpc>
                  <a:spcPct val="115000"/>
                </a:lnSpc>
                <a:spcBef>
                  <a:spcPts val="120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AutoNum type="arabicPeriod"/>
              </a:pPr>
              <a:r>
                <a:rPr lang="en">
                  <a:solidFill>
                    <a:schemeClr val="dk1"/>
                  </a:solidFill>
                </a:rPr>
                <a:t>Write an </a:t>
              </a:r>
              <a:r>
                <a:rPr b="1" lang="en">
                  <a:solidFill>
                    <a:schemeClr val="dk1"/>
                  </a:solidFill>
                </a:rPr>
                <a:t>async</a:t>
              </a:r>
              <a:r>
                <a:rPr lang="en">
                  <a:solidFill>
                    <a:schemeClr val="dk1"/>
                  </a:solidFill>
                </a:rPr>
                <a:t> function named </a:t>
              </a:r>
              <a:r>
                <a:rPr b="1" lang="en">
                  <a:solidFill>
                    <a:schemeClr val="dk1"/>
                  </a:solidFill>
                </a:rPr>
                <a:t>getGreeting</a:t>
              </a:r>
              <a:r>
                <a:rPr lang="en">
                  <a:solidFill>
                    <a:schemeClr val="dk1"/>
                  </a:solidFill>
                </a:rPr>
                <a:t> that doesn't take any arguments and simply returns the string </a:t>
              </a:r>
              <a:r>
                <a:rPr b="1" lang="en">
                  <a:solidFill>
                    <a:schemeClr val="dk1"/>
                  </a:solidFill>
                </a:rPr>
                <a:t>"Hello from async!"</a:t>
              </a:r>
              <a:r>
                <a:rPr lang="en">
                  <a:solidFill>
                    <a:schemeClr val="dk1"/>
                  </a:solidFill>
                </a:rPr>
                <a:t>. Then, call this function and use the </a:t>
              </a:r>
              <a:r>
                <a:rPr b="1" lang="en">
                  <a:solidFill>
                    <a:schemeClr val="dk1"/>
                  </a:solidFill>
                </a:rPr>
                <a:t>.then()</a:t>
              </a:r>
              <a:r>
                <a:rPr lang="en">
                  <a:solidFill>
                    <a:schemeClr val="dk1"/>
                  </a:solidFill>
                </a:rPr>
                <a:t> method to log the result to the console.</a:t>
              </a:r>
              <a:endParaRPr>
                <a:solidFill>
                  <a:schemeClr val="dk1"/>
                </a:solidFill>
              </a:endParaRPr>
            </a:p>
            <a:p>
              <a:pPr indent="0" lvl="0" marL="0" rtl="0" algn="l">
                <a:lnSpc>
                  <a:spcPct val="150000"/>
                </a:lnSpc>
                <a:spcBef>
                  <a:spcPts val="1200"/>
                </a:spcBef>
                <a:spcAft>
                  <a:spcPts val="1000"/>
                </a:spcAft>
                <a:buNone/>
              </a:pPr>
              <a:r>
                <a:t/>
              </a:r>
              <a:endParaRPr sz="1100"/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23"/>
          <p:cNvSpPr txBox="1"/>
          <p:nvPr/>
        </p:nvSpPr>
        <p:spPr>
          <a:xfrm>
            <a:off x="310900" y="197325"/>
            <a:ext cx="747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8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|</a:t>
            </a:r>
            <a:r>
              <a:rPr lang="en" sz="2800">
                <a:solidFill>
                  <a:srgbClr val="000000"/>
                </a:solidFill>
              </a:rPr>
              <a:t> </a:t>
            </a:r>
            <a:r>
              <a:rPr b="1" lang="en" sz="2800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Coding Questions</a:t>
            </a:r>
            <a:endParaRPr b="1" sz="2800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63" name="Google Shape;163;p23" title="KRMU 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4696" y="100584"/>
            <a:ext cx="914400" cy="914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4" name="Google Shape;164;p23" title="question-and-answer-illustration-download-in-svg-png-gif-file-formats--answers-faq-comments-chatting-business-pack-people-illustrations-4257057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051839" y="3027775"/>
            <a:ext cx="3001612" cy="2001075"/>
          </a:xfrm>
          <a:prstGeom prst="rect">
            <a:avLst/>
          </a:prstGeom>
          <a:noFill/>
          <a:ln>
            <a:noFill/>
          </a:ln>
        </p:spPr>
      </p:pic>
      <p:sp>
        <p:nvSpPr>
          <p:cNvPr id="165" name="Google Shape;165;p23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  <p:sp>
        <p:nvSpPr>
          <p:cNvPr id="166" name="Google Shape;166;p23"/>
          <p:cNvSpPr txBox="1"/>
          <p:nvPr/>
        </p:nvSpPr>
        <p:spPr>
          <a:xfrm>
            <a:off x="310900" y="1086300"/>
            <a:ext cx="1049700" cy="35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Solution :</a:t>
            </a:r>
            <a:endParaRPr b="1" sz="1700"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67" name="Google Shape;167;p2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446650" y="1086300"/>
            <a:ext cx="4605200" cy="31623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24"/>
          <p:cNvSpPr txBox="1"/>
          <p:nvPr/>
        </p:nvSpPr>
        <p:spPr>
          <a:xfrm>
            <a:off x="310900" y="197325"/>
            <a:ext cx="747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8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|</a:t>
            </a:r>
            <a:r>
              <a:rPr lang="en" sz="2800">
                <a:solidFill>
                  <a:srgbClr val="000000"/>
                </a:solidFill>
              </a:rPr>
              <a:t> </a:t>
            </a:r>
            <a:r>
              <a:rPr b="1" lang="en" sz="2800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Coding Questions</a:t>
            </a:r>
            <a:endParaRPr b="1" sz="2800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73" name="Google Shape;173;p24" title="KRMU 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4696" y="100584"/>
            <a:ext cx="914400" cy="914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4" name="Google Shape;174;p24" title="question-and-answer-illustration-download-in-svg-png-gif-file-formats--answers-faq-comments-chatting-business-pack-people-illustrations-4257057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051839" y="3027775"/>
            <a:ext cx="3001612" cy="2001075"/>
          </a:xfrm>
          <a:prstGeom prst="rect">
            <a:avLst/>
          </a:prstGeom>
          <a:noFill/>
          <a:ln>
            <a:noFill/>
          </a:ln>
        </p:spPr>
      </p:pic>
      <p:sp>
        <p:nvSpPr>
          <p:cNvPr id="175" name="Google Shape;175;p24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  <p:sp>
        <p:nvSpPr>
          <p:cNvPr id="176" name="Google Shape;176;p24"/>
          <p:cNvSpPr txBox="1"/>
          <p:nvPr/>
        </p:nvSpPr>
        <p:spPr>
          <a:xfrm>
            <a:off x="310900" y="1086300"/>
            <a:ext cx="1049700" cy="35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Output :</a:t>
            </a:r>
            <a:endParaRPr b="1" sz="1700"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77" name="Google Shape;177;p2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360600" y="1251875"/>
            <a:ext cx="4810125" cy="2314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25"/>
          <p:cNvSpPr txBox="1"/>
          <p:nvPr/>
        </p:nvSpPr>
        <p:spPr>
          <a:xfrm>
            <a:off x="310900" y="210300"/>
            <a:ext cx="747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8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|</a:t>
            </a:r>
            <a:r>
              <a:rPr lang="en" sz="2800">
                <a:solidFill>
                  <a:srgbClr val="000000"/>
                </a:solidFill>
              </a:rPr>
              <a:t> </a:t>
            </a:r>
            <a:r>
              <a:rPr b="1" lang="en" sz="2800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Check Your Understanding</a:t>
            </a:r>
            <a:endParaRPr b="1" sz="2800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83" name="Google Shape;183;p25" title="KRMU 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4696" y="100584"/>
            <a:ext cx="9144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184" name="Google Shape;184;p25"/>
          <p:cNvSpPr txBox="1"/>
          <p:nvPr/>
        </p:nvSpPr>
        <p:spPr>
          <a:xfrm>
            <a:off x="310900" y="1228825"/>
            <a:ext cx="81615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Question : </a:t>
            </a:r>
            <a:r>
              <a:rPr b="1" lang="en" sz="1300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   </a:t>
            </a:r>
            <a:r>
              <a:rPr b="1" lang="en" sz="1500">
                <a:solidFill>
                  <a:srgbClr val="000000"/>
                </a:solidFill>
              </a:rPr>
              <a:t> </a:t>
            </a:r>
            <a:r>
              <a:rPr b="1" lang="en">
                <a:solidFill>
                  <a:schemeClr val="dk1"/>
                </a:solidFill>
              </a:rPr>
              <a:t>What does adding the async keyword before a function declaration do?</a:t>
            </a:r>
            <a:r>
              <a:rPr lang="en">
                <a:solidFill>
                  <a:schemeClr val="dk1"/>
                </a:solidFill>
              </a:rPr>
              <a:t> </a:t>
            </a:r>
            <a:endParaRPr b="1" sz="2800"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85" name="Google Shape;185;p25"/>
          <p:cNvSpPr txBox="1"/>
          <p:nvPr/>
        </p:nvSpPr>
        <p:spPr>
          <a:xfrm>
            <a:off x="310900" y="1748350"/>
            <a:ext cx="8084700" cy="19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Options    :</a:t>
            </a:r>
            <a:r>
              <a:rPr lang="en" sz="1300">
                <a:solidFill>
                  <a:schemeClr val="dk1"/>
                </a:solidFill>
              </a:rPr>
              <a:t>a) It makes the function run synchronously. </a:t>
            </a:r>
            <a:endParaRPr sz="1300">
              <a:solidFill>
                <a:schemeClr val="dk1"/>
              </a:solidFill>
            </a:endParaRPr>
          </a:p>
          <a:p>
            <a:pPr indent="0" lvl="0" marL="9144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00">
                <a:solidFill>
                  <a:schemeClr val="dk1"/>
                </a:solidFill>
              </a:rPr>
              <a:t>b) It automatically makes all code inside it run faster. </a:t>
            </a:r>
            <a:endParaRPr sz="1300">
              <a:solidFill>
                <a:schemeClr val="dk1"/>
              </a:solidFill>
            </a:endParaRPr>
          </a:p>
          <a:p>
            <a:pPr indent="0" lvl="0" marL="9144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00">
                <a:solidFill>
                  <a:schemeClr val="dk1"/>
                </a:solidFill>
              </a:rPr>
              <a:t>c) It makes the function implicitly return a Promise. </a:t>
            </a:r>
            <a:endParaRPr sz="1300">
              <a:solidFill>
                <a:schemeClr val="dk1"/>
              </a:solidFill>
            </a:endParaRPr>
          </a:p>
          <a:p>
            <a:pPr indent="0" lvl="0" marL="9144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00">
                <a:solidFill>
                  <a:schemeClr val="dk1"/>
                </a:solidFill>
              </a:rPr>
              <a:t>d) It prevents the function from ever having errors.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sz="1100"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86" name="Google Shape;186;p25" title="question-and-answer-illustration-download-in-svg-png-gif-file-formats--answers-faq-comments-chatting-business-pack-people-illustrations-4257057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051839" y="3027775"/>
            <a:ext cx="3001612" cy="2001075"/>
          </a:xfrm>
          <a:prstGeom prst="rect">
            <a:avLst/>
          </a:prstGeom>
          <a:noFill/>
          <a:ln>
            <a:noFill/>
          </a:ln>
        </p:spPr>
      </p:pic>
      <p:sp>
        <p:nvSpPr>
          <p:cNvPr id="187" name="Google Shape;187;p25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  <p:sp>
        <p:nvSpPr>
          <p:cNvPr id="188" name="Google Shape;188;p25"/>
          <p:cNvSpPr txBox="1"/>
          <p:nvPr/>
        </p:nvSpPr>
        <p:spPr>
          <a:xfrm>
            <a:off x="310950" y="3313725"/>
            <a:ext cx="6260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Answer :</a:t>
            </a:r>
            <a:r>
              <a:rPr lang="en" sz="1800">
                <a:solidFill>
                  <a:srgbClr val="595959"/>
                </a:solidFill>
              </a:rPr>
              <a:t>  </a:t>
            </a:r>
            <a:r>
              <a:rPr lang="en" sz="11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">
                <a:solidFill>
                  <a:schemeClr val="dk1"/>
                </a:solidFill>
              </a:rPr>
              <a:t>c) It makes the function implicitly return a Promise. </a:t>
            </a:r>
            <a:endParaRPr>
              <a:latin typeface="Poppins"/>
              <a:ea typeface="Poppins"/>
              <a:cs typeface="Poppins"/>
              <a:sym typeface="Poppins"/>
            </a:endParaRPr>
          </a:p>
        </p:txBody>
      </p:sp>
      <p:grpSp>
        <p:nvGrpSpPr>
          <p:cNvPr id="189" name="Google Shape;189;p25"/>
          <p:cNvGrpSpPr/>
          <p:nvPr/>
        </p:nvGrpSpPr>
        <p:grpSpPr>
          <a:xfrm>
            <a:off x="310900" y="3959263"/>
            <a:ext cx="6005825" cy="1297513"/>
            <a:chOff x="310900" y="3959263"/>
            <a:chExt cx="6005825" cy="1297513"/>
          </a:xfrm>
        </p:grpSpPr>
        <p:sp>
          <p:nvSpPr>
            <p:cNvPr id="190" name="Google Shape;190;p25"/>
            <p:cNvSpPr txBox="1"/>
            <p:nvPr/>
          </p:nvSpPr>
          <p:spPr>
            <a:xfrm>
              <a:off x="310900" y="3959263"/>
              <a:ext cx="13359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1200"/>
                </a:spcBef>
                <a:spcAft>
                  <a:spcPts val="120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b="1" lang="en">
                  <a:solidFill>
                    <a:srgbClr val="273239"/>
                  </a:solidFill>
                  <a:latin typeface="Poppins"/>
                  <a:ea typeface="Poppins"/>
                  <a:cs typeface="Poppins"/>
                  <a:sym typeface="Poppins"/>
                </a:rPr>
                <a:t>Explanation:</a:t>
              </a:r>
              <a:endParaRPr sz="1800">
                <a:solidFill>
                  <a:srgbClr val="595959"/>
                </a:solidFill>
              </a:endParaRPr>
            </a:p>
          </p:txBody>
        </p:sp>
        <p:sp>
          <p:nvSpPr>
            <p:cNvPr id="191" name="Google Shape;191;p25"/>
            <p:cNvSpPr txBox="1"/>
            <p:nvPr/>
          </p:nvSpPr>
          <p:spPr>
            <a:xfrm>
              <a:off x="1607925" y="3959275"/>
              <a:ext cx="4708800" cy="1297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chemeClr val="dk1"/>
                  </a:solidFill>
                </a:rPr>
                <a:t>An </a:t>
              </a:r>
              <a:r>
                <a:rPr b="1" lang="en">
                  <a:solidFill>
                    <a:schemeClr val="dk1"/>
                  </a:solidFill>
                </a:rPr>
                <a:t>async</a:t>
              </a:r>
              <a:r>
                <a:rPr lang="en">
                  <a:solidFill>
                    <a:schemeClr val="dk1"/>
                  </a:solidFill>
                </a:rPr>
                <a:t> function always wraps its return value in a </a:t>
              </a:r>
              <a:r>
                <a:rPr b="1" lang="en">
                  <a:solidFill>
                    <a:schemeClr val="dk1"/>
                  </a:solidFill>
                </a:rPr>
                <a:t>Promise</a:t>
              </a:r>
              <a:r>
                <a:rPr lang="en">
                  <a:solidFill>
                    <a:schemeClr val="dk1"/>
                  </a:solidFill>
                </a:rPr>
                <a:t>. If it returns a value, the promise resolves with that value. If it throws an error, the promise is rejected.</a:t>
              </a:r>
              <a:endParaRPr>
                <a:solidFill>
                  <a:schemeClr val="dk1"/>
                </a:solidFill>
              </a:endParaRPr>
            </a:p>
            <a:p>
              <a:pPr indent="0" lvl="0" marL="0" rtl="0" algn="l">
                <a:lnSpc>
                  <a:spcPct val="115000"/>
                </a:lnSpc>
                <a:spcBef>
                  <a:spcPts val="1200"/>
                </a:spcBef>
                <a:spcAft>
                  <a:spcPts val="1200"/>
                </a:spcAft>
                <a:buNone/>
              </a:pPr>
              <a:r>
                <a:t/>
              </a:r>
              <a:endParaRPr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26"/>
          <p:cNvSpPr txBox="1"/>
          <p:nvPr/>
        </p:nvSpPr>
        <p:spPr>
          <a:xfrm>
            <a:off x="310900" y="210300"/>
            <a:ext cx="747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8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|</a:t>
            </a:r>
            <a:r>
              <a:rPr lang="en" sz="2800">
                <a:solidFill>
                  <a:srgbClr val="000000"/>
                </a:solidFill>
              </a:rPr>
              <a:t> </a:t>
            </a:r>
            <a:r>
              <a:rPr b="1" lang="en" sz="2800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Check Your Understanding</a:t>
            </a:r>
            <a:endParaRPr b="1" sz="2800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97" name="Google Shape;197;p26" title="KRMU 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4696" y="100584"/>
            <a:ext cx="9144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198" name="Google Shape;198;p26"/>
          <p:cNvSpPr txBox="1"/>
          <p:nvPr/>
        </p:nvSpPr>
        <p:spPr>
          <a:xfrm>
            <a:off x="310900" y="1228825"/>
            <a:ext cx="81615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Question : </a:t>
            </a:r>
            <a:r>
              <a:rPr b="1" lang="en" sz="1300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   </a:t>
            </a:r>
            <a:r>
              <a:rPr b="1" lang="en" sz="1100">
                <a:solidFill>
                  <a:srgbClr val="000000"/>
                </a:solidFill>
              </a:rPr>
              <a:t> </a:t>
            </a:r>
            <a:r>
              <a:rPr b="1" lang="en">
                <a:solidFill>
                  <a:schemeClr val="dk1"/>
                </a:solidFill>
              </a:rPr>
              <a:t>What is the purpose of the await keyword in JavaScript?</a:t>
            </a:r>
            <a:r>
              <a:rPr lang="en">
                <a:solidFill>
                  <a:schemeClr val="dk1"/>
                </a:solidFill>
              </a:rPr>
              <a:t> 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300"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99" name="Google Shape;199;p26"/>
          <p:cNvSpPr txBox="1"/>
          <p:nvPr/>
        </p:nvSpPr>
        <p:spPr>
          <a:xfrm>
            <a:off x="310900" y="1748350"/>
            <a:ext cx="8084700" cy="220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Options    :</a:t>
            </a:r>
            <a:r>
              <a:rPr lang="en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">
                <a:solidFill>
                  <a:schemeClr val="dk1"/>
                </a:solidFill>
              </a:rPr>
              <a:t>a) To make a function wait indefinitely. </a:t>
            </a:r>
            <a:endParaRPr>
              <a:solidFill>
                <a:schemeClr val="dk1"/>
              </a:solidFill>
            </a:endParaRPr>
          </a:p>
          <a:p>
            <a:pPr indent="0" lvl="0" marL="9144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b) To pause the execution of an </a:t>
            </a:r>
            <a:r>
              <a:rPr b="1" lang="en">
                <a:solidFill>
                  <a:schemeClr val="dk1"/>
                </a:solidFill>
              </a:rPr>
              <a:t>async</a:t>
            </a:r>
            <a:r>
              <a:rPr lang="en">
                <a:solidFill>
                  <a:schemeClr val="dk1"/>
                </a:solidFill>
              </a:rPr>
              <a:t> function until a Promise is settled (resolved or rejected). </a:t>
            </a:r>
            <a:endParaRPr>
              <a:solidFill>
                <a:schemeClr val="dk1"/>
              </a:solidFill>
            </a:endParaRPr>
          </a:p>
          <a:p>
            <a:pPr indent="0" lvl="0" marL="9144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c) To define a callback function. </a:t>
            </a:r>
            <a:endParaRPr>
              <a:solidFill>
                <a:schemeClr val="dk1"/>
              </a:solidFill>
            </a:endParaRPr>
          </a:p>
          <a:p>
            <a:pPr indent="0" lvl="0" marL="9144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d) To immediately reject a Promise.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sz="1100"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200" name="Google Shape;200;p26" title="question-and-answer-illustration-download-in-svg-png-gif-file-formats--answers-faq-comments-chatting-business-pack-people-illustrations-4257057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051839" y="3027775"/>
            <a:ext cx="3001612" cy="2001075"/>
          </a:xfrm>
          <a:prstGeom prst="rect">
            <a:avLst/>
          </a:prstGeom>
          <a:noFill/>
          <a:ln>
            <a:noFill/>
          </a:ln>
        </p:spPr>
      </p:pic>
      <p:sp>
        <p:nvSpPr>
          <p:cNvPr id="201" name="Google Shape;201;p26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  <p:sp>
        <p:nvSpPr>
          <p:cNvPr id="202" name="Google Shape;202;p26"/>
          <p:cNvSpPr txBox="1"/>
          <p:nvPr/>
        </p:nvSpPr>
        <p:spPr>
          <a:xfrm>
            <a:off x="310900" y="3428225"/>
            <a:ext cx="6260400" cy="84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Answer :</a:t>
            </a:r>
            <a:r>
              <a:rPr lang="en" sz="1800">
                <a:solidFill>
                  <a:srgbClr val="595959"/>
                </a:solidFill>
              </a:rPr>
              <a:t> </a:t>
            </a:r>
            <a:r>
              <a:rPr lang="en">
                <a:solidFill>
                  <a:srgbClr val="595959"/>
                </a:solidFill>
              </a:rPr>
              <a:t> </a:t>
            </a:r>
            <a:r>
              <a:rPr lang="en">
                <a:solidFill>
                  <a:schemeClr val="dk1"/>
                </a:solidFill>
              </a:rPr>
              <a:t>b) To pause the execution of an </a:t>
            </a:r>
            <a:r>
              <a:rPr b="1" lang="en">
                <a:solidFill>
                  <a:schemeClr val="dk1"/>
                </a:solidFill>
              </a:rPr>
              <a:t>async</a:t>
            </a:r>
            <a:r>
              <a:rPr lang="en">
                <a:solidFill>
                  <a:schemeClr val="dk1"/>
                </a:solidFill>
              </a:rPr>
              <a:t> function until a Promise is   </a:t>
            </a:r>
            <a:endParaRPr>
              <a:solidFill>
                <a:schemeClr val="dk1"/>
              </a:solidFill>
            </a:endParaRPr>
          </a:p>
          <a:p>
            <a:pPr indent="45720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settled (resolved or rejected). 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Poppins"/>
              <a:ea typeface="Poppins"/>
              <a:cs typeface="Poppins"/>
              <a:sym typeface="Poppins"/>
            </a:endParaRPr>
          </a:p>
        </p:txBody>
      </p:sp>
      <p:grpSp>
        <p:nvGrpSpPr>
          <p:cNvPr id="203" name="Google Shape;203;p26"/>
          <p:cNvGrpSpPr/>
          <p:nvPr/>
        </p:nvGrpSpPr>
        <p:grpSpPr>
          <a:xfrm>
            <a:off x="310900" y="4114525"/>
            <a:ext cx="6005825" cy="1297500"/>
            <a:chOff x="310900" y="4114525"/>
            <a:chExt cx="6005825" cy="1297500"/>
          </a:xfrm>
        </p:grpSpPr>
        <p:sp>
          <p:nvSpPr>
            <p:cNvPr id="204" name="Google Shape;204;p26"/>
            <p:cNvSpPr txBox="1"/>
            <p:nvPr/>
          </p:nvSpPr>
          <p:spPr>
            <a:xfrm>
              <a:off x="310900" y="4114525"/>
              <a:ext cx="13359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1200"/>
                </a:spcBef>
                <a:spcAft>
                  <a:spcPts val="120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b="1" lang="en">
                  <a:solidFill>
                    <a:srgbClr val="273239"/>
                  </a:solidFill>
                  <a:latin typeface="Poppins"/>
                  <a:ea typeface="Poppins"/>
                  <a:cs typeface="Poppins"/>
                  <a:sym typeface="Poppins"/>
                </a:rPr>
                <a:t>Explanation:</a:t>
              </a:r>
              <a:endParaRPr sz="1800">
                <a:solidFill>
                  <a:srgbClr val="595959"/>
                </a:solidFill>
              </a:endParaRPr>
            </a:p>
          </p:txBody>
        </p:sp>
        <p:sp>
          <p:nvSpPr>
            <p:cNvPr id="205" name="Google Shape;205;p26"/>
            <p:cNvSpPr txBox="1"/>
            <p:nvPr/>
          </p:nvSpPr>
          <p:spPr>
            <a:xfrm>
              <a:off x="1607925" y="4114525"/>
              <a:ext cx="4708800" cy="1297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b="1" lang="en">
                  <a:solidFill>
                    <a:schemeClr val="dk1"/>
                  </a:solidFill>
                </a:rPr>
                <a:t>await</a:t>
              </a:r>
              <a:r>
                <a:rPr lang="en">
                  <a:solidFill>
                    <a:schemeClr val="dk1"/>
                  </a:solidFill>
                </a:rPr>
                <a:t> can only be used inside an </a:t>
              </a:r>
              <a:r>
                <a:rPr b="1" lang="en">
                  <a:solidFill>
                    <a:schemeClr val="dk1"/>
                  </a:solidFill>
                </a:rPr>
                <a:t>async</a:t>
              </a:r>
              <a:r>
                <a:rPr lang="en">
                  <a:solidFill>
                    <a:schemeClr val="dk1"/>
                  </a:solidFill>
                </a:rPr>
                <a:t> function. It "unpacks" the value from a resolved promise, allowing you to write asynchronous code that looks synchronous.</a:t>
              </a:r>
              <a:endParaRPr>
                <a:solidFill>
                  <a:schemeClr val="dk1"/>
                </a:solidFill>
              </a:endParaRPr>
            </a:p>
            <a:p>
              <a:pPr indent="0" lvl="0" marL="0" rtl="0" algn="l">
                <a:lnSpc>
                  <a:spcPct val="115000"/>
                </a:lnSpc>
                <a:spcBef>
                  <a:spcPts val="1200"/>
                </a:spcBef>
                <a:spcAft>
                  <a:spcPts val="1200"/>
                </a:spcAft>
                <a:buNone/>
              </a:pPr>
              <a:r>
                <a:t/>
              </a:r>
              <a:endParaRPr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27"/>
          <p:cNvSpPr txBox="1"/>
          <p:nvPr/>
        </p:nvSpPr>
        <p:spPr>
          <a:xfrm>
            <a:off x="310896" y="210312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8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|</a:t>
            </a:r>
            <a:r>
              <a:rPr lang="en" sz="2800">
                <a:solidFill>
                  <a:srgbClr val="000000"/>
                </a:solidFill>
              </a:rPr>
              <a:t>  </a:t>
            </a:r>
            <a:r>
              <a:rPr b="1" lang="en" sz="2800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References</a:t>
            </a:r>
            <a:endParaRPr b="1" sz="2800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211" name="Google Shape;211;p27" title="KRMU 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4696" y="100584"/>
            <a:ext cx="9144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212" name="Google Shape;212;p27"/>
          <p:cNvSpPr txBox="1"/>
          <p:nvPr/>
        </p:nvSpPr>
        <p:spPr>
          <a:xfrm>
            <a:off x="358850" y="1181200"/>
            <a:ext cx="8520600" cy="343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b="1" lang="en" sz="11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MDN Web Docs</a:t>
            </a:r>
            <a:r>
              <a:rPr b="1" lang="en" sz="1100">
                <a:solidFill>
                  <a:srgbClr val="000000"/>
                </a:solidFill>
              </a:rPr>
              <a:t> : </a:t>
            </a:r>
            <a:r>
              <a:rPr i="1" lang="en" sz="11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Comprehensive and official documentation for JS.</a:t>
            </a:r>
            <a:br>
              <a:rPr i="1" lang="en" sz="1100">
                <a:solidFill>
                  <a:srgbClr val="000000"/>
                </a:solidFill>
              </a:rPr>
            </a:br>
            <a:r>
              <a:rPr lang="en" sz="1100">
                <a:solidFill>
                  <a:srgbClr val="000000"/>
                </a:solidFill>
              </a:rPr>
              <a:t> 🔗</a:t>
            </a:r>
            <a:r>
              <a:rPr lang="en" sz="1100" u="sng">
                <a:solidFill>
                  <a:srgbClr val="0097A7"/>
                </a:solidFill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https://developer.mozilla.org/en-US/docs/Web/JavaScript</a:t>
            </a:r>
            <a:endParaRPr sz="1100" u="sng">
              <a:solidFill>
                <a:srgbClr val="0097A7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 u="sng">
              <a:solidFill>
                <a:srgbClr val="0097A7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 u="sng">
              <a:solidFill>
                <a:srgbClr val="0097A7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 u="sng">
              <a:solidFill>
                <a:srgbClr val="0097A7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Char char="●"/>
            </a:pPr>
            <a:r>
              <a:rPr b="1" lang="en" sz="11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W3Schools – JS Tutorial : </a:t>
            </a:r>
            <a:r>
              <a:rPr i="1" lang="en" sz="11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Beginner-friendly JS tutorials with examples and interactive editors.</a:t>
            </a:r>
            <a:br>
              <a:rPr i="1" lang="en" sz="11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</a:br>
            <a:r>
              <a:rPr lang="en" sz="1100">
                <a:solidFill>
                  <a:srgbClr val="000000"/>
                </a:solidFill>
              </a:rPr>
              <a:t> 🔗</a:t>
            </a:r>
            <a:r>
              <a:rPr lang="en" sz="1100" u="sng">
                <a:solidFill>
                  <a:srgbClr val="0097A7"/>
                </a:solidFill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https://www.w3schools.com/js/</a:t>
            </a:r>
            <a:endParaRPr sz="11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000000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Char char="●"/>
            </a:pPr>
            <a:r>
              <a:rPr b="1" lang="en" sz="11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JavaScript.info -</a:t>
            </a:r>
            <a:r>
              <a:rPr b="1" i="1" lang="en" sz="11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i="1" lang="en" sz="11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 </a:t>
            </a:r>
            <a:r>
              <a:rPr b="1" i="1" lang="en" sz="11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comprehensive tutorial-style website</a:t>
            </a:r>
            <a:r>
              <a:rPr i="1" lang="en" sz="11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that covers core JavaScript concepts in depth.</a:t>
            </a:r>
            <a:endParaRPr i="1" sz="110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000000"/>
                </a:solidFill>
              </a:rPr>
              <a:t>🔗</a:t>
            </a:r>
            <a:r>
              <a:rPr lang="en" sz="1100" u="sng">
                <a:solidFill>
                  <a:srgbClr val="0097A7"/>
                </a:solidFill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https://javascript.info/</a:t>
            </a:r>
            <a:endParaRPr i="1" sz="110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13" name="Google Shape;213;p27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8" name="Google Shape;218;p28" title="subtle-prism (2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5400050">
            <a:off x="-395563" y="395600"/>
            <a:ext cx="5157175" cy="4365975"/>
          </a:xfrm>
          <a:prstGeom prst="flowChartManualInput">
            <a:avLst/>
          </a:prstGeom>
          <a:noFill/>
          <a:ln>
            <a:noFill/>
          </a:ln>
        </p:spPr>
      </p:pic>
      <p:pic>
        <p:nvPicPr>
          <p:cNvPr id="219" name="Google Shape;219;p28" title="KRMU_Full_heading_Logo-removebg-preview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806125" y="452500"/>
            <a:ext cx="5337876" cy="1363050"/>
          </a:xfrm>
          <a:prstGeom prst="rect">
            <a:avLst/>
          </a:prstGeom>
          <a:noFill/>
          <a:ln>
            <a:noFill/>
          </a:ln>
        </p:spPr>
      </p:pic>
      <p:sp>
        <p:nvSpPr>
          <p:cNvPr id="220" name="Google Shape;220;p28"/>
          <p:cNvSpPr txBox="1"/>
          <p:nvPr/>
        </p:nvSpPr>
        <p:spPr>
          <a:xfrm>
            <a:off x="4407400" y="2020825"/>
            <a:ext cx="4636200" cy="55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173034"/>
                </a:solidFill>
              </a:rPr>
              <a:t>Course - Web Development - II</a:t>
            </a:r>
            <a:endParaRPr b="1" sz="2400">
              <a:solidFill>
                <a:srgbClr val="173034"/>
              </a:solidFill>
            </a:endParaRPr>
          </a:p>
        </p:txBody>
      </p:sp>
      <p:grpSp>
        <p:nvGrpSpPr>
          <p:cNvPr id="221" name="Google Shape;221;p28"/>
          <p:cNvGrpSpPr/>
          <p:nvPr/>
        </p:nvGrpSpPr>
        <p:grpSpPr>
          <a:xfrm>
            <a:off x="4572000" y="4881413"/>
            <a:ext cx="1607600" cy="292500"/>
            <a:chOff x="5060775" y="4881413"/>
            <a:chExt cx="1607600" cy="292500"/>
          </a:xfrm>
        </p:grpSpPr>
        <p:sp>
          <p:nvSpPr>
            <p:cNvPr id="222" name="Google Shape;222;p28"/>
            <p:cNvSpPr txBox="1"/>
            <p:nvPr/>
          </p:nvSpPr>
          <p:spPr>
            <a:xfrm>
              <a:off x="5165675" y="4881413"/>
              <a:ext cx="1502700" cy="29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700">
                  <a:solidFill>
                    <a:srgbClr val="000000"/>
                  </a:solidFill>
                </a:rPr>
                <a:t>welcome@krmangalam.edu.in</a:t>
              </a:r>
              <a:endParaRPr sz="900">
                <a:solidFill>
                  <a:srgbClr val="000000"/>
                </a:solidFill>
              </a:endParaRPr>
            </a:p>
          </p:txBody>
        </p:sp>
        <p:pic>
          <p:nvPicPr>
            <p:cNvPr id="223" name="Google Shape;223;p28" title="email.png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5060775" y="4966738"/>
              <a:ext cx="137160" cy="13716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24" name="Google Shape;224;p28"/>
          <p:cNvSpPr txBox="1"/>
          <p:nvPr/>
        </p:nvSpPr>
        <p:spPr>
          <a:xfrm>
            <a:off x="7326500" y="4881425"/>
            <a:ext cx="23400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rgbClr val="212121"/>
                </a:solidFill>
              </a:rPr>
              <a:t>Sohna Road,Gurugram,Haryana 122103</a:t>
            </a:r>
            <a:endParaRPr sz="700">
              <a:solidFill>
                <a:srgbClr val="212121"/>
              </a:solidFill>
            </a:endParaRPr>
          </a:p>
        </p:txBody>
      </p:sp>
      <p:pic>
        <p:nvPicPr>
          <p:cNvPr id="225" name="Google Shape;225;p28" title="location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229300" y="4959088"/>
            <a:ext cx="137160" cy="137160"/>
          </a:xfrm>
          <a:prstGeom prst="rect">
            <a:avLst/>
          </a:prstGeom>
          <a:noFill/>
          <a:ln>
            <a:noFill/>
          </a:ln>
        </p:spPr>
      </p:pic>
      <p:sp>
        <p:nvSpPr>
          <p:cNvPr id="226" name="Google Shape;226;p28"/>
          <p:cNvSpPr txBox="1"/>
          <p:nvPr/>
        </p:nvSpPr>
        <p:spPr>
          <a:xfrm>
            <a:off x="8494883" y="464826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  <p:sp>
        <p:nvSpPr>
          <p:cNvPr id="227" name="Google Shape;227;p28"/>
          <p:cNvSpPr txBox="1"/>
          <p:nvPr/>
        </p:nvSpPr>
        <p:spPr>
          <a:xfrm>
            <a:off x="1033275" y="1691650"/>
            <a:ext cx="2313000" cy="175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4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Thanks</a:t>
            </a:r>
            <a:endParaRPr sz="340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4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For</a:t>
            </a:r>
            <a:endParaRPr sz="340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4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Watching</a:t>
            </a:r>
            <a:endParaRPr sz="340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228" name="Google Shape;228;p28" title="Untitled (2).png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038344" y="2660904"/>
            <a:ext cx="3309826" cy="20008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