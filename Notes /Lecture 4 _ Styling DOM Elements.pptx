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</p:sldIdLst>
  <p:sldSz cy="5143500" cx="9144000"/>
  <p:notesSz cx="6858000" cy="9144000"/>
  <p:embeddedFontLst>
    <p:embeddedFont>
      <p:font typeface="Roboto Slab"/>
      <p:regular r:id="rId47"/>
      <p:bold r:id="rId48"/>
    </p:embeddedFont>
    <p:embeddedFont>
      <p:font typeface="Poppins"/>
      <p:regular r:id="rId49"/>
      <p:bold r:id="rId50"/>
      <p:italic r:id="rId51"/>
      <p:boldItalic r:id="rId5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003118A-C459-460A-B347-7FD674EEEF7C}">
  <a:tblStyle styleId="{A003118A-C459-460A-B347-7FD674EEEF7C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font" Target="fonts/RobotoSlab-bold.fntdata"/><Relationship Id="rId47" Type="http://schemas.openxmlformats.org/officeDocument/2006/relationships/font" Target="fonts/RobotoSlab-regular.fntdata"/><Relationship Id="rId49" Type="http://schemas.openxmlformats.org/officeDocument/2006/relationships/font" Target="fonts/Poppins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font" Target="fonts/Poppins-italic.fntdata"/><Relationship Id="rId50" Type="http://schemas.openxmlformats.org/officeDocument/2006/relationships/font" Target="fonts/Poppins-bold.fntdata"/><Relationship Id="rId52" Type="http://schemas.openxmlformats.org/officeDocument/2006/relationships/font" Target="fonts/Poppins-bold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6e4d84cc1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6e4d84cc1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6e4d84cc1e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6e4d84cc1e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6e730f01e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6e730f01e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6e730f01e8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6e730f01e8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6e730f01e8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6e730f01e8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6e730f01e8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6e730f01e8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6e730f01e8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6e730f01e8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6e730f01e8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6e730f01e8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6e730f01e8_0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6e730f01e8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6e730f01e8_0_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6e730f01e8_0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6e730f01e8_0_1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6e730f01e8_0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6e730f01e8_0_1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6e730f01e8_0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6e730f01e8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6e730f01e8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6e730f01e8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6e730f01e8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6e730f01e8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6e730f01e8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6e730f01e8_0_1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36e730f01e8_0_1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6dd5db3fda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36dd5db3fda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6dd5db3fda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36dd5db3fda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6dd5db3fda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6dd5db3fda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6e730f01e8_0_1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36e730f01e8_0_1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6e730f01e8_0_1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36e730f01e8_0_1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6e730f01e8_0_1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" name="Google Shape;274;g36e730f01e8_0_1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36dd5db3fd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6" name="Google Shape;286;g36dd5db3fd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36dd5db3fda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" name="Google Shape;297;g36dd5db3fda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6dd5db3fda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36dd5db3fda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3bb5dfb037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Google Shape;318;g3bb5dfb037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3bb5dfb0375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3bb5dfb0375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3bb5dfb0375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7" name="Google Shape;337;g3bb5dfb0375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3bb5dfb0375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8" name="Google Shape;348;g3bb5dfb0375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3bb5dfb0375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" name="Google Shape;357;g3bb5dfb0375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3bb5dfb0375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5" name="Google Shape;365;g3bb5dfb0375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g3bb5dfb0375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6" name="Google Shape;376;g3bb5dfb0375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3bb5dfb0375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5" name="Google Shape;385;g3bb5dfb0375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g3b62e609f5e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3" name="Google Shape;393;g3b62e609f5e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g3b62e609f5e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2" name="Google Shape;402;g3b62e609f5e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g3b62e609f5e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1" name="Google Shape;411;g3b62e609f5e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g3b62e609f5e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1" name="Google Shape;421;g3b62e609f5e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g36dadd7b31b_0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1" name="Google Shape;431;g36dadd7b31b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g36e4d84cc1e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5" name="Google Shape;445;g36e4d84cc1e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g36e4d84cc1e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3" name="Google Shape;453;g36e4d84cc1e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4.png"/><Relationship Id="rId7" Type="http://schemas.openxmlformats.org/officeDocument/2006/relationships/image" Target="../media/image45.jpg"/><Relationship Id="rId8" Type="http://schemas.openxmlformats.org/officeDocument/2006/relationships/image" Target="../media/image2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1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1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2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18.png"/><Relationship Id="rId5" Type="http://schemas.openxmlformats.org/officeDocument/2006/relationships/image" Target="../media/image3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30.png"/><Relationship Id="rId5" Type="http://schemas.openxmlformats.org/officeDocument/2006/relationships/image" Target="../media/image1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Relationship Id="rId4" Type="http://schemas.openxmlformats.org/officeDocument/2006/relationships/image" Target="../media/image22.png"/><Relationship Id="rId5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Relationship Id="rId4" Type="http://schemas.openxmlformats.org/officeDocument/2006/relationships/image" Target="../media/image15.png"/><Relationship Id="rId5" Type="http://schemas.openxmlformats.org/officeDocument/2006/relationships/image" Target="../media/image3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Relationship Id="rId4" Type="http://schemas.openxmlformats.org/officeDocument/2006/relationships/image" Target="../media/image1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Relationship Id="rId4" Type="http://schemas.openxmlformats.org/officeDocument/2006/relationships/image" Target="../media/image10.png"/><Relationship Id="rId5" Type="http://schemas.openxmlformats.org/officeDocument/2006/relationships/image" Target="../media/image1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Relationship Id="rId4" Type="http://schemas.openxmlformats.org/officeDocument/2006/relationships/image" Target="../media/image25.png"/><Relationship Id="rId5" Type="http://schemas.openxmlformats.org/officeDocument/2006/relationships/image" Target="../media/image1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Relationship Id="rId4" Type="http://schemas.openxmlformats.org/officeDocument/2006/relationships/image" Target="../media/image1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png"/><Relationship Id="rId4" Type="http://schemas.openxmlformats.org/officeDocument/2006/relationships/image" Target="../media/image11.png"/><Relationship Id="rId5" Type="http://schemas.openxmlformats.org/officeDocument/2006/relationships/image" Target="../media/image24.png"/><Relationship Id="rId6" Type="http://schemas.openxmlformats.org/officeDocument/2006/relationships/image" Target="../media/image2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png"/><Relationship Id="rId4" Type="http://schemas.openxmlformats.org/officeDocument/2006/relationships/image" Target="../media/image11.png"/><Relationship Id="rId5" Type="http://schemas.openxmlformats.org/officeDocument/2006/relationships/hyperlink" Target="http://drive.google.com/file/d/1jqLbqViT_nnWeBsNOG5YMZnZUCsZnePm/view" TargetMode="External"/><Relationship Id="rId6" Type="http://schemas.openxmlformats.org/officeDocument/2006/relationships/image" Target="../media/image33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.png"/><Relationship Id="rId4" Type="http://schemas.openxmlformats.org/officeDocument/2006/relationships/image" Target="../media/image27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.png"/><Relationship Id="rId4" Type="http://schemas.openxmlformats.org/officeDocument/2006/relationships/image" Target="../media/image31.png"/><Relationship Id="rId5" Type="http://schemas.openxmlformats.org/officeDocument/2006/relationships/image" Target="../media/image29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.png"/><Relationship Id="rId4" Type="http://schemas.openxmlformats.org/officeDocument/2006/relationships/image" Target="../media/image35.png"/><Relationship Id="rId5" Type="http://schemas.openxmlformats.org/officeDocument/2006/relationships/image" Target="../media/image4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.png"/><Relationship Id="rId4" Type="http://schemas.openxmlformats.org/officeDocument/2006/relationships/image" Target="../media/image1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.png"/><Relationship Id="rId4" Type="http://schemas.openxmlformats.org/officeDocument/2006/relationships/image" Target="../media/image11.png"/><Relationship Id="rId5" Type="http://schemas.openxmlformats.org/officeDocument/2006/relationships/image" Target="../media/image28.png"/><Relationship Id="rId6" Type="http://schemas.openxmlformats.org/officeDocument/2006/relationships/image" Target="../media/image57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4.png"/><Relationship Id="rId4" Type="http://schemas.openxmlformats.org/officeDocument/2006/relationships/image" Target="../media/image3.png"/><Relationship Id="rId5" Type="http://schemas.openxmlformats.org/officeDocument/2006/relationships/image" Target="../media/image11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.png"/><Relationship Id="rId4" Type="http://schemas.openxmlformats.org/officeDocument/2006/relationships/image" Target="../media/image43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.png"/><Relationship Id="rId4" Type="http://schemas.openxmlformats.org/officeDocument/2006/relationships/image" Target="../media/image51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.png"/><Relationship Id="rId4" Type="http://schemas.openxmlformats.org/officeDocument/2006/relationships/image" Target="../media/image44.png"/><Relationship Id="rId5" Type="http://schemas.openxmlformats.org/officeDocument/2006/relationships/image" Target="../media/image48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.png"/><Relationship Id="rId4" Type="http://schemas.openxmlformats.org/officeDocument/2006/relationships/hyperlink" Target="http://drive.google.com/file/d/19o-46HQHhCURPeDg2tXinZ6LcgH-Gk7X/view" TargetMode="External"/><Relationship Id="rId5" Type="http://schemas.openxmlformats.org/officeDocument/2006/relationships/image" Target="../media/image42.jp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.png"/><Relationship Id="rId4" Type="http://schemas.openxmlformats.org/officeDocument/2006/relationships/image" Target="../media/image52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.png"/><Relationship Id="rId4" Type="http://schemas.openxmlformats.org/officeDocument/2006/relationships/image" Target="../media/image40.png"/><Relationship Id="rId5" Type="http://schemas.openxmlformats.org/officeDocument/2006/relationships/image" Target="../media/image53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.png"/><Relationship Id="rId4" Type="http://schemas.openxmlformats.org/officeDocument/2006/relationships/hyperlink" Target="http://drive.google.com/file/d/1BtNYNfTchQgapLmoLoV3HXTNXTNWvZQg/view" TargetMode="External"/><Relationship Id="rId5" Type="http://schemas.openxmlformats.org/officeDocument/2006/relationships/image" Target="../media/image47.jp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.png"/><Relationship Id="rId4" Type="http://schemas.openxmlformats.org/officeDocument/2006/relationships/image" Target="../media/image46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3.png"/><Relationship Id="rId4" Type="http://schemas.openxmlformats.org/officeDocument/2006/relationships/image" Target="../media/image54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3.png"/><Relationship Id="rId4" Type="http://schemas.openxmlformats.org/officeDocument/2006/relationships/image" Target="../media/image55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3.png"/><Relationship Id="rId4" Type="http://schemas.openxmlformats.org/officeDocument/2006/relationships/image" Target="../media/image11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3.png"/><Relationship Id="rId4" Type="http://schemas.openxmlformats.org/officeDocument/2006/relationships/hyperlink" Target="https://developer.mozilla.org/en-US/docs/Web/JavaScript" TargetMode="External"/><Relationship Id="rId5" Type="http://schemas.openxmlformats.org/officeDocument/2006/relationships/hyperlink" Target="https://www.w3schools.com/js/" TargetMode="External"/><Relationship Id="rId6" Type="http://schemas.openxmlformats.org/officeDocument/2006/relationships/hyperlink" Target="https://javascript.info/" TargetMode="Externa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4.png"/><Relationship Id="rId7" Type="http://schemas.openxmlformats.org/officeDocument/2006/relationships/image" Target="../media/image45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subtle-prism (2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50">
            <a:off x="-395563" y="395600"/>
            <a:ext cx="5157175" cy="4365975"/>
          </a:xfrm>
          <a:prstGeom prst="flowChartManualInput">
            <a:avLst/>
          </a:prstGeom>
          <a:noFill/>
          <a:ln>
            <a:noFill/>
          </a:ln>
        </p:spPr>
      </p:pic>
      <p:pic>
        <p:nvPicPr>
          <p:cNvPr id="55" name="Google Shape;55;p13" title="KRMU_Full_heading_Logo-removebg-preview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06125" y="452500"/>
            <a:ext cx="5337876" cy="136305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3"/>
          <p:cNvSpPr txBox="1"/>
          <p:nvPr/>
        </p:nvSpPr>
        <p:spPr>
          <a:xfrm>
            <a:off x="4405600" y="2017650"/>
            <a:ext cx="4583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173034"/>
                </a:solidFill>
              </a:rPr>
              <a:t>Course - Web Development - II </a:t>
            </a:r>
            <a:endParaRPr b="1" sz="2400">
              <a:solidFill>
                <a:srgbClr val="173034"/>
              </a:solidFill>
            </a:endParaRPr>
          </a:p>
        </p:txBody>
      </p:sp>
      <p:grpSp>
        <p:nvGrpSpPr>
          <p:cNvPr id="57" name="Google Shape;57;p13"/>
          <p:cNvGrpSpPr/>
          <p:nvPr/>
        </p:nvGrpSpPr>
        <p:grpSpPr>
          <a:xfrm>
            <a:off x="4572000" y="4882896"/>
            <a:ext cx="1607600" cy="292500"/>
            <a:chOff x="5060775" y="4881413"/>
            <a:chExt cx="1607600" cy="292500"/>
          </a:xfrm>
        </p:grpSpPr>
        <p:sp>
          <p:nvSpPr>
            <p:cNvPr id="58" name="Google Shape;58;p13"/>
            <p:cNvSpPr txBox="1"/>
            <p:nvPr/>
          </p:nvSpPr>
          <p:spPr>
            <a:xfrm>
              <a:off x="5165675" y="4881413"/>
              <a:ext cx="15027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chemeClr val="dk1"/>
                  </a:solidFill>
                </a:rPr>
                <a:t>welcome@krmangalam.edu.in</a:t>
              </a:r>
              <a:endParaRPr sz="900">
                <a:solidFill>
                  <a:schemeClr val="dk1"/>
                </a:solidFill>
              </a:endParaRPr>
            </a:p>
          </p:txBody>
        </p:sp>
        <p:pic>
          <p:nvPicPr>
            <p:cNvPr id="59" name="Google Shape;59;p13" title="email.png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5060775" y="4966738"/>
              <a:ext cx="137160" cy="13716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0" name="Google Shape;60;p13"/>
          <p:cNvGrpSpPr/>
          <p:nvPr/>
        </p:nvGrpSpPr>
        <p:grpSpPr>
          <a:xfrm>
            <a:off x="7229300" y="4881425"/>
            <a:ext cx="1926000" cy="292500"/>
            <a:chOff x="7229300" y="4881425"/>
            <a:chExt cx="1926000" cy="292500"/>
          </a:xfrm>
        </p:grpSpPr>
        <p:sp>
          <p:nvSpPr>
            <p:cNvPr id="61" name="Google Shape;61;p13"/>
            <p:cNvSpPr txBox="1"/>
            <p:nvPr/>
          </p:nvSpPr>
          <p:spPr>
            <a:xfrm>
              <a:off x="7326500" y="4881425"/>
              <a:ext cx="18288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chemeClr val="accent2"/>
                  </a:solidFill>
                </a:rPr>
                <a:t>Sohna Road,Gurugram,Haryana 122103</a:t>
              </a:r>
              <a:endParaRPr sz="700">
                <a:solidFill>
                  <a:schemeClr val="accent2"/>
                </a:solidFill>
              </a:endParaRPr>
            </a:p>
          </p:txBody>
        </p:sp>
        <p:pic>
          <p:nvPicPr>
            <p:cNvPr id="62" name="Google Shape;62;p13" title="location.png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7229300" y="4965192"/>
              <a:ext cx="137160" cy="13716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63" name="Google Shape;63;p13" title="Wavy_Trv-02_Single-09.jp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450000" y="2536688"/>
            <a:ext cx="2463299" cy="2227850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65" name="Google Shape;65;p13"/>
          <p:cNvGrpSpPr/>
          <p:nvPr/>
        </p:nvGrpSpPr>
        <p:grpSpPr>
          <a:xfrm>
            <a:off x="309849" y="1233369"/>
            <a:ext cx="3415942" cy="2954584"/>
            <a:chOff x="309849" y="1233369"/>
            <a:chExt cx="3415942" cy="2954584"/>
          </a:xfrm>
        </p:grpSpPr>
        <p:grpSp>
          <p:nvGrpSpPr>
            <p:cNvPr id="66" name="Google Shape;66;p13"/>
            <p:cNvGrpSpPr/>
            <p:nvPr/>
          </p:nvGrpSpPr>
          <p:grpSpPr>
            <a:xfrm>
              <a:off x="309849" y="1233369"/>
              <a:ext cx="3415942" cy="2387863"/>
              <a:chOff x="788865" y="1515488"/>
              <a:chExt cx="4594407" cy="2387863"/>
            </a:xfrm>
          </p:grpSpPr>
          <p:sp>
            <p:nvSpPr>
              <p:cNvPr id="67" name="Google Shape;67;p13"/>
              <p:cNvSpPr txBox="1"/>
              <p:nvPr/>
            </p:nvSpPr>
            <p:spPr>
              <a:xfrm>
                <a:off x="788865" y="1515488"/>
                <a:ext cx="3197700" cy="600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2700">
                    <a:solidFill>
                      <a:schemeClr val="lt1"/>
                    </a:solidFill>
                    <a:latin typeface="Roboto Slab"/>
                    <a:ea typeface="Roboto Slab"/>
                    <a:cs typeface="Roboto Slab"/>
                    <a:sym typeface="Roboto Slab"/>
                  </a:rPr>
                  <a:t>Lecture 4</a:t>
                </a:r>
                <a:r>
                  <a:rPr lang="en" sz="2700">
                    <a:solidFill>
                      <a:schemeClr val="lt1"/>
                    </a:solidFill>
                  </a:rPr>
                  <a:t>:</a:t>
                </a:r>
                <a:endParaRPr sz="2200">
                  <a:solidFill>
                    <a:schemeClr val="lt1"/>
                  </a:solidFill>
                  <a:latin typeface="Roboto Slab"/>
                  <a:ea typeface="Roboto Slab"/>
                  <a:cs typeface="Roboto Slab"/>
                  <a:sym typeface="Roboto Slab"/>
                </a:endParaRPr>
              </a:p>
            </p:txBody>
          </p:sp>
          <p:sp>
            <p:nvSpPr>
              <p:cNvPr id="68" name="Google Shape;68;p13"/>
              <p:cNvSpPr txBox="1"/>
              <p:nvPr/>
            </p:nvSpPr>
            <p:spPr>
              <a:xfrm>
                <a:off x="788875" y="3475300"/>
                <a:ext cx="699000" cy="415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500">
                    <a:solidFill>
                      <a:schemeClr val="lt1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-By</a:t>
                </a:r>
                <a:endParaRPr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69" name="Google Shape;69;p13"/>
              <p:cNvSpPr txBox="1"/>
              <p:nvPr/>
            </p:nvSpPr>
            <p:spPr>
              <a:xfrm>
                <a:off x="790272" y="2145213"/>
                <a:ext cx="4593000" cy="1293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en" sz="2400">
                    <a:solidFill>
                      <a:schemeClr val="lt1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Styling DOM Elements</a:t>
                </a:r>
                <a:endParaRPr sz="2400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t/>
                </a:r>
                <a:endParaRPr sz="2400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70" name="Google Shape;70;p13"/>
              <p:cNvSpPr txBox="1"/>
              <p:nvPr/>
            </p:nvSpPr>
            <p:spPr>
              <a:xfrm>
                <a:off x="1330896" y="3491750"/>
                <a:ext cx="3313200" cy="411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>
                    <a:solidFill>
                      <a:schemeClr val="lt1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Instructor Name</a:t>
                </a:r>
                <a:endParaRPr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pic>
          <p:nvPicPr>
            <p:cNvPr id="71" name="Google Shape;71;p13" title="javascript-logo-javascript-icon-transparent-free-png.png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1033272" y="3666744"/>
              <a:ext cx="521208" cy="52120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ransition spd="med">
    <p:fade thruBlk="1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4"/>
          <p:cNvSpPr txBox="1"/>
          <p:nvPr>
            <p:ph type="title"/>
          </p:nvPr>
        </p:nvSpPr>
        <p:spPr>
          <a:xfrm>
            <a:off x="311700" y="213250"/>
            <a:ext cx="747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Table of Contents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7" name="Google Shape;77;p14"/>
          <p:cNvSpPr txBox="1"/>
          <p:nvPr>
            <p:ph idx="1" type="body"/>
          </p:nvPr>
        </p:nvSpPr>
        <p:spPr>
          <a:xfrm>
            <a:off x="311700" y="12347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800"/>
              <a:buChar char="●"/>
            </a:pPr>
            <a:r>
              <a:rPr lang="en">
                <a:solidFill>
                  <a:srgbClr val="273239"/>
                </a:solidFill>
              </a:rPr>
              <a:t>style property</a:t>
            </a:r>
            <a:endParaRPr>
              <a:solidFill>
                <a:srgbClr val="273239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800"/>
              <a:buChar char="●"/>
            </a:pPr>
            <a:r>
              <a:rPr lang="en">
                <a:solidFill>
                  <a:srgbClr val="273239"/>
                </a:solidFill>
              </a:rPr>
              <a:t>classList add/remove/toggle</a:t>
            </a:r>
            <a:endParaRPr>
              <a:solidFill>
                <a:srgbClr val="273239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800"/>
              <a:buChar char="●"/>
            </a:pPr>
            <a:r>
              <a:rPr lang="en">
                <a:solidFill>
                  <a:srgbClr val="273239"/>
                </a:solidFill>
              </a:rPr>
              <a:t>References.</a:t>
            </a:r>
            <a:endParaRPr>
              <a:solidFill>
                <a:srgbClr val="273239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800"/>
              <a:buChar char="●"/>
            </a:pPr>
            <a:r>
              <a:rPr lang="en">
                <a:solidFill>
                  <a:srgbClr val="273239"/>
                </a:solidFill>
              </a:rPr>
              <a:t>The End.</a:t>
            </a:r>
            <a:endParaRPr>
              <a:solidFill>
                <a:srgbClr val="273239"/>
              </a:solidFill>
            </a:endParaRPr>
          </a:p>
        </p:txBody>
      </p:sp>
      <p:pic>
        <p:nvPicPr>
          <p:cNvPr id="78" name="Google Shape;78;p14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5"/>
          <p:cNvSpPr txBox="1"/>
          <p:nvPr>
            <p:ph type="title"/>
          </p:nvPr>
        </p:nvSpPr>
        <p:spPr>
          <a:xfrm>
            <a:off x="311700" y="213250"/>
            <a:ext cx="265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 sz="2200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endParaRPr b="1" sz="22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85" name="Google Shape;85;p15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7" name="Google Shape;87;p15"/>
          <p:cNvSpPr txBox="1"/>
          <p:nvPr/>
        </p:nvSpPr>
        <p:spPr>
          <a:xfrm>
            <a:off x="576075" y="210300"/>
            <a:ext cx="7223700" cy="10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900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Now imagine you've found the person in the room. What if you want them to say something different? Or wear a different color jacket?</a:t>
            </a:r>
            <a:endParaRPr b="1" sz="19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88" name="Google Shape;88;p15" title="Woman thinking-amico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331720" y="1261872"/>
            <a:ext cx="4489700" cy="3611880"/>
          </a:xfrm>
          <a:prstGeom prst="rect">
            <a:avLst/>
          </a:prstGeom>
          <a:noFill/>
          <a:ln>
            <a:noFill/>
          </a:ln>
          <a:effectLst>
            <a:outerShdw blurRad="85725" rotWithShape="0" algn="bl" dir="7380000" dist="952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6"/>
          <p:cNvSpPr txBox="1"/>
          <p:nvPr>
            <p:ph type="title"/>
          </p:nvPr>
        </p:nvSpPr>
        <p:spPr>
          <a:xfrm>
            <a:off x="311700" y="213250"/>
            <a:ext cx="265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 sz="2200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endParaRPr b="1" sz="22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94" name="Google Shape;94;p16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6" name="Google Shape;96;p16"/>
          <p:cNvSpPr txBox="1"/>
          <p:nvPr/>
        </p:nvSpPr>
        <p:spPr>
          <a:xfrm>
            <a:off x="576075" y="210300"/>
            <a:ext cx="7223700" cy="10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900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Now imagine you've found the person in the room. What if you want them to say something different? Or wear a different color jacket?</a:t>
            </a:r>
            <a:endParaRPr b="1" sz="19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7" name="Google Shape;97;p16"/>
          <p:cNvSpPr txBox="1"/>
          <p:nvPr/>
        </p:nvSpPr>
        <p:spPr>
          <a:xfrm>
            <a:off x="311700" y="1399900"/>
            <a:ext cx="7663200" cy="189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So after we select the element, the next step is to control what it says or how it looks — and that’s exactly what we’ll learn in: Changing Content &amp; Styles.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If you want them to </a:t>
            </a:r>
            <a:r>
              <a:rPr b="1" lang="en" sz="13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say something else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, you change their </a:t>
            </a:r>
            <a:r>
              <a:rPr b="1" lang="en" sz="13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message</a:t>
            </a:r>
            <a:r>
              <a:rPr lang="en" sz="13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— like using </a:t>
            </a:r>
            <a:r>
              <a:rPr lang="en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.textContent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or </a:t>
            </a:r>
            <a:r>
              <a:rPr lang="en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.innerHTML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If you want them to </a:t>
            </a:r>
            <a:r>
              <a:rPr b="1" lang="en" sz="13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look different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, you change their </a:t>
            </a: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appearance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— like using </a:t>
            </a:r>
            <a:r>
              <a:rPr lang="en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.style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or </a:t>
            </a:r>
            <a:r>
              <a:rPr lang="en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.classList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 sz="17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98" name="Google Shape;98;p16" title="Editing body text-pana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36175" y="2949250"/>
            <a:ext cx="2611050" cy="2107575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7380000" dist="952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7"/>
          <p:cNvSpPr txBox="1"/>
          <p:nvPr>
            <p:ph type="title"/>
          </p:nvPr>
        </p:nvSpPr>
        <p:spPr>
          <a:xfrm>
            <a:off x="311700" y="213250"/>
            <a:ext cx="747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Changing Content &amp; Styles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04" name="Google Shape;104;p17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6" name="Google Shape;106;p17"/>
          <p:cNvSpPr txBox="1"/>
          <p:nvPr/>
        </p:nvSpPr>
        <p:spPr>
          <a:xfrm>
            <a:off x="311700" y="1234440"/>
            <a:ext cx="7545600" cy="147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Changing Content &amp; Styles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means using JavaScript to </a:t>
            </a: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update what an element says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(like text or HTML) and </a:t>
            </a: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how it looks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(like color, size, or layout) on the page.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Think of it like:</a:t>
            </a:r>
            <a:b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b="1" i="1" lang="en" sz="12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                “JavaScript is saying: Okay, now that I’ve found it — what should I make it say or how      </a:t>
            </a:r>
            <a:endParaRPr b="1" i="1" sz="12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i="1" lang="en" sz="12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                  should it look?”</a:t>
            </a:r>
            <a:endParaRPr b="1" i="1" sz="15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07" name="Google Shape;107;p17" title="Work in progress-amico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93988" y="2432775"/>
            <a:ext cx="2556025" cy="2556125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7380000" dist="952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8"/>
          <p:cNvSpPr txBox="1"/>
          <p:nvPr>
            <p:ph type="title"/>
          </p:nvPr>
        </p:nvSpPr>
        <p:spPr>
          <a:xfrm>
            <a:off x="311700" y="213250"/>
            <a:ext cx="747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Changing Content &amp; Styles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13" name="Google Shape;113;p18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5" name="Google Shape;115;p18"/>
          <p:cNvSpPr txBox="1"/>
          <p:nvPr/>
        </p:nvSpPr>
        <p:spPr>
          <a:xfrm>
            <a:off x="311700" y="1140065"/>
            <a:ext cx="7545600" cy="34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JavaScript gives us built-in properties and methods to change the content and appearance of elements on the page.</a:t>
            </a:r>
            <a:endParaRPr b="1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You use these after selecting an element, depending on whether you want to update </a:t>
            </a: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text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HTML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, or </a:t>
            </a: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CSS styles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To Change Content: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73239"/>
              </a:buClr>
              <a:buSzPts val="1400"/>
              <a:buChar char="●"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.innerText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400"/>
              <a:buChar char="●"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.innerHTML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400"/>
              <a:buFont typeface="Poppins"/>
              <a:buChar char="●"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.textContent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To Change Styles:</a:t>
            </a:r>
            <a:endParaRPr b="1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73239"/>
              </a:buClr>
              <a:buSzPts val="1400"/>
              <a:buChar char="●"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.style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9"/>
          <p:cNvSpPr txBox="1"/>
          <p:nvPr>
            <p:ph type="title"/>
          </p:nvPr>
        </p:nvSpPr>
        <p:spPr>
          <a:xfrm>
            <a:off x="311700" y="213250"/>
            <a:ext cx="747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.innerText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21" name="Google Shape;121;p19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3" name="Google Shape;123;p19"/>
          <p:cNvSpPr txBox="1"/>
          <p:nvPr/>
        </p:nvSpPr>
        <p:spPr>
          <a:xfrm>
            <a:off x="311700" y="1234440"/>
            <a:ext cx="7545600" cy="12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.innerText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is a property in JavaScript that allows you to </a:t>
            </a:r>
            <a:r>
              <a:rPr b="1" lang="en" sz="13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get or change only the visible text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inside an HTML element.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It </a:t>
            </a:r>
            <a:r>
              <a:rPr b="1" lang="en" sz="13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ignores hidden content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(like elements styled with </a:t>
            </a:r>
            <a:r>
              <a:rPr lang="en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display: none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or </a:t>
            </a:r>
            <a:r>
              <a:rPr lang="en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visibility: hidden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), and respects line breaks and spacing as seen by the user.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4" name="Google Shape;124;p19"/>
          <p:cNvSpPr txBox="1"/>
          <p:nvPr/>
        </p:nvSpPr>
        <p:spPr>
          <a:xfrm>
            <a:off x="311700" y="3027900"/>
            <a:ext cx="1061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Syntax : </a:t>
            </a:r>
            <a:endParaRPr b="1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25" name="Google Shape;125;p19" title="carbon - 2025-07-10T143852.086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73400" y="3027900"/>
            <a:ext cx="5600750" cy="1443650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7380000" dist="952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0"/>
          <p:cNvSpPr txBox="1"/>
          <p:nvPr>
            <p:ph type="title"/>
          </p:nvPr>
        </p:nvSpPr>
        <p:spPr>
          <a:xfrm>
            <a:off x="311700" y="213250"/>
            <a:ext cx="747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.innerText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31" name="Google Shape;131;p20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3" name="Google Shape;133;p20"/>
          <p:cNvSpPr txBox="1"/>
          <p:nvPr/>
        </p:nvSpPr>
        <p:spPr>
          <a:xfrm>
            <a:off x="311700" y="1203325"/>
            <a:ext cx="1214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Example :</a:t>
            </a:r>
            <a:endParaRPr b="1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34" name="Google Shape;134;p20" title="carbon - 2025-07-10T144550.651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25800" y="3335150"/>
            <a:ext cx="6692801" cy="1037075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7380000" dist="95250">
              <a:srgbClr val="000000">
                <a:alpha val="50000"/>
              </a:srgbClr>
            </a:outerShdw>
          </a:effectLst>
        </p:spPr>
      </p:pic>
      <p:pic>
        <p:nvPicPr>
          <p:cNvPr id="135" name="Google Shape;135;p20" title="carbon - 2025-07-10T144618.944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525800" y="1203325"/>
            <a:ext cx="5135574" cy="1627950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7380000" dist="952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1"/>
          <p:cNvSpPr txBox="1"/>
          <p:nvPr>
            <p:ph type="title"/>
          </p:nvPr>
        </p:nvSpPr>
        <p:spPr>
          <a:xfrm>
            <a:off x="311700" y="213250"/>
            <a:ext cx="747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.innerText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41" name="Google Shape;141;p21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3" name="Google Shape;143;p21"/>
          <p:cNvSpPr txBox="1"/>
          <p:nvPr/>
        </p:nvSpPr>
        <p:spPr>
          <a:xfrm>
            <a:off x="311700" y="1203325"/>
            <a:ext cx="1214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Output:</a:t>
            </a:r>
            <a:endParaRPr b="1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44" name="Google Shape;144;p21" title="Screenshot 2025-07-10 144946.png"/>
          <p:cNvPicPr preferRelativeResize="0"/>
          <p:nvPr/>
        </p:nvPicPr>
        <p:blipFill rotWithShape="1">
          <a:blip r:embed="rId4">
            <a:alphaModFix/>
          </a:blip>
          <a:srcRect b="7366" l="0" r="0" t="7374"/>
          <a:stretch/>
        </p:blipFill>
        <p:spPr>
          <a:xfrm>
            <a:off x="461100" y="1973725"/>
            <a:ext cx="3817275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21" title="Screenshot 2025-07-10 145004.png"/>
          <p:cNvPicPr preferRelativeResize="0"/>
          <p:nvPr/>
        </p:nvPicPr>
        <p:blipFill rotWithShape="1">
          <a:blip r:embed="rId5">
            <a:alphaModFix/>
          </a:blip>
          <a:srcRect b="19041" l="0" r="0" t="19035"/>
          <a:stretch/>
        </p:blipFill>
        <p:spPr>
          <a:xfrm>
            <a:off x="4784325" y="1973725"/>
            <a:ext cx="37803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21"/>
          <p:cNvSpPr txBox="1"/>
          <p:nvPr/>
        </p:nvSpPr>
        <p:spPr>
          <a:xfrm>
            <a:off x="1496738" y="2888125"/>
            <a:ext cx="1746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Before Adding .innerText</a:t>
            </a:r>
            <a:endParaRPr sz="12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7" name="Google Shape;147;p21"/>
          <p:cNvSpPr txBox="1"/>
          <p:nvPr/>
        </p:nvSpPr>
        <p:spPr>
          <a:xfrm>
            <a:off x="5801475" y="2888125"/>
            <a:ext cx="1746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After Adding .innerText</a:t>
            </a:r>
            <a:endParaRPr sz="12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2"/>
          <p:cNvSpPr txBox="1"/>
          <p:nvPr>
            <p:ph type="title"/>
          </p:nvPr>
        </p:nvSpPr>
        <p:spPr>
          <a:xfrm>
            <a:off x="311700" y="213250"/>
            <a:ext cx="747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.innerHTML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53" name="Google Shape;153;p22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5" name="Google Shape;155;p22"/>
          <p:cNvSpPr txBox="1"/>
          <p:nvPr/>
        </p:nvSpPr>
        <p:spPr>
          <a:xfrm>
            <a:off x="311700" y="1234440"/>
            <a:ext cx="7545600" cy="10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.innerHTML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is a property that lets you </a:t>
            </a:r>
            <a:r>
              <a:rPr b="1" lang="en" sz="13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get or set the HTML content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(including tags and text) inside an element.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Unlike .innerText, .innerHTML reads and writes </a:t>
            </a:r>
            <a:r>
              <a:rPr b="1" lang="en" sz="13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HTML code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, not just plain text.</a:t>
            </a:r>
            <a:endParaRPr sz="17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6" name="Google Shape;156;p22"/>
          <p:cNvSpPr txBox="1"/>
          <p:nvPr/>
        </p:nvSpPr>
        <p:spPr>
          <a:xfrm>
            <a:off x="311700" y="2878475"/>
            <a:ext cx="1061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Syntax : </a:t>
            </a:r>
            <a:endParaRPr b="1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57" name="Google Shape;157;p22" title="carbon - 2025-07-10T150157.827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73400" y="2878475"/>
            <a:ext cx="6554200" cy="1533625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7380000" dist="952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3"/>
          <p:cNvSpPr txBox="1"/>
          <p:nvPr>
            <p:ph type="title"/>
          </p:nvPr>
        </p:nvSpPr>
        <p:spPr>
          <a:xfrm>
            <a:off x="311700" y="213250"/>
            <a:ext cx="747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.innerHTML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63" name="Google Shape;163;p23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5" name="Google Shape;165;p23"/>
          <p:cNvSpPr txBox="1"/>
          <p:nvPr/>
        </p:nvSpPr>
        <p:spPr>
          <a:xfrm>
            <a:off x="311700" y="1203325"/>
            <a:ext cx="1214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Example :</a:t>
            </a:r>
            <a:endParaRPr b="1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66" name="Google Shape;166;p23" title="carbon - 2025-07-10T150409.305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25800" y="3335150"/>
            <a:ext cx="6256801" cy="1037075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7380000" dist="95250">
              <a:srgbClr val="000000">
                <a:alpha val="50000"/>
              </a:srgbClr>
            </a:outerShdw>
          </a:effectLst>
        </p:spPr>
      </p:pic>
      <p:pic>
        <p:nvPicPr>
          <p:cNvPr id="167" name="Google Shape;167;p23" title="carbon - 2025-07-10T150437.896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525800" y="1305575"/>
            <a:ext cx="6256800" cy="1179675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7380000" dist="952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4"/>
          <p:cNvSpPr txBox="1"/>
          <p:nvPr>
            <p:ph type="title"/>
          </p:nvPr>
        </p:nvSpPr>
        <p:spPr>
          <a:xfrm>
            <a:off x="311700" y="213250"/>
            <a:ext cx="747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.innerHTML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73" name="Google Shape;173;p24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5" name="Google Shape;175;p24"/>
          <p:cNvSpPr txBox="1"/>
          <p:nvPr/>
        </p:nvSpPr>
        <p:spPr>
          <a:xfrm>
            <a:off x="311700" y="1203325"/>
            <a:ext cx="1214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Output:</a:t>
            </a:r>
            <a:endParaRPr b="1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76" name="Google Shape;176;p24" title="Screenshot 2025-07-10 145004.png"/>
          <p:cNvPicPr preferRelativeResize="0"/>
          <p:nvPr/>
        </p:nvPicPr>
        <p:blipFill rotWithShape="1">
          <a:blip r:embed="rId4">
            <a:alphaModFix/>
          </a:blip>
          <a:srcRect b="15593" l="0" r="0" t="15593"/>
          <a:stretch/>
        </p:blipFill>
        <p:spPr>
          <a:xfrm>
            <a:off x="461100" y="1973725"/>
            <a:ext cx="3817275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24" title="Screenshot 2025-07-10 150817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84325" y="1973725"/>
            <a:ext cx="3442125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4"/>
          <p:cNvSpPr txBox="1"/>
          <p:nvPr/>
        </p:nvSpPr>
        <p:spPr>
          <a:xfrm>
            <a:off x="1496738" y="2888125"/>
            <a:ext cx="1746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Before Adding .innerHTML</a:t>
            </a:r>
            <a:endParaRPr sz="12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9" name="Google Shape;179;p24"/>
          <p:cNvSpPr txBox="1"/>
          <p:nvPr/>
        </p:nvSpPr>
        <p:spPr>
          <a:xfrm>
            <a:off x="5632388" y="2888125"/>
            <a:ext cx="1746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After Adding .innerHTML</a:t>
            </a:r>
            <a:endParaRPr sz="12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5"/>
          <p:cNvSpPr txBox="1"/>
          <p:nvPr>
            <p:ph type="title"/>
          </p:nvPr>
        </p:nvSpPr>
        <p:spPr>
          <a:xfrm>
            <a:off x="311700" y="213250"/>
            <a:ext cx="747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.textContent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85" name="Google Shape;185;p25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7" name="Google Shape;187;p25"/>
          <p:cNvSpPr txBox="1"/>
          <p:nvPr/>
        </p:nvSpPr>
        <p:spPr>
          <a:xfrm>
            <a:off x="311700" y="1234440"/>
            <a:ext cx="7545600" cy="10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.textContent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is a property in JavaScript that lets you </a:t>
            </a:r>
            <a:r>
              <a:rPr b="1" lang="en" sz="13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get or change the text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inside an HTML element.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It only affects </a:t>
            </a:r>
            <a:r>
              <a:rPr b="1" lang="en" sz="13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plain text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, not HTML tags.</a:t>
            </a:r>
            <a:endParaRPr b="1" sz="17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8" name="Google Shape;188;p25"/>
          <p:cNvSpPr txBox="1"/>
          <p:nvPr/>
        </p:nvSpPr>
        <p:spPr>
          <a:xfrm>
            <a:off x="311700" y="2485250"/>
            <a:ext cx="1061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Syntax : </a:t>
            </a:r>
            <a:endParaRPr b="1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89" name="Google Shape;189;p25" title="carbon - 2025-07-10T144119.490.png"/>
          <p:cNvPicPr preferRelativeResize="0"/>
          <p:nvPr/>
        </p:nvPicPr>
        <p:blipFill rotWithShape="1">
          <a:blip r:embed="rId4">
            <a:alphaModFix/>
          </a:blip>
          <a:srcRect b="0" l="-70" r="69" t="0"/>
          <a:stretch/>
        </p:blipFill>
        <p:spPr>
          <a:xfrm>
            <a:off x="1373400" y="2485250"/>
            <a:ext cx="5963650" cy="1443650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7380000" dist="952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6"/>
          <p:cNvSpPr txBox="1"/>
          <p:nvPr>
            <p:ph type="title"/>
          </p:nvPr>
        </p:nvSpPr>
        <p:spPr>
          <a:xfrm>
            <a:off x="311700" y="213250"/>
            <a:ext cx="747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.textContent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95" name="Google Shape;195;p26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7" name="Google Shape;197;p26"/>
          <p:cNvSpPr txBox="1"/>
          <p:nvPr/>
        </p:nvSpPr>
        <p:spPr>
          <a:xfrm>
            <a:off x="311700" y="1203325"/>
            <a:ext cx="1214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Example :</a:t>
            </a:r>
            <a:endParaRPr b="1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98" name="Google Shape;198;p26" title="carbon - 2025-07-10T130039.335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5800" y="3091350"/>
            <a:ext cx="6991648" cy="1037075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7380000" dist="95250">
              <a:srgbClr val="000000">
                <a:alpha val="50000"/>
              </a:srgbClr>
            </a:outerShdw>
          </a:effectLst>
        </p:spPr>
      </p:pic>
      <p:pic>
        <p:nvPicPr>
          <p:cNvPr id="199" name="Google Shape;199;p26" title="carbon - 2025-07-10T130053.011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25800" y="1344888"/>
            <a:ext cx="6991651" cy="1187525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7380000" dist="952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7"/>
          <p:cNvSpPr txBox="1"/>
          <p:nvPr>
            <p:ph type="title"/>
          </p:nvPr>
        </p:nvSpPr>
        <p:spPr>
          <a:xfrm>
            <a:off x="311700" y="213250"/>
            <a:ext cx="747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.textContent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05" name="Google Shape;205;p27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7" name="Google Shape;207;p27"/>
          <p:cNvSpPr txBox="1"/>
          <p:nvPr/>
        </p:nvSpPr>
        <p:spPr>
          <a:xfrm>
            <a:off x="311700" y="1203325"/>
            <a:ext cx="1214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Output</a:t>
            </a: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:</a:t>
            </a:r>
            <a:endParaRPr b="1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08" name="Google Shape;208;p27" title="Screenshot 2025-07-10 13133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3350" y="2020900"/>
            <a:ext cx="3070100" cy="76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27" title="Screenshot 2025-07-10 131314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72000" y="1973713"/>
            <a:ext cx="3976900" cy="85725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7"/>
          <p:cNvSpPr txBox="1"/>
          <p:nvPr/>
        </p:nvSpPr>
        <p:spPr>
          <a:xfrm>
            <a:off x="1225400" y="3051500"/>
            <a:ext cx="1746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Before Adding .textContent</a:t>
            </a:r>
            <a:endParaRPr sz="12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11" name="Google Shape;211;p27"/>
          <p:cNvSpPr txBox="1"/>
          <p:nvPr/>
        </p:nvSpPr>
        <p:spPr>
          <a:xfrm>
            <a:off x="6111300" y="3051500"/>
            <a:ext cx="1746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After</a:t>
            </a:r>
            <a:r>
              <a:rPr lang="en" sz="12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Adding .textContent</a:t>
            </a:r>
            <a:endParaRPr sz="12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8"/>
          <p:cNvSpPr txBox="1"/>
          <p:nvPr>
            <p:ph type="title"/>
          </p:nvPr>
        </p:nvSpPr>
        <p:spPr>
          <a:xfrm>
            <a:off x="311700" y="213250"/>
            <a:ext cx="747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.textContent vs .innerText vs .innerHTML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17" name="Google Shape;217;p28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aphicFrame>
        <p:nvGraphicFramePr>
          <p:cNvPr id="219" name="Google Shape;219;p28"/>
          <p:cNvGraphicFramePr/>
          <p:nvPr/>
        </p:nvGraphicFramePr>
        <p:xfrm>
          <a:off x="311700" y="966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{A003118A-C459-460A-B347-7FD674EEEF7C}</a:tableStyleId>
              </a:tblPr>
              <a:tblGrid>
                <a:gridCol w="2001425"/>
                <a:gridCol w="2181400"/>
                <a:gridCol w="2080275"/>
                <a:gridCol w="2196925"/>
              </a:tblGrid>
              <a:tr h="4367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273239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Feature</a:t>
                      </a:r>
                      <a:endParaRPr b="1" sz="1200">
                        <a:solidFill>
                          <a:srgbClr val="273239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273239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.innerText</a:t>
                      </a:r>
                      <a:endParaRPr b="1" sz="1200">
                        <a:solidFill>
                          <a:srgbClr val="273239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273239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.textContent</a:t>
                      </a:r>
                      <a:endParaRPr b="1" sz="1200">
                        <a:solidFill>
                          <a:srgbClr val="273239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273239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.innerHTML</a:t>
                      </a:r>
                      <a:endParaRPr b="1" sz="1200">
                        <a:solidFill>
                          <a:srgbClr val="273239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/>
                </a:tc>
              </a:tr>
              <a:tr h="606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273239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What it changes/gets</a:t>
                      </a:r>
                      <a:endParaRPr b="1" sz="1200">
                        <a:solidFill>
                          <a:srgbClr val="273239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solidFill>
                      <a:srgbClr val="FFFB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273239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Only </a:t>
                      </a:r>
                      <a:r>
                        <a:rPr b="1" lang="en" sz="1200">
                          <a:solidFill>
                            <a:srgbClr val="273239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visible text</a:t>
                      </a:r>
                      <a:endParaRPr b="1" sz="1200">
                        <a:solidFill>
                          <a:srgbClr val="273239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solidFill>
                      <a:srgbClr val="F8FD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273239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All text (even </a:t>
                      </a:r>
                      <a:r>
                        <a:rPr b="1" lang="en" sz="1200">
                          <a:solidFill>
                            <a:srgbClr val="273239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hidden</a:t>
                      </a:r>
                      <a:r>
                        <a:rPr lang="en" sz="1200">
                          <a:solidFill>
                            <a:srgbClr val="273239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 ones)</a:t>
                      </a:r>
                      <a:endParaRPr sz="1200">
                        <a:solidFill>
                          <a:srgbClr val="273239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solidFill>
                      <a:srgbClr val="FFFB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273239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 Text </a:t>
                      </a:r>
                      <a:r>
                        <a:rPr b="1" lang="en" sz="1200">
                          <a:solidFill>
                            <a:srgbClr val="273239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plus HTML tags</a:t>
                      </a:r>
                      <a:endParaRPr b="1" sz="1200">
                        <a:solidFill>
                          <a:srgbClr val="273239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solidFill>
                      <a:srgbClr val="F8FDFE"/>
                    </a:solidFill>
                  </a:tcPr>
                </a:tc>
              </a:tr>
              <a:tr h="606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273239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Includes hidden elements?</a:t>
                      </a:r>
                      <a:endParaRPr b="1" sz="1200">
                        <a:solidFill>
                          <a:srgbClr val="273239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solidFill>
                      <a:srgbClr val="FFFB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273239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No (ignores display: none)</a:t>
                      </a:r>
                      <a:endParaRPr sz="1200">
                        <a:solidFill>
                          <a:srgbClr val="273239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solidFill>
                      <a:srgbClr val="F8FD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273239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Yes</a:t>
                      </a:r>
                      <a:endParaRPr sz="1200">
                        <a:solidFill>
                          <a:srgbClr val="273239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solidFill>
                      <a:srgbClr val="FFFB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273239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Yes</a:t>
                      </a:r>
                      <a:endParaRPr sz="1200">
                        <a:solidFill>
                          <a:srgbClr val="273239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solidFill>
                      <a:srgbClr val="F8FDFE"/>
                    </a:solidFill>
                  </a:tcPr>
                </a:tc>
              </a:tr>
              <a:tr h="404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273239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Renders HTML tags?</a:t>
                      </a:r>
                      <a:endParaRPr b="1" sz="1200">
                        <a:solidFill>
                          <a:srgbClr val="273239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solidFill>
                      <a:srgbClr val="FFFB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273239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No</a:t>
                      </a:r>
                      <a:endParaRPr sz="1200">
                        <a:solidFill>
                          <a:srgbClr val="273239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solidFill>
                      <a:srgbClr val="F8FD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273239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No</a:t>
                      </a:r>
                      <a:endParaRPr sz="1200">
                        <a:solidFill>
                          <a:srgbClr val="273239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solidFill>
                      <a:srgbClr val="FFFB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273239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Yes (interprets HTML)</a:t>
                      </a:r>
                      <a:endParaRPr sz="1200">
                        <a:solidFill>
                          <a:srgbClr val="273239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solidFill>
                      <a:srgbClr val="F8FDFE"/>
                    </a:solidFill>
                  </a:tcPr>
                </a:tc>
              </a:tr>
              <a:tr h="606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273239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Respects styling/layout?</a:t>
                      </a:r>
                      <a:endParaRPr b="1" sz="1200">
                        <a:solidFill>
                          <a:srgbClr val="273239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solidFill>
                      <a:srgbClr val="FFFB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273239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Yes (includes line breaks etc.)</a:t>
                      </a:r>
                      <a:endParaRPr sz="1200">
                        <a:solidFill>
                          <a:srgbClr val="273239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solidFill>
                      <a:srgbClr val="F8FD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273239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No</a:t>
                      </a:r>
                      <a:endParaRPr sz="1200">
                        <a:solidFill>
                          <a:srgbClr val="273239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solidFill>
                      <a:srgbClr val="FFFB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273239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Yes</a:t>
                      </a:r>
                      <a:endParaRPr sz="1200">
                        <a:solidFill>
                          <a:srgbClr val="273239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solidFill>
                      <a:srgbClr val="F8FDFE"/>
                    </a:solidFill>
                  </a:tcPr>
                </a:tc>
              </a:tr>
              <a:tr h="606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273239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Use case</a:t>
                      </a:r>
                      <a:endParaRPr b="1" sz="1200">
                        <a:solidFill>
                          <a:srgbClr val="273239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solidFill>
                      <a:srgbClr val="FFFB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273239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When you care about what's </a:t>
                      </a:r>
                      <a:r>
                        <a:rPr b="1" lang="en" sz="1200">
                          <a:solidFill>
                            <a:srgbClr val="273239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visible</a:t>
                      </a:r>
                      <a:endParaRPr b="1" sz="1200">
                        <a:solidFill>
                          <a:srgbClr val="273239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solidFill>
                      <a:srgbClr val="F8FD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273239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When you want the </a:t>
                      </a:r>
                      <a:r>
                        <a:rPr b="1" lang="en" sz="1200">
                          <a:solidFill>
                            <a:srgbClr val="273239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raw text</a:t>
                      </a:r>
                      <a:endParaRPr b="1" sz="1200">
                        <a:solidFill>
                          <a:srgbClr val="273239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solidFill>
                      <a:srgbClr val="FFFB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273239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When you want to </a:t>
                      </a:r>
                      <a:r>
                        <a:rPr b="1" lang="en" sz="1200">
                          <a:solidFill>
                            <a:srgbClr val="273239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insert or get HTML code</a:t>
                      </a:r>
                      <a:endParaRPr b="1" sz="1200">
                        <a:solidFill>
                          <a:srgbClr val="273239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solidFill>
                      <a:srgbClr val="F8FDFE"/>
                    </a:solidFill>
                  </a:tcPr>
                </a:tc>
              </a:tr>
              <a:tr h="606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273239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Performance</a:t>
                      </a:r>
                      <a:endParaRPr b="1" sz="1200">
                        <a:solidFill>
                          <a:srgbClr val="273239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solidFill>
                      <a:srgbClr val="FFFB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273239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Slower (calculates layout)</a:t>
                      </a:r>
                      <a:endParaRPr sz="1200">
                        <a:solidFill>
                          <a:srgbClr val="273239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solidFill>
                      <a:srgbClr val="F8FD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273239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Faster (reads DOM directly)</a:t>
                      </a:r>
                      <a:endParaRPr sz="1200">
                        <a:solidFill>
                          <a:srgbClr val="273239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solidFill>
                      <a:srgbClr val="FFFB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273239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Medium (renders HTML)</a:t>
                      </a:r>
                      <a:endParaRPr sz="1200">
                        <a:solidFill>
                          <a:srgbClr val="273239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solidFill>
                      <a:srgbClr val="F8FDF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9"/>
          <p:cNvSpPr txBox="1"/>
          <p:nvPr>
            <p:ph type="title"/>
          </p:nvPr>
        </p:nvSpPr>
        <p:spPr>
          <a:xfrm>
            <a:off x="310900" y="197325"/>
            <a:ext cx="747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Coding Questions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25" name="Google Shape;225;p29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29" title="question-and-answer-illustration-download-in-svg-png-gif-file-formats--answers-faq-comments-chatting-business-pack-people-illustrations-4257057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51839" y="3027775"/>
            <a:ext cx="3001612" cy="2001075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228" name="Google Shape;228;p29"/>
          <p:cNvGrpSpPr/>
          <p:nvPr/>
        </p:nvGrpSpPr>
        <p:grpSpPr>
          <a:xfrm>
            <a:off x="310894" y="1014975"/>
            <a:ext cx="6716433" cy="1930925"/>
            <a:chOff x="310900" y="1014975"/>
            <a:chExt cx="6327900" cy="1930925"/>
          </a:xfrm>
        </p:grpSpPr>
        <p:sp>
          <p:nvSpPr>
            <p:cNvPr id="229" name="Google Shape;229;p29"/>
            <p:cNvSpPr txBox="1"/>
            <p:nvPr/>
          </p:nvSpPr>
          <p:spPr>
            <a:xfrm>
              <a:off x="310900" y="1014975"/>
              <a:ext cx="51390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rgbClr val="273239"/>
                  </a:solidFill>
                  <a:latin typeface="Poppins"/>
                  <a:ea typeface="Poppins"/>
                  <a:cs typeface="Poppins"/>
                  <a:sym typeface="Poppins"/>
                </a:rPr>
                <a:t>1.   </a:t>
              </a:r>
              <a:r>
                <a:rPr b="1" lang="en" sz="1100">
                  <a:solidFill>
                    <a:schemeClr val="dk1"/>
                  </a:solidFill>
                </a:rPr>
                <a:t> </a:t>
              </a:r>
              <a:r>
                <a:rPr b="1" lang="en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 Simple Click Event</a:t>
              </a:r>
              <a:endParaRPr b="1" sz="20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30" name="Google Shape;230;p29"/>
            <p:cNvSpPr txBox="1"/>
            <p:nvPr/>
          </p:nvSpPr>
          <p:spPr>
            <a:xfrm>
              <a:off x="310900" y="1725200"/>
              <a:ext cx="6327900" cy="122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rgbClr val="273239"/>
                  </a:solidFill>
                  <a:latin typeface="Poppins"/>
                  <a:ea typeface="Poppins"/>
                  <a:cs typeface="Poppins"/>
                  <a:sym typeface="Poppins"/>
                </a:rPr>
                <a:t>Task :</a:t>
              </a:r>
              <a:endParaRPr sz="1100">
                <a:solidFill>
                  <a:schemeClr val="dk1"/>
                </a:solidFill>
              </a:endParaRPr>
            </a:p>
            <a:p>
              <a:pPr indent="-298450" lvl="0" marL="914400" rtl="0" algn="l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AutoNum type="arabicPeriod"/>
              </a:pPr>
              <a:r>
                <a:rPr lang="en" sz="1100">
                  <a:solidFill>
                    <a:schemeClr val="dk1"/>
                  </a:solidFill>
                </a:rPr>
                <a:t> Given the HTML below, write a script that adds a 'click' event listener to the button. When the button is clicked, the text inside the paragraph (</a:t>
              </a:r>
              <a:r>
                <a:rPr b="1" lang="en" sz="1100">
                  <a:solidFill>
                    <a:schemeClr val="dk1"/>
                  </a:solidFill>
                </a:rPr>
                <a:t>&lt;p&gt;</a:t>
              </a:r>
              <a:r>
                <a:rPr lang="en" sz="1100">
                  <a:solidFill>
                    <a:schemeClr val="dk1"/>
                  </a:solidFill>
                </a:rPr>
                <a:t>) should change to "Button was clicked!".</a:t>
              </a:r>
              <a:endParaRPr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</p:spTree>
  </p:cSld>
  <p:clrMapOvr>
    <a:masterClrMapping/>
  </p:clrMapOvr>
  <p:transition spd="med">
    <p:fade thruBlk="1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0"/>
          <p:cNvSpPr txBox="1"/>
          <p:nvPr>
            <p:ph type="title"/>
          </p:nvPr>
        </p:nvSpPr>
        <p:spPr>
          <a:xfrm>
            <a:off x="310900" y="197325"/>
            <a:ext cx="747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Coding Questions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36" name="Google Shape;236;p30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30" title="question-and-answer-illustration-download-in-svg-png-gif-file-formats--answers-faq-comments-chatting-business-pack-people-illustrations-4257057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51839" y="3027775"/>
            <a:ext cx="3001612" cy="2001075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9" name="Google Shape;239;p30"/>
          <p:cNvSpPr txBox="1"/>
          <p:nvPr/>
        </p:nvSpPr>
        <p:spPr>
          <a:xfrm>
            <a:off x="310900" y="1086300"/>
            <a:ext cx="10497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Solution :</a:t>
            </a:r>
            <a:endParaRPr b="1" sz="17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40" name="Google Shape;240;p30" title="carbon - 2025-07-11T162833.706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60600" y="1075375"/>
            <a:ext cx="6197349" cy="976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30" title="carbon - 2025-07-11T162800.326.png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360600" y="2102850"/>
            <a:ext cx="4821052" cy="2749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 thruBlk="1"/>
  </p:transition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1"/>
          <p:cNvSpPr txBox="1"/>
          <p:nvPr>
            <p:ph type="title"/>
          </p:nvPr>
        </p:nvSpPr>
        <p:spPr>
          <a:xfrm>
            <a:off x="310900" y="197325"/>
            <a:ext cx="747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Coding Questions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47" name="Google Shape;247;p31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31" title="question-and-answer-illustration-download-in-svg-png-gif-file-formats--answers-faq-comments-chatting-business-pack-people-illustrations-4257057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51839" y="3027775"/>
            <a:ext cx="3001612" cy="2001075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0" name="Google Shape;250;p31"/>
          <p:cNvSpPr txBox="1"/>
          <p:nvPr/>
        </p:nvSpPr>
        <p:spPr>
          <a:xfrm>
            <a:off x="310900" y="1086300"/>
            <a:ext cx="10497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Output :</a:t>
            </a:r>
            <a:endParaRPr b="1" sz="17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51" name="Google Shape;251;p31" title="Screen Recording 2025-07-11 163246.mp4">
            <a:hlinkClick r:id="rId5"/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360600" y="1060625"/>
            <a:ext cx="4388475" cy="281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 thruBlk="1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32"/>
          <p:cNvSpPr txBox="1"/>
          <p:nvPr>
            <p:ph type="title"/>
          </p:nvPr>
        </p:nvSpPr>
        <p:spPr>
          <a:xfrm>
            <a:off x="311700" y="213250"/>
            <a:ext cx="747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.style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57" name="Google Shape;257;p32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9" name="Google Shape;259;p32"/>
          <p:cNvSpPr txBox="1"/>
          <p:nvPr/>
        </p:nvSpPr>
        <p:spPr>
          <a:xfrm>
            <a:off x="311700" y="1234440"/>
            <a:ext cx="7353000" cy="13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.style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is a property in JavaScript that allows you to </a:t>
            </a: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change the inline CSS styles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of an HTML element directly from your script.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Note: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Use </a:t>
            </a: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camelCase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for multi-word CSS properties.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Example: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background-color becomes backgroundColor.</a:t>
            </a:r>
            <a:endParaRPr sz="17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60" name="Google Shape;260;p32"/>
          <p:cNvSpPr txBox="1"/>
          <p:nvPr/>
        </p:nvSpPr>
        <p:spPr>
          <a:xfrm>
            <a:off x="311700" y="2650400"/>
            <a:ext cx="1046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Syntax :</a:t>
            </a:r>
            <a:r>
              <a:rPr lang="en" sz="1800">
                <a:solidFill>
                  <a:schemeClr val="dk2"/>
                </a:solidFill>
              </a:rPr>
              <a:t> 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261" name="Google Shape;261;p32" title="carbon - 2025-07-10T153826.41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57800" y="2823425"/>
            <a:ext cx="6307475" cy="1100850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7380000" dist="952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33"/>
          <p:cNvSpPr txBox="1"/>
          <p:nvPr>
            <p:ph type="title"/>
          </p:nvPr>
        </p:nvSpPr>
        <p:spPr>
          <a:xfrm>
            <a:off x="311700" y="213250"/>
            <a:ext cx="747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.style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67" name="Google Shape;267;p33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9" name="Google Shape;269;p33"/>
          <p:cNvSpPr txBox="1"/>
          <p:nvPr/>
        </p:nvSpPr>
        <p:spPr>
          <a:xfrm>
            <a:off x="311700" y="1203325"/>
            <a:ext cx="1214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Example :</a:t>
            </a:r>
            <a:endParaRPr b="1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70" name="Google Shape;270;p33" title="carbon - 2025-07-10T154030.701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25800" y="3098975"/>
            <a:ext cx="6331498" cy="1037075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7380000" dist="95250">
              <a:srgbClr val="000000">
                <a:alpha val="50000"/>
              </a:srgbClr>
            </a:outerShdw>
          </a:effectLst>
        </p:spPr>
      </p:pic>
      <p:pic>
        <p:nvPicPr>
          <p:cNvPr id="271" name="Google Shape;271;p33" title="carbon - 2025-07-10T154212.250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525800" y="1321100"/>
            <a:ext cx="6331499" cy="1242725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7380000" dist="952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34"/>
          <p:cNvSpPr txBox="1"/>
          <p:nvPr>
            <p:ph type="title"/>
          </p:nvPr>
        </p:nvSpPr>
        <p:spPr>
          <a:xfrm>
            <a:off x="311700" y="213250"/>
            <a:ext cx="747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.style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77" name="Google Shape;277;p34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9" name="Google Shape;279;p34"/>
          <p:cNvSpPr txBox="1"/>
          <p:nvPr/>
        </p:nvSpPr>
        <p:spPr>
          <a:xfrm>
            <a:off x="311700" y="1203325"/>
            <a:ext cx="1214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Output:</a:t>
            </a:r>
            <a:endParaRPr b="1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80" name="Google Shape;280;p34" title="Screenshot 2025-07-10 154440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3350" y="1973725"/>
            <a:ext cx="3070100" cy="1013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1" name="Google Shape;281;p34" title="Screenshot 2025-07-10 154528.png"/>
          <p:cNvPicPr preferRelativeResize="0"/>
          <p:nvPr/>
        </p:nvPicPr>
        <p:blipFill rotWithShape="1">
          <a:blip r:embed="rId5">
            <a:alphaModFix/>
          </a:blip>
          <a:srcRect b="0" l="0" r="46740" t="0"/>
          <a:stretch/>
        </p:blipFill>
        <p:spPr>
          <a:xfrm>
            <a:off x="4720675" y="2194250"/>
            <a:ext cx="4051025" cy="857250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34"/>
          <p:cNvSpPr txBox="1"/>
          <p:nvPr/>
        </p:nvSpPr>
        <p:spPr>
          <a:xfrm>
            <a:off x="1225400" y="3051500"/>
            <a:ext cx="1746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Before Adding .style</a:t>
            </a:r>
            <a:endParaRPr sz="12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83" name="Google Shape;283;p34"/>
          <p:cNvSpPr txBox="1"/>
          <p:nvPr/>
        </p:nvSpPr>
        <p:spPr>
          <a:xfrm>
            <a:off x="5625425" y="3051500"/>
            <a:ext cx="1746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After Adding .style</a:t>
            </a:r>
            <a:endParaRPr sz="12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35"/>
          <p:cNvSpPr txBox="1"/>
          <p:nvPr>
            <p:ph type="title"/>
          </p:nvPr>
        </p:nvSpPr>
        <p:spPr>
          <a:xfrm>
            <a:off x="310900" y="197325"/>
            <a:ext cx="747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Coding Questions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89" name="Google Shape;289;p35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35" title="question-and-answer-illustration-download-in-svg-png-gif-file-formats--answers-faq-comments-chatting-business-pack-people-illustrations-4257057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51839" y="3027775"/>
            <a:ext cx="3001612" cy="2001075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292" name="Google Shape;292;p35"/>
          <p:cNvGrpSpPr/>
          <p:nvPr/>
        </p:nvGrpSpPr>
        <p:grpSpPr>
          <a:xfrm>
            <a:off x="310894" y="1014975"/>
            <a:ext cx="6716433" cy="1736225"/>
            <a:chOff x="310900" y="1014975"/>
            <a:chExt cx="6327900" cy="1736225"/>
          </a:xfrm>
        </p:grpSpPr>
        <p:sp>
          <p:nvSpPr>
            <p:cNvPr id="293" name="Google Shape;293;p35"/>
            <p:cNvSpPr txBox="1"/>
            <p:nvPr/>
          </p:nvSpPr>
          <p:spPr>
            <a:xfrm>
              <a:off x="310900" y="1014975"/>
              <a:ext cx="51390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rgbClr val="273239"/>
                  </a:solidFill>
                  <a:latin typeface="Poppins"/>
                  <a:ea typeface="Poppins"/>
                  <a:cs typeface="Poppins"/>
                  <a:sym typeface="Poppins"/>
                </a:rPr>
                <a:t>1.   </a:t>
              </a:r>
              <a:r>
                <a:rPr b="1" lang="en" sz="1100">
                  <a:solidFill>
                    <a:schemeClr val="dk1"/>
                  </a:solidFill>
                </a:rPr>
                <a:t>  </a:t>
              </a:r>
              <a:r>
                <a:rPr b="1" lang="en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Select and Style</a:t>
              </a:r>
              <a:endParaRPr b="1" sz="17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94" name="Google Shape;294;p35"/>
            <p:cNvSpPr txBox="1"/>
            <p:nvPr/>
          </p:nvSpPr>
          <p:spPr>
            <a:xfrm>
              <a:off x="310900" y="1725200"/>
              <a:ext cx="6327900" cy="102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rgbClr val="273239"/>
                  </a:solidFill>
                  <a:latin typeface="Poppins"/>
                  <a:ea typeface="Poppins"/>
                  <a:cs typeface="Poppins"/>
                  <a:sym typeface="Poppins"/>
                </a:rPr>
                <a:t>Task :</a:t>
              </a:r>
              <a:endParaRPr sz="1100">
                <a:solidFill>
                  <a:schemeClr val="dk1"/>
                </a:solidFill>
              </a:endParaRPr>
            </a:p>
            <a:p>
              <a:pPr indent="-298450" lvl="0" marL="457200" rtl="0" algn="l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AutoNum type="arabicPeriod"/>
              </a:pPr>
              <a:r>
                <a:rPr lang="en" sz="1100">
                  <a:solidFill>
                    <a:schemeClr val="dk1"/>
                  </a:solidFill>
                </a:rPr>
                <a:t>Given the HTML below, write a JavaScript snippet to select the paragraph element with the ID </a:t>
              </a:r>
              <a:r>
                <a:rPr b="1" lang="en" sz="1100">
                  <a:solidFill>
                    <a:schemeClr val="dk1"/>
                  </a:solidFill>
                </a:rPr>
                <a:t>main-text</a:t>
              </a:r>
              <a:r>
                <a:rPr lang="en" sz="1100">
                  <a:solidFill>
                    <a:schemeClr val="dk1"/>
                  </a:solidFill>
                </a:rPr>
                <a:t> and change its text color to </a:t>
              </a:r>
              <a:r>
                <a:rPr b="1" lang="en" sz="1100">
                  <a:solidFill>
                    <a:schemeClr val="dk1"/>
                  </a:solidFill>
                </a:rPr>
                <a:t>red</a:t>
              </a:r>
              <a:r>
                <a:rPr lang="en" sz="1100">
                  <a:solidFill>
                    <a:schemeClr val="dk1"/>
                  </a:solidFill>
                </a:rPr>
                <a:t> and its font size to </a:t>
              </a:r>
              <a:r>
                <a:rPr b="1" lang="en" sz="1100">
                  <a:solidFill>
                    <a:schemeClr val="dk1"/>
                  </a:solidFill>
                </a:rPr>
                <a:t>24px</a:t>
              </a:r>
              <a:r>
                <a:rPr lang="en" sz="1100">
                  <a:solidFill>
                    <a:schemeClr val="dk1"/>
                  </a:solidFill>
                </a:rPr>
                <a:t>.</a:t>
              </a:r>
              <a:endParaRPr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</p:spTree>
  </p:cSld>
  <p:clrMapOvr>
    <a:masterClrMapping/>
  </p:clrMapOvr>
  <p:transition spd="med">
    <p:fade thruBlk="1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36"/>
          <p:cNvSpPr txBox="1"/>
          <p:nvPr>
            <p:ph type="title"/>
          </p:nvPr>
        </p:nvSpPr>
        <p:spPr>
          <a:xfrm>
            <a:off x="310900" y="197325"/>
            <a:ext cx="747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Coding Questions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00" name="Google Shape;300;p36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1" name="Google Shape;301;p36" title="question-and-answer-illustration-download-in-svg-png-gif-file-formats--answers-faq-comments-chatting-business-pack-people-illustrations-4257057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51839" y="3027775"/>
            <a:ext cx="3001612" cy="2001075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03" name="Google Shape;303;p36"/>
          <p:cNvSpPr txBox="1"/>
          <p:nvPr/>
        </p:nvSpPr>
        <p:spPr>
          <a:xfrm>
            <a:off x="310900" y="1086300"/>
            <a:ext cx="10497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Solution :</a:t>
            </a:r>
            <a:endParaRPr b="1" sz="17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04" name="Google Shape;304;p36" title="carbon - 2025-07-11T160648.943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360600" y="1014975"/>
            <a:ext cx="6677100" cy="97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5" name="Google Shape;305;p36" title="carbon - 2025-07-11T160735.079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360600" y="2102850"/>
            <a:ext cx="4962600" cy="2749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 thruBlk="1"/>
  </p:transition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0" name="Google Shape;310;p37" title="Screenshot 2025-07-11 161413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4475" y="1671013"/>
            <a:ext cx="7470601" cy="1128750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p37"/>
          <p:cNvSpPr txBox="1"/>
          <p:nvPr>
            <p:ph type="title"/>
          </p:nvPr>
        </p:nvSpPr>
        <p:spPr>
          <a:xfrm>
            <a:off x="310900" y="197325"/>
            <a:ext cx="747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Coding Questions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12" name="Google Shape;312;p37" title="KRMU LOG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3" name="Google Shape;313;p37" title="question-and-answer-illustration-download-in-svg-png-gif-file-formats--answers-faq-comments-chatting-business-pack-people-illustrations-4257057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51839" y="3027775"/>
            <a:ext cx="3001612" cy="2001075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15" name="Google Shape;315;p37"/>
          <p:cNvSpPr txBox="1"/>
          <p:nvPr/>
        </p:nvSpPr>
        <p:spPr>
          <a:xfrm>
            <a:off x="310900" y="1086300"/>
            <a:ext cx="10497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Output :</a:t>
            </a:r>
            <a:endParaRPr b="1" sz="17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ransition spd="med">
    <p:fade thruBlk="1"/>
  </p:transition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38"/>
          <p:cNvSpPr txBox="1"/>
          <p:nvPr>
            <p:ph type="title"/>
          </p:nvPr>
        </p:nvSpPr>
        <p:spPr>
          <a:xfrm>
            <a:off x="311700" y="213250"/>
            <a:ext cx="747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Creating and Removing Elements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21" name="Google Shape;321;p38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23" name="Google Shape;323;p38"/>
          <p:cNvSpPr txBox="1"/>
          <p:nvPr/>
        </p:nvSpPr>
        <p:spPr>
          <a:xfrm>
            <a:off x="311700" y="1179700"/>
            <a:ext cx="7470900" cy="32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Creating elements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means generating new items (like text, boxes, images, etc.) to be added to a web page or application interface.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Removing elements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means deleting or taking out existing items from a web page so they are no longer visible or part of the layout.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Some Common Methods:</a:t>
            </a:r>
            <a:endParaRPr b="1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73239"/>
              </a:buClr>
              <a:buSzPts val="1400"/>
              <a:buFont typeface="Poppins"/>
              <a:buChar char="●"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.createElement();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273239"/>
              </a:buClr>
              <a:buSzPts val="1400"/>
              <a:buFont typeface="Poppins"/>
              <a:buChar char="●"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.appendChild();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73239"/>
              </a:buClr>
              <a:buSzPts val="1400"/>
              <a:buFont typeface="Poppins"/>
              <a:buChar char="●"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.removeElement();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39"/>
          <p:cNvSpPr txBox="1"/>
          <p:nvPr>
            <p:ph type="title"/>
          </p:nvPr>
        </p:nvSpPr>
        <p:spPr>
          <a:xfrm>
            <a:off x="311700" y="213250"/>
            <a:ext cx="747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.createElement()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29" name="Google Shape;329;p39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330" name="Google Shape;330;p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1" name="Google Shape;331;p39"/>
          <p:cNvSpPr txBox="1"/>
          <p:nvPr/>
        </p:nvSpPr>
        <p:spPr>
          <a:xfrm>
            <a:off x="311700" y="1179700"/>
            <a:ext cx="7470900" cy="10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document.createElement()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is a JavaScript method used to </a:t>
            </a: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create a new HTML element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(like &lt;div&gt;, &lt;p&gt;, &lt;button&gt;, etc.) in memory.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It doesn’t appear on the page until you add it using a method like </a:t>
            </a:r>
            <a:r>
              <a:rPr lang="en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.appendChild()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32" name="Google Shape;332;p39"/>
          <p:cNvSpPr txBox="1"/>
          <p:nvPr/>
        </p:nvSpPr>
        <p:spPr>
          <a:xfrm>
            <a:off x="311700" y="2371650"/>
            <a:ext cx="914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Syntax :</a:t>
            </a:r>
            <a:endParaRPr b="1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33" name="Google Shape;333;p39" title="carbon - 2025-07-11T143723.978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51813" y="2371650"/>
            <a:ext cx="5190676" cy="1214675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7380000" dist="95250">
              <a:srgbClr val="000000">
                <a:alpha val="50000"/>
              </a:srgbClr>
            </a:outerShdw>
          </a:effectLst>
        </p:spPr>
      </p:pic>
      <p:sp>
        <p:nvSpPr>
          <p:cNvPr id="334" name="Google Shape;334;p39"/>
          <p:cNvSpPr txBox="1"/>
          <p:nvPr/>
        </p:nvSpPr>
        <p:spPr>
          <a:xfrm>
            <a:off x="311700" y="3987400"/>
            <a:ext cx="8218500" cy="74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400"/>
              <a:buFont typeface="Poppins"/>
              <a:buChar char="●"/>
            </a:pPr>
            <a:r>
              <a:rPr b="1" lang="en" sz="13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tagName: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A string representing the HTML tag you want to create (e.g., 'div', 'p', 'img').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spcBef>
                <a:spcPts val="1000"/>
              </a:spcBef>
              <a:spcAft>
                <a:spcPts val="1000"/>
              </a:spcAft>
              <a:buClr>
                <a:srgbClr val="273239"/>
              </a:buClr>
              <a:buSzPts val="1400"/>
              <a:buFont typeface="Poppins"/>
              <a:buChar char="●"/>
            </a:pPr>
            <a:r>
              <a:rPr b="1" lang="en" sz="13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Returns: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A new DOM element (but not yet on the page).</a:t>
            </a:r>
            <a:endParaRPr sz="21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40"/>
          <p:cNvSpPr txBox="1"/>
          <p:nvPr>
            <p:ph type="title"/>
          </p:nvPr>
        </p:nvSpPr>
        <p:spPr>
          <a:xfrm>
            <a:off x="311700" y="213250"/>
            <a:ext cx="747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.appendChild()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40" name="Google Shape;340;p40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341" name="Google Shape;341;p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42" name="Google Shape;342;p40"/>
          <p:cNvSpPr txBox="1"/>
          <p:nvPr/>
        </p:nvSpPr>
        <p:spPr>
          <a:xfrm>
            <a:off x="311700" y="1179700"/>
            <a:ext cx="7615800" cy="12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.appendChild()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is a DOM method used to </a:t>
            </a: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add an element as the last child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inside a parent element.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It places the new element </a:t>
            </a: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on the actual web page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(if it was created using </a:t>
            </a:r>
            <a:r>
              <a:rPr lang="en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.createElement()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or already exists).</a:t>
            </a:r>
            <a:endParaRPr sz="17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43" name="Google Shape;343;p40"/>
          <p:cNvSpPr txBox="1"/>
          <p:nvPr/>
        </p:nvSpPr>
        <p:spPr>
          <a:xfrm>
            <a:off x="311700" y="2513200"/>
            <a:ext cx="914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Syntax :</a:t>
            </a:r>
            <a:endParaRPr b="1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44" name="Google Shape;344;p40" title="carbon - 2025-07-11T145157.886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26100" y="2571750"/>
            <a:ext cx="6017274" cy="1116950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7380000" dist="95250">
              <a:srgbClr val="000000">
                <a:alpha val="50000"/>
              </a:srgbClr>
            </a:outerShdw>
          </a:effectLst>
        </p:spPr>
      </p:pic>
      <p:sp>
        <p:nvSpPr>
          <p:cNvPr id="345" name="Google Shape;345;p40"/>
          <p:cNvSpPr txBox="1"/>
          <p:nvPr/>
        </p:nvSpPr>
        <p:spPr>
          <a:xfrm>
            <a:off x="311700" y="3987400"/>
            <a:ext cx="8218500" cy="83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700"/>
              <a:buFont typeface="Poppins"/>
              <a:buChar char="●"/>
            </a:pPr>
            <a:r>
              <a:rPr b="1" lang="en" sz="13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parentElement: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The existing DOM element where you want to insert something.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36550" lvl="0" marL="457200" rtl="0" algn="l">
              <a:spcBef>
                <a:spcPts val="1000"/>
              </a:spcBef>
              <a:spcAft>
                <a:spcPts val="1000"/>
              </a:spcAft>
              <a:buClr>
                <a:srgbClr val="273239"/>
              </a:buClr>
              <a:buSzPts val="1700"/>
              <a:buFont typeface="Poppins"/>
              <a:buChar char="●"/>
            </a:pPr>
            <a:r>
              <a:rPr b="1" lang="en" sz="13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childElement: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The element you want to insert at the end of parentElement.</a:t>
            </a:r>
            <a:endParaRPr b="1" sz="16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41"/>
          <p:cNvSpPr txBox="1"/>
          <p:nvPr>
            <p:ph type="title"/>
          </p:nvPr>
        </p:nvSpPr>
        <p:spPr>
          <a:xfrm>
            <a:off x="311700" y="213250"/>
            <a:ext cx="747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b="1" lang="en" sz="2466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Example: .createElement() and .appendChild()</a:t>
            </a:r>
            <a:endParaRPr b="1" sz="2466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51" name="Google Shape;351;p41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53" name="Google Shape;353;p41" title="carbon - 2025-07-11T150030.194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1145275"/>
            <a:ext cx="4006000" cy="3743575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7380000" dist="95250">
              <a:srgbClr val="000000">
                <a:alpha val="50000"/>
              </a:srgbClr>
            </a:outerShdw>
          </a:effectLst>
        </p:spPr>
      </p:pic>
      <p:pic>
        <p:nvPicPr>
          <p:cNvPr id="354" name="Google Shape;354;p41" title="carbon - 2025-07-11T150110.922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66450" y="1145275"/>
            <a:ext cx="4006000" cy="3743576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7380000" dist="952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42"/>
          <p:cNvSpPr txBox="1"/>
          <p:nvPr>
            <p:ph type="title"/>
          </p:nvPr>
        </p:nvSpPr>
        <p:spPr>
          <a:xfrm>
            <a:off x="311700" y="213250"/>
            <a:ext cx="747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b="1" lang="en" sz="2466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Output : .createElement() and .appendChild()</a:t>
            </a:r>
            <a:endParaRPr b="1" sz="2466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60" name="Google Shape;360;p42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361" name="Google Shape;361;p4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62" name="Google Shape;362;p42" title="Screen Recording 2025-07-11 150631.mp4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85500" y="972275"/>
            <a:ext cx="4923300" cy="3827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43"/>
          <p:cNvSpPr txBox="1"/>
          <p:nvPr>
            <p:ph type="title"/>
          </p:nvPr>
        </p:nvSpPr>
        <p:spPr>
          <a:xfrm>
            <a:off x="311700" y="213250"/>
            <a:ext cx="747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.removeChild()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68" name="Google Shape;368;p43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369" name="Google Shape;369;p4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70" name="Google Shape;370;p43"/>
          <p:cNvSpPr txBox="1"/>
          <p:nvPr/>
        </p:nvSpPr>
        <p:spPr>
          <a:xfrm>
            <a:off x="311700" y="1179700"/>
            <a:ext cx="7615800" cy="12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.removeChild()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is a DOM method used to remove a child element from its parent in the HTML document.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You must call it </a:t>
            </a: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on the parent element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and pass the </a:t>
            </a: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child element you want to remove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 sz="17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71" name="Google Shape;371;p43"/>
          <p:cNvSpPr txBox="1"/>
          <p:nvPr/>
        </p:nvSpPr>
        <p:spPr>
          <a:xfrm>
            <a:off x="311700" y="2513200"/>
            <a:ext cx="914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Syntax :</a:t>
            </a:r>
            <a:endParaRPr b="1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72" name="Google Shape;372;p43" title="carbon - 2025-07-11T151114.978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26100" y="2540150"/>
            <a:ext cx="6017275" cy="1180025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7380000" dist="95250">
              <a:srgbClr val="000000">
                <a:alpha val="50000"/>
              </a:srgbClr>
            </a:outerShdw>
          </a:effectLst>
        </p:spPr>
      </p:pic>
      <p:sp>
        <p:nvSpPr>
          <p:cNvPr id="373" name="Google Shape;373;p43"/>
          <p:cNvSpPr txBox="1"/>
          <p:nvPr/>
        </p:nvSpPr>
        <p:spPr>
          <a:xfrm>
            <a:off x="311700" y="3987400"/>
            <a:ext cx="8218500" cy="8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73239"/>
              </a:buClr>
              <a:buSzPts val="1400"/>
              <a:buChar char="●"/>
            </a:pPr>
            <a:r>
              <a:rPr b="1" lang="en" sz="13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parentElement: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The DOM element that contains the child.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000"/>
              </a:spcAft>
              <a:buClr>
                <a:srgbClr val="273239"/>
              </a:buClr>
              <a:buSzPts val="1400"/>
              <a:buChar char="●"/>
            </a:pPr>
            <a:r>
              <a:rPr b="1" lang="en" sz="13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childElement: 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The DOM element you want to remove.</a:t>
            </a:r>
            <a:endParaRPr sz="16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44"/>
          <p:cNvSpPr txBox="1"/>
          <p:nvPr>
            <p:ph type="title"/>
          </p:nvPr>
        </p:nvSpPr>
        <p:spPr>
          <a:xfrm>
            <a:off x="311700" y="213250"/>
            <a:ext cx="747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b="1" lang="en" sz="2800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Example: .removeChild()</a:t>
            </a:r>
            <a:endParaRPr b="1" sz="28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79" name="Google Shape;379;p44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380" name="Google Shape;380;p4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81" name="Google Shape;381;p44" title="carbon - 2025-07-11T151511.289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1700" y="1145275"/>
            <a:ext cx="4004200" cy="3743574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7380000" dist="95250">
              <a:srgbClr val="000000">
                <a:alpha val="50000"/>
              </a:srgbClr>
            </a:outerShdw>
          </a:effectLst>
        </p:spPr>
      </p:pic>
      <p:pic>
        <p:nvPicPr>
          <p:cNvPr id="382" name="Google Shape;382;p44" title="carbon - 2025-07-11T151542.526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12075" y="1145275"/>
            <a:ext cx="4004199" cy="3743574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7380000" dist="952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45"/>
          <p:cNvSpPr txBox="1"/>
          <p:nvPr>
            <p:ph type="title"/>
          </p:nvPr>
        </p:nvSpPr>
        <p:spPr>
          <a:xfrm>
            <a:off x="311700" y="213250"/>
            <a:ext cx="747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b="1" lang="en" sz="2800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Output : .removeChild()</a:t>
            </a:r>
            <a:endParaRPr b="1" sz="28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88" name="Google Shape;388;p45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389" name="Google Shape;389;p4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90" name="Google Shape;390;p45" title="Screen Recording 2025-07-11 151945.mp4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715938" y="1258350"/>
            <a:ext cx="3712125" cy="3444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46"/>
          <p:cNvSpPr txBox="1"/>
          <p:nvPr>
            <p:ph type="title"/>
          </p:nvPr>
        </p:nvSpPr>
        <p:spPr>
          <a:xfrm>
            <a:off x="310900" y="197325"/>
            <a:ext cx="747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Introduction to classList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96" name="Google Shape;396;p46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397" name="Google Shape;397;p4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98" name="Google Shape;398;p46"/>
          <p:cNvSpPr txBox="1"/>
          <p:nvPr/>
        </p:nvSpPr>
        <p:spPr>
          <a:xfrm>
            <a:off x="310900" y="1014975"/>
            <a:ext cx="7396200" cy="19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classList is a </a:t>
            </a:r>
            <a:r>
              <a:rPr b="1"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property of DOM elements</a:t>
            </a:r>
            <a:br>
              <a:rPr b="1"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endParaRPr b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Used to manage CSS classes dynamically</a:t>
            </a:r>
            <a:b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Allows adding, removing, and toggling classes</a:t>
            </a:r>
            <a:b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Keeps CSS and JavaScript separate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aphicFrame>
        <p:nvGraphicFramePr>
          <p:cNvPr id="399" name="Google Shape;399;p46"/>
          <p:cNvGraphicFramePr/>
          <p:nvPr/>
        </p:nvGraphicFramePr>
        <p:xfrm>
          <a:off x="384475" y="2923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{A003118A-C459-460A-B347-7FD674EEEF7C}</a:tableStyleId>
              </a:tblPr>
              <a:tblGrid>
                <a:gridCol w="1522025"/>
                <a:gridCol w="3455125"/>
              </a:tblGrid>
              <a:tr h="1519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Method</a:t>
                      </a:r>
                      <a:endParaRPr b="1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Purpose</a:t>
                      </a:r>
                      <a:endParaRPr b="1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/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add()</a:t>
                      </a:r>
                      <a:endParaRPr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Adds class</a:t>
                      </a:r>
                      <a:endParaRPr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/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remove()</a:t>
                      </a:r>
                      <a:endParaRPr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Removes class</a:t>
                      </a:r>
                      <a:endParaRPr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/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toggle()</a:t>
                      </a:r>
                      <a:endParaRPr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Adds/removes class</a:t>
                      </a:r>
                      <a:endParaRPr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/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contains()</a:t>
                      </a:r>
                      <a:endParaRPr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Checks class</a:t>
                      </a:r>
                      <a:endParaRPr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  <p:transition spd="med">
    <p:fade thruBlk="1"/>
  </p:transition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47"/>
          <p:cNvSpPr txBox="1"/>
          <p:nvPr>
            <p:ph type="title"/>
          </p:nvPr>
        </p:nvSpPr>
        <p:spPr>
          <a:xfrm>
            <a:off x="310900" y="197325"/>
            <a:ext cx="747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classList.add()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405" name="Google Shape;405;p47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406" name="Google Shape;406;p4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07" name="Google Shape;407;p47"/>
          <p:cNvSpPr txBox="1"/>
          <p:nvPr/>
        </p:nvSpPr>
        <p:spPr>
          <a:xfrm>
            <a:off x="310900" y="1014975"/>
            <a:ext cx="739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408" name="Google Shape;408;p4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8725" y="1159050"/>
            <a:ext cx="6388914" cy="3423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 thruBlk="1"/>
  </p:transition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48"/>
          <p:cNvSpPr txBox="1"/>
          <p:nvPr>
            <p:ph type="title"/>
          </p:nvPr>
        </p:nvSpPr>
        <p:spPr>
          <a:xfrm>
            <a:off x="310900" y="197325"/>
            <a:ext cx="747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classList.remove()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414" name="Google Shape;414;p48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415" name="Google Shape;415;p4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16" name="Google Shape;416;p48"/>
          <p:cNvSpPr txBox="1"/>
          <p:nvPr/>
        </p:nvSpPr>
        <p:spPr>
          <a:xfrm>
            <a:off x="310900" y="1014975"/>
            <a:ext cx="739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417" name="Google Shape;417;p4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6600" y="1415175"/>
            <a:ext cx="7362825" cy="1295400"/>
          </a:xfrm>
          <a:prstGeom prst="rect">
            <a:avLst/>
          </a:prstGeom>
          <a:noFill/>
          <a:ln>
            <a:noFill/>
          </a:ln>
        </p:spPr>
      </p:pic>
      <p:sp>
        <p:nvSpPr>
          <p:cNvPr id="418" name="Google Shape;418;p48"/>
          <p:cNvSpPr txBox="1"/>
          <p:nvPr/>
        </p:nvSpPr>
        <p:spPr>
          <a:xfrm>
            <a:off x="616600" y="3082375"/>
            <a:ext cx="5484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Poppins"/>
                <a:ea typeface="Poppins"/>
                <a:cs typeface="Poppins"/>
                <a:sym typeface="Poppins"/>
              </a:rPr>
              <a:t>Removes all styles applied by the class</a:t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ransition spd="med">
    <p:fade thruBlk="1"/>
  </p:transition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49"/>
          <p:cNvSpPr txBox="1"/>
          <p:nvPr>
            <p:ph type="title"/>
          </p:nvPr>
        </p:nvSpPr>
        <p:spPr>
          <a:xfrm>
            <a:off x="310900" y="197325"/>
            <a:ext cx="747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classList.toggle()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424" name="Google Shape;424;p49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425" name="Google Shape;425;p4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26" name="Google Shape;426;p49"/>
          <p:cNvSpPr txBox="1"/>
          <p:nvPr/>
        </p:nvSpPr>
        <p:spPr>
          <a:xfrm>
            <a:off x="310900" y="1014975"/>
            <a:ext cx="739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427" name="Google Shape;427;p4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6650" y="917675"/>
            <a:ext cx="6591300" cy="1257300"/>
          </a:xfrm>
          <a:prstGeom prst="rect">
            <a:avLst/>
          </a:prstGeom>
          <a:noFill/>
          <a:ln>
            <a:noFill/>
          </a:ln>
        </p:spPr>
      </p:pic>
      <p:sp>
        <p:nvSpPr>
          <p:cNvPr id="428" name="Google Shape;428;p49"/>
          <p:cNvSpPr txBox="1"/>
          <p:nvPr/>
        </p:nvSpPr>
        <p:spPr>
          <a:xfrm>
            <a:off x="417800" y="2525325"/>
            <a:ext cx="5590200" cy="10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How it works:</a:t>
            </a:r>
            <a:endParaRPr b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If class exists → removes it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If class does not exist → adds it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ransition spd="med">
    <p:fade thruBlk="1"/>
  </p:transition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50"/>
          <p:cNvSpPr txBox="1"/>
          <p:nvPr>
            <p:ph type="title"/>
          </p:nvPr>
        </p:nvSpPr>
        <p:spPr>
          <a:xfrm>
            <a:off x="310900" y="210300"/>
            <a:ext cx="747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Check Your Understanding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434" name="Google Shape;434;p50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435" name="Google Shape;435;p50"/>
          <p:cNvSpPr txBox="1"/>
          <p:nvPr/>
        </p:nvSpPr>
        <p:spPr>
          <a:xfrm>
            <a:off x="310900" y="1228825"/>
            <a:ext cx="81615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Question : </a:t>
            </a:r>
            <a:r>
              <a:rPr b="1" lang="en" sz="13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b="1" lang="en" sz="13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Which property should you use to change the text inside a </a:t>
            </a:r>
            <a:r>
              <a:rPr b="1" i="1" lang="en" sz="13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&lt;p&gt;</a:t>
            </a:r>
            <a:r>
              <a:rPr b="1" lang="en" sz="13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tag without       </a:t>
            </a:r>
            <a:endParaRPr b="1" sz="13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                            interpreting any HTML tags that might be in the string?</a:t>
            </a:r>
            <a:r>
              <a:rPr lang="en" sz="13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" sz="13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b="1" sz="13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36" name="Google Shape;436;p50"/>
          <p:cNvSpPr txBox="1"/>
          <p:nvPr/>
        </p:nvSpPr>
        <p:spPr>
          <a:xfrm>
            <a:off x="310900" y="1748350"/>
            <a:ext cx="8084700" cy="14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Options    :</a:t>
            </a: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 </a:t>
            </a: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a) innerHTML 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             b) textContent 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             c) style 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             d) value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437" name="Google Shape;437;p50" title="question-and-answer-illustration-download-in-svg-png-gif-file-formats--answers-faq-comments-chatting-business-pack-people-illustrations-4257057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51839" y="3027775"/>
            <a:ext cx="3001612" cy="2001075"/>
          </a:xfrm>
          <a:prstGeom prst="rect">
            <a:avLst/>
          </a:prstGeom>
          <a:noFill/>
          <a:ln>
            <a:noFill/>
          </a:ln>
        </p:spPr>
      </p:pic>
      <p:sp>
        <p:nvSpPr>
          <p:cNvPr id="438" name="Google Shape;438;p5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39" name="Google Shape;439;p50"/>
          <p:cNvSpPr txBox="1"/>
          <p:nvPr/>
        </p:nvSpPr>
        <p:spPr>
          <a:xfrm>
            <a:off x="310950" y="3313725"/>
            <a:ext cx="6260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Answer :</a:t>
            </a:r>
            <a:r>
              <a:rPr lang="en" sz="1800">
                <a:solidFill>
                  <a:schemeClr val="dk2"/>
                </a:solidFill>
              </a:rPr>
              <a:t>  </a:t>
            </a: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b) </a:t>
            </a: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textContent </a:t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440" name="Google Shape;440;p50"/>
          <p:cNvGrpSpPr/>
          <p:nvPr/>
        </p:nvGrpSpPr>
        <p:grpSpPr>
          <a:xfrm>
            <a:off x="310900" y="3959263"/>
            <a:ext cx="6005825" cy="938113"/>
            <a:chOff x="310900" y="3959263"/>
            <a:chExt cx="6005825" cy="938113"/>
          </a:xfrm>
        </p:grpSpPr>
        <p:sp>
          <p:nvSpPr>
            <p:cNvPr id="441" name="Google Shape;441;p50"/>
            <p:cNvSpPr txBox="1"/>
            <p:nvPr/>
          </p:nvSpPr>
          <p:spPr>
            <a:xfrm>
              <a:off x="310900" y="3959263"/>
              <a:ext cx="1335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n">
                  <a:solidFill>
                    <a:srgbClr val="273239"/>
                  </a:solidFill>
                  <a:latin typeface="Poppins"/>
                  <a:ea typeface="Poppins"/>
                  <a:cs typeface="Poppins"/>
                  <a:sym typeface="Poppins"/>
                </a:rPr>
                <a:t>Explanation:</a:t>
              </a:r>
              <a:endParaRPr sz="1800">
                <a:solidFill>
                  <a:schemeClr val="dk2"/>
                </a:solidFill>
              </a:endParaRPr>
            </a:p>
          </p:txBody>
        </p:sp>
        <p:sp>
          <p:nvSpPr>
            <p:cNvPr id="442" name="Google Shape;442;p50"/>
            <p:cNvSpPr txBox="1"/>
            <p:nvPr/>
          </p:nvSpPr>
          <p:spPr>
            <a:xfrm>
              <a:off x="1607925" y="3959275"/>
              <a:ext cx="4708800" cy="938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None/>
              </a:pPr>
              <a:r>
                <a:rPr b="1" i="1" lang="en" sz="11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textContent</a:t>
              </a:r>
              <a:r>
                <a:rPr lang="en" sz="11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 (and </a:t>
              </a:r>
              <a:r>
                <a:rPr b="1" i="1" lang="en" sz="11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innerText</a:t>
              </a:r>
              <a:r>
                <a:rPr lang="en" sz="11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) treats all content as plain text. </a:t>
              </a:r>
              <a:r>
                <a:rPr b="1" i="1" lang="en" sz="11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innerHTML</a:t>
              </a:r>
              <a:r>
                <a:rPr lang="en" sz="11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, on the other hand, will parse and render any HTML tags within the string, which can be a security risk if the content is from a user</a:t>
              </a:r>
              <a:endParaRPr b="1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51"/>
          <p:cNvSpPr txBox="1"/>
          <p:nvPr>
            <p:ph type="title"/>
          </p:nvPr>
        </p:nvSpPr>
        <p:spPr>
          <a:xfrm>
            <a:off x="310896" y="210312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References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448" name="Google Shape;448;p51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449" name="Google Shape;449;p51"/>
          <p:cNvSpPr txBox="1"/>
          <p:nvPr/>
        </p:nvSpPr>
        <p:spPr>
          <a:xfrm>
            <a:off x="358850" y="1181200"/>
            <a:ext cx="8520600" cy="343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MDN Web Docs</a:t>
            </a:r>
            <a:r>
              <a:rPr b="1" lang="en" sz="1100">
                <a:solidFill>
                  <a:schemeClr val="dk1"/>
                </a:solidFill>
              </a:rPr>
              <a:t> : </a:t>
            </a:r>
            <a:r>
              <a:rPr i="1"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Comprehensive and official documentation for JS.</a:t>
            </a:r>
            <a:br>
              <a:rPr i="1"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🔗</a:t>
            </a:r>
            <a:r>
              <a:rPr lang="en" sz="1100" u="sng">
                <a:solidFill>
                  <a:schemeClr val="hlink"/>
                </a:solidFill>
                <a:hlinkClick r:id="rId4"/>
              </a:rPr>
              <a:t>https://developer.mozilla.org/en-US/docs/Web/JavaScript</a:t>
            </a:r>
            <a:endParaRPr sz="1100" u="sng">
              <a:solidFill>
                <a:schemeClr val="hlink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 u="sng">
              <a:solidFill>
                <a:schemeClr val="hlink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 u="sng">
              <a:solidFill>
                <a:schemeClr val="hlink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 u="sng">
              <a:solidFill>
                <a:schemeClr val="hlink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W3Schools – JS Tutorial : </a:t>
            </a:r>
            <a:r>
              <a:rPr i="1"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Beginner-friendly JS tutorials with examples and interactive editors.</a:t>
            </a:r>
            <a:br>
              <a:rPr i="1"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" sz="1100">
                <a:solidFill>
                  <a:schemeClr val="dk1"/>
                </a:solidFill>
              </a:rPr>
              <a:t> 🔗</a:t>
            </a:r>
            <a:r>
              <a:rPr lang="en" sz="1100" u="sng">
                <a:solidFill>
                  <a:schemeClr val="hlink"/>
                </a:solidFill>
                <a:hlinkClick r:id="rId5"/>
              </a:rPr>
              <a:t> https://www.w3schools.com/js/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JavaScript.info -</a:t>
            </a:r>
            <a:r>
              <a:rPr b="1" i="1"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i="1"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 </a:t>
            </a:r>
            <a:r>
              <a:rPr b="1" i="1"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comprehensive tutorial-style website</a:t>
            </a:r>
            <a:r>
              <a:rPr i="1"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that covers core JavaScript concepts in depth.</a:t>
            </a:r>
            <a:endParaRPr i="1"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🔗</a:t>
            </a:r>
            <a:r>
              <a:rPr lang="en" sz="1100" u="sng">
                <a:solidFill>
                  <a:schemeClr val="hlink"/>
                </a:solidFill>
                <a:hlinkClick r:id="rId6"/>
              </a:rPr>
              <a:t>https://javascript.info/</a:t>
            </a:r>
            <a:endParaRPr i="1"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50" name="Google Shape;450;p5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5" name="Google Shape;455;p52" title="subtle-prism (2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50">
            <a:off x="-395563" y="395600"/>
            <a:ext cx="5157175" cy="4365975"/>
          </a:xfrm>
          <a:prstGeom prst="flowChartManualInput">
            <a:avLst/>
          </a:prstGeom>
          <a:noFill/>
          <a:ln>
            <a:noFill/>
          </a:ln>
        </p:spPr>
      </p:pic>
      <p:pic>
        <p:nvPicPr>
          <p:cNvPr id="456" name="Google Shape;456;p52" title="KRMU_Full_heading_Logo-removebg-preview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06125" y="452500"/>
            <a:ext cx="5337876" cy="1363050"/>
          </a:xfrm>
          <a:prstGeom prst="rect">
            <a:avLst/>
          </a:prstGeom>
          <a:noFill/>
          <a:ln>
            <a:noFill/>
          </a:ln>
        </p:spPr>
      </p:pic>
      <p:sp>
        <p:nvSpPr>
          <p:cNvPr id="457" name="Google Shape;457;p52"/>
          <p:cNvSpPr txBox="1"/>
          <p:nvPr/>
        </p:nvSpPr>
        <p:spPr>
          <a:xfrm>
            <a:off x="4407400" y="2020825"/>
            <a:ext cx="4636200" cy="5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173034"/>
                </a:solidFill>
              </a:rPr>
              <a:t>Course - Web Development - II</a:t>
            </a:r>
            <a:endParaRPr b="1" sz="2400">
              <a:solidFill>
                <a:srgbClr val="173034"/>
              </a:solidFill>
            </a:endParaRPr>
          </a:p>
        </p:txBody>
      </p:sp>
      <p:grpSp>
        <p:nvGrpSpPr>
          <p:cNvPr id="458" name="Google Shape;458;p52"/>
          <p:cNvGrpSpPr/>
          <p:nvPr/>
        </p:nvGrpSpPr>
        <p:grpSpPr>
          <a:xfrm>
            <a:off x="4572000" y="4881413"/>
            <a:ext cx="1607600" cy="292500"/>
            <a:chOff x="5060775" y="4881413"/>
            <a:chExt cx="1607600" cy="292500"/>
          </a:xfrm>
        </p:grpSpPr>
        <p:sp>
          <p:nvSpPr>
            <p:cNvPr id="459" name="Google Shape;459;p52"/>
            <p:cNvSpPr txBox="1"/>
            <p:nvPr/>
          </p:nvSpPr>
          <p:spPr>
            <a:xfrm>
              <a:off x="5165675" y="4881413"/>
              <a:ext cx="15027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chemeClr val="dk1"/>
                  </a:solidFill>
                </a:rPr>
                <a:t>welcome@krmangalam.edu.in</a:t>
              </a:r>
              <a:endParaRPr sz="900">
                <a:solidFill>
                  <a:schemeClr val="dk1"/>
                </a:solidFill>
              </a:endParaRPr>
            </a:p>
          </p:txBody>
        </p:sp>
        <p:pic>
          <p:nvPicPr>
            <p:cNvPr id="460" name="Google Shape;460;p52" title="email.png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5060775" y="4966738"/>
              <a:ext cx="137160" cy="13716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61" name="Google Shape;461;p52"/>
          <p:cNvSpPr txBox="1"/>
          <p:nvPr/>
        </p:nvSpPr>
        <p:spPr>
          <a:xfrm>
            <a:off x="7326500" y="4881425"/>
            <a:ext cx="23400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accent2"/>
                </a:solidFill>
              </a:rPr>
              <a:t>Sohna Road,Gurugram,Haryana 122103</a:t>
            </a:r>
            <a:endParaRPr sz="700">
              <a:solidFill>
                <a:schemeClr val="accent2"/>
              </a:solidFill>
            </a:endParaRPr>
          </a:p>
        </p:txBody>
      </p:sp>
      <p:pic>
        <p:nvPicPr>
          <p:cNvPr id="462" name="Google Shape;462;p52" title="location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229300" y="4959088"/>
            <a:ext cx="137160" cy="13716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3" name="Google Shape;463;p52" title="Wavy_Trv-02_Single-09.jp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450000" y="2536688"/>
            <a:ext cx="2463299" cy="2227850"/>
          </a:xfrm>
          <a:prstGeom prst="rect">
            <a:avLst/>
          </a:prstGeom>
          <a:noFill/>
          <a:ln>
            <a:noFill/>
          </a:ln>
        </p:spPr>
      </p:pic>
      <p:sp>
        <p:nvSpPr>
          <p:cNvPr id="464" name="Google Shape;464;p52"/>
          <p:cNvSpPr txBox="1"/>
          <p:nvPr>
            <p:ph idx="12" type="sldNum"/>
          </p:nvPr>
        </p:nvSpPr>
        <p:spPr>
          <a:xfrm>
            <a:off x="8494883" y="464826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65" name="Google Shape;465;p52"/>
          <p:cNvSpPr txBox="1"/>
          <p:nvPr/>
        </p:nvSpPr>
        <p:spPr>
          <a:xfrm>
            <a:off x="1033275" y="1691650"/>
            <a:ext cx="2313000" cy="17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Thanks</a:t>
            </a:r>
            <a:endParaRPr sz="34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For</a:t>
            </a:r>
            <a:endParaRPr sz="34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Watching</a:t>
            </a:r>
            <a:endParaRPr sz="34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ransition spd="med">
    <p:fade thruBlk="1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